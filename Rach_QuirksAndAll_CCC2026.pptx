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59.png" ContentType="image/png"/>
  <Override PartName="/ppt/media/image107.png" ContentType="image/png"/>
  <Override PartName="/ppt/media/image57.png" ContentType="image/png"/>
  <Override PartName="/ppt/media/image105.png" ContentType="image/png"/>
  <Override PartName="/ppt/media/image56.png" ContentType="image/png"/>
  <Override PartName="/ppt/media/image104.png" ContentType="image/png"/>
  <Override PartName="/ppt/media/image55.png" ContentType="image/png"/>
  <Override PartName="/ppt/media/image99.svg" ContentType="image/svg"/>
  <Override PartName="/ppt/media/image103.png" ContentType="image/png"/>
  <Override PartName="/ppt/media/image54.png" ContentType="image/png"/>
  <Override PartName="/ppt/media/image102.png" ContentType="image/png"/>
  <Override PartName="/ppt/media/image53.png" ContentType="image/png"/>
  <Override PartName="/ppt/media/image101.png" ContentType="image/png"/>
  <Override PartName="/ppt/media/image52.png" ContentType="image/png"/>
  <Override PartName="/ppt/media/image100.png" ContentType="image/png"/>
  <Override PartName="/ppt/media/image51.png" ContentType="image/png"/>
  <Override PartName="/ppt/media/image50.png" ContentType="image/png"/>
  <Override PartName="/ppt/media/image49.png" ContentType="image/png"/>
  <Override PartName="/ppt/media/image46.png" ContentType="image/png"/>
  <Override PartName="/ppt/media/image45.png" ContentType="image/png"/>
  <Override PartName="/ppt/media/image43.png" ContentType="image/png"/>
  <Override PartName="/ppt/media/image42.png" ContentType="image/png"/>
  <Override PartName="/ppt/media/image41.png" ContentType="image/png"/>
  <Override PartName="/ppt/media/image40.png" ContentType="image/png"/>
  <Override PartName="/ppt/media/image19.svg" ContentType="image/svg"/>
  <Override PartName="/ppt/media/image35.png" ContentType="image/png"/>
  <Override PartName="/ppt/media/image32.png" ContentType="image/png"/>
  <Override PartName="/ppt/media/image44.png" ContentType="image/png"/>
  <Override PartName="/ppt/media/image31.jpeg" ContentType="image/jpeg"/>
  <Override PartName="/ppt/media/image25.png" ContentType="image/png"/>
  <Override PartName="/ppt/media/image90.png" ContentType="image/png"/>
  <Override PartName="/ppt/media/image117.svg" ContentType="image/svg"/>
  <Override PartName="/ppt/media/image30.png" ContentType="image/png"/>
  <Override PartName="/ppt/media/image12.jpeg" ContentType="image/jpeg"/>
  <Override PartName="/ppt/media/image18.png" ContentType="image/png"/>
  <Override PartName="/ppt/media/image8.png" ContentType="image/png"/>
  <Override PartName="/ppt/media/image17.png" ContentType="image/png"/>
  <Override PartName="/ppt/media/image82.png" ContentType="image/png"/>
  <Override PartName="/ppt/media/image34.png" ContentType="image/png"/>
  <Override PartName="/ppt/media/image2.png" ContentType="image/png"/>
  <Override PartName="/ppt/media/image11.png" ContentType="image/png"/>
  <Override PartName="/ppt/media/image39.png" ContentType="image/png"/>
  <Override PartName="/ppt/media/image7.png" ContentType="image/png"/>
  <Override PartName="/ppt/media/image16.png" ContentType="image/png"/>
  <Override PartName="/ppt/media/image81.png" ContentType="image/png"/>
  <Override PartName="/ppt/media/image108.svg" ContentType="image/svg"/>
  <Override PartName="/ppt/media/image13.jpeg" ContentType="image/jpeg"/>
  <Override PartName="/ppt/media/image28.png" ContentType="image/png"/>
  <Override PartName="/ppt/media/image93.png" ContentType="image/png"/>
  <Override PartName="/ppt/media/image36.png" ContentType="image/png"/>
  <Override PartName="/ppt/media/image9.jpeg" ContentType="image/jpeg"/>
  <Override PartName="/ppt/media/image4.png" ContentType="image/png"/>
  <Override PartName="/ppt/media/image37.png" ContentType="image/png"/>
  <Override PartName="/ppt/media/image22.jpeg" ContentType="image/jpeg"/>
  <Override PartName="/ppt/media/image5.png" ContentType="image/png"/>
  <Override PartName="/ppt/media/image14.png" ContentType="image/png"/>
  <Override PartName="/ppt/media/image47.png" ContentType="image/png"/>
  <Override PartName="/ppt/media/image10.png" ContentType="image/png"/>
  <Override PartName="/ppt/media/image1.png" ContentType="image/png"/>
  <Override PartName="/ppt/media/image33.png" ContentType="image/png"/>
  <Override PartName="/ppt/media/image38.png" ContentType="image/png"/>
  <Override PartName="/ppt/media/image67.png" ContentType="image/png"/>
  <Override PartName="/ppt/media/image70.png" ContentType="image/png"/>
  <Override PartName="/ppt/media/image69.png" ContentType="image/png"/>
  <Override PartName="/ppt/media/image71.png" ContentType="image/png"/>
  <Override PartName="/ppt/media/image73.png" ContentType="image/png"/>
  <Override PartName="/ppt/media/image74.png" ContentType="image/png"/>
  <Override PartName="/ppt/media/image68.jpeg" ContentType="image/jpeg"/>
  <Override PartName="/ppt/media/image75.svg" ContentType="image/svg"/>
  <Override PartName="/ppt/media/image88.png" ContentType="image/png"/>
  <Override PartName="/ppt/media/image76.png" ContentType="image/png"/>
  <Override PartName="/ppt/media/image78.png" ContentType="image/png"/>
  <Override PartName="/ppt/media/image72.png" ContentType="image/png"/>
  <Override PartName="/ppt/media/image83.svg" ContentType="image/svg"/>
  <Override PartName="/ppt/media/image96.png" ContentType="image/png"/>
  <Override PartName="/ppt/media/image20.jpeg" ContentType="image/jpeg"/>
  <Override PartName="/ppt/media/image84.png" ContentType="image/png"/>
  <Override PartName="/ppt/media/image111.jpeg" ContentType="image/jpeg"/>
  <Override PartName="/ppt/media/image85.png" ContentType="image/png"/>
  <Override PartName="/ppt/media/image77.png" ContentType="image/png"/>
  <Override PartName="/ppt/media/image120.svg" ContentType="image/svg"/>
  <Override PartName="/ppt/media/image97.png" ContentType="image/png"/>
  <Override PartName="/ppt/media/image60.png" ContentType="image/png"/>
  <Override PartName="/ppt/media/image109.png" ContentType="image/png"/>
  <Override PartName="/ppt/media/image98.png" ContentType="image/png"/>
  <Override PartName="/ppt/media/image61.png" ContentType="image/png"/>
  <Override PartName="/ppt/media/image116.png" ContentType="image/png"/>
  <Override PartName="/ppt/media/image21.png" ContentType="image/png"/>
  <Override PartName="/ppt/media/image86.png" ContentType="image/png"/>
  <Override PartName="/ppt/media/image95.png" ContentType="image/png"/>
  <Override PartName="/ppt/media/image119.png" ContentType="image/png"/>
  <Override PartName="/ppt/media/image24.png" ContentType="image/png"/>
  <Override PartName="/ppt/media/image89.png" ContentType="image/png"/>
  <Override PartName="/ppt/media/image118.png" ContentType="image/png"/>
  <Override PartName="/ppt/media/image87.png" ContentType="image/png"/>
  <Override PartName="/ppt/media/image114.png" ContentType="image/png"/>
  <Override PartName="/ppt/media/image66.png" ContentType="image/png"/>
  <Override PartName="/ppt/media/image113.png" ContentType="image/png"/>
  <Override PartName="/ppt/media/image65.png" ContentType="image/png"/>
  <Override PartName="/ppt/media/image62.svg" ContentType="image/svg"/>
  <Override PartName="/ppt/media/image110.svg" ContentType="image/svg"/>
  <Override PartName="/ppt/media/image112.png" ContentType="image/png"/>
  <Override PartName="/ppt/media/image64.png" ContentType="image/png"/>
  <Override PartName="/ppt/media/image63.png" ContentType="image/png"/>
  <Override PartName="/ppt/media/image29.png" ContentType="image/png"/>
  <Override PartName="/ppt/media/image94.png" ContentType="image/png"/>
  <Override PartName="/ppt/media/image92.png" ContentType="image/png"/>
  <Override PartName="/ppt/media/image27.png" ContentType="image/png"/>
  <Override PartName="/ppt/media/image23.png" ContentType="image/png"/>
  <Override PartName="/ppt/media/image115.svg" ContentType="image/svg"/>
  <Override PartName="/ppt/media/image58.png" ContentType="image/png"/>
  <Override PartName="/ppt/media/image106.png" ContentType="image/png"/>
  <Override PartName="/ppt/media/image48.png" ContentType="image/png"/>
  <Override PartName="/ppt/media/image91.png" ContentType="image/png"/>
  <Override PartName="/ppt/media/image26.png" ContentType="image/png"/>
  <Override PartName="/ppt/media/image3.svg" ContentType="image/svg"/>
  <Override PartName="/ppt/media/image79.png" ContentType="image/png"/>
  <Override PartName="/ppt/media/image15.png" ContentType="image/png"/>
  <Override PartName="/ppt/media/image80.png" ContentType="image/png"/>
  <Override PartName="/ppt/media/image6.png" ContentType="image/png"/>
  <Override PartName="/ppt/slides/slide56.xml" ContentType="application/vnd.openxmlformats-officedocument.presentationml.slide+xml"/>
  <Override PartName="/ppt/slides/slide55.xml" ContentType="application/vnd.openxmlformats-officedocument.presentationml.slide+xml"/>
  <Override PartName="/ppt/slides/slide54.xml" ContentType="application/vnd.openxmlformats-officedocument.presentationml.slide+xml"/>
  <Override PartName="/ppt/slides/slide53.xml" ContentType="application/vnd.openxmlformats-officedocument.presentationml.slide+xml"/>
  <Override PartName="/ppt/slides/slide52.xml" ContentType="application/vnd.openxmlformats-officedocument.presentationml.slide+xml"/>
  <Override PartName="/ppt/slides/slide51.xml" ContentType="application/vnd.openxmlformats-officedocument.presentationml.slide+xml"/>
  <Override PartName="/ppt/slides/slide50.xml" ContentType="application/vnd.openxmlformats-officedocument.presentationml.slide+xml"/>
  <Override PartName="/ppt/slides/slide45.xml" ContentType="application/vnd.openxmlformats-officedocument.presentationml.slide+xml"/>
  <Override PartName="/ppt/slides/slide44.xml" ContentType="application/vnd.openxmlformats-officedocument.presentationml.slide+xml"/>
  <Override PartName="/ppt/slides/slide43.xml" ContentType="application/vnd.openxmlformats-officedocument.presentationml.slide+xml"/>
  <Override PartName="/ppt/slides/slide42.xml" ContentType="application/vnd.openxmlformats-officedocument.presentationml.slide+xml"/>
  <Override PartName="/ppt/slides/slide41.xml" ContentType="application/vnd.openxmlformats-officedocument.presentationml.slide+xml"/>
  <Override PartName="/ppt/slides/slide40.xml" ContentType="application/vnd.openxmlformats-officedocument.presentationml.slide+xml"/>
  <Override PartName="/ppt/slides/slide39.xml" ContentType="application/vnd.openxmlformats-officedocument.presentationml.slide+xml"/>
  <Override PartName="/ppt/slides/slide38.xml" ContentType="application/vnd.openxmlformats-officedocument.presentationml.slide+xml"/>
  <Override PartName="/ppt/slides/slide37.xml" ContentType="application/vnd.openxmlformats-officedocument.presentationml.slide+xml"/>
  <Override PartName="/ppt/slides/slide36.xml" ContentType="application/vnd.openxmlformats-officedocument.presentationml.slide+xml"/>
  <Override PartName="/ppt/slides/slide35.xml" ContentType="application/vnd.openxmlformats-officedocument.presentationml.slide+xml"/>
  <Override PartName="/ppt/slides/slide34.xml" ContentType="application/vnd.openxmlformats-officedocument.presentationml.slide+xml"/>
  <Override PartName="/ppt/slides/slide33.xml" ContentType="application/vnd.openxmlformats-officedocument.presentationml.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26.xml" ContentType="application/vnd.openxmlformats-officedocument.presentationml.slide+xml"/>
  <Override PartName="/ppt/slides/slide63.xml" ContentType="application/vnd.openxmlformats-officedocument.presentationml.slide+xml"/>
  <Override PartName="/ppt/slides/slide27.xml" ContentType="application/vnd.openxmlformats-officedocument.presentationml.slide+xml"/>
  <Override PartName="/ppt/slides/slide64.xml" ContentType="application/vnd.openxmlformats-officedocument.presentationml.slide+xml"/>
  <Override PartName="/ppt/slides/slide28.xml" ContentType="application/vnd.openxmlformats-officedocument.presentationml.slide+xml"/>
  <Override PartName="/ppt/slides/slide70.xml" ContentType="application/vnd.openxmlformats-officedocument.presentationml.slide+xml"/>
  <Override PartName="/ppt/slides/slide65.xml" ContentType="application/vnd.openxmlformats-officedocument.presentationml.slide+xml"/>
  <Override PartName="/ppt/slides/slide29.xml" ContentType="application/vnd.openxmlformats-officedocument.presentationml.slide+xml"/>
  <Override PartName="/ppt/slides/_rels/slide13.xml.rels" ContentType="application/vnd.openxmlformats-package.relationships+xml"/>
  <Override PartName="/ppt/slides/_rels/slide59.xml.rels" ContentType="application/vnd.openxmlformats-package.relationships+xml"/>
  <Override PartName="/ppt/slides/_rels/slide22.xml.rels" ContentType="application/vnd.openxmlformats-package.relationships+xml"/>
  <Override PartName="/ppt/slides/_rels/slide5.xml.rels" ContentType="application/vnd.openxmlformats-package.relationships+xml"/>
  <Override PartName="/ppt/slides/_rels/slide84.xml.rels" ContentType="application/vnd.openxmlformats-package.relationships+xml"/>
  <Override PartName="/ppt/slides/_rels/slide19.xml.rels" ContentType="application/vnd.openxmlformats-package.relationships+xml"/>
  <Override PartName="/ppt/slides/_rels/slide49.xml.rels" ContentType="application/vnd.openxmlformats-package.relationships+xml"/>
  <Override PartName="/ppt/slides/_rels/slide12.xml.rels" ContentType="application/vnd.openxmlformats-package.relationships+xml"/>
  <Override PartName="/ppt/slides/_rels/slide58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83.xml.rels" ContentType="application/vnd.openxmlformats-package.relationships+xml"/>
  <Override PartName="/ppt/slides/_rels/slide18.xml.rels" ContentType="application/vnd.openxmlformats-package.relationships+xml"/>
  <Override PartName="/ppt/slides/_rels/slide48.xml.rels" ContentType="application/vnd.openxmlformats-package.relationships+xml"/>
  <Override PartName="/ppt/slides/_rels/slide11.xml.rels" ContentType="application/vnd.openxmlformats-package.relationships+xml"/>
  <Override PartName="/ppt/slides/_rels/slide57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82.xml.rels" ContentType="application/vnd.openxmlformats-package.relationships+xml"/>
  <Override PartName="/ppt/slides/_rels/slide47.xml.rels" ContentType="application/vnd.openxmlformats-package.relationships+xml"/>
  <Override PartName="/ppt/slides/_rels/slide10.xml.rels" ContentType="application/vnd.openxmlformats-package.relationships+xml"/>
  <Override PartName="/ppt/slides/_rels/slide2.xml.rels" ContentType="application/vnd.openxmlformats-package.relationships+xml"/>
  <Override PartName="/ppt/slides/_rels/slide8.xml.rels" ContentType="application/vnd.openxmlformats-package.relationships+xml"/>
  <Override PartName="/ppt/slides/_rels/slide60.xml.rels" ContentType="application/vnd.openxmlformats-package.relationships+xml"/>
  <Override PartName="/ppt/slides/_rels/slide61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62.xml.rels" ContentType="application/vnd.openxmlformats-package.relationships+xml"/>
  <Override PartName="/ppt/slides/_rels/slide25.xml.rels" ContentType="application/vnd.openxmlformats-package.relationships+xml"/>
  <Override PartName="/ppt/slides/_rels/slide30.xml.rels" ContentType="application/vnd.openxmlformats-package.relationships+xml"/>
  <Override PartName="/ppt/slides/_rels/slide67.xml.rels" ContentType="application/vnd.openxmlformats-package.relationships+xml"/>
  <Override PartName="/ppt/slides/_rels/slide31.xml.rels" ContentType="application/vnd.openxmlformats-package.relationships+xml"/>
  <Override PartName="/ppt/slides/_rels/slide68.xml.rels" ContentType="application/vnd.openxmlformats-package.relationships+xml"/>
  <Override PartName="/ppt/slides/_rels/slide32.xml.rels" ContentType="application/vnd.openxmlformats-package.relationships+xml"/>
  <Override PartName="/ppt/slides/_rels/slide69.xml.rels" ContentType="application/vnd.openxmlformats-package.relationships+xml"/>
  <Override PartName="/ppt/slides/_rels/slide33.xml.rels" ContentType="application/vnd.openxmlformats-package.relationships+xml"/>
  <Override PartName="/ppt/slides/_rels/slide34.xml.rels" ContentType="application/vnd.openxmlformats-package.relationships+xml"/>
  <Override PartName="/ppt/slides/_rels/slide35.xml.rels" ContentType="application/vnd.openxmlformats-package.relationships+xml"/>
  <Override PartName="/ppt/slides/_rels/slide36.xml.rels" ContentType="application/vnd.openxmlformats-package.relationships+xml"/>
  <Override PartName="/ppt/slides/_rels/slide37.xml.rels" ContentType="application/vnd.openxmlformats-package.relationships+xml"/>
  <Override PartName="/ppt/slides/_rels/slide56.xml.rels" ContentType="application/vnd.openxmlformats-package.relationships+xml"/>
  <Override PartName="/ppt/slides/_rels/slide44.xml.rels" ContentType="application/vnd.openxmlformats-package.relationships+xml"/>
  <Override PartName="/ppt/slides/_rels/slide55.xml.rels" ContentType="application/vnd.openxmlformats-package.relationships+xml"/>
  <Override PartName="/ppt/slides/_rels/slide43.xml.rels" ContentType="application/vnd.openxmlformats-package.relationships+xml"/>
  <Override PartName="/ppt/slides/_rels/slide54.xml.rels" ContentType="application/vnd.openxmlformats-package.relationships+xml"/>
  <Override PartName="/ppt/slides/_rels/slide42.xml.rels" ContentType="application/vnd.openxmlformats-package.relationships+xml"/>
  <Override PartName="/ppt/slides/_rels/slide79.xml.rels" ContentType="application/vnd.openxmlformats-package.relationships+xml"/>
  <Override PartName="/ppt/slides/_rels/slide53.xml.rels" ContentType="application/vnd.openxmlformats-package.relationships+xml"/>
  <Override PartName="/ppt/slides/_rels/slide39.xml.rels" ContentType="application/vnd.openxmlformats-package.relationships+xml"/>
  <Override PartName="/ppt/slides/_rels/slide16.xml.rels" ContentType="application/vnd.openxmlformats-package.relationships+xml"/>
  <Override PartName="/ppt/slides/_rels/slide81.xml.rels" ContentType="application/vnd.openxmlformats-package.relationships+xml"/>
  <Override PartName="/ppt/slides/_rels/slide41.xml.rels" ContentType="application/vnd.openxmlformats-package.relationships+xml"/>
  <Override PartName="/ppt/slides/_rels/slide78.xml.rels" ContentType="application/vnd.openxmlformats-package.relationships+xml"/>
  <Override PartName="/ppt/slides/_rels/slide52.xml.rels" ContentType="application/vnd.openxmlformats-package.relationships+xml"/>
  <Override PartName="/ppt/slides/_rels/slide38.xml.rels" ContentType="application/vnd.openxmlformats-package.relationships+xml"/>
  <Override PartName="/ppt/slides/_rels/slide40.xml.rels" ContentType="application/vnd.openxmlformats-package.relationships+xml"/>
  <Override PartName="/ppt/slides/_rels/slide77.xml.rels" ContentType="application/vnd.openxmlformats-package.relationships+xml"/>
  <Override PartName="/ppt/slides/_rels/slide14.xml.rels" ContentType="application/vnd.openxmlformats-package.relationships+xml"/>
  <Override PartName="/ppt/slides/_rels/slide51.xml.rels" ContentType="application/vnd.openxmlformats-package.relationships+xml"/>
  <Override PartName="/ppt/slides/_rels/slide50.xml.rels" ContentType="application/vnd.openxmlformats-package.relationships+xml"/>
  <Override PartName="/ppt/slides/_rels/slide45.xml.rels" ContentType="application/vnd.openxmlformats-package.relationships+xml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63.xml.rels" ContentType="application/vnd.openxmlformats-package.relationships+xml"/>
  <Override PartName="/ppt/slides/_rels/slide27.xml.rels" ContentType="application/vnd.openxmlformats-package.relationships+xml"/>
  <Override PartName="/ppt/slides/_rels/slide64.xml.rels" ContentType="application/vnd.openxmlformats-package.relationships+xml"/>
  <Override PartName="/ppt/slides/_rels/slide28.xml.rels" ContentType="application/vnd.openxmlformats-package.relationships+xml"/>
  <Override PartName="/ppt/slides/_rels/slide70.xml.rels" ContentType="application/vnd.openxmlformats-package.relationships+xml"/>
  <Override PartName="/ppt/slides/_rels/slide65.xml.rels" ContentType="application/vnd.openxmlformats-package.relationships+xml"/>
  <Override PartName="/ppt/slides/_rels/slide71.xml.rels" ContentType="application/vnd.openxmlformats-package.relationships+xml"/>
  <Override PartName="/ppt/slides/_rels/slide1.xml.rels" ContentType="application/vnd.openxmlformats-package.relationships+xml"/>
  <Override PartName="/ppt/slides/_rels/slide29.xml.rels" ContentType="application/vnd.openxmlformats-package.relationships+xml"/>
  <Override PartName="/ppt/slides/_rels/slide66.xml.rels" ContentType="application/vnd.openxmlformats-package.relationships+xml"/>
  <Override PartName="/ppt/slides/_rels/slide80.xml.rels" ContentType="application/vnd.openxmlformats-package.relationships+xml"/>
  <Override PartName="/ppt/slides/_rels/slide15.xml.rels" ContentType="application/vnd.openxmlformats-package.relationships+xml"/>
  <Override PartName="/ppt/slides/_rels/slide6.xml.rels" ContentType="application/vnd.openxmlformats-package.relationships+xml"/>
  <Override PartName="/ppt/slides/_rels/slide23.xml.rels" ContentType="application/vnd.openxmlformats-package.relationships+xml"/>
  <Override PartName="/ppt/slides/_rels/slide76.xml.rels" ContentType="application/vnd.openxmlformats-package.relationships+xml"/>
  <Override PartName="/ppt/slides/_rels/slide75.xml.rels" ContentType="application/vnd.openxmlformats-package.relationships+xml"/>
  <Override PartName="/ppt/slides/_rels/slide74.xml.rels" ContentType="application/vnd.openxmlformats-package.relationships+xml"/>
  <Override PartName="/ppt/slides/_rels/slide73.xml.rels" ContentType="application/vnd.openxmlformats-package.relationships+xml"/>
  <Override PartName="/ppt/slides/_rels/slide72.xml.rels" ContentType="application/vnd.openxmlformats-package.relationships+xml"/>
  <Override PartName="/ppt/slides/_rels/slide46.xml.rels" ContentType="application/vnd.openxmlformats-package.relationships+xml"/>
  <Override PartName="/ppt/slides/slide71.xml" ContentType="application/vnd.openxmlformats-officedocument.presentationml.slide+xml"/>
  <Override PartName="/ppt/slides/slide66.xml" ContentType="application/vnd.openxmlformats-officedocument.presentationml.slide+xml"/>
  <Override PartName="/ppt/slides/slide79.xml" ContentType="application/vnd.openxmlformats-officedocument.presentationml.slide+xml"/>
  <Override PartName="/ppt/slides/slide67.xml" ContentType="application/vnd.openxmlformats-officedocument.presentationml.slide+xml"/>
  <Override PartName="/ppt/slides/slide15.xml" ContentType="application/vnd.openxmlformats-officedocument.presentationml.slide+xml"/>
  <Override PartName="/ppt/slides/slide80.xml" ContentType="application/vnd.openxmlformats-officedocument.presentationml.slide+xml"/>
  <Override PartName="/ppt/slides/slide78.xml" ContentType="application/vnd.openxmlformats-officedocument.presentationml.slide+xml"/>
  <Override PartName="/ppt/slides/slide77.xml" ContentType="application/vnd.openxmlformats-officedocument.presentationml.slide+xml"/>
  <Override PartName="/ppt/slides/slide76.xml" ContentType="application/vnd.openxmlformats-officedocument.presentationml.slide+xml"/>
  <Override PartName="/ppt/slides/slide75.xml" ContentType="application/vnd.openxmlformats-officedocument.presentationml.slide+xml"/>
  <Override PartName="/ppt/slides/slide74.xml" ContentType="application/vnd.openxmlformats-officedocument.presentationml.slide+xml"/>
  <Override PartName="/ppt/slides/slide73.xml" ContentType="application/vnd.openxmlformats-officedocument.presentationml.slide+xml"/>
  <Override PartName="/ppt/slides/slide72.xml" ContentType="application/vnd.openxmlformats-officedocument.presentationml.slide+xml"/>
  <Override PartName="/ppt/slides/slide69.xml" ContentType="application/vnd.openxmlformats-officedocument.presentationml.slide+xml"/>
  <Override PartName="/ppt/slides/slide68.xml" ContentType="application/vnd.openxmlformats-officedocument.presentationml.slide+xml"/>
  <Override PartName="/ppt/slides/slide1.xml" ContentType="application/vnd.openxmlformats-officedocument.presentationml.slide+xml"/>
  <Override PartName="/ppt/slides/slide46.xml" ContentType="application/vnd.openxmlformats-officedocument.presentationml.slide+xml"/>
  <Override PartName="/ppt/slides/slide81.xml" ContentType="application/vnd.openxmlformats-officedocument.presentationml.slide+xml"/>
  <Override PartName="/ppt/slides/slide16.xml" ContentType="application/vnd.openxmlformats-officedocument.presentationml.slide+xml"/>
  <Override PartName="/ppt/slides/slide8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47.xml" ContentType="application/vnd.openxmlformats-officedocument.presentationml.slide+xml"/>
  <Override PartName="/ppt/slides/slide82.xml" ContentType="application/vnd.openxmlformats-officedocument.presentationml.slide+xml"/>
  <Override PartName="/ppt/slides/slide17.xml" ContentType="application/vnd.openxmlformats-officedocument.presentationml.slide+xml"/>
  <Override PartName="/ppt/slides/slide9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48.xml" ContentType="application/vnd.openxmlformats-officedocument.presentationml.slide+xml"/>
  <Override PartName="/ppt/slides/slide20.xml" ContentType="application/vnd.openxmlformats-officedocument.presentationml.slide+xml"/>
  <Override PartName="/ppt/slides/slide57.xml" ContentType="application/vnd.openxmlformats-officedocument.presentationml.slide+xml"/>
  <Override PartName="/ppt/slides/slide18.xml" ContentType="application/vnd.openxmlformats-officedocument.presentationml.slide+xml"/>
  <Override PartName="/ppt/slides/slide83.xml" ContentType="application/vnd.openxmlformats-officedocument.presentationml.slide+xml"/>
  <Override PartName="/ppt/slides/slide4.xml" ContentType="application/vnd.openxmlformats-officedocument.presentationml.slide+xml"/>
  <Override PartName="/ppt/slides/slide12.xml" ContentType="application/vnd.openxmlformats-officedocument.presentationml.slide+xml"/>
  <Override PartName="/ppt/slides/slide49.xml" ContentType="application/vnd.openxmlformats-officedocument.presentationml.slide+xml"/>
  <Override PartName="/ppt/slides/slide21.xml" ContentType="application/vnd.openxmlformats-officedocument.presentationml.slide+xml"/>
  <Override PartName="/ppt/slides/slide58.xml" ContentType="application/vnd.openxmlformats-officedocument.presentationml.slide+xml"/>
  <Override PartName="/ppt/slides/slide19.xml" ContentType="application/vnd.openxmlformats-officedocument.presentationml.slide+xml"/>
  <Override PartName="/ppt/slides/slide84.xml" ContentType="application/vnd.openxmlformats-officedocument.presentationml.slide+xml"/>
  <Override PartName="/ppt/slides/slide5.xml" ContentType="application/vnd.openxmlformats-officedocument.presentationml.slide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59.xml" ContentType="application/vnd.openxmlformats-officedocument.presentationml.slide+xml"/>
  <Override PartName="/ppt/slides/slide23.xml" ContentType="application/vnd.openxmlformats-officedocument.presentationml.slide+xml"/>
  <Override PartName="/ppt/notesSlides/_rels/notesSlide82.xml.rels" ContentType="application/vnd.openxmlformats-package.relationships+xml"/>
  <Override PartName="/ppt/notesSlides/notesSlide8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4" r:id="rId4"/>
    <p:sldMasterId id="2147483656" r:id="rId5"/>
    <p:sldMasterId id="2147483658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5.xml"/><Relationship Id="rId5" Type="http://schemas.openxmlformats.org/officeDocument/2006/relationships/slideMaster" Target="slideMasters/slideMaster6.xml"/><Relationship Id="rId6" Type="http://schemas.openxmlformats.org/officeDocument/2006/relationships/slideMaster" Target="slideMasters/slideMaster7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1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PlaceHolder 4"/>
          <p:cNvSpPr>
            <a:spLocks noGrp="1"/>
          </p:cNvSpPr>
          <p:nvPr>
            <p:ph type="dt" idx="3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PlaceHolder 5"/>
          <p:cNvSpPr>
            <a:spLocks noGrp="1"/>
          </p:cNvSpPr>
          <p:nvPr>
            <p:ph type="ftr" idx="3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PlaceHolder 6"/>
          <p:cNvSpPr>
            <a:spLocks noGrp="1"/>
          </p:cNvSpPr>
          <p:nvPr>
            <p:ph type="sldNum" idx="3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D9710F29-EC1C-455B-BDE2-F97CFD798329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82.xml.rels><?xml version="1.0" encoding="UTF-8"?>
<Relationships xmlns="http://schemas.openxmlformats.org/package/2006/relationships"><Relationship Id="rId1" Type="http://schemas.openxmlformats.org/officeDocument/2006/relationships/slide" Target="../slides/slide82.xml"/><Relationship Id="rId2" Type="http://schemas.openxmlformats.org/officeDocument/2006/relationships/notesMaster" Target="../notesMasters/notesMaster1.xml"/>
</Relationship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PlaceHolder 1"/>
          <p:cNvSpPr>
            <a:spLocks noGrp="1"/>
          </p:cNvSpPr>
          <p:nvPr>
            <p:ph type="sldImg"/>
          </p:nvPr>
        </p:nvSpPr>
        <p:spPr>
          <a:xfrm>
            <a:off x="870120" y="1257480"/>
            <a:ext cx="6027480" cy="3389040"/>
          </a:xfrm>
          <a:prstGeom prst="rect">
            <a:avLst/>
          </a:prstGeom>
          <a:ln w="0">
            <a:noFill/>
          </a:ln>
        </p:spPr>
      </p:sp>
      <p:sp>
        <p:nvSpPr>
          <p:cNvPr id="878" name="PlaceHolder 2"/>
          <p:cNvSpPr>
            <a:spLocks noGrp="1"/>
          </p:cNvSpPr>
          <p:nvPr>
            <p:ph type="body"/>
          </p:nvPr>
        </p:nvSpPr>
        <p:spPr>
          <a:xfrm>
            <a:off x="777960" y="4840200"/>
            <a:ext cx="6211440" cy="39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9" name="PlaceHolder 3"/>
          <p:cNvSpPr>
            <a:spLocks noGrp="1"/>
          </p:cNvSpPr>
          <p:nvPr>
            <p:ph type="sldNum" idx="34"/>
          </p:nvPr>
        </p:nvSpPr>
        <p:spPr>
          <a:xfrm>
            <a:off x="4402080" y="9553680"/>
            <a:ext cx="3363480" cy="49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D4B0AE2-56E0-44AF-A89D-31B5EE007480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Master1-Office-The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504000" y="383400"/>
            <a:ext cx="90680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4560" cy="1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/>
          </p:nvPr>
        </p:nvSpPr>
        <p:spPr>
          <a:xfrm>
            <a:off x="646200" y="1604520"/>
            <a:ext cx="34560" cy="1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/>
          </p:nvPr>
        </p:nvSpPr>
        <p:spPr>
          <a:xfrm>
            <a:off x="609480" y="1616040"/>
            <a:ext cx="34560" cy="1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/>
          </p:nvPr>
        </p:nvSpPr>
        <p:spPr>
          <a:xfrm>
            <a:off x="646200" y="1616040"/>
            <a:ext cx="34560" cy="1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E627503-7514-4393-9998-EAF2CB4AA59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Master1-Layout1-title-Title-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838080" y="889920"/>
            <a:ext cx="10509840" cy="27468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ctr">
            <a:sp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48520" cy="189108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48520" cy="189108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48520" cy="189108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48520" cy="189108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09040" cy="35928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7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37440" cy="35928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C1E9C3F-394C-48F9-A045-99FD66265132}" type="slidenum">
              <a: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8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37440" cy="35928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838080" y="889920"/>
            <a:ext cx="10509840" cy="27468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ctr">
            <a:sp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27280" cy="189108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27280" cy="189108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27280" cy="189108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27280" cy="189108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27280" cy="189108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27280" cy="189108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8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09040" cy="35928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9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37440" cy="35928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3346182-7321-4635-96EB-21B2F23A5F03}" type="slidenum">
              <a: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10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37440" cy="35928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38080" y="889920"/>
            <a:ext cx="10509840" cy="27468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ctr">
            <a:sp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27280" cy="189108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27280" cy="189108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27280" cy="189108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27280" cy="189108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27280" cy="189108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27280" cy="189108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8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09040" cy="35928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9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37440" cy="35928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B1493FC-AB07-445B-8A21-F85003CFF3F0}" type="slidenum">
              <a: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10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37440" cy="35928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Master1-Layout2-obj-Title-and-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504000" y="383400"/>
            <a:ext cx="90680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4560" cy="1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/>
          </p:nvPr>
        </p:nvSpPr>
        <p:spPr>
          <a:xfrm>
            <a:off x="646200" y="1604520"/>
            <a:ext cx="34560" cy="1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/>
          </p:nvPr>
        </p:nvSpPr>
        <p:spPr>
          <a:xfrm>
            <a:off x="609480" y="1616040"/>
            <a:ext cx="34560" cy="1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/>
          </p:nvPr>
        </p:nvSpPr>
        <p:spPr>
          <a:xfrm>
            <a:off x="646200" y="1616040"/>
            <a:ext cx="34560" cy="1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C184480E-EB3E-45D1-9044-DCFE4C84D05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Master1-Layout2-obj-Title-and-Content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504000" y="383400"/>
            <a:ext cx="90680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4560" cy="1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646200" y="1604520"/>
            <a:ext cx="34560" cy="1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/>
          </p:nvPr>
        </p:nvSpPr>
        <p:spPr>
          <a:xfrm>
            <a:off x="609480" y="1616040"/>
            <a:ext cx="34560" cy="1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5"/>
          <p:cNvSpPr>
            <a:spLocks noGrp="1"/>
          </p:cNvSpPr>
          <p:nvPr>
            <p:ph/>
          </p:nvPr>
        </p:nvSpPr>
        <p:spPr>
          <a:xfrm>
            <a:off x="646200" y="1616040"/>
            <a:ext cx="34560" cy="1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E8AD1534-11E4-4CFE-AB22-23FACDC103B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504000" y="561240"/>
            <a:ext cx="90680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3680" cy="15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3680" cy="15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3680" cy="15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3680" cy="15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6"/>
          <p:cNvSpPr>
            <a:spLocks noGrp="1"/>
          </p:cNvSpPr>
          <p:nvPr>
            <p:ph type="ftr" idx="19"/>
          </p:nvPr>
        </p:nvSpPr>
        <p:spPr>
          <a:xfrm>
            <a:off x="3447360" y="5165280"/>
            <a:ext cx="3191400" cy="38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PlaceHolder 7"/>
          <p:cNvSpPr>
            <a:spLocks noGrp="1"/>
          </p:cNvSpPr>
          <p:nvPr>
            <p:ph type="sldNum" idx="20"/>
          </p:nvPr>
        </p:nvSpPr>
        <p:spPr>
          <a:xfrm>
            <a:off x="7227360" y="5165280"/>
            <a:ext cx="2344680" cy="38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922A917-5E7C-40E7-BFF7-342A15CAE30B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PlaceHolder 8"/>
          <p:cNvSpPr>
            <a:spLocks noGrp="1"/>
          </p:cNvSpPr>
          <p:nvPr>
            <p:ph type="dt" idx="21"/>
          </p:nvPr>
        </p:nvSpPr>
        <p:spPr>
          <a:xfrm>
            <a:off x="504000" y="5165280"/>
            <a:ext cx="2344680" cy="38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504000" y="561240"/>
            <a:ext cx="90680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ftr" idx="22"/>
          </p:nvPr>
        </p:nvSpPr>
        <p:spPr>
          <a:xfrm>
            <a:off x="3447360" y="5165280"/>
            <a:ext cx="3191400" cy="38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sldNum" idx="23"/>
          </p:nvPr>
        </p:nvSpPr>
        <p:spPr>
          <a:xfrm>
            <a:off x="7227360" y="5165280"/>
            <a:ext cx="2344680" cy="38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9C17FA0-8D83-49C8-81BF-A212AE0DF11B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dt" idx="24"/>
          </p:nvPr>
        </p:nvSpPr>
        <p:spPr>
          <a:xfrm>
            <a:off x="504000" y="5165280"/>
            <a:ext cx="2344680" cy="38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560" cy="397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504000" y="561240"/>
            <a:ext cx="90680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ftr" idx="25"/>
          </p:nvPr>
        </p:nvSpPr>
        <p:spPr>
          <a:xfrm>
            <a:off x="3447360" y="5165280"/>
            <a:ext cx="3191400" cy="38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 type="sldNum" idx="26"/>
          </p:nvPr>
        </p:nvSpPr>
        <p:spPr>
          <a:xfrm>
            <a:off x="7227360" y="5165280"/>
            <a:ext cx="2344680" cy="38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4819821-8BCC-4D2B-AF81-EA26CABB689C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PlaceHolder 4"/>
          <p:cNvSpPr>
            <a:spLocks noGrp="1"/>
          </p:cNvSpPr>
          <p:nvPr>
            <p:ph type="dt" idx="27"/>
          </p:nvPr>
        </p:nvSpPr>
        <p:spPr>
          <a:xfrm>
            <a:off x="504000" y="5165280"/>
            <a:ext cx="2344680" cy="38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560" cy="397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504000" y="561240"/>
            <a:ext cx="90680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ftr" idx="28"/>
          </p:nvPr>
        </p:nvSpPr>
        <p:spPr>
          <a:xfrm>
            <a:off x="3447360" y="5165280"/>
            <a:ext cx="3191400" cy="38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sldNum" idx="29"/>
          </p:nvPr>
        </p:nvSpPr>
        <p:spPr>
          <a:xfrm>
            <a:off x="7227360" y="5165280"/>
            <a:ext cx="2344680" cy="38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538B9E5-B165-406A-B912-702FCFC68973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PlaceHolder 4"/>
          <p:cNvSpPr>
            <a:spLocks noGrp="1"/>
          </p:cNvSpPr>
          <p:nvPr>
            <p:ph type="dt" idx="30"/>
          </p:nvPr>
        </p:nvSpPr>
        <p:spPr>
          <a:xfrm>
            <a:off x="504000" y="5165280"/>
            <a:ext cx="2344680" cy="38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560" cy="397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5" Type="http://schemas.openxmlformats.org/officeDocument/2006/relationships/slideLayout" Target="../slideLayouts/slideLayout1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558720"/>
            <a:ext cx="90680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71280" cy="2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685080" y="1604520"/>
            <a:ext cx="71280" cy="2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body"/>
          </p:nvPr>
        </p:nvSpPr>
        <p:spPr>
          <a:xfrm>
            <a:off x="609480" y="1628640"/>
            <a:ext cx="71280" cy="2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85080" y="1628640"/>
            <a:ext cx="71280" cy="2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6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09040" cy="35928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7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37440" cy="35928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17BA4EC-B337-412A-A585-E062EABD026D}" type="slidenum">
              <a: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8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37440" cy="35928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  <p:sldLayoutId id="2147483652" r:id="rId3"/>
    <p:sldLayoutId id="2147483653" r:id="rId4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504000" y="558720"/>
            <a:ext cx="90680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71280" cy="2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685080" y="1604520"/>
            <a:ext cx="71280" cy="2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body"/>
          </p:nvPr>
        </p:nvSpPr>
        <p:spPr>
          <a:xfrm>
            <a:off x="609480" y="1628640"/>
            <a:ext cx="71280" cy="2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685080" y="1628640"/>
            <a:ext cx="71280" cy="2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09040" cy="35928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7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37440" cy="35928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79E4E7B-1F39-418B-B2EE-C792F7AEAC07}" type="slidenum">
              <a: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8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37440" cy="35928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504000" y="558720"/>
            <a:ext cx="90680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71280" cy="2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685080" y="1604520"/>
            <a:ext cx="71280" cy="2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body"/>
          </p:nvPr>
        </p:nvSpPr>
        <p:spPr>
          <a:xfrm>
            <a:off x="609480" y="1628640"/>
            <a:ext cx="71280" cy="2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body"/>
          </p:nvPr>
        </p:nvSpPr>
        <p:spPr>
          <a:xfrm>
            <a:off x="685080" y="1628640"/>
            <a:ext cx="71280" cy="2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07600" cy="35784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7"/>
          <p:cNvSpPr>
            <a:spLocks noGrp="1"/>
          </p:cNvSpPr>
          <p:nvPr>
            <p:ph type="sldNum" idx="17"/>
          </p:nvPr>
        </p:nvSpPr>
        <p:spPr>
          <a:xfrm>
            <a:off x="8610480" y="6356520"/>
            <a:ext cx="2736000" cy="35784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376619C-3461-44F9-927E-7A3C26B64E31}" type="slidenum">
              <a: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8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36000" cy="35784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2"/>
    <p:sldLayoutId id="2147483660" r:id="rId3"/>
    <p:sldLayoutId id="2147483661" r:id="rId4"/>
    <p:sldLayoutId id="2147483662" r:id="rId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Layout" Target="../slideLayouts/slideLayout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9.jpe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0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2.jpe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3.jpe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6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5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5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10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8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svg"/><Relationship Id="rId6" Type="http://schemas.openxmlformats.org/officeDocument/2006/relationships/slideLayout" Target="../slideLayouts/slideLayout10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0.jpe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10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1.png"/><Relationship Id="rId3" Type="http://schemas.openxmlformats.org/officeDocument/2006/relationships/image" Target="../media/image22.jpeg"/><Relationship Id="rId4" Type="http://schemas.openxmlformats.org/officeDocument/2006/relationships/image" Target="../media/image8.png"/><Relationship Id="rId5" Type="http://schemas.openxmlformats.org/officeDocument/2006/relationships/slideLayout" Target="../slideLayouts/slideLayout10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8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slideLayout" Target="../slideLayouts/slideLayout10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5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1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image" Target="../media/image31.jpe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image" Target="../media/image1.png"/><Relationship Id="rId8" Type="http://schemas.openxmlformats.org/officeDocument/2006/relationships/image" Target="../media/image8.png"/><Relationship Id="rId9" Type="http://schemas.openxmlformats.org/officeDocument/2006/relationships/slideLayout" Target="../slideLayouts/slideLayout10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10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image" Target="../media/image30.png"/><Relationship Id="rId3" Type="http://schemas.openxmlformats.org/officeDocument/2006/relationships/image" Target="../media/image33.png"/><Relationship Id="rId4" Type="http://schemas.openxmlformats.org/officeDocument/2006/relationships/image" Target="../media/image32.png"/><Relationship Id="rId5" Type="http://schemas.openxmlformats.org/officeDocument/2006/relationships/image" Target="../media/image37.png"/><Relationship Id="rId6" Type="http://schemas.openxmlformats.org/officeDocument/2006/relationships/image" Target="../media/image1.png"/><Relationship Id="rId7" Type="http://schemas.openxmlformats.org/officeDocument/2006/relationships/image" Target="../media/image8.png"/><Relationship Id="rId8" Type="http://schemas.openxmlformats.org/officeDocument/2006/relationships/slideLayout" Target="../slideLayouts/slideLayout10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image" Target="../media/image33.png"/><Relationship Id="rId3" Type="http://schemas.openxmlformats.org/officeDocument/2006/relationships/image" Target="../media/image32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1.png"/><Relationship Id="rId7" Type="http://schemas.openxmlformats.org/officeDocument/2006/relationships/image" Target="../media/image8.png"/><Relationship Id="rId8" Type="http://schemas.openxmlformats.org/officeDocument/2006/relationships/slideLayout" Target="../slideLayouts/slideLayout10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10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10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image" Target="../media/image8.png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0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41.png"/><Relationship Id="rId2" Type="http://schemas.openxmlformats.org/officeDocument/2006/relationships/image" Target="../media/image42.png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slideLayout" Target="../slideLayouts/slideLayout5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43.png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5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44.png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1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45.png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0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0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46.png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10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7.png"/><Relationship Id="rId3" Type="http://schemas.openxmlformats.org/officeDocument/2006/relationships/image" Target="../media/image48.png"/><Relationship Id="rId4" Type="http://schemas.openxmlformats.org/officeDocument/2006/relationships/image" Target="../media/image8.png"/><Relationship Id="rId5" Type="http://schemas.openxmlformats.org/officeDocument/2006/relationships/slideLayout" Target="../slideLayouts/slideLayout5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49.png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50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5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1.png"/><Relationship Id="rId3" Type="http://schemas.openxmlformats.org/officeDocument/2006/relationships/image" Target="../media/image22.jpeg"/><Relationship Id="rId4" Type="http://schemas.openxmlformats.org/officeDocument/2006/relationships/image" Target="../media/image8.png"/><Relationship Id="rId5" Type="http://schemas.openxmlformats.org/officeDocument/2006/relationships/slideLayout" Target="../slideLayouts/slideLayout10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51.png"/><Relationship Id="rId2" Type="http://schemas.openxmlformats.org/officeDocument/2006/relationships/image" Target="../media/image8.png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0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52.png"/><Relationship Id="rId2" Type="http://schemas.openxmlformats.org/officeDocument/2006/relationships/image" Target="../media/image8.png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0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8.png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0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53.png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0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1.png"/><Relationship Id="rId3" Type="http://schemas.openxmlformats.org/officeDocument/2006/relationships/image" Target="../media/image54.png"/><Relationship Id="rId4" Type="http://schemas.openxmlformats.org/officeDocument/2006/relationships/slideLayout" Target="../slideLayouts/slideLayout10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image" Target="../media/image55.png"/><Relationship Id="rId2" Type="http://schemas.openxmlformats.org/officeDocument/2006/relationships/image" Target="../media/image8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Relationship Id="rId5" Type="http://schemas.openxmlformats.org/officeDocument/2006/relationships/image" Target="../media/image1.png"/><Relationship Id="rId6" Type="http://schemas.openxmlformats.org/officeDocument/2006/relationships/slideLayout" Target="../slideLayouts/slideLayout10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image" Target="../media/image58.png"/><Relationship Id="rId2" Type="http://schemas.openxmlformats.org/officeDocument/2006/relationships/image" Target="../media/image59.png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slideLayout" Target="../slideLayouts/slideLayout10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image" Target="../media/image60.png"/><Relationship Id="rId2" Type="http://schemas.openxmlformats.org/officeDocument/2006/relationships/image" Target="../media/image60.png"/><Relationship Id="rId3" Type="http://schemas.openxmlformats.org/officeDocument/2006/relationships/image" Target="../media/image61.png"/><Relationship Id="rId4" Type="http://schemas.openxmlformats.org/officeDocument/2006/relationships/image" Target="../media/image62.svg"/><Relationship Id="rId5" Type="http://schemas.openxmlformats.org/officeDocument/2006/relationships/image" Target="../media/image1.png"/><Relationship Id="rId6" Type="http://schemas.openxmlformats.org/officeDocument/2006/relationships/image" Target="../media/image8.png"/><Relationship Id="rId7" Type="http://schemas.openxmlformats.org/officeDocument/2006/relationships/slideLayout" Target="../slideLayouts/slideLayout5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image" Target="../media/image60.png"/><Relationship Id="rId2" Type="http://schemas.openxmlformats.org/officeDocument/2006/relationships/image" Target="../media/image60.png"/><Relationship Id="rId3" Type="http://schemas.openxmlformats.org/officeDocument/2006/relationships/image" Target="../media/image61.png"/><Relationship Id="rId4" Type="http://schemas.openxmlformats.org/officeDocument/2006/relationships/image" Target="../media/image62.svg"/><Relationship Id="rId5" Type="http://schemas.openxmlformats.org/officeDocument/2006/relationships/image" Target="../media/image1.png"/><Relationship Id="rId6" Type="http://schemas.openxmlformats.org/officeDocument/2006/relationships/image" Target="../media/image8.png"/><Relationship Id="rId7" Type="http://schemas.openxmlformats.org/officeDocument/2006/relationships/slideLayout" Target="../slideLayouts/slideLayout5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image" Target="../media/image60.png"/><Relationship Id="rId2" Type="http://schemas.openxmlformats.org/officeDocument/2006/relationships/image" Target="../media/image60.png"/><Relationship Id="rId3" Type="http://schemas.openxmlformats.org/officeDocument/2006/relationships/image" Target="../media/image61.png"/><Relationship Id="rId4" Type="http://schemas.openxmlformats.org/officeDocument/2006/relationships/image" Target="../media/image62.svg"/><Relationship Id="rId5" Type="http://schemas.openxmlformats.org/officeDocument/2006/relationships/image" Target="../media/image1.png"/><Relationship Id="rId6" Type="http://schemas.openxmlformats.org/officeDocument/2006/relationships/image" Target="../media/image8.png"/><Relationship Id="rId7" Type="http://schemas.openxmlformats.org/officeDocument/2006/relationships/slideLayout" Target="../slideLayouts/slideLayout5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image" Target="../media/image56.png"/><Relationship Id="rId2" Type="http://schemas.openxmlformats.org/officeDocument/2006/relationships/image" Target="../media/image63.png"/><Relationship Id="rId3" Type="http://schemas.openxmlformats.org/officeDocument/2006/relationships/image" Target="../media/image57.png"/><Relationship Id="rId4" Type="http://schemas.openxmlformats.org/officeDocument/2006/relationships/image" Target="../media/image1.png"/><Relationship Id="rId5" Type="http://schemas.openxmlformats.org/officeDocument/2006/relationships/image" Target="../media/image8.png"/><Relationship Id="rId6" Type="http://schemas.openxmlformats.org/officeDocument/2006/relationships/slideLayout" Target="../slideLayouts/slideLayout10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image" Target="../media/image56.png"/><Relationship Id="rId2" Type="http://schemas.openxmlformats.org/officeDocument/2006/relationships/image" Target="../media/image64.png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slideLayout" Target="../slideLayouts/slideLayout5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image" Target="../media/image65.png"/><Relationship Id="rId2" Type="http://schemas.openxmlformats.org/officeDocument/2006/relationships/image" Target="../media/image66.png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67.png"/><Relationship Id="rId6" Type="http://schemas.openxmlformats.org/officeDocument/2006/relationships/slideLayout" Target="../slideLayouts/slideLayout5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image" Target="../media/image63.png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5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image" Target="../media/image63.png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5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image" Target="../media/image68.jpeg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5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1.png"/><Relationship Id="rId3" Type="http://schemas.openxmlformats.org/officeDocument/2006/relationships/image" Target="../media/image22.jpeg"/><Relationship Id="rId4" Type="http://schemas.openxmlformats.org/officeDocument/2006/relationships/image" Target="../media/image8.png"/><Relationship Id="rId5" Type="http://schemas.openxmlformats.org/officeDocument/2006/relationships/slideLayout" Target="../slideLayouts/slideLayout10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image" Target="../media/image69.png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10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5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image" Target="../media/image70.png"/><Relationship Id="rId2" Type="http://schemas.openxmlformats.org/officeDocument/2006/relationships/image" Target="../media/image71.png"/><Relationship Id="rId3" Type="http://schemas.openxmlformats.org/officeDocument/2006/relationships/image" Target="../media/image72.png"/><Relationship Id="rId4" Type="http://schemas.openxmlformats.org/officeDocument/2006/relationships/image" Target="../media/image1.png"/><Relationship Id="rId5" Type="http://schemas.openxmlformats.org/officeDocument/2006/relationships/image" Target="../media/image8.png"/><Relationship Id="rId6" Type="http://schemas.openxmlformats.org/officeDocument/2006/relationships/slideLayout" Target="../slideLayouts/slideLayout10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5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image" Target="../media/image73.png"/><Relationship Id="rId2" Type="http://schemas.openxmlformats.org/officeDocument/2006/relationships/image" Target="../media/image73.png"/><Relationship Id="rId3" Type="http://schemas.openxmlformats.org/officeDocument/2006/relationships/image" Target="../media/image74.png"/><Relationship Id="rId4" Type="http://schemas.openxmlformats.org/officeDocument/2006/relationships/image" Target="../media/image75.svg"/><Relationship Id="rId5" Type="http://schemas.openxmlformats.org/officeDocument/2006/relationships/image" Target="../media/image1.png"/><Relationship Id="rId6" Type="http://schemas.openxmlformats.org/officeDocument/2006/relationships/image" Target="../media/image8.png"/><Relationship Id="rId7" Type="http://schemas.openxmlformats.org/officeDocument/2006/relationships/slideLayout" Target="../slideLayouts/slideLayout5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image" Target="../media/image76.png"/><Relationship Id="rId2" Type="http://schemas.openxmlformats.org/officeDocument/2006/relationships/image" Target="../media/image1.png"/><Relationship Id="rId3" Type="http://schemas.openxmlformats.org/officeDocument/2006/relationships/image" Target="../media/image77.png"/><Relationship Id="rId4" Type="http://schemas.openxmlformats.org/officeDocument/2006/relationships/image" Target="../media/image8.png"/><Relationship Id="rId5" Type="http://schemas.openxmlformats.org/officeDocument/2006/relationships/slideLayout" Target="../slideLayouts/slideLayout5.xml"/>
</Relationships>
</file>

<file path=ppt/slides/_rels/slide61.xml.rels><?xml version="1.0" encoding="UTF-8"?>
<Relationships xmlns="http://schemas.openxmlformats.org/package/2006/relationships"><Relationship Id="rId1" Type="http://schemas.openxmlformats.org/officeDocument/2006/relationships/image" Target="../media/image76.png"/><Relationship Id="rId2" Type="http://schemas.openxmlformats.org/officeDocument/2006/relationships/image" Target="../media/image78.png"/><Relationship Id="rId3" Type="http://schemas.openxmlformats.org/officeDocument/2006/relationships/image" Target="../media/image79.png"/><Relationship Id="rId4" Type="http://schemas.openxmlformats.org/officeDocument/2006/relationships/image" Target="../media/image1.png"/><Relationship Id="rId5" Type="http://schemas.openxmlformats.org/officeDocument/2006/relationships/image" Target="../media/image8.png"/><Relationship Id="rId6" Type="http://schemas.openxmlformats.org/officeDocument/2006/relationships/slideLayout" Target="../slideLayouts/slideLayout5.xml"/>
</Relationships>
</file>

<file path=ppt/slides/_rels/slide62.xml.rels><?xml version="1.0" encoding="UTF-8"?>
<Relationships xmlns="http://schemas.openxmlformats.org/package/2006/relationships"><Relationship Id="rId1" Type="http://schemas.openxmlformats.org/officeDocument/2006/relationships/image" Target="../media/image80.png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5.xml"/>
</Relationships>
</file>

<file path=ppt/slides/_rels/slide63.xml.rels><?xml version="1.0" encoding="UTF-8"?>
<Relationships xmlns="http://schemas.openxmlformats.org/package/2006/relationships"><Relationship Id="rId1" Type="http://schemas.openxmlformats.org/officeDocument/2006/relationships/image" Target="../media/image81.png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5.xml"/>
</Relationships>
</file>

<file path=ppt/slides/_rels/slide64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82.png"/><Relationship Id="rId3" Type="http://schemas.openxmlformats.org/officeDocument/2006/relationships/image" Target="../media/image83.svg"/><Relationship Id="rId4" Type="http://schemas.openxmlformats.org/officeDocument/2006/relationships/image" Target="../media/image84.png"/><Relationship Id="rId5" Type="http://schemas.openxmlformats.org/officeDocument/2006/relationships/image" Target="../media/image1.png"/><Relationship Id="rId6" Type="http://schemas.openxmlformats.org/officeDocument/2006/relationships/image" Target="../media/image8.png"/><Relationship Id="rId7" Type="http://schemas.openxmlformats.org/officeDocument/2006/relationships/slideLayout" Target="../slideLayouts/slideLayout5.xml"/>
</Relationships>
</file>

<file path=ppt/slides/_rels/slide6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10.xml"/>
</Relationships>
</file>

<file path=ppt/slides/_rels/slide6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85.png"/><Relationship Id="rId3" Type="http://schemas.openxmlformats.org/officeDocument/2006/relationships/image" Target="../media/image86.png"/><Relationship Id="rId4" Type="http://schemas.openxmlformats.org/officeDocument/2006/relationships/image" Target="../media/image1.png"/><Relationship Id="rId5" Type="http://schemas.openxmlformats.org/officeDocument/2006/relationships/image" Target="../media/image8.png"/><Relationship Id="rId6" Type="http://schemas.openxmlformats.org/officeDocument/2006/relationships/slideLayout" Target="../slideLayouts/slideLayout10.xml"/>
</Relationships>
</file>

<file path=ppt/slides/_rels/slide67.xml.rels><?xml version="1.0" encoding="UTF-8"?>
<Relationships xmlns="http://schemas.openxmlformats.org/package/2006/relationships"><Relationship Id="rId1" Type="http://schemas.openxmlformats.org/officeDocument/2006/relationships/image" Target="../media/image87.png"/><Relationship Id="rId2" Type="http://schemas.openxmlformats.org/officeDocument/2006/relationships/image" Target="../media/image88.png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slideLayout" Target="../slideLayouts/slideLayout10.xml"/>
</Relationships>
</file>

<file path=ppt/slides/_rels/slide68.xml.rels><?xml version="1.0" encoding="UTF-8"?>
<Relationships xmlns="http://schemas.openxmlformats.org/package/2006/relationships"><Relationship Id="rId1" Type="http://schemas.openxmlformats.org/officeDocument/2006/relationships/image" Target="../media/image89.png"/><Relationship Id="rId2" Type="http://schemas.openxmlformats.org/officeDocument/2006/relationships/image" Target="../media/image6.png"/><Relationship Id="rId3" Type="http://schemas.openxmlformats.org/officeDocument/2006/relationships/image" Target="../media/image90.png"/><Relationship Id="rId4" Type="http://schemas.openxmlformats.org/officeDocument/2006/relationships/image" Target="../media/image1.png"/><Relationship Id="rId5" Type="http://schemas.openxmlformats.org/officeDocument/2006/relationships/image" Target="../media/image8.png"/><Relationship Id="rId6" Type="http://schemas.openxmlformats.org/officeDocument/2006/relationships/slideLayout" Target="../slideLayouts/slideLayout5.xml"/>
</Relationships>
</file>

<file path=ppt/slides/_rels/slide69.xml.rels><?xml version="1.0" encoding="UTF-8"?>
<Relationships xmlns="http://schemas.openxmlformats.org/package/2006/relationships"><Relationship Id="rId1" Type="http://schemas.openxmlformats.org/officeDocument/2006/relationships/image" Target="../media/image91.png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5.xml"/>
</Relationships>
</file>

<file path=ppt/slides/_rels/slide70.xml.rels><?xml version="1.0" encoding="UTF-8"?>
<Relationships xmlns="http://schemas.openxmlformats.org/package/2006/relationships"><Relationship Id="rId1" Type="http://schemas.openxmlformats.org/officeDocument/2006/relationships/image" Target="../media/image80.png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5.xml"/>
</Relationships>
</file>

<file path=ppt/slides/_rels/slide71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1.png"/><Relationship Id="rId3" Type="http://schemas.openxmlformats.org/officeDocument/2006/relationships/image" Target="../media/image22.jpeg"/><Relationship Id="rId4" Type="http://schemas.openxmlformats.org/officeDocument/2006/relationships/image" Target="../media/image8.png"/><Relationship Id="rId5" Type="http://schemas.openxmlformats.org/officeDocument/2006/relationships/slideLayout" Target="../slideLayouts/slideLayout10.xml"/>
</Relationships>
</file>

<file path=ppt/slides/_rels/slide72.xml.rels><?xml version="1.0" encoding="UTF-8"?>
<Relationships xmlns="http://schemas.openxmlformats.org/package/2006/relationships"><Relationship Id="rId1" Type="http://schemas.openxmlformats.org/officeDocument/2006/relationships/image" Target="../media/image92.png"/><Relationship Id="rId2" Type="http://schemas.openxmlformats.org/officeDocument/2006/relationships/image" Target="../media/image8.png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4.xml"/>
</Relationships>
</file>

<file path=ppt/slides/_rels/slide7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93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6.xml"/>
</Relationships>
</file>

<file path=ppt/slides/_rels/slide7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94.png"/><Relationship Id="rId3" Type="http://schemas.openxmlformats.org/officeDocument/2006/relationships/image" Target="../media/image95.png"/><Relationship Id="rId4" Type="http://schemas.openxmlformats.org/officeDocument/2006/relationships/image" Target="../media/image8.png"/><Relationship Id="rId5" Type="http://schemas.openxmlformats.org/officeDocument/2006/relationships/slideLayout" Target="../slideLayouts/slideLayout6.xml"/>
</Relationships>
</file>

<file path=ppt/slides/_rels/slide7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96.png"/><Relationship Id="rId3" Type="http://schemas.openxmlformats.org/officeDocument/2006/relationships/image" Target="../media/image97.png"/><Relationship Id="rId4" Type="http://schemas.openxmlformats.org/officeDocument/2006/relationships/image" Target="../media/image27.png"/><Relationship Id="rId5" Type="http://schemas.openxmlformats.org/officeDocument/2006/relationships/image" Target="../media/image98.png"/><Relationship Id="rId6" Type="http://schemas.openxmlformats.org/officeDocument/2006/relationships/image" Target="../media/image99.svg"/><Relationship Id="rId7" Type="http://schemas.openxmlformats.org/officeDocument/2006/relationships/image" Target="../media/image8.png"/><Relationship Id="rId8" Type="http://schemas.openxmlformats.org/officeDocument/2006/relationships/slideLayout" Target="../slideLayouts/slideLayout6.xml"/>
</Relationships>
</file>

<file path=ppt/slides/_rels/slide7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00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6.xml"/>
</Relationships>
</file>

<file path=ppt/slides/_rels/slide77.xml.rels><?xml version="1.0" encoding="UTF-8"?>
<Relationships xmlns="http://schemas.openxmlformats.org/package/2006/relationships"><Relationship Id="rId1" Type="http://schemas.openxmlformats.org/officeDocument/2006/relationships/image" Target="../media/image101.png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6.xml"/>
</Relationships>
</file>

<file path=ppt/slides/_rels/slide7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02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6.xml"/>
</Relationships>
</file>

<file path=ppt/slides/_rels/slide7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03.png"/><Relationship Id="rId3" Type="http://schemas.openxmlformats.org/officeDocument/2006/relationships/slideLayout" Target="../slideLayouts/slideLayout6.xml"/>
</Relationships>
</file>

<file path=ppt/slides/_rels/slide8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04.png"/><Relationship Id="rId3" Type="http://schemas.openxmlformats.org/officeDocument/2006/relationships/slideLayout" Target="../slideLayouts/slideLayout6.xml"/>
</Relationships>
</file>

<file path=ppt/slides/_rels/slide8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00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6.xml"/>
</Relationships>
</file>

<file path=ppt/slides/_rels/slide82.xml.rels><?xml version="1.0" encoding="UTF-8"?>
<Relationships xmlns="http://schemas.openxmlformats.org/package/2006/relationships"><Relationship Id="rId1" Type="http://schemas.openxmlformats.org/officeDocument/2006/relationships/image" Target="../media/image105.png"/><Relationship Id="rId2" Type="http://schemas.openxmlformats.org/officeDocument/2006/relationships/image" Target="../media/image106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svg"/><Relationship Id="rId6" Type="http://schemas.openxmlformats.org/officeDocument/2006/relationships/image" Target="../media/image107.png"/><Relationship Id="rId7" Type="http://schemas.openxmlformats.org/officeDocument/2006/relationships/image" Target="../media/image108.svg"/><Relationship Id="rId8" Type="http://schemas.openxmlformats.org/officeDocument/2006/relationships/image" Target="../media/image109.png"/><Relationship Id="rId9" Type="http://schemas.openxmlformats.org/officeDocument/2006/relationships/image" Target="../media/image110.svg"/><Relationship Id="rId10" Type="http://schemas.openxmlformats.org/officeDocument/2006/relationships/image" Target="../media/image111.jpeg"/><Relationship Id="rId11" Type="http://schemas.openxmlformats.org/officeDocument/2006/relationships/image" Target="../media/image112.png"/><Relationship Id="rId12" Type="http://schemas.openxmlformats.org/officeDocument/2006/relationships/image" Target="../media/image113.png"/><Relationship Id="rId13" Type="http://schemas.openxmlformats.org/officeDocument/2006/relationships/slideLayout" Target="../slideLayouts/slideLayout6.xml"/><Relationship Id="rId14" Type="http://schemas.openxmlformats.org/officeDocument/2006/relationships/notesSlide" Target="../notesSlides/notesSlide82.xml"/>
</Relationships>
</file>

<file path=ppt/slides/_rels/slide83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image" Target="../media/image24.png"/><Relationship Id="rId3" Type="http://schemas.openxmlformats.org/officeDocument/2006/relationships/image" Target="../media/image23.png"/><Relationship Id="rId4" Type="http://schemas.openxmlformats.org/officeDocument/2006/relationships/image" Target="../media/image27.png"/><Relationship Id="rId5" Type="http://schemas.openxmlformats.org/officeDocument/2006/relationships/image" Target="../media/image82.png"/><Relationship Id="rId6" Type="http://schemas.openxmlformats.org/officeDocument/2006/relationships/image" Target="../media/image83.svg"/><Relationship Id="rId7" Type="http://schemas.openxmlformats.org/officeDocument/2006/relationships/image" Target="../media/image114.png"/><Relationship Id="rId8" Type="http://schemas.openxmlformats.org/officeDocument/2006/relationships/image" Target="../media/image115.svg"/><Relationship Id="rId9" Type="http://schemas.openxmlformats.org/officeDocument/2006/relationships/image" Target="../media/image116.png"/><Relationship Id="rId10" Type="http://schemas.openxmlformats.org/officeDocument/2006/relationships/image" Target="../media/image117.svg"/><Relationship Id="rId11" Type="http://schemas.openxmlformats.org/officeDocument/2006/relationships/image" Target="../media/image98.png"/><Relationship Id="rId12" Type="http://schemas.openxmlformats.org/officeDocument/2006/relationships/image" Target="../media/image99.svg"/><Relationship Id="rId13" Type="http://schemas.openxmlformats.org/officeDocument/2006/relationships/image" Target="../media/image1.png"/><Relationship Id="rId14" Type="http://schemas.openxmlformats.org/officeDocument/2006/relationships/slideLayout" Target="../slideLayouts/slideLayout6.xml"/>
</Relationships>
</file>

<file path=ppt/slides/_rels/slide84.xml.rels><?xml version="1.0" encoding="UTF-8"?>
<Relationships xmlns="http://schemas.openxmlformats.org/package/2006/relationships"><Relationship Id="rId1" Type="http://schemas.openxmlformats.org/officeDocument/2006/relationships/image" Target="../media/image118.png"/><Relationship Id="rId2" Type="http://schemas.openxmlformats.org/officeDocument/2006/relationships/image" Target="../media/image119.png"/><Relationship Id="rId3" Type="http://schemas.openxmlformats.org/officeDocument/2006/relationships/image" Target="../media/image120.svg"/><Relationship Id="rId4" Type="http://schemas.openxmlformats.org/officeDocument/2006/relationships/image" Target="../media/image1.png"/><Relationship Id="rId5" Type="http://schemas.openxmlformats.org/officeDocument/2006/relationships/image" Target="../media/image8.png"/><Relationship Id="rId6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/>
          </p:nvPr>
        </p:nvSpPr>
        <p:spPr>
          <a:xfrm>
            <a:off x="914400" y="4055400"/>
            <a:ext cx="10509840" cy="253044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/>
          </a:bodyPr>
          <a:p>
            <a:pPr marL="432000" indent="0" algn="ctr" defTabSz="91440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David Rach, Ph.D.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 algn="ctr" defTabSz="914400">
              <a:lnSpc>
                <a:spcPts val="144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Noto Sans CJK SC"/>
              </a:rPr>
              <a:t>UMGCCC Flow Cytometry Shared Resource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 algn="ctr" defTabSz="914400">
              <a:lnSpc>
                <a:spcPts val="144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Noto Sans CJK SC"/>
              </a:rPr>
              <a:t>Baltimore, MD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 algn="ctr" defTabSz="914400">
              <a:lnSpc>
                <a:spcPts val="1440"/>
              </a:lnSpc>
              <a:spcBef>
                <a:spcPts val="1701"/>
              </a:spcBef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Noto Sans CJK SC"/>
              </a:rPr>
              <a:t>September 22, 2026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Noto Sans CJK SC"/>
              </a:rPr>
              <a:t> 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7" name="Picture 46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39400" cy="3974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98" name="Group 3"/>
          <p:cNvGrpSpPr/>
          <p:nvPr/>
        </p:nvGrpSpPr>
        <p:grpSpPr>
          <a:xfrm>
            <a:off x="0" y="6629400"/>
            <a:ext cx="1596960" cy="181080"/>
            <a:chOff x="0" y="6629400"/>
            <a:chExt cx="1596960" cy="181080"/>
          </a:xfrm>
        </p:grpSpPr>
        <p:sp>
          <p:nvSpPr>
            <p:cNvPr id="99" name="TextBox 2"/>
            <p:cNvSpPr/>
            <p:nvPr/>
          </p:nvSpPr>
          <p:spPr>
            <a:xfrm>
              <a:off x="0" y="6629400"/>
              <a:ext cx="1596960" cy="181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marL="432000" algn="ctr" defTabSz="914400">
                <a:lnSpc>
                  <a:spcPts val="720"/>
                </a:lnSpc>
                <a:spcBef>
                  <a:spcPts val="1417"/>
                </a:spcBef>
                <a:tabLst>
                  <a:tab algn="l" pos="0"/>
                </a:tabLst>
              </a:pPr>
              <a:r>
                <a:rPr b="0" lang="en-US" sz="20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DejaVu Sans"/>
                </a:rPr>
                <a:t>Slides</a:t>
              </a:r>
              <a:endPara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00" name="Graphic 51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457560" y="229320"/>
            <a:ext cx="3655440" cy="957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1" name="Picture 50" descr=""/>
          <p:cNvPicPr/>
          <p:nvPr/>
        </p:nvPicPr>
        <p:blipFill>
          <a:blip r:embed="rId4"/>
          <a:stretch/>
        </p:blipFill>
        <p:spPr>
          <a:xfrm>
            <a:off x="8915400" y="115920"/>
            <a:ext cx="3193920" cy="1253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2" name="" descr=""/>
          <p:cNvPicPr/>
          <p:nvPr/>
        </p:nvPicPr>
        <p:blipFill>
          <a:blip r:embed="rId5"/>
          <a:stretch/>
        </p:blipFill>
        <p:spPr>
          <a:xfrm>
            <a:off x="466560" y="5257800"/>
            <a:ext cx="1132560" cy="1143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" name="PlaceHolder 3"/>
          <p:cNvSpPr/>
          <p:nvPr/>
        </p:nvSpPr>
        <p:spPr>
          <a:xfrm>
            <a:off x="918360" y="1650240"/>
            <a:ext cx="10508400" cy="1318320"/>
          </a:xfrm>
          <a:prstGeom prst="rect">
            <a:avLst/>
          </a:prstGeom>
          <a:noFill/>
          <a:ln w="190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rmAutofit/>
          </a:bodyPr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4" name="PlaceHolder 4"/>
          <p:cNvSpPr/>
          <p:nvPr/>
        </p:nvSpPr>
        <p:spPr>
          <a:xfrm>
            <a:off x="228600" y="1875240"/>
            <a:ext cx="12112560" cy="1550520"/>
          </a:xfrm>
          <a:prstGeom prst="rect">
            <a:avLst/>
          </a:prstGeom>
          <a:noFill/>
          <a:ln w="190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grpSp>
        <p:nvGrpSpPr>
          <p:cNvPr id="105" name=""/>
          <p:cNvGrpSpPr/>
          <p:nvPr/>
        </p:nvGrpSpPr>
        <p:grpSpPr>
          <a:xfrm>
            <a:off x="975960" y="1407600"/>
            <a:ext cx="10054440" cy="2113560"/>
            <a:chOff x="975960" y="1407600"/>
            <a:chExt cx="10054440" cy="2113560"/>
          </a:xfrm>
        </p:grpSpPr>
        <p:pic>
          <p:nvPicPr>
            <p:cNvPr id="106" name="" descr=""/>
            <p:cNvPicPr/>
            <p:nvPr/>
          </p:nvPicPr>
          <p:blipFill>
            <a:blip r:embed="rId6"/>
            <a:srcRect l="0" t="44464" r="9095" b="0"/>
            <a:stretch/>
          </p:blipFill>
          <p:spPr>
            <a:xfrm>
              <a:off x="1750320" y="1530720"/>
              <a:ext cx="9280080" cy="19904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07" name=""/>
            <p:cNvSpPr/>
            <p:nvPr/>
          </p:nvSpPr>
          <p:spPr>
            <a:xfrm>
              <a:off x="975960" y="1407600"/>
              <a:ext cx="10054440" cy="328320"/>
            </a:xfrm>
            <a:prstGeom prst="rect">
              <a:avLst/>
            </a:prstGeom>
            <a:solidFill>
              <a:srgbClr val="ffffff"/>
            </a:solidFill>
            <a:ln w="0">
              <a:solidFill>
                <a:srgbClr val="ffffff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sp>
        <p:nvSpPr>
          <p:cNvPr id="108" name=""/>
          <p:cNvSpPr/>
          <p:nvPr/>
        </p:nvSpPr>
        <p:spPr>
          <a:xfrm>
            <a:off x="2286000" y="3694320"/>
            <a:ext cx="8564400" cy="74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spAutoFit/>
          </a:bodyPr>
          <a:p>
            <a:pPr algn="ctr">
              <a:lnSpc>
                <a:spcPts val="1729"/>
              </a:lnSpc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Quirks and All: unlocking comprehensive biological discovery </a:t>
            </a:r>
            <a:br>
              <a:rPr sz="2600"/>
            </a:b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out of your spectral flow cytometry datasets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"/>
          <p:cNvSpPr/>
          <p:nvPr/>
        </p:nvSpPr>
        <p:spPr>
          <a:xfrm>
            <a:off x="686160" y="1052640"/>
            <a:ext cx="5254920" cy="1459440"/>
          </a:xfrm>
          <a:prstGeom prst="rect">
            <a:avLst/>
          </a:prstGeom>
          <a:solidFill>
            <a:srgbClr val="ffb66c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10400" cy="6361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Spectral Flow Cytometry is amazing!!!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1" name="Picture 2" descr=""/>
          <p:cNvPicPr/>
          <p:nvPr/>
        </p:nvPicPr>
        <p:blipFill>
          <a:blip r:embed="rId1"/>
          <a:stretch/>
        </p:blipFill>
        <p:spPr>
          <a:xfrm>
            <a:off x="6095880" y="1037880"/>
            <a:ext cx="5498280" cy="4446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2" name="Picture 3" descr=""/>
          <p:cNvPicPr/>
          <p:nvPr/>
        </p:nvPicPr>
        <p:blipFill>
          <a:blip r:embed="rId2"/>
          <a:stretch/>
        </p:blipFill>
        <p:spPr>
          <a:xfrm>
            <a:off x="10435680" y="6172200"/>
            <a:ext cx="1139400" cy="397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3" name=""/>
          <p:cNvSpPr/>
          <p:nvPr/>
        </p:nvSpPr>
        <p:spPr>
          <a:xfrm>
            <a:off x="686160" y="2660400"/>
            <a:ext cx="5254920" cy="1597680"/>
          </a:xfrm>
          <a:prstGeom prst="rect">
            <a:avLst/>
          </a:prstGeom>
          <a:solidFill>
            <a:srgbClr val="729fcf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4" name="Rectangle 51"/>
          <p:cNvSpPr/>
          <p:nvPr/>
        </p:nvSpPr>
        <p:spPr>
          <a:xfrm>
            <a:off x="748800" y="1052640"/>
            <a:ext cx="5192280" cy="20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Capable of </a:t>
            </a:r>
            <a:r>
              <a:rPr b="0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resolving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remarkably similar fluorophores → </a:t>
            </a:r>
            <a:r>
              <a:rPr b="1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increased number of markers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per panel compared to conventional flow cytometry (CFC)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Rectangle 52"/>
          <p:cNvSpPr/>
          <p:nvPr/>
        </p:nvSpPr>
        <p:spPr>
          <a:xfrm>
            <a:off x="748800" y="2707200"/>
            <a:ext cx="5192280" cy="168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Allows for </a:t>
            </a:r>
            <a:r>
              <a:rPr b="0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rapid acquisition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of millions of events in a few minutes → typically </a:t>
            </a:r>
            <a:r>
              <a:rPr b="1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greater number of acquired cells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per sample compared to mass cytometry (MC)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Rectangle 53"/>
          <p:cNvSpPr/>
          <p:nvPr/>
        </p:nvSpPr>
        <p:spPr>
          <a:xfrm>
            <a:off x="685800" y="4440600"/>
            <a:ext cx="519228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Spectral Flow Cytometry (SFC) datasets have an unique combination of </a:t>
            </a:r>
            <a:r>
              <a:rPr b="1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width and depth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compared to preceding technologies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685800" y="4397760"/>
            <a:ext cx="5255280" cy="1086120"/>
          </a:xfrm>
          <a:prstGeom prst="rect">
            <a:avLst/>
          </a:prstGeom>
          <a:solidFill>
            <a:srgbClr val="77bc65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18" name="" descr=""/>
          <p:cNvPicPr/>
          <p:nvPr/>
        </p:nvPicPr>
        <p:blipFill>
          <a:blip r:embed="rId3"/>
          <a:stretch/>
        </p:blipFill>
        <p:spPr>
          <a:xfrm>
            <a:off x="457200" y="6172200"/>
            <a:ext cx="1368000" cy="356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"/>
          <p:cNvSpPr/>
          <p:nvPr/>
        </p:nvSpPr>
        <p:spPr>
          <a:xfrm>
            <a:off x="6629400" y="3657600"/>
            <a:ext cx="5026680" cy="1597680"/>
          </a:xfrm>
          <a:prstGeom prst="rect">
            <a:avLst/>
          </a:prstGeom>
          <a:solidFill>
            <a:srgbClr val="77bc65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0" name=""/>
          <p:cNvSpPr/>
          <p:nvPr/>
        </p:nvSpPr>
        <p:spPr>
          <a:xfrm>
            <a:off x="6629400" y="3715200"/>
            <a:ext cx="5255280" cy="131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OpenSymbol"/>
              <a:buChar char="►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Reduced experimental cost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OpenSymbol"/>
              <a:buChar char="►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Expand our knowledge about  immune system heterogeneity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10400" cy="6361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SFC has expanded our biological discovery potential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Rectangle 49"/>
          <p:cNvSpPr/>
          <p:nvPr/>
        </p:nvSpPr>
        <p:spPr>
          <a:xfrm>
            <a:off x="748800" y="1167480"/>
            <a:ext cx="5096520" cy="40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23" name="Picture 167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39400" cy="397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4" name=""/>
          <p:cNvSpPr/>
          <p:nvPr/>
        </p:nvSpPr>
        <p:spPr>
          <a:xfrm>
            <a:off x="6629400" y="1054800"/>
            <a:ext cx="5026680" cy="2371680"/>
          </a:xfrm>
          <a:prstGeom prst="rect">
            <a:avLst/>
          </a:prstGeom>
          <a:solidFill>
            <a:srgbClr val="729fcf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5" name=""/>
          <p:cNvSpPr/>
          <p:nvPr/>
        </p:nvSpPr>
        <p:spPr>
          <a:xfrm>
            <a:off x="6629400" y="1054800"/>
            <a:ext cx="5026680" cy="237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OpenSymbol"/>
              <a:buChar char="►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Able to efficiently </a:t>
            </a:r>
            <a:r>
              <a:rPr b="0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acquire greater number of cells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→ more thorough profiling of 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rare cell subsets 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OpenSymbol"/>
              <a:buChar char="►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Build </a:t>
            </a:r>
            <a:r>
              <a:rPr b="0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one panel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, evaluate </a:t>
            </a:r>
            <a:r>
              <a:rPr b="0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multiple cell types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→ invaluable for studies with 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limited biospecimen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6" name="" descr=""/>
          <p:cNvPicPr/>
          <p:nvPr/>
        </p:nvPicPr>
        <p:blipFill>
          <a:blip r:embed="rId2"/>
          <a:stretch/>
        </p:blipFill>
        <p:spPr>
          <a:xfrm>
            <a:off x="729360" y="1268640"/>
            <a:ext cx="5127480" cy="3852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7" name="" descr=""/>
          <p:cNvPicPr/>
          <p:nvPr/>
        </p:nvPicPr>
        <p:blipFill>
          <a:blip r:embed="rId3"/>
          <a:stretch/>
        </p:blipFill>
        <p:spPr>
          <a:xfrm>
            <a:off x="457200" y="6172200"/>
            <a:ext cx="1368000" cy="356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"/>
          <p:cNvSpPr/>
          <p:nvPr/>
        </p:nvSpPr>
        <p:spPr>
          <a:xfrm>
            <a:off x="903960" y="3430080"/>
            <a:ext cx="5037480" cy="1773000"/>
          </a:xfrm>
          <a:prstGeom prst="rect">
            <a:avLst/>
          </a:prstGeom>
          <a:solidFill>
            <a:srgbClr val="780373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9" name=""/>
          <p:cNvSpPr/>
          <p:nvPr/>
        </p:nvSpPr>
        <p:spPr>
          <a:xfrm>
            <a:off x="909360" y="1603080"/>
            <a:ext cx="5025600" cy="1596960"/>
          </a:xfrm>
          <a:prstGeom prst="rect">
            <a:avLst/>
          </a:prstGeom>
          <a:solidFill>
            <a:srgbClr val="ffd8ce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0" y="-182520"/>
            <a:ext cx="12186720" cy="131976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Trade-off: More complicated data analysis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Rectangle 54"/>
          <p:cNvSpPr/>
          <p:nvPr/>
        </p:nvSpPr>
        <p:spPr>
          <a:xfrm>
            <a:off x="909360" y="1603080"/>
            <a:ext cx="487152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If you are only interested in a 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single population 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of cells → analysis process via manual gating remains </a:t>
            </a:r>
            <a:r>
              <a:rPr b="0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essentially unchanged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, just more gates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Rectangle 55"/>
          <p:cNvSpPr/>
          <p:nvPr/>
        </p:nvSpPr>
        <p:spPr>
          <a:xfrm>
            <a:off x="970560" y="3514680"/>
            <a:ext cx="4970880" cy="168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If your goal is to profile 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all cell populations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present in your .fcs → 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the breadth and depth necessitate </a:t>
            </a:r>
            <a:r>
              <a:rPr b="0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new analytical approaches 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beyond manual gating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3" name="Picture 166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39400" cy="397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4" name="Picture 168" descr=""/>
          <p:cNvPicPr/>
          <p:nvPr/>
        </p:nvPicPr>
        <p:blipFill>
          <a:blip r:embed="rId2"/>
          <a:stretch/>
        </p:blipFill>
        <p:spPr>
          <a:xfrm>
            <a:off x="6400800" y="1371600"/>
            <a:ext cx="3884040" cy="4106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5" name="" descr=""/>
          <p:cNvPicPr/>
          <p:nvPr/>
        </p:nvPicPr>
        <p:blipFill>
          <a:blip r:embed="rId3"/>
          <a:stretch/>
        </p:blipFill>
        <p:spPr>
          <a:xfrm>
            <a:off x="457200" y="6172200"/>
            <a:ext cx="1368000" cy="356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"/>
          <p:cNvSpPr/>
          <p:nvPr/>
        </p:nvSpPr>
        <p:spPr>
          <a:xfrm>
            <a:off x="5486400" y="4114800"/>
            <a:ext cx="5941440" cy="1369440"/>
          </a:xfrm>
          <a:prstGeom prst="rect">
            <a:avLst/>
          </a:prstGeom>
          <a:solidFill>
            <a:srgbClr val="3faf46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0" y="-182520"/>
            <a:ext cx="12186720" cy="131976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Complex Datasets: Combinatorially Exponential Clusters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8" name="Picture 164" descr=""/>
          <p:cNvPicPr/>
          <p:nvPr/>
        </p:nvPicPr>
        <p:blipFill>
          <a:blip r:embed="rId1"/>
          <a:stretch/>
        </p:blipFill>
        <p:spPr>
          <a:xfrm>
            <a:off x="457200" y="1175400"/>
            <a:ext cx="5023440" cy="4468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9" name="Rectangle 46"/>
          <p:cNvSpPr/>
          <p:nvPr/>
        </p:nvSpPr>
        <p:spPr>
          <a:xfrm>
            <a:off x="5403600" y="3154680"/>
            <a:ext cx="5573160" cy="766440"/>
          </a:xfrm>
          <a:prstGeom prst="rect">
            <a:avLst/>
          </a:prstGeom>
          <a:noFill/>
          <a:ln w="36720">
            <a:noFill/>
          </a:ln>
        </p:spPr>
        <p:style>
          <a:lnRef idx="0"/>
          <a:fillRef idx="0"/>
          <a:effectRef idx="0"/>
          <a:fontRef idx="minor"/>
        </p:style>
        <p:txBody>
          <a:bodyPr lIns="108360" rIns="108360" tIns="63360" bIns="63360" anchor="t">
            <a:spAutoFit/>
          </a:bodyPr>
          <a:p>
            <a:pPr marL="216000" indent="-21600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And at the end, we </a:t>
            </a:r>
            <a:r>
              <a:rPr b="1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grouped cells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that only </a:t>
            </a:r>
            <a:r>
              <a:rPr b="1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expressed the same markers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Rectangle 47"/>
          <p:cNvSpPr/>
          <p:nvPr/>
        </p:nvSpPr>
        <p:spPr>
          <a:xfrm>
            <a:off x="5482800" y="4114800"/>
            <a:ext cx="596916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9-color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CFC panel → 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512 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groups at most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Rectangle 48"/>
          <p:cNvSpPr/>
          <p:nvPr/>
        </p:nvSpPr>
        <p:spPr>
          <a:xfrm>
            <a:off x="5482800" y="4572000"/>
            <a:ext cx="617364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40-color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SFC panel → 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1.1e+12 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groups (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trillion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)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2" name="Picture 165" descr=""/>
          <p:cNvPicPr/>
          <p:nvPr/>
        </p:nvPicPr>
        <p:blipFill>
          <a:blip r:embed="rId2"/>
          <a:stretch/>
        </p:blipFill>
        <p:spPr>
          <a:xfrm>
            <a:off x="10435680" y="6172200"/>
            <a:ext cx="1139400" cy="397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3" name=""/>
          <p:cNvSpPr/>
          <p:nvPr/>
        </p:nvSpPr>
        <p:spPr>
          <a:xfrm>
            <a:off x="5481720" y="1403640"/>
            <a:ext cx="5863320" cy="2503800"/>
          </a:xfrm>
          <a:prstGeom prst="rect">
            <a:avLst/>
          </a:prstGeom>
          <a:solidFill>
            <a:srgbClr val="ffb66c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4" name="Rectangle 7"/>
          <p:cNvSpPr/>
          <p:nvPr/>
        </p:nvSpPr>
        <p:spPr>
          <a:xfrm>
            <a:off x="5403600" y="1325880"/>
            <a:ext cx="5712840" cy="766440"/>
          </a:xfrm>
          <a:prstGeom prst="rect">
            <a:avLst/>
          </a:prstGeom>
          <a:noFill/>
          <a:ln w="36720">
            <a:noFill/>
          </a:ln>
        </p:spPr>
        <p:style>
          <a:lnRef idx="0"/>
          <a:fillRef idx="0"/>
          <a:effectRef idx="0"/>
          <a:fontRef idx="minor"/>
        </p:style>
        <p:txBody>
          <a:bodyPr lIns="108360" rIns="108360" tIns="63360" bIns="63360" anchor="t">
            <a:spAutoFit/>
          </a:bodyPr>
          <a:p>
            <a:pPr marL="216000" indent="-21600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If for a given marker in your panel, you </a:t>
            </a:r>
            <a:r>
              <a:rPr b="1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split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the cells into </a:t>
            </a:r>
            <a:r>
              <a:rPr b="1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positive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and </a:t>
            </a:r>
            <a:r>
              <a:rPr b="1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negative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populations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Rectangle 11"/>
          <p:cNvSpPr/>
          <p:nvPr/>
        </p:nvSpPr>
        <p:spPr>
          <a:xfrm>
            <a:off x="5403600" y="2240280"/>
            <a:ext cx="5941440" cy="766440"/>
          </a:xfrm>
          <a:prstGeom prst="rect">
            <a:avLst/>
          </a:prstGeom>
          <a:noFill/>
          <a:ln w="36720">
            <a:noFill/>
          </a:ln>
        </p:spPr>
        <p:style>
          <a:lnRef idx="0"/>
          <a:fillRef idx="0"/>
          <a:effectRef idx="0"/>
          <a:fontRef idx="minor"/>
        </p:style>
        <p:txBody>
          <a:bodyPr lIns="108360" rIns="108360" tIns="63360" bIns="63360" anchor="t">
            <a:spAutoFit/>
          </a:bodyPr>
          <a:p>
            <a:pPr marL="216000" indent="-21600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And this splitting process was </a:t>
            </a:r>
            <a:r>
              <a:rPr b="1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repeated for every marker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in your panel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Rectangle 12"/>
          <p:cNvSpPr/>
          <p:nvPr/>
        </p:nvSpPr>
        <p:spPr>
          <a:xfrm>
            <a:off x="5486400" y="5029200"/>
            <a:ext cx="617364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60-color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SFC panel → 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1.2e+18 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groups (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quintillion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)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7" name="" descr=""/>
          <p:cNvPicPr/>
          <p:nvPr/>
        </p:nvPicPr>
        <p:blipFill>
          <a:blip r:embed="rId3"/>
          <a:stretch/>
        </p:blipFill>
        <p:spPr>
          <a:xfrm>
            <a:off x="457200" y="6172200"/>
            <a:ext cx="1368000" cy="356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"/>
          <p:cNvSpPr/>
          <p:nvPr/>
        </p:nvSpPr>
        <p:spPr>
          <a:xfrm>
            <a:off x="457200" y="2280600"/>
            <a:ext cx="5941440" cy="1603440"/>
          </a:xfrm>
          <a:prstGeom prst="rect">
            <a:avLst/>
          </a:prstGeom>
          <a:solidFill>
            <a:srgbClr val="3faf46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0" y="-182520"/>
            <a:ext cx="12186720" cy="131976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If I manually checked every combination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Rectangle 45"/>
          <p:cNvSpPr/>
          <p:nvPr/>
        </p:nvSpPr>
        <p:spPr>
          <a:xfrm>
            <a:off x="457200" y="2234520"/>
            <a:ext cx="596916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 gate, every 10 seconds → 6 groups/minute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1" name="Picture 21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39400" cy="397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2" name="Rectangle 59"/>
          <p:cNvSpPr/>
          <p:nvPr/>
        </p:nvSpPr>
        <p:spPr>
          <a:xfrm>
            <a:off x="453600" y="1441800"/>
            <a:ext cx="617364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60-color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SFC panel → 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1.2e+18 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groups (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quintillion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)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Rectangle 13"/>
          <p:cNvSpPr/>
          <p:nvPr/>
        </p:nvSpPr>
        <p:spPr>
          <a:xfrm>
            <a:off x="457200" y="2630520"/>
            <a:ext cx="596916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60 minutes in an hour → 360 groups/hour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Rectangle 58"/>
          <p:cNvSpPr/>
          <p:nvPr/>
        </p:nvSpPr>
        <p:spPr>
          <a:xfrm>
            <a:off x="457200" y="3026520"/>
            <a:ext cx="596916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Awake 16 hours a day → 5760 groups/day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Rectangle 60"/>
          <p:cNvSpPr/>
          <p:nvPr/>
        </p:nvSpPr>
        <p:spPr>
          <a:xfrm>
            <a:off x="457200" y="3458520"/>
            <a:ext cx="617004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365 days per year → 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2,102,400 groups/year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Rectangle 61"/>
          <p:cNvSpPr/>
          <p:nvPr/>
        </p:nvSpPr>
        <p:spPr>
          <a:xfrm>
            <a:off x="457200" y="4298760"/>
            <a:ext cx="594144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76 years - 22 pre-PhD = 54 years 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                                    → 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1.13e+8 groups/life-time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"/>
          <p:cNvSpPr/>
          <p:nvPr/>
        </p:nvSpPr>
        <p:spPr>
          <a:xfrm>
            <a:off x="457200" y="1395000"/>
            <a:ext cx="5941440" cy="455040"/>
          </a:xfrm>
          <a:prstGeom prst="rect">
            <a:avLst/>
          </a:prstGeom>
          <a:solidFill>
            <a:srgbClr val="6b5e9b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8" name=""/>
          <p:cNvSpPr/>
          <p:nvPr/>
        </p:nvSpPr>
        <p:spPr>
          <a:xfrm>
            <a:off x="457200" y="4298760"/>
            <a:ext cx="5941440" cy="956880"/>
          </a:xfrm>
          <a:prstGeom prst="rect">
            <a:avLst/>
          </a:prstGeom>
          <a:solidFill>
            <a:srgbClr val="ffd7d7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59" name="" descr=""/>
          <p:cNvPicPr/>
          <p:nvPr/>
        </p:nvPicPr>
        <p:blipFill>
          <a:blip r:embed="rId2"/>
          <a:stretch/>
        </p:blipFill>
        <p:spPr>
          <a:xfrm>
            <a:off x="6567120" y="1545840"/>
            <a:ext cx="5546520" cy="3024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0" name="" descr=""/>
          <p:cNvPicPr/>
          <p:nvPr/>
        </p:nvPicPr>
        <p:blipFill>
          <a:blip r:embed="rId3"/>
          <a:stretch/>
        </p:blipFill>
        <p:spPr>
          <a:xfrm>
            <a:off x="457200" y="6172200"/>
            <a:ext cx="1368000" cy="356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"/>
          <p:cNvSpPr/>
          <p:nvPr/>
        </p:nvSpPr>
        <p:spPr>
          <a:xfrm>
            <a:off x="5490000" y="3578760"/>
            <a:ext cx="5937840" cy="1437480"/>
          </a:xfrm>
          <a:prstGeom prst="rect">
            <a:avLst/>
          </a:prstGeom>
          <a:solidFill>
            <a:srgbClr val="ffd7d7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62" name=""/>
          <p:cNvSpPr/>
          <p:nvPr/>
        </p:nvSpPr>
        <p:spPr>
          <a:xfrm>
            <a:off x="5490000" y="2056680"/>
            <a:ext cx="5937840" cy="1169640"/>
          </a:xfrm>
          <a:prstGeom prst="rect">
            <a:avLst/>
          </a:prstGeom>
          <a:solidFill>
            <a:srgbClr val="3faf46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0" y="-182520"/>
            <a:ext cx="12186720" cy="131976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4" name="Picture 18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39400" cy="397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5" name="Rectangle 57"/>
          <p:cNvSpPr/>
          <p:nvPr/>
        </p:nvSpPr>
        <p:spPr>
          <a:xfrm>
            <a:off x="5486400" y="1371600"/>
            <a:ext cx="617364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60-color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SFC panel → 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1.2e+18 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groups (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quintillion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)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Rectangle 64"/>
          <p:cNvSpPr/>
          <p:nvPr/>
        </p:nvSpPr>
        <p:spPr>
          <a:xfrm>
            <a:off x="5490000" y="2046600"/>
            <a:ext cx="617004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365 days per year → 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2,102,400 groups/year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Rectangle 65"/>
          <p:cNvSpPr/>
          <p:nvPr/>
        </p:nvSpPr>
        <p:spPr>
          <a:xfrm>
            <a:off x="5490000" y="3578760"/>
            <a:ext cx="594144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So we need ~ </a:t>
            </a:r>
            <a:r>
              <a:rPr b="0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50 immortal researchers working continuously since the Big Bang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just to check all group combinations for a </a:t>
            </a:r>
            <a:r>
              <a:rPr b="1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single 60-fluorophore panel .fcs file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"/>
          <p:cNvSpPr/>
          <p:nvPr/>
        </p:nvSpPr>
        <p:spPr>
          <a:xfrm>
            <a:off x="5486400" y="1371600"/>
            <a:ext cx="5941440" cy="455040"/>
          </a:xfrm>
          <a:prstGeom prst="rect">
            <a:avLst/>
          </a:prstGeom>
          <a:solidFill>
            <a:srgbClr val="6b5e9b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69" name="" descr=""/>
          <p:cNvPicPr/>
          <p:nvPr/>
        </p:nvPicPr>
        <p:blipFill>
          <a:blip r:embed="rId2"/>
          <a:stretch/>
        </p:blipFill>
        <p:spPr>
          <a:xfrm>
            <a:off x="457200" y="1371600"/>
            <a:ext cx="4874400" cy="265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0" name="Rectangle 56"/>
          <p:cNvSpPr/>
          <p:nvPr/>
        </p:nvSpPr>
        <p:spPr>
          <a:xfrm>
            <a:off x="5490000" y="2406600"/>
            <a:ext cx="617004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Invent a time-machine, become immortal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Rectangle 62"/>
          <p:cNvSpPr/>
          <p:nvPr/>
        </p:nvSpPr>
        <p:spPr>
          <a:xfrm>
            <a:off x="5490000" y="2730600"/>
            <a:ext cx="617004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13.8 billion years → 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2.9e+16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groups/reality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PlaceHolder 8"/>
          <p:cNvSpPr/>
          <p:nvPr/>
        </p:nvSpPr>
        <p:spPr>
          <a:xfrm>
            <a:off x="0" y="-182520"/>
            <a:ext cx="12186720" cy="1319760"/>
          </a:xfrm>
          <a:prstGeom prst="rect">
            <a:avLst/>
          </a:prstGeom>
          <a:noFill/>
          <a:ln w="190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Continuously since the Big Bang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3" name="" descr=""/>
          <p:cNvPicPr/>
          <p:nvPr/>
        </p:nvPicPr>
        <p:blipFill>
          <a:blip r:embed="rId3"/>
          <a:stretch/>
        </p:blipFill>
        <p:spPr>
          <a:xfrm>
            <a:off x="457200" y="6172200"/>
            <a:ext cx="1368000" cy="356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"/>
          <p:cNvGrpSpPr/>
          <p:nvPr/>
        </p:nvGrpSpPr>
        <p:grpSpPr>
          <a:xfrm>
            <a:off x="6858000" y="1371600"/>
            <a:ext cx="5027040" cy="4112640"/>
            <a:chOff x="6858000" y="1371600"/>
            <a:chExt cx="5027040" cy="4112640"/>
          </a:xfrm>
        </p:grpSpPr>
        <p:pic>
          <p:nvPicPr>
            <p:cNvPr id="175" name="" descr=""/>
            <p:cNvPicPr/>
            <p:nvPr/>
          </p:nvPicPr>
          <p:blipFill>
            <a:blip r:embed="rId1"/>
            <a:srcRect l="0" t="0" r="75396" b="50082"/>
            <a:stretch/>
          </p:blipFill>
          <p:spPr>
            <a:xfrm>
              <a:off x="7073280" y="1762920"/>
              <a:ext cx="4366080" cy="37213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76" name=""/>
            <p:cNvSpPr/>
            <p:nvPr/>
          </p:nvSpPr>
          <p:spPr>
            <a:xfrm>
              <a:off x="6858000" y="2743200"/>
              <a:ext cx="570600" cy="156528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77" name=""/>
            <p:cNvSpPr/>
            <p:nvPr/>
          </p:nvSpPr>
          <p:spPr>
            <a:xfrm>
              <a:off x="7239600" y="1371600"/>
              <a:ext cx="570960" cy="97740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78" name=""/>
            <p:cNvSpPr/>
            <p:nvPr/>
          </p:nvSpPr>
          <p:spPr>
            <a:xfrm>
              <a:off x="11314440" y="1567440"/>
              <a:ext cx="570600" cy="97740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pic>
        <p:nvPicPr>
          <p:cNvPr id="179" name="Picture 58" descr=""/>
          <p:cNvPicPr/>
          <p:nvPr/>
        </p:nvPicPr>
        <p:blipFill>
          <a:blip r:embed="rId2"/>
          <a:stretch/>
        </p:blipFill>
        <p:spPr>
          <a:xfrm>
            <a:off x="10435680" y="6172560"/>
            <a:ext cx="1139400" cy="397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0" name=""/>
          <p:cNvSpPr/>
          <p:nvPr/>
        </p:nvSpPr>
        <p:spPr>
          <a:xfrm>
            <a:off x="685800" y="1135800"/>
            <a:ext cx="5937840" cy="1437480"/>
          </a:xfrm>
          <a:prstGeom prst="rect">
            <a:avLst/>
          </a:prstGeom>
          <a:solidFill>
            <a:srgbClr val="ffd7d7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81" name="Rectangle 16"/>
          <p:cNvSpPr/>
          <p:nvPr/>
        </p:nvSpPr>
        <p:spPr>
          <a:xfrm>
            <a:off x="685800" y="1143000"/>
            <a:ext cx="594144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Consequently, if the goal is to characterize all cell populations present, some form of </a:t>
            </a:r>
            <a:r>
              <a:rPr b="1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unsupervised (algorithm) or semi-supervised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analytical approaches will be needed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-18360" y="48600"/>
            <a:ext cx="12208320" cy="109008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Alternative: Unsupervised Analysis (Algorithms)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Rectangle 42"/>
          <p:cNvSpPr/>
          <p:nvPr/>
        </p:nvSpPr>
        <p:spPr>
          <a:xfrm>
            <a:off x="685800" y="1143000"/>
            <a:ext cx="594144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Consequently, if the goal is to characterize all cell populations present, some form of </a:t>
            </a:r>
            <a:r>
              <a:rPr b="1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unsupervised (algorithm) or semi-supervised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analytical approaches will be needed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Rectangle 43"/>
          <p:cNvSpPr/>
          <p:nvPr/>
        </p:nvSpPr>
        <p:spPr>
          <a:xfrm>
            <a:off x="685800" y="3159000"/>
            <a:ext cx="594144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1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Clustering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→ FlowSOM, Phenograph, Xshift, etc.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Rectangle 44"/>
          <p:cNvSpPr/>
          <p:nvPr/>
        </p:nvSpPr>
        <p:spPr>
          <a:xfrm>
            <a:off x="685800" y="3789000"/>
            <a:ext cx="594144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1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Dimensionality visualization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→ opt-SNE, UMAP, PaCMAP, Phate, etc.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"/>
          <p:cNvSpPr/>
          <p:nvPr/>
        </p:nvSpPr>
        <p:spPr>
          <a:xfrm>
            <a:off x="685800" y="4813200"/>
            <a:ext cx="5941440" cy="912240"/>
          </a:xfrm>
          <a:prstGeom prst="rect">
            <a:avLst/>
          </a:prstGeom>
          <a:solidFill>
            <a:srgbClr val="3faf46">
              <a:alpha val="2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87" name="Rectangle 63"/>
          <p:cNvSpPr/>
          <p:nvPr/>
        </p:nvSpPr>
        <p:spPr>
          <a:xfrm>
            <a:off x="685800" y="4932000"/>
            <a:ext cx="594144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Automated Gating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→ openCyto, flowMagic, ElasticGate, etc.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"/>
          <p:cNvSpPr/>
          <p:nvPr/>
        </p:nvSpPr>
        <p:spPr>
          <a:xfrm>
            <a:off x="685800" y="3104640"/>
            <a:ext cx="5941440" cy="1537200"/>
          </a:xfrm>
          <a:prstGeom prst="rect">
            <a:avLst/>
          </a:prstGeom>
          <a:solidFill>
            <a:srgbClr val="729fcf">
              <a:alpha val="2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89" name="" descr=""/>
          <p:cNvPicPr/>
          <p:nvPr/>
        </p:nvPicPr>
        <p:blipFill>
          <a:blip r:embed="rId3"/>
          <a:stretch/>
        </p:blipFill>
        <p:spPr>
          <a:xfrm>
            <a:off x="457200" y="6172200"/>
            <a:ext cx="1368000" cy="356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10400" cy="6361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What all the arguments are about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1" name="Picture 25" descr=""/>
          <p:cNvPicPr/>
          <p:nvPr/>
        </p:nvPicPr>
        <p:blipFill>
          <a:blip r:embed="rId1"/>
          <a:stretch/>
        </p:blipFill>
        <p:spPr>
          <a:xfrm>
            <a:off x="1523880" y="1185480"/>
            <a:ext cx="9140400" cy="639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2" name="Picture 28" descr=""/>
          <p:cNvPicPr/>
          <p:nvPr/>
        </p:nvPicPr>
        <p:blipFill>
          <a:blip r:embed="rId2"/>
          <a:stretch/>
        </p:blipFill>
        <p:spPr>
          <a:xfrm>
            <a:off x="10435680" y="6172200"/>
            <a:ext cx="1139400" cy="397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3" name="" descr=""/>
          <p:cNvPicPr/>
          <p:nvPr/>
        </p:nvPicPr>
        <p:blipFill>
          <a:blip r:embed="rId3"/>
          <a:stretch/>
        </p:blipFill>
        <p:spPr>
          <a:xfrm>
            <a:off x="457200" y="6172200"/>
            <a:ext cx="1368000" cy="356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10400" cy="6361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What all the arguments are about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5" name="Picture 59" descr=""/>
          <p:cNvPicPr/>
          <p:nvPr/>
        </p:nvPicPr>
        <p:blipFill>
          <a:blip r:embed="rId1"/>
          <a:stretch/>
        </p:blipFill>
        <p:spPr>
          <a:xfrm>
            <a:off x="1523880" y="1185480"/>
            <a:ext cx="9140400" cy="639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6" name="Picture 61" descr=""/>
          <p:cNvPicPr/>
          <p:nvPr/>
        </p:nvPicPr>
        <p:blipFill>
          <a:blip r:embed="rId2"/>
          <a:stretch/>
        </p:blipFill>
        <p:spPr>
          <a:xfrm>
            <a:off x="10435680" y="6172200"/>
            <a:ext cx="1139400" cy="397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7" name=""/>
          <p:cNvSpPr/>
          <p:nvPr/>
        </p:nvSpPr>
        <p:spPr>
          <a:xfrm flipH="1" flipV="1" rot="16074000">
            <a:off x="1855800" y="899280"/>
            <a:ext cx="455040" cy="497880"/>
          </a:xfrm>
          <a:prstGeom prst="rightArrow">
            <a:avLst>
              <a:gd name="adj1" fmla="val 50000"/>
              <a:gd name="adj2" fmla="val 25000"/>
            </a:avLst>
          </a:prstGeom>
          <a:solidFill>
            <a:srgbClr val="ff860d">
              <a:alpha val="5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98" name="" descr=""/>
          <p:cNvPicPr/>
          <p:nvPr/>
        </p:nvPicPr>
        <p:blipFill>
          <a:blip r:embed="rId3"/>
          <a:stretch/>
        </p:blipFill>
        <p:spPr>
          <a:xfrm>
            <a:off x="457200" y="6172200"/>
            <a:ext cx="1368000" cy="356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10400" cy="6361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What all the arguments are about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0" name="Picture 107" descr=""/>
          <p:cNvPicPr/>
          <p:nvPr/>
        </p:nvPicPr>
        <p:blipFill>
          <a:blip r:embed="rId1"/>
          <a:stretch/>
        </p:blipFill>
        <p:spPr>
          <a:xfrm>
            <a:off x="1523880" y="1185480"/>
            <a:ext cx="9140400" cy="639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1" name="Picture 163" descr=""/>
          <p:cNvPicPr/>
          <p:nvPr/>
        </p:nvPicPr>
        <p:blipFill>
          <a:blip r:embed="rId2"/>
          <a:stretch/>
        </p:blipFill>
        <p:spPr>
          <a:xfrm>
            <a:off x="10435680" y="6172200"/>
            <a:ext cx="1139400" cy="397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2" name=""/>
          <p:cNvSpPr/>
          <p:nvPr/>
        </p:nvSpPr>
        <p:spPr>
          <a:xfrm flipH="1" flipV="1" rot="16074000">
            <a:off x="9399600" y="899280"/>
            <a:ext cx="455040" cy="497880"/>
          </a:xfrm>
          <a:prstGeom prst="rightArrow">
            <a:avLst>
              <a:gd name="adj1" fmla="val 50000"/>
              <a:gd name="adj2" fmla="val 25000"/>
            </a:avLst>
          </a:prstGeom>
          <a:solidFill>
            <a:srgbClr val="ff860d">
              <a:alpha val="5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203" name="" descr=""/>
          <p:cNvPicPr/>
          <p:nvPr/>
        </p:nvPicPr>
        <p:blipFill>
          <a:blip r:embed="rId3"/>
          <a:stretch/>
        </p:blipFill>
        <p:spPr>
          <a:xfrm>
            <a:off x="457200" y="6172200"/>
            <a:ext cx="1368000" cy="356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10400" cy="6361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What all the arguments are about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5" name="Picture 105" descr=""/>
          <p:cNvPicPr/>
          <p:nvPr/>
        </p:nvPicPr>
        <p:blipFill>
          <a:blip r:embed="rId1"/>
          <a:stretch/>
        </p:blipFill>
        <p:spPr>
          <a:xfrm>
            <a:off x="1523880" y="1185480"/>
            <a:ext cx="9140400" cy="639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6" name="Picture 106" descr=""/>
          <p:cNvPicPr/>
          <p:nvPr/>
        </p:nvPicPr>
        <p:blipFill>
          <a:blip r:embed="rId2"/>
          <a:stretch/>
        </p:blipFill>
        <p:spPr>
          <a:xfrm>
            <a:off x="10435680" y="6172200"/>
            <a:ext cx="1139400" cy="397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7" name=""/>
          <p:cNvSpPr/>
          <p:nvPr/>
        </p:nvSpPr>
        <p:spPr>
          <a:xfrm>
            <a:off x="3321000" y="5257440"/>
            <a:ext cx="4908600" cy="360"/>
          </a:xfrm>
          <a:prstGeom prst="line">
            <a:avLst/>
          </a:prstGeom>
          <a:ln w="73080">
            <a:solidFill>
              <a:srgbClr val="069a2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26360" rIns="126360" tIns="-81360" bIns="-8136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08" name=""/>
          <p:cNvSpPr/>
          <p:nvPr/>
        </p:nvSpPr>
        <p:spPr>
          <a:xfrm flipH="1">
            <a:off x="3321000" y="5486040"/>
            <a:ext cx="4908600" cy="360"/>
          </a:xfrm>
          <a:prstGeom prst="line">
            <a:avLst/>
          </a:prstGeom>
          <a:ln w="73080">
            <a:solidFill>
              <a:srgbClr val="069a2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26360" rIns="126360" tIns="-81360" bIns="-8136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209" name="" descr=""/>
          <p:cNvPicPr/>
          <p:nvPr/>
        </p:nvPicPr>
        <p:blipFill>
          <a:blip r:embed="rId3"/>
          <a:stretch/>
        </p:blipFill>
        <p:spPr>
          <a:xfrm>
            <a:off x="457200" y="6172200"/>
            <a:ext cx="1368000" cy="356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"/>
          <p:cNvSpPr/>
          <p:nvPr/>
        </p:nvSpPr>
        <p:spPr>
          <a:xfrm>
            <a:off x="5486400" y="1155600"/>
            <a:ext cx="5941440" cy="1369440"/>
          </a:xfrm>
          <a:prstGeom prst="rect">
            <a:avLst/>
          </a:prstGeom>
          <a:solidFill>
            <a:srgbClr val="6b5e9b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11" name=""/>
          <p:cNvSpPr/>
          <p:nvPr/>
        </p:nvSpPr>
        <p:spPr>
          <a:xfrm>
            <a:off x="5486400" y="2669040"/>
            <a:ext cx="5937840" cy="991080"/>
          </a:xfrm>
          <a:prstGeom prst="rect">
            <a:avLst/>
          </a:prstGeom>
          <a:solidFill>
            <a:srgbClr val="729fcf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12" name=""/>
          <p:cNvSpPr/>
          <p:nvPr/>
        </p:nvSpPr>
        <p:spPr>
          <a:xfrm>
            <a:off x="5486400" y="3810600"/>
            <a:ext cx="5937840" cy="1398240"/>
          </a:xfrm>
          <a:prstGeom prst="rect">
            <a:avLst/>
          </a:prstGeom>
          <a:solidFill>
            <a:srgbClr val="3faf46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0" y="-182520"/>
            <a:ext cx="12186720" cy="131976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4" name="Picture 169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39400" cy="397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5" name="Rectangle 66"/>
          <p:cNvSpPr/>
          <p:nvPr/>
        </p:nvSpPr>
        <p:spPr>
          <a:xfrm>
            <a:off x="5486400" y="1143000"/>
            <a:ext cx="617364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Many of these software tools were </a:t>
            </a:r>
            <a:r>
              <a:rPr b="0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originally implemented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as R or Python packages, for use in analysis of </a:t>
            </a:r>
            <a:r>
              <a:rPr b="1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mass cytometry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or </a:t>
            </a:r>
            <a:r>
              <a:rPr b="1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single-cell RNA-seq datasets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Rectangle 68"/>
          <p:cNvSpPr/>
          <p:nvPr/>
        </p:nvSpPr>
        <p:spPr>
          <a:xfrm>
            <a:off x="5486400" y="2669040"/>
            <a:ext cx="5941440" cy="10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0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Mass cytometry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→ similar number of markers, typically </a:t>
            </a:r>
            <a:r>
              <a:rPr b="1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fewer events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, no unmixing variation due to autofluorescence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PlaceHolder 15"/>
          <p:cNvSpPr/>
          <p:nvPr/>
        </p:nvSpPr>
        <p:spPr>
          <a:xfrm>
            <a:off x="0" y="-182520"/>
            <a:ext cx="12186720" cy="1319760"/>
          </a:xfrm>
          <a:prstGeom prst="rect">
            <a:avLst/>
          </a:prstGeom>
          <a:noFill/>
          <a:ln w="190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Adapted algorithmic tools struggle with number of events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Rectangle 69"/>
          <p:cNvSpPr/>
          <p:nvPr/>
        </p:nvSpPr>
        <p:spPr>
          <a:xfrm>
            <a:off x="5486400" y="3748680"/>
            <a:ext cx="594144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0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Single-cell RNA-seq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→ substantially more markers, typically way </a:t>
            </a:r>
            <a:r>
              <a:rPr b="1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fewer events.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No equivalent “negative” gate events for not expressed transcripts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Rectangle 67"/>
          <p:cNvSpPr/>
          <p:nvPr/>
        </p:nvSpPr>
        <p:spPr>
          <a:xfrm>
            <a:off x="5486400" y="5332680"/>
            <a:ext cx="594144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OpenSymbol"/>
              <a:buChar char="►"/>
            </a:pPr>
            <a:r>
              <a:rPr b="1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Down-sampling becomes often necessary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"/>
          <p:cNvSpPr/>
          <p:nvPr/>
        </p:nvSpPr>
        <p:spPr>
          <a:xfrm>
            <a:off x="5486400" y="5332680"/>
            <a:ext cx="5941440" cy="608760"/>
          </a:xfrm>
          <a:prstGeom prst="rect">
            <a:avLst/>
          </a:prstGeom>
          <a:solidFill>
            <a:srgbClr val="f7d1d5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221" name="" descr=""/>
          <p:cNvPicPr/>
          <p:nvPr/>
        </p:nvPicPr>
        <p:blipFill>
          <a:blip r:embed="rId2"/>
          <a:stretch/>
        </p:blipFill>
        <p:spPr>
          <a:xfrm>
            <a:off x="381240" y="2057400"/>
            <a:ext cx="4874400" cy="2659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2" name="" descr=""/>
          <p:cNvPicPr/>
          <p:nvPr/>
        </p:nvPicPr>
        <p:blipFill>
          <a:blip r:embed="rId3"/>
          <a:stretch/>
        </p:blipFill>
        <p:spPr>
          <a:xfrm>
            <a:off x="457200" y="6172200"/>
            <a:ext cx="1368000" cy="356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" descr=""/>
          <p:cNvPicPr/>
          <p:nvPr/>
        </p:nvPicPr>
        <p:blipFill>
          <a:blip r:embed="rId1"/>
          <a:stretch/>
        </p:blipFill>
        <p:spPr>
          <a:xfrm>
            <a:off x="5768640" y="1863000"/>
            <a:ext cx="6116400" cy="296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4" name=""/>
          <p:cNvSpPr/>
          <p:nvPr/>
        </p:nvSpPr>
        <p:spPr>
          <a:xfrm>
            <a:off x="230040" y="1229040"/>
            <a:ext cx="5482800" cy="1368000"/>
          </a:xfrm>
          <a:prstGeom prst="rect">
            <a:avLst/>
          </a:prstGeom>
          <a:solidFill>
            <a:srgbClr val="f7d1d5">
              <a:alpha val="5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225" name="Picture 170" descr=""/>
          <p:cNvPicPr/>
          <p:nvPr/>
        </p:nvPicPr>
        <p:blipFill>
          <a:blip r:embed="rId2"/>
          <a:stretch/>
        </p:blipFill>
        <p:spPr>
          <a:xfrm>
            <a:off x="10435680" y="6172560"/>
            <a:ext cx="1139400" cy="397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6" name=""/>
          <p:cNvSpPr/>
          <p:nvPr/>
        </p:nvSpPr>
        <p:spPr>
          <a:xfrm>
            <a:off x="101880" y="89280"/>
            <a:ext cx="12011760" cy="59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Adapted algorithmic tools struggle with unmixing errors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Rectangle 70"/>
          <p:cNvSpPr/>
          <p:nvPr/>
        </p:nvSpPr>
        <p:spPr>
          <a:xfrm>
            <a:off x="228600" y="1192680"/>
            <a:ext cx="548784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Adapted software packages heavily rely on having a consistent </a:t>
            </a:r>
            <a:r>
              <a:rPr b="1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median fluorescent intensity (MFI)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to cluster cells based on positive or negative marker expression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"/>
          <p:cNvSpPr/>
          <p:nvPr/>
        </p:nvSpPr>
        <p:spPr>
          <a:xfrm>
            <a:off x="228600" y="4343400"/>
            <a:ext cx="5482800" cy="1368000"/>
          </a:xfrm>
          <a:prstGeom prst="rect">
            <a:avLst/>
          </a:prstGeom>
          <a:solidFill>
            <a:srgbClr val="77bc65">
              <a:alpha val="5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1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Unmixing errors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can seriously shift the MFI ranges for “negative” and “positive” cells for 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individual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acquired specimens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"/>
          <p:cNvSpPr/>
          <p:nvPr/>
        </p:nvSpPr>
        <p:spPr>
          <a:xfrm>
            <a:off x="228600" y="2780640"/>
            <a:ext cx="5482800" cy="1368000"/>
          </a:xfrm>
          <a:prstGeom prst="rect">
            <a:avLst/>
          </a:prstGeom>
          <a:solidFill>
            <a:srgbClr val="ff8000">
              <a:alpha val="2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Existing </a:t>
            </a:r>
            <a:r>
              <a:rPr b="1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batch correction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/ normalization / scaling tools target instrumental or 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experimental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level variation for correction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0" name="" descr=""/>
          <p:cNvPicPr/>
          <p:nvPr/>
        </p:nvPicPr>
        <p:blipFill>
          <a:blip r:embed="rId3"/>
          <a:stretch/>
        </p:blipFill>
        <p:spPr>
          <a:xfrm>
            <a:off x="457200" y="6172200"/>
            <a:ext cx="1368000" cy="356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"/>
          <p:cNvSpPr/>
          <p:nvPr/>
        </p:nvSpPr>
        <p:spPr>
          <a:xfrm>
            <a:off x="7317000" y="1144800"/>
            <a:ext cx="4568400" cy="1368000"/>
          </a:xfrm>
          <a:prstGeom prst="rect">
            <a:avLst/>
          </a:prstGeom>
          <a:solidFill>
            <a:srgbClr val="f7d1d5">
              <a:alpha val="5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232" name="Picture 49" descr=""/>
          <p:cNvPicPr/>
          <p:nvPr/>
        </p:nvPicPr>
        <p:blipFill>
          <a:blip r:embed="rId1"/>
          <a:stretch/>
        </p:blipFill>
        <p:spPr>
          <a:xfrm>
            <a:off x="10435680" y="6172560"/>
            <a:ext cx="1139400" cy="397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3" name=""/>
          <p:cNvSpPr/>
          <p:nvPr/>
        </p:nvSpPr>
        <p:spPr>
          <a:xfrm>
            <a:off x="101880" y="89280"/>
            <a:ext cx="120117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 “We discovered a novel dendritic cell cluster”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4" name="" descr=""/>
          <p:cNvPicPr/>
          <p:nvPr/>
        </p:nvPicPr>
        <p:blipFill>
          <a:blip r:embed="rId2"/>
          <a:stretch/>
        </p:blipFill>
        <p:spPr>
          <a:xfrm>
            <a:off x="457200" y="6172200"/>
            <a:ext cx="1368000" cy="356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5" name="" descr=""/>
          <p:cNvPicPr/>
          <p:nvPr/>
        </p:nvPicPr>
        <p:blipFill>
          <a:blip r:embed="rId3"/>
          <a:stretch/>
        </p:blipFill>
        <p:spPr>
          <a:xfrm>
            <a:off x="393120" y="1062000"/>
            <a:ext cx="6691680" cy="4651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6" name="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999000" y="4572360"/>
            <a:ext cx="1140840" cy="1140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7" name=""/>
          <p:cNvSpPr/>
          <p:nvPr/>
        </p:nvSpPr>
        <p:spPr>
          <a:xfrm>
            <a:off x="7399800" y="1143000"/>
            <a:ext cx="4570200" cy="182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Despite the critical importance unmixing controls play, few tools permit us to determine quality of the individual control before unmixing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"/>
          <p:cNvSpPr/>
          <p:nvPr/>
        </p:nvSpPr>
        <p:spPr>
          <a:xfrm>
            <a:off x="7315200" y="2514600"/>
            <a:ext cx="4570200" cy="182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Existing quality control algorithms (PeacoQC, FlowAI, etc.) primarily focus on detecting laser and fluidic issues in already acquired .fcs files. 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"/>
          <p:cNvSpPr/>
          <p:nvPr/>
        </p:nvSpPr>
        <p:spPr>
          <a:xfrm>
            <a:off x="7387200" y="3922200"/>
            <a:ext cx="4570200" cy="182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Unmixing errors can be introduced by tandem degradational, additional autofluorescences, undiagnosed instrumental issues, etc. 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"/>
          <p:cNvSpPr/>
          <p:nvPr/>
        </p:nvSpPr>
        <p:spPr>
          <a:xfrm>
            <a:off x="7315200" y="2552400"/>
            <a:ext cx="4568400" cy="1368000"/>
          </a:xfrm>
          <a:prstGeom prst="rect">
            <a:avLst/>
          </a:prstGeom>
          <a:solidFill>
            <a:srgbClr val="3faf46">
              <a:alpha val="2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41" name=""/>
          <p:cNvSpPr/>
          <p:nvPr/>
        </p:nvSpPr>
        <p:spPr>
          <a:xfrm>
            <a:off x="7281000" y="3994200"/>
            <a:ext cx="4568400" cy="1368000"/>
          </a:xfrm>
          <a:prstGeom prst="rect">
            <a:avLst/>
          </a:prstGeom>
          <a:solidFill>
            <a:srgbClr val="ffbf00">
              <a:alpha val="2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"/>
          <p:cNvSpPr/>
          <p:nvPr/>
        </p:nvSpPr>
        <p:spPr>
          <a:xfrm>
            <a:off x="6402240" y="4168440"/>
            <a:ext cx="4797000" cy="1315800"/>
          </a:xfrm>
          <a:prstGeom prst="rect">
            <a:avLst/>
          </a:prstGeom>
          <a:solidFill>
            <a:srgbClr val="6b5e9b">
              <a:alpha val="2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243" name="Picture 171" descr=""/>
          <p:cNvPicPr/>
          <p:nvPr/>
        </p:nvPicPr>
        <p:blipFill>
          <a:blip r:embed="rId1"/>
          <a:stretch/>
        </p:blipFill>
        <p:spPr>
          <a:xfrm>
            <a:off x="10435680" y="6172560"/>
            <a:ext cx="1139400" cy="397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4" name=""/>
          <p:cNvSpPr/>
          <p:nvPr/>
        </p:nvSpPr>
        <p:spPr>
          <a:xfrm>
            <a:off x="101880" y="89280"/>
            <a:ext cx="12011760" cy="59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Full biological discovery potential often out of reach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Rectangle 71"/>
          <p:cNvSpPr/>
          <p:nvPr/>
        </p:nvSpPr>
        <p:spPr>
          <a:xfrm>
            <a:off x="6400800" y="4082400"/>
            <a:ext cx="479844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For </a:t>
            </a:r>
            <a:r>
              <a:rPr b="1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most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spectral flow cytometry datasets, only a </a:t>
            </a:r>
            <a:r>
              <a:rPr b="1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handful of cell populations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end up being analyzed by any method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"/>
          <p:cNvSpPr/>
          <p:nvPr/>
        </p:nvSpPr>
        <p:spPr>
          <a:xfrm>
            <a:off x="6400800" y="1371600"/>
            <a:ext cx="4798440" cy="597600"/>
          </a:xfrm>
          <a:prstGeom prst="rect">
            <a:avLst/>
          </a:prstGeom>
          <a:solidFill>
            <a:srgbClr val="77bc65">
              <a:alpha val="2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47" name="Rectangle 72"/>
          <p:cNvSpPr/>
          <p:nvPr/>
        </p:nvSpPr>
        <p:spPr>
          <a:xfrm>
            <a:off x="6402240" y="1418400"/>
            <a:ext cx="415224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Most flow cytometrist don’t code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48" name=""/>
          <p:cNvGrpSpPr/>
          <p:nvPr/>
        </p:nvGrpSpPr>
        <p:grpSpPr>
          <a:xfrm>
            <a:off x="204480" y="1612800"/>
            <a:ext cx="5965560" cy="3252600"/>
            <a:chOff x="204480" y="1612800"/>
            <a:chExt cx="5965560" cy="3252600"/>
          </a:xfrm>
        </p:grpSpPr>
        <p:pic>
          <p:nvPicPr>
            <p:cNvPr id="249" name="" descr=""/>
            <p:cNvPicPr/>
            <p:nvPr/>
          </p:nvPicPr>
          <p:blipFill>
            <a:blip r:embed="rId2"/>
            <a:stretch/>
          </p:blipFill>
          <p:spPr>
            <a:xfrm>
              <a:off x="204480" y="1612800"/>
              <a:ext cx="5965560" cy="32526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50" name=""/>
            <p:cNvSpPr/>
            <p:nvPr/>
          </p:nvSpPr>
          <p:spPr>
            <a:xfrm>
              <a:off x="3886200" y="1900800"/>
              <a:ext cx="1826640" cy="22644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sp>
        <p:nvSpPr>
          <p:cNvPr id="251" name=""/>
          <p:cNvSpPr/>
          <p:nvPr/>
        </p:nvSpPr>
        <p:spPr>
          <a:xfrm>
            <a:off x="6402240" y="2143440"/>
            <a:ext cx="4797000" cy="826200"/>
          </a:xfrm>
          <a:prstGeom prst="rect">
            <a:avLst/>
          </a:prstGeom>
          <a:solidFill>
            <a:srgbClr val="ffe994">
              <a:alpha val="2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52" name="Rectangle 73"/>
          <p:cNvSpPr/>
          <p:nvPr/>
        </p:nvSpPr>
        <p:spPr>
          <a:xfrm>
            <a:off x="6400800" y="2201400"/>
            <a:ext cx="479844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You likely lost your bioinformatician while describing manual gating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"/>
          <p:cNvSpPr/>
          <p:nvPr/>
        </p:nvSpPr>
        <p:spPr>
          <a:xfrm>
            <a:off x="6398640" y="3134520"/>
            <a:ext cx="4800600" cy="737280"/>
          </a:xfrm>
          <a:prstGeom prst="rect">
            <a:avLst/>
          </a:prstGeom>
          <a:solidFill>
            <a:srgbClr val="ffa6a6">
              <a:alpha val="2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54" name="Rectangle 74"/>
          <p:cNvSpPr/>
          <p:nvPr/>
        </p:nvSpPr>
        <p:spPr>
          <a:xfrm>
            <a:off x="6397200" y="3156480"/>
            <a:ext cx="480204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The statisticians were never consulted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5" name="" descr=""/>
          <p:cNvPicPr/>
          <p:nvPr/>
        </p:nvPicPr>
        <p:blipFill>
          <a:blip r:embed="rId3"/>
          <a:stretch/>
        </p:blipFill>
        <p:spPr>
          <a:xfrm>
            <a:off x="457200" y="6172200"/>
            <a:ext cx="1368000" cy="356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Picture 172" descr=""/>
          <p:cNvPicPr/>
          <p:nvPr/>
        </p:nvPicPr>
        <p:blipFill>
          <a:blip r:embed="rId1"/>
          <a:srcRect l="13383" t="8378" r="6425" b="0"/>
          <a:stretch/>
        </p:blipFill>
        <p:spPr>
          <a:xfrm>
            <a:off x="2700720" y="1371600"/>
            <a:ext cx="2326320" cy="2283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7" name=""/>
          <p:cNvSpPr/>
          <p:nvPr/>
        </p:nvSpPr>
        <p:spPr>
          <a:xfrm>
            <a:off x="5486400" y="1828800"/>
            <a:ext cx="682200" cy="682200"/>
          </a:xfrm>
          <a:prstGeom prst="rect">
            <a:avLst/>
          </a:prstGeom>
          <a:solidFill>
            <a:srgbClr val="ffffff"/>
          </a:solidFill>
          <a:ln w="36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360" rIns="108360" tIns="63360" bIns="6336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258" name="Picture 173" descr=""/>
          <p:cNvPicPr/>
          <p:nvPr/>
        </p:nvPicPr>
        <p:blipFill>
          <a:blip r:embed="rId2"/>
          <a:stretch/>
        </p:blipFill>
        <p:spPr>
          <a:xfrm>
            <a:off x="10435680" y="6172560"/>
            <a:ext cx="1139400" cy="397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9" name=""/>
          <p:cNvSpPr/>
          <p:nvPr/>
        </p:nvSpPr>
        <p:spPr>
          <a:xfrm>
            <a:off x="0" y="41040"/>
            <a:ext cx="12113640" cy="10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To unlock the comprehensive biological discovery potential,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we need to address these pink elephants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"/>
          <p:cNvSpPr/>
          <p:nvPr/>
        </p:nvSpPr>
        <p:spPr>
          <a:xfrm>
            <a:off x="6402240" y="1457640"/>
            <a:ext cx="5025600" cy="1329120"/>
          </a:xfrm>
          <a:prstGeom prst="rect">
            <a:avLst/>
          </a:prstGeom>
          <a:solidFill>
            <a:srgbClr val="77bc65">
              <a:alpha val="2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61" name="Rectangle 75"/>
          <p:cNvSpPr/>
          <p:nvPr/>
        </p:nvSpPr>
        <p:spPr>
          <a:xfrm>
            <a:off x="6402240" y="1418400"/>
            <a:ext cx="502560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Quality of the unmixed full-stained data is linked to the quality of our single-color controls (and our ability to provide appropriate autofluorescence controls). 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"/>
          <p:cNvSpPr/>
          <p:nvPr/>
        </p:nvSpPr>
        <p:spPr>
          <a:xfrm>
            <a:off x="6400800" y="3214440"/>
            <a:ext cx="5027040" cy="1512000"/>
          </a:xfrm>
          <a:prstGeom prst="rect">
            <a:avLst/>
          </a:prstGeom>
          <a:solidFill>
            <a:srgbClr val="ffe994">
              <a:alpha val="2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63" name="Rectangle 77"/>
          <p:cNvSpPr/>
          <p:nvPr/>
        </p:nvSpPr>
        <p:spPr>
          <a:xfrm>
            <a:off x="6400800" y="3201480"/>
            <a:ext cx="502560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If we are acquiring 3 million cells to detect 100 rare cells, how do we thoroughly explore the rest of the sample to avoid wasting useful data?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"/>
          <p:cNvSpPr/>
          <p:nvPr/>
        </p:nvSpPr>
        <p:spPr>
          <a:xfrm>
            <a:off x="5486400" y="3585600"/>
            <a:ext cx="682200" cy="682200"/>
          </a:xfrm>
          <a:prstGeom prst="rect">
            <a:avLst/>
          </a:prstGeom>
          <a:solidFill>
            <a:srgbClr val="ffffff"/>
          </a:solidFill>
          <a:ln w="36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360" rIns="108360" tIns="63360" bIns="6336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265" name="" descr=""/>
          <p:cNvPicPr/>
          <p:nvPr/>
        </p:nvPicPr>
        <p:blipFill>
          <a:blip r:embed="rId3"/>
          <a:stretch/>
        </p:blipFill>
        <p:spPr>
          <a:xfrm>
            <a:off x="651960" y="3357000"/>
            <a:ext cx="2774880" cy="2741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6" name="" descr=""/>
          <p:cNvPicPr/>
          <p:nvPr/>
        </p:nvPicPr>
        <p:blipFill>
          <a:blip r:embed="rId4"/>
          <a:stretch/>
        </p:blipFill>
        <p:spPr>
          <a:xfrm>
            <a:off x="457200" y="6172200"/>
            <a:ext cx="1368000" cy="356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"/>
          <p:cNvSpPr/>
          <p:nvPr/>
        </p:nvSpPr>
        <p:spPr>
          <a:xfrm>
            <a:off x="4343400" y="3429000"/>
            <a:ext cx="3427200" cy="684000"/>
          </a:xfrm>
          <a:prstGeom prst="rect">
            <a:avLst/>
          </a:prstGeom>
          <a:solidFill>
            <a:srgbClr val="ffbf00">
              <a:alpha val="2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268" name="Picture 73" descr=""/>
          <p:cNvPicPr/>
          <p:nvPr/>
        </p:nvPicPr>
        <p:blipFill>
          <a:blip r:embed="rId1"/>
          <a:stretch/>
        </p:blipFill>
        <p:spPr>
          <a:xfrm>
            <a:off x="10435680" y="6172560"/>
            <a:ext cx="1139400" cy="397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9" name=""/>
          <p:cNvSpPr/>
          <p:nvPr/>
        </p:nvSpPr>
        <p:spPr>
          <a:xfrm>
            <a:off x="0" y="41040"/>
            <a:ext cx="121136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Building open-source tool-sets to address SFC’s quirks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0" name="" descr=""/>
          <p:cNvPicPr/>
          <p:nvPr/>
        </p:nvPicPr>
        <p:blipFill>
          <a:blip r:embed="rId2"/>
          <a:stretch/>
        </p:blipFill>
        <p:spPr>
          <a:xfrm>
            <a:off x="457200" y="6172200"/>
            <a:ext cx="1368000" cy="356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1" name="" descr=""/>
          <p:cNvPicPr/>
          <p:nvPr/>
        </p:nvPicPr>
        <p:blipFill>
          <a:blip r:embed="rId3"/>
          <a:stretch/>
        </p:blipFill>
        <p:spPr>
          <a:xfrm>
            <a:off x="1371600" y="1371240"/>
            <a:ext cx="2107440" cy="1824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2" name="" descr=""/>
          <p:cNvPicPr/>
          <p:nvPr/>
        </p:nvPicPr>
        <p:blipFill>
          <a:blip r:embed="rId4"/>
          <a:stretch/>
        </p:blipFill>
        <p:spPr>
          <a:xfrm>
            <a:off x="5029200" y="1271880"/>
            <a:ext cx="2277360" cy="1971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3" name=""/>
          <p:cNvSpPr/>
          <p:nvPr/>
        </p:nvSpPr>
        <p:spPr>
          <a:xfrm>
            <a:off x="687600" y="3476520"/>
            <a:ext cx="34254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Spectral Signature Characterization and Isolation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"/>
          <p:cNvSpPr/>
          <p:nvPr/>
        </p:nvSpPr>
        <p:spPr>
          <a:xfrm>
            <a:off x="8208000" y="3428640"/>
            <a:ext cx="34254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Automated Instrument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Quality-Control Dashboards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"/>
          <p:cNvSpPr/>
          <p:nvPr/>
        </p:nvSpPr>
        <p:spPr>
          <a:xfrm>
            <a:off x="4343400" y="3475800"/>
            <a:ext cx="34254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Incorporation of manually-annotated gating information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6" name="" descr=""/>
          <p:cNvPicPr/>
          <p:nvPr/>
        </p:nvPicPr>
        <p:blipFill>
          <a:blip r:embed="rId5"/>
          <a:stretch/>
        </p:blipFill>
        <p:spPr>
          <a:xfrm>
            <a:off x="9027720" y="1143000"/>
            <a:ext cx="1920240" cy="2218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7" name=""/>
          <p:cNvSpPr/>
          <p:nvPr/>
        </p:nvSpPr>
        <p:spPr>
          <a:xfrm>
            <a:off x="8206200" y="3428640"/>
            <a:ext cx="3427200" cy="684000"/>
          </a:xfrm>
          <a:prstGeom prst="rect">
            <a:avLst/>
          </a:prstGeom>
          <a:solidFill>
            <a:srgbClr val="729fcf">
              <a:alpha val="2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78" name=""/>
          <p:cNvSpPr/>
          <p:nvPr/>
        </p:nvSpPr>
        <p:spPr>
          <a:xfrm>
            <a:off x="685800" y="3429000"/>
            <a:ext cx="3427200" cy="684000"/>
          </a:xfrm>
          <a:prstGeom prst="rect">
            <a:avLst/>
          </a:prstGeom>
          <a:solidFill>
            <a:srgbClr val="a1467e">
              <a:alpha val="2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279" name="" descr=""/>
          <p:cNvPicPr/>
          <p:nvPr/>
        </p:nvPicPr>
        <p:blipFill>
          <a:blip r:embed="rId6"/>
          <a:stretch/>
        </p:blipFill>
        <p:spPr>
          <a:xfrm>
            <a:off x="6172200" y="4710600"/>
            <a:ext cx="2188440" cy="1459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0" name=""/>
          <p:cNvSpPr/>
          <p:nvPr/>
        </p:nvSpPr>
        <p:spPr>
          <a:xfrm>
            <a:off x="6172200" y="5943600"/>
            <a:ext cx="2512800" cy="684000"/>
          </a:xfrm>
          <a:prstGeom prst="rect">
            <a:avLst/>
          </a:prstGeom>
          <a:solidFill>
            <a:srgbClr val="ff7b59">
              <a:alpha val="2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281" name="Picture 72" descr=""/>
          <p:cNvPicPr/>
          <p:nvPr/>
        </p:nvPicPr>
        <p:blipFill>
          <a:blip r:embed="rId7"/>
          <a:stretch/>
        </p:blipFill>
        <p:spPr>
          <a:xfrm>
            <a:off x="3429000" y="4898160"/>
            <a:ext cx="2284200" cy="1729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2" name=""/>
          <p:cNvSpPr/>
          <p:nvPr/>
        </p:nvSpPr>
        <p:spPr>
          <a:xfrm>
            <a:off x="6930000" y="6100200"/>
            <a:ext cx="961560" cy="67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Rust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Picture 174" descr=""/>
          <p:cNvPicPr/>
          <p:nvPr/>
        </p:nvPicPr>
        <p:blipFill>
          <a:blip r:embed="rId1"/>
          <a:stretch/>
        </p:blipFill>
        <p:spPr>
          <a:xfrm>
            <a:off x="1908720" y="698760"/>
            <a:ext cx="8370720" cy="5858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4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10400" cy="6361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My PhD’s focus: HIV-exposed Uninfected Infants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5" name="Picture 175" descr=""/>
          <p:cNvPicPr/>
          <p:nvPr/>
        </p:nvPicPr>
        <p:blipFill>
          <a:blip r:embed="rId2"/>
          <a:stretch/>
        </p:blipFill>
        <p:spPr>
          <a:xfrm>
            <a:off x="10435680" y="6172200"/>
            <a:ext cx="1139400" cy="397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6" name="" descr=""/>
          <p:cNvPicPr/>
          <p:nvPr/>
        </p:nvPicPr>
        <p:blipFill>
          <a:blip r:embed="rId3"/>
          <a:stretch/>
        </p:blipFill>
        <p:spPr>
          <a:xfrm>
            <a:off x="457200" y="6172200"/>
            <a:ext cx="1368000" cy="356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" descr=""/>
          <p:cNvPicPr/>
          <p:nvPr/>
        </p:nvPicPr>
        <p:blipFill>
          <a:blip r:embed="rId1"/>
          <a:stretch/>
        </p:blipFill>
        <p:spPr>
          <a:xfrm>
            <a:off x="2743200" y="756000"/>
            <a:ext cx="7083000" cy="4956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8" name="Picture 81" descr=""/>
          <p:cNvPicPr/>
          <p:nvPr/>
        </p:nvPicPr>
        <p:blipFill>
          <a:blip r:embed="rId2"/>
          <a:stretch/>
        </p:blipFill>
        <p:spPr>
          <a:xfrm>
            <a:off x="10435680" y="6172560"/>
            <a:ext cx="1139400" cy="397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9" name="PlaceHolder 23"/>
          <p:cNvSpPr/>
          <p:nvPr/>
        </p:nvSpPr>
        <p:spPr>
          <a:xfrm>
            <a:off x="79560" y="47520"/>
            <a:ext cx="12110400" cy="636120"/>
          </a:xfrm>
          <a:prstGeom prst="rect">
            <a:avLst/>
          </a:prstGeom>
          <a:noFill/>
          <a:ln w="190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rmAutofit lnSpcReduction="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HIV-exposed Uninfected Infants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0" name="" descr=""/>
          <p:cNvPicPr/>
          <p:nvPr/>
        </p:nvPicPr>
        <p:blipFill>
          <a:blip r:embed="rId3"/>
          <a:stretch/>
        </p:blipFill>
        <p:spPr>
          <a:xfrm>
            <a:off x="457200" y="6172200"/>
            <a:ext cx="1368000" cy="356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"/>
          <p:cNvSpPr/>
          <p:nvPr/>
        </p:nvSpPr>
        <p:spPr>
          <a:xfrm>
            <a:off x="6334200" y="1569600"/>
            <a:ext cx="4629240" cy="2055240"/>
          </a:xfrm>
          <a:prstGeom prst="rect">
            <a:avLst/>
          </a:prstGeom>
          <a:solidFill>
            <a:srgbClr val="afd095">
              <a:alpha val="5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92" name="PlaceHolder 1"/>
          <p:cNvSpPr>
            <a:spLocks noGrp="1"/>
          </p:cNvSpPr>
          <p:nvPr>
            <p:ph type="subTitle"/>
          </p:nvPr>
        </p:nvSpPr>
        <p:spPr>
          <a:xfrm>
            <a:off x="6370200" y="1405080"/>
            <a:ext cx="4600440" cy="210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MT Extra" charset="2"/>
              <a:buChar char="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Immunological cause?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3" name="" descr=""/>
          <p:cNvPicPr/>
          <p:nvPr/>
        </p:nvPicPr>
        <p:blipFill>
          <a:blip r:embed="rId1"/>
          <a:srcRect l="22106" t="23909" r="46374" b="28223"/>
          <a:stretch/>
        </p:blipFill>
        <p:spPr>
          <a:xfrm rot="16172400">
            <a:off x="6841440" y="2008080"/>
            <a:ext cx="852480" cy="85176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</p:pic>
      <p:pic>
        <p:nvPicPr>
          <p:cNvPr id="294" name="Picture 83" descr="Engineering drawing&#10;&#10;Description automatically generated"/>
          <p:cNvPicPr/>
          <p:nvPr/>
        </p:nvPicPr>
        <p:blipFill>
          <a:blip r:embed="rId2"/>
          <a:stretch/>
        </p:blipFill>
        <p:spPr>
          <a:xfrm>
            <a:off x="970920" y="2142000"/>
            <a:ext cx="4416840" cy="2795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5" name=""/>
          <p:cNvSpPr/>
          <p:nvPr/>
        </p:nvSpPr>
        <p:spPr>
          <a:xfrm>
            <a:off x="6334200" y="3886200"/>
            <a:ext cx="4629240" cy="2055240"/>
          </a:xfrm>
          <a:prstGeom prst="rect">
            <a:avLst/>
          </a:prstGeom>
          <a:solidFill>
            <a:srgbClr val="729fcf">
              <a:alpha val="5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296" name="" descr=""/>
          <p:cNvPicPr/>
          <p:nvPr/>
        </p:nvPicPr>
        <p:blipFill>
          <a:blip r:embed="rId3"/>
          <a:srcRect l="22575" t="34781" r="45311" b="30326"/>
          <a:stretch/>
        </p:blipFill>
        <p:spPr>
          <a:xfrm>
            <a:off x="8069760" y="2003400"/>
            <a:ext cx="1132560" cy="84996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</p:pic>
      <p:pic>
        <p:nvPicPr>
          <p:cNvPr id="297" name="" descr=""/>
          <p:cNvPicPr/>
          <p:nvPr/>
        </p:nvPicPr>
        <p:blipFill>
          <a:blip r:embed="rId4"/>
          <a:srcRect l="23425" t="35568" r="50799" b="28223"/>
          <a:stretch/>
        </p:blipFill>
        <p:spPr>
          <a:xfrm>
            <a:off x="9482040" y="2098440"/>
            <a:ext cx="844920" cy="62136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</p:pic>
      <p:sp>
        <p:nvSpPr>
          <p:cNvPr id="298" name=""/>
          <p:cNvSpPr/>
          <p:nvPr/>
        </p:nvSpPr>
        <p:spPr>
          <a:xfrm>
            <a:off x="6727320" y="2984400"/>
            <a:ext cx="1025640" cy="54648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Too active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"/>
          <p:cNvSpPr/>
          <p:nvPr/>
        </p:nvSpPr>
        <p:spPr>
          <a:xfrm>
            <a:off x="8136000" y="2944080"/>
            <a:ext cx="1025640" cy="54648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Too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inactive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"/>
          <p:cNvSpPr/>
          <p:nvPr/>
        </p:nvSpPr>
        <p:spPr>
          <a:xfrm>
            <a:off x="9437040" y="2944080"/>
            <a:ext cx="1025640" cy="54648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Cells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missing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"/>
          <p:cNvSpPr/>
          <p:nvPr/>
        </p:nvSpPr>
        <p:spPr>
          <a:xfrm>
            <a:off x="6591600" y="3886200"/>
            <a:ext cx="4371840" cy="10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Other factor?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2" name="" descr=""/>
          <p:cNvPicPr/>
          <p:nvPr/>
        </p:nvPicPr>
        <p:blipFill>
          <a:blip r:embed="rId5"/>
          <a:srcRect l="74299" t="7891" r="0" b="56316"/>
          <a:stretch/>
        </p:blipFill>
        <p:spPr>
          <a:xfrm>
            <a:off x="9273960" y="4341600"/>
            <a:ext cx="917280" cy="894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3" name=""/>
          <p:cNvSpPr/>
          <p:nvPr/>
        </p:nvSpPr>
        <p:spPr>
          <a:xfrm>
            <a:off x="8908200" y="5188320"/>
            <a:ext cx="1797840" cy="54648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Maternal Antiretrovirals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"/>
          <p:cNvSpPr/>
          <p:nvPr/>
        </p:nvSpPr>
        <p:spPr>
          <a:xfrm>
            <a:off x="6550920" y="5188320"/>
            <a:ext cx="2055600" cy="54648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Formula vs. Breastfeeding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5" name="" descr=""/>
          <p:cNvPicPr/>
          <p:nvPr/>
        </p:nvPicPr>
        <p:blipFill>
          <a:blip r:embed="rId6"/>
          <a:stretch/>
        </p:blipFill>
        <p:spPr>
          <a:xfrm>
            <a:off x="7363800" y="4333320"/>
            <a:ext cx="538560" cy="812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6" name="Picture 84" descr=""/>
          <p:cNvPicPr/>
          <p:nvPr/>
        </p:nvPicPr>
        <p:blipFill>
          <a:blip r:embed="rId7"/>
          <a:stretch/>
        </p:blipFill>
        <p:spPr>
          <a:xfrm>
            <a:off x="10435680" y="6172560"/>
            <a:ext cx="1139400" cy="397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7" name="PlaceHolder 24"/>
          <p:cNvSpPr/>
          <p:nvPr/>
        </p:nvSpPr>
        <p:spPr>
          <a:xfrm>
            <a:off x="79560" y="47880"/>
            <a:ext cx="12110400" cy="636120"/>
          </a:xfrm>
          <a:prstGeom prst="rect">
            <a:avLst/>
          </a:prstGeom>
          <a:noFill/>
          <a:ln w="190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rmAutofit lnSpcReduction="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Is there an immunological cause?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8" name="" descr=""/>
          <p:cNvPicPr/>
          <p:nvPr/>
        </p:nvPicPr>
        <p:blipFill>
          <a:blip r:embed="rId8"/>
          <a:stretch/>
        </p:blipFill>
        <p:spPr>
          <a:xfrm>
            <a:off x="457200" y="6172200"/>
            <a:ext cx="1368000" cy="356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"/>
          <p:cNvSpPr/>
          <p:nvPr/>
        </p:nvSpPr>
        <p:spPr>
          <a:xfrm>
            <a:off x="6653880" y="3448080"/>
            <a:ext cx="4316760" cy="2281320"/>
          </a:xfrm>
          <a:prstGeom prst="rect">
            <a:avLst/>
          </a:prstGeom>
          <a:solidFill>
            <a:srgbClr val="afd095">
              <a:alpha val="5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10" name=""/>
          <p:cNvSpPr/>
          <p:nvPr/>
        </p:nvSpPr>
        <p:spPr>
          <a:xfrm>
            <a:off x="1373040" y="1163160"/>
            <a:ext cx="4316760" cy="4566240"/>
          </a:xfrm>
          <a:prstGeom prst="rect">
            <a:avLst/>
          </a:prstGeom>
          <a:solidFill>
            <a:srgbClr val="ffd7d7">
              <a:alpha val="2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11" name=""/>
          <p:cNvSpPr/>
          <p:nvPr/>
        </p:nvSpPr>
        <p:spPr>
          <a:xfrm>
            <a:off x="6653880" y="1143000"/>
            <a:ext cx="4316760" cy="2027520"/>
          </a:xfrm>
          <a:prstGeom prst="rect">
            <a:avLst/>
          </a:prstGeom>
          <a:solidFill>
            <a:srgbClr val="ffb66c">
              <a:alpha val="5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12" name=""/>
          <p:cNvSpPr/>
          <p:nvPr/>
        </p:nvSpPr>
        <p:spPr>
          <a:xfrm>
            <a:off x="3533400" y="1280160"/>
            <a:ext cx="1196280" cy="3636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spAutoFit/>
          </a:bodyPr>
          <a:p>
            <a:pPr algn="ctr">
              <a:lnSpc>
                <a:spcPct val="100000"/>
              </a:lnSpc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Mother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"/>
          <p:cNvSpPr/>
          <p:nvPr/>
        </p:nvSpPr>
        <p:spPr>
          <a:xfrm>
            <a:off x="4013280" y="5249880"/>
            <a:ext cx="1196640" cy="3636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spAutoFit/>
          </a:bodyPr>
          <a:p>
            <a:pPr algn="ctr">
              <a:lnSpc>
                <a:spcPct val="100000"/>
              </a:lnSpc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Fetus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"/>
          <p:cNvSpPr/>
          <p:nvPr/>
        </p:nvSpPr>
        <p:spPr>
          <a:xfrm>
            <a:off x="6834960" y="1338480"/>
            <a:ext cx="413568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100" strike="noStrike" u="sng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Does the maternal immune system respond?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OpenSymbol"/>
              <a:buChar char="►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Is there interaction?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OpenSymbol"/>
              <a:buChar char="►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Is there damage?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5" name="" descr=""/>
          <p:cNvPicPr/>
          <p:nvPr/>
        </p:nvPicPr>
        <p:blipFill>
          <a:blip r:embed="rId1"/>
          <a:srcRect l="0" t="0" r="46366" b="22025"/>
          <a:stretch/>
        </p:blipFill>
        <p:spPr>
          <a:xfrm>
            <a:off x="1613160" y="1339560"/>
            <a:ext cx="4076640" cy="4389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6" name=""/>
          <p:cNvSpPr/>
          <p:nvPr/>
        </p:nvSpPr>
        <p:spPr>
          <a:xfrm>
            <a:off x="6695640" y="3508200"/>
            <a:ext cx="4275000" cy="20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100" strike="noStrike" u="sng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Is the developing fetal immune system affected?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OpenSymbol"/>
              <a:buChar char="►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Shared circulation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OpenSymbol"/>
              <a:buChar char="►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Location, Scale, Timing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MT Extra" charset="2"/>
              <a:buChar char="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Cold, Upper Nasal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MT Extra" charset="2"/>
              <a:buChar char="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Influenza, Systemic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7" name="Picture 78" descr=""/>
          <p:cNvPicPr/>
          <p:nvPr/>
        </p:nvPicPr>
        <p:blipFill>
          <a:blip r:embed="rId2"/>
          <a:stretch/>
        </p:blipFill>
        <p:spPr>
          <a:xfrm>
            <a:off x="10435680" y="6172560"/>
            <a:ext cx="1139400" cy="397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8" name="PlaceHolder 12"/>
          <p:cNvSpPr/>
          <p:nvPr/>
        </p:nvSpPr>
        <p:spPr>
          <a:xfrm>
            <a:off x="0" y="181080"/>
            <a:ext cx="12113640" cy="731160"/>
          </a:xfrm>
          <a:prstGeom prst="rect">
            <a:avLst/>
          </a:prstGeom>
          <a:noFill/>
          <a:ln w="190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Infection during pregnancy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9" name="" descr=""/>
          <p:cNvPicPr/>
          <p:nvPr/>
        </p:nvPicPr>
        <p:blipFill>
          <a:blip r:embed="rId3"/>
          <a:stretch/>
        </p:blipFill>
        <p:spPr>
          <a:xfrm>
            <a:off x="457200" y="6172200"/>
            <a:ext cx="1368000" cy="356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" descr=""/>
          <p:cNvPicPr/>
          <p:nvPr/>
        </p:nvPicPr>
        <p:blipFill>
          <a:blip r:embed="rId1"/>
          <a:srcRect l="0" t="0" r="46366" b="22025"/>
          <a:stretch/>
        </p:blipFill>
        <p:spPr>
          <a:xfrm>
            <a:off x="4899600" y="1384200"/>
            <a:ext cx="1731960" cy="184140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</p:pic>
      <p:pic>
        <p:nvPicPr>
          <p:cNvPr id="321" name="" descr=""/>
          <p:cNvPicPr/>
          <p:nvPr/>
        </p:nvPicPr>
        <p:blipFill>
          <a:blip r:embed="rId2"/>
          <a:srcRect l="0" t="0" r="46374" b="28223"/>
          <a:stretch/>
        </p:blipFill>
        <p:spPr>
          <a:xfrm>
            <a:off x="1730160" y="3493080"/>
            <a:ext cx="2124720" cy="195552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</p:pic>
      <p:pic>
        <p:nvPicPr>
          <p:cNvPr id="322" name="" descr=""/>
          <p:cNvPicPr/>
          <p:nvPr/>
        </p:nvPicPr>
        <p:blipFill>
          <a:blip r:embed="rId3"/>
          <a:srcRect l="0" t="0" r="50799" b="28223"/>
          <a:stretch/>
        </p:blipFill>
        <p:spPr>
          <a:xfrm>
            <a:off x="7392600" y="3743640"/>
            <a:ext cx="1848960" cy="185472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</p:pic>
      <p:pic>
        <p:nvPicPr>
          <p:cNvPr id="323" name="" descr=""/>
          <p:cNvPicPr/>
          <p:nvPr/>
        </p:nvPicPr>
        <p:blipFill>
          <a:blip r:embed="rId4"/>
          <a:srcRect l="0" t="0" r="45311" b="30326"/>
          <a:stretch/>
        </p:blipFill>
        <p:spPr>
          <a:xfrm>
            <a:off x="4506840" y="3643200"/>
            <a:ext cx="2124720" cy="195516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</p:pic>
      <p:sp>
        <p:nvSpPr>
          <p:cNvPr id="324" name=""/>
          <p:cNvSpPr/>
          <p:nvPr/>
        </p:nvSpPr>
        <p:spPr>
          <a:xfrm>
            <a:off x="1839240" y="5574960"/>
            <a:ext cx="2015640" cy="63792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spAutoFit/>
          </a:bodyPr>
          <a:p>
            <a:pPr algn="ctr">
              <a:lnSpc>
                <a:spcPct val="100000"/>
              </a:lnSpc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Activated, Differentiated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"/>
          <p:cNvSpPr/>
          <p:nvPr/>
        </p:nvSpPr>
        <p:spPr>
          <a:xfrm>
            <a:off x="4868280" y="5726160"/>
            <a:ext cx="1510920" cy="63792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spAutoFit/>
          </a:bodyPr>
          <a:p>
            <a:pPr algn="ctr">
              <a:lnSpc>
                <a:spcPct val="100000"/>
              </a:lnSpc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Activated, Repressed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"/>
          <p:cNvSpPr/>
          <p:nvPr/>
        </p:nvSpPr>
        <p:spPr>
          <a:xfrm>
            <a:off x="7525800" y="5726160"/>
            <a:ext cx="1510920" cy="63792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spAutoFit/>
          </a:bodyPr>
          <a:p>
            <a:pPr algn="ctr">
              <a:lnSpc>
                <a:spcPct val="100000"/>
              </a:lnSpc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Activated, Eliminated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"/>
          <p:cNvSpPr/>
          <p:nvPr/>
        </p:nvSpPr>
        <p:spPr>
          <a:xfrm>
            <a:off x="3132720" y="1752480"/>
            <a:ext cx="1510920" cy="91224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spAutoFit/>
          </a:bodyPr>
          <a:p>
            <a:pPr algn="ctr">
              <a:lnSpc>
                <a:spcPct val="100000"/>
              </a:lnSpc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Infection during pregnancy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"/>
          <p:cNvSpPr/>
          <p:nvPr/>
        </p:nvSpPr>
        <p:spPr>
          <a:xfrm flipH="1">
            <a:off x="3858480" y="2966040"/>
            <a:ext cx="757440" cy="457920"/>
          </a:xfrm>
          <a:prstGeom prst="line">
            <a:avLst/>
          </a:prstGeom>
          <a:ln w="109800">
            <a:solidFill>
              <a:srgbClr val="bf004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44720" rIns="144720" tIns="99720" bIns="9972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29" name=""/>
          <p:cNvSpPr/>
          <p:nvPr/>
        </p:nvSpPr>
        <p:spPr>
          <a:xfrm>
            <a:off x="6382800" y="3493080"/>
            <a:ext cx="360" cy="790920"/>
          </a:xfrm>
          <a:prstGeom prst="line">
            <a:avLst/>
          </a:prstGeom>
          <a:ln w="109800">
            <a:solidFill>
              <a:srgbClr val="bf004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44720" rIns="144720" tIns="99720" bIns="9972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30" name=""/>
          <p:cNvSpPr/>
          <p:nvPr/>
        </p:nvSpPr>
        <p:spPr>
          <a:xfrm>
            <a:off x="6887880" y="2966040"/>
            <a:ext cx="757080" cy="527040"/>
          </a:xfrm>
          <a:prstGeom prst="line">
            <a:avLst/>
          </a:prstGeom>
          <a:ln w="109800">
            <a:solidFill>
              <a:srgbClr val="bf004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44720" rIns="144720" tIns="99720" bIns="9972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31" name=""/>
          <p:cNvSpPr/>
          <p:nvPr/>
        </p:nvSpPr>
        <p:spPr>
          <a:xfrm>
            <a:off x="7140240" y="2281680"/>
            <a:ext cx="1262160" cy="156960"/>
          </a:xfrm>
          <a:prstGeom prst="line">
            <a:avLst/>
          </a:prstGeom>
          <a:ln w="109800">
            <a:solidFill>
              <a:srgbClr val="bf004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44720" rIns="144720" tIns="36360" bIns="3636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332" name="" descr=""/>
          <p:cNvPicPr/>
          <p:nvPr/>
        </p:nvPicPr>
        <p:blipFill>
          <a:blip r:embed="rId5"/>
          <a:srcRect l="0" t="0" r="46374" b="31457"/>
          <a:stretch/>
        </p:blipFill>
        <p:spPr>
          <a:xfrm>
            <a:off x="8654760" y="1647720"/>
            <a:ext cx="1689120" cy="157788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</p:pic>
      <p:sp>
        <p:nvSpPr>
          <p:cNvPr id="333" name=""/>
          <p:cNvSpPr/>
          <p:nvPr/>
        </p:nvSpPr>
        <p:spPr>
          <a:xfrm>
            <a:off x="9664560" y="3353400"/>
            <a:ext cx="1763280" cy="63792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spAutoFit/>
          </a:bodyPr>
          <a:p>
            <a:pPr algn="ctr">
              <a:lnSpc>
                <a:spcPct val="100000"/>
              </a:lnSpc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Never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Activated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4" name="Picture 79" descr=""/>
          <p:cNvPicPr/>
          <p:nvPr/>
        </p:nvPicPr>
        <p:blipFill>
          <a:blip r:embed="rId6"/>
          <a:stretch/>
        </p:blipFill>
        <p:spPr>
          <a:xfrm>
            <a:off x="10435680" y="5956560"/>
            <a:ext cx="1139400" cy="397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5" name="PlaceHolder 31"/>
          <p:cNvSpPr/>
          <p:nvPr/>
        </p:nvSpPr>
        <p:spPr>
          <a:xfrm>
            <a:off x="231840" y="47520"/>
            <a:ext cx="12110400" cy="636120"/>
          </a:xfrm>
          <a:prstGeom prst="rect">
            <a:avLst/>
          </a:prstGeom>
          <a:noFill/>
          <a:ln w="190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What effect does early exposure have on the fetal immune system?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6" name="" descr=""/>
          <p:cNvPicPr/>
          <p:nvPr/>
        </p:nvPicPr>
        <p:blipFill>
          <a:blip r:embed="rId7"/>
          <a:stretch/>
        </p:blipFill>
        <p:spPr>
          <a:xfrm>
            <a:off x="457200" y="6172200"/>
            <a:ext cx="1368000" cy="356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"/>
          <p:cNvSpPr/>
          <p:nvPr/>
        </p:nvSpPr>
        <p:spPr>
          <a:xfrm>
            <a:off x="1143000" y="5148720"/>
            <a:ext cx="3854520" cy="984600"/>
          </a:xfrm>
          <a:prstGeom prst="rect">
            <a:avLst/>
          </a:prstGeom>
          <a:solidFill>
            <a:srgbClr val="ec9ba4">
              <a:alpha val="5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38" name=""/>
          <p:cNvSpPr/>
          <p:nvPr/>
        </p:nvSpPr>
        <p:spPr>
          <a:xfrm>
            <a:off x="1143000" y="4079520"/>
            <a:ext cx="3854520" cy="1024920"/>
          </a:xfrm>
          <a:prstGeom prst="rect">
            <a:avLst/>
          </a:prstGeom>
          <a:solidFill>
            <a:srgbClr val="dee6ef">
              <a:alpha val="5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39" name=""/>
          <p:cNvSpPr/>
          <p:nvPr/>
        </p:nvSpPr>
        <p:spPr>
          <a:xfrm>
            <a:off x="1143000" y="1371600"/>
            <a:ext cx="3854520" cy="1282320"/>
          </a:xfrm>
          <a:prstGeom prst="rect">
            <a:avLst/>
          </a:prstGeom>
          <a:solidFill>
            <a:srgbClr val="afd095">
              <a:alpha val="5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40" name=""/>
          <p:cNvSpPr/>
          <p:nvPr/>
        </p:nvSpPr>
        <p:spPr>
          <a:xfrm>
            <a:off x="1143000" y="2738520"/>
            <a:ext cx="3854520" cy="1282320"/>
          </a:xfrm>
          <a:prstGeom prst="rect">
            <a:avLst/>
          </a:prstGeom>
          <a:solidFill>
            <a:srgbClr val="ffdbb6">
              <a:alpha val="5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341" name="" descr=""/>
          <p:cNvPicPr/>
          <p:nvPr/>
        </p:nvPicPr>
        <p:blipFill>
          <a:blip r:embed="rId1"/>
          <a:srcRect l="22106" t="23909" r="46374" b="28223"/>
          <a:stretch/>
        </p:blipFill>
        <p:spPr>
          <a:xfrm>
            <a:off x="1400040" y="2833920"/>
            <a:ext cx="1107360" cy="110664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</p:pic>
      <p:pic>
        <p:nvPicPr>
          <p:cNvPr id="342" name="" descr=""/>
          <p:cNvPicPr/>
          <p:nvPr/>
        </p:nvPicPr>
        <p:blipFill>
          <a:blip r:embed="rId2"/>
          <a:srcRect l="23425" t="35568" r="50799" b="28223"/>
          <a:stretch/>
        </p:blipFill>
        <p:spPr>
          <a:xfrm>
            <a:off x="1657440" y="5245560"/>
            <a:ext cx="844560" cy="78084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</p:pic>
      <p:pic>
        <p:nvPicPr>
          <p:cNvPr id="343" name="" descr=""/>
          <p:cNvPicPr/>
          <p:nvPr/>
        </p:nvPicPr>
        <p:blipFill>
          <a:blip r:embed="rId3"/>
          <a:srcRect l="22575" t="34781" r="45311" b="30326"/>
          <a:stretch/>
        </p:blipFill>
        <p:spPr>
          <a:xfrm>
            <a:off x="1400040" y="4119840"/>
            <a:ext cx="1131840" cy="84960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</p:pic>
      <p:sp>
        <p:nvSpPr>
          <p:cNvPr id="344" name=""/>
          <p:cNvSpPr/>
          <p:nvPr/>
        </p:nvSpPr>
        <p:spPr>
          <a:xfrm>
            <a:off x="2686320" y="3110760"/>
            <a:ext cx="2053800" cy="63792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spAutoFit/>
          </a:bodyPr>
          <a:p>
            <a:pPr algn="ctr">
              <a:lnSpc>
                <a:spcPct val="100000"/>
              </a:lnSpc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Activated, Differentiated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"/>
          <p:cNvSpPr/>
          <p:nvPr/>
        </p:nvSpPr>
        <p:spPr>
          <a:xfrm>
            <a:off x="2686320" y="4233600"/>
            <a:ext cx="1539360" cy="63792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spAutoFit/>
          </a:bodyPr>
          <a:p>
            <a:pPr algn="ctr">
              <a:lnSpc>
                <a:spcPct val="100000"/>
              </a:lnSpc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Activated, Repressed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"/>
          <p:cNvSpPr/>
          <p:nvPr/>
        </p:nvSpPr>
        <p:spPr>
          <a:xfrm>
            <a:off x="2686320" y="5302800"/>
            <a:ext cx="1539360" cy="63792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spAutoFit/>
          </a:bodyPr>
          <a:p>
            <a:pPr algn="ctr">
              <a:lnSpc>
                <a:spcPct val="100000"/>
              </a:lnSpc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Activated, Eliminated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7" name="" descr=""/>
          <p:cNvPicPr/>
          <p:nvPr/>
        </p:nvPicPr>
        <p:blipFill>
          <a:blip r:embed="rId4"/>
          <a:srcRect l="23980" t="22835" r="46374" b="31457"/>
          <a:stretch/>
        </p:blipFill>
        <p:spPr>
          <a:xfrm>
            <a:off x="1400040" y="1465920"/>
            <a:ext cx="1107360" cy="110700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</p:pic>
      <p:sp>
        <p:nvSpPr>
          <p:cNvPr id="348" name=""/>
          <p:cNvSpPr/>
          <p:nvPr/>
        </p:nvSpPr>
        <p:spPr>
          <a:xfrm>
            <a:off x="2686320" y="1661400"/>
            <a:ext cx="1796760" cy="63792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spAutoFit/>
          </a:bodyPr>
          <a:p>
            <a:pPr algn="ctr">
              <a:lnSpc>
                <a:spcPct val="100000"/>
              </a:lnSpc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Never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Activated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9" name="" descr=""/>
          <p:cNvPicPr/>
          <p:nvPr/>
        </p:nvPicPr>
        <p:blipFill>
          <a:blip r:embed="rId5"/>
          <a:stretch/>
        </p:blipFill>
        <p:spPr>
          <a:xfrm rot="19534800">
            <a:off x="5945040" y="2958120"/>
            <a:ext cx="1962000" cy="122400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</p:pic>
      <p:sp>
        <p:nvSpPr>
          <p:cNvPr id="350" name=""/>
          <p:cNvSpPr/>
          <p:nvPr/>
        </p:nvSpPr>
        <p:spPr>
          <a:xfrm>
            <a:off x="8859600" y="1548000"/>
            <a:ext cx="2053800" cy="1281960"/>
          </a:xfrm>
          <a:prstGeom prst="rect">
            <a:avLst/>
          </a:prstGeom>
          <a:solidFill>
            <a:srgbClr val="afd095">
              <a:alpha val="5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51" name=""/>
          <p:cNvSpPr/>
          <p:nvPr/>
        </p:nvSpPr>
        <p:spPr>
          <a:xfrm>
            <a:off x="9116640" y="1961640"/>
            <a:ext cx="1556640" cy="3636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spAutoFit/>
          </a:bodyPr>
          <a:p>
            <a:pPr algn="ctr">
              <a:lnSpc>
                <a:spcPct val="100000"/>
              </a:lnSpc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Health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"/>
          <p:cNvSpPr/>
          <p:nvPr/>
        </p:nvSpPr>
        <p:spPr>
          <a:xfrm>
            <a:off x="8859600" y="3090960"/>
            <a:ext cx="2053800" cy="1282320"/>
          </a:xfrm>
          <a:prstGeom prst="rect">
            <a:avLst/>
          </a:prstGeom>
          <a:solidFill>
            <a:srgbClr val="ffdbb6">
              <a:alpha val="5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53" name=""/>
          <p:cNvSpPr/>
          <p:nvPr/>
        </p:nvSpPr>
        <p:spPr>
          <a:xfrm>
            <a:off x="9116640" y="3504600"/>
            <a:ext cx="1556640" cy="3636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spAutoFit/>
          </a:bodyPr>
          <a:p>
            <a:pPr algn="ctr">
              <a:lnSpc>
                <a:spcPct val="100000"/>
              </a:lnSpc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Sickness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"/>
          <p:cNvSpPr/>
          <p:nvPr/>
        </p:nvSpPr>
        <p:spPr>
          <a:xfrm>
            <a:off x="8859600" y="4634280"/>
            <a:ext cx="2053800" cy="1282320"/>
          </a:xfrm>
          <a:prstGeom prst="rect">
            <a:avLst/>
          </a:prstGeom>
          <a:solidFill>
            <a:srgbClr val="ec9ba4">
              <a:alpha val="5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55" name=""/>
          <p:cNvSpPr/>
          <p:nvPr/>
        </p:nvSpPr>
        <p:spPr>
          <a:xfrm>
            <a:off x="9116640" y="5047920"/>
            <a:ext cx="1556640" cy="3636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spAutoFit/>
          </a:bodyPr>
          <a:p>
            <a:pPr algn="ctr">
              <a:lnSpc>
                <a:spcPct val="100000"/>
              </a:lnSpc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Hospital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"/>
          <p:cNvSpPr/>
          <p:nvPr/>
        </p:nvSpPr>
        <p:spPr>
          <a:xfrm>
            <a:off x="10973520" y="1805040"/>
            <a:ext cx="45432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?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"/>
          <p:cNvSpPr/>
          <p:nvPr/>
        </p:nvSpPr>
        <p:spPr>
          <a:xfrm>
            <a:off x="10973520" y="3429360"/>
            <a:ext cx="45432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?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"/>
          <p:cNvSpPr/>
          <p:nvPr/>
        </p:nvSpPr>
        <p:spPr>
          <a:xfrm>
            <a:off x="10973520" y="5048280"/>
            <a:ext cx="45432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?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9" name="Picture 20" descr=""/>
          <p:cNvPicPr/>
          <p:nvPr/>
        </p:nvPicPr>
        <p:blipFill>
          <a:blip r:embed="rId6"/>
          <a:stretch/>
        </p:blipFill>
        <p:spPr>
          <a:xfrm>
            <a:off x="10436040" y="6172560"/>
            <a:ext cx="1139400" cy="397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0" name="PlaceHolder 32"/>
          <p:cNvSpPr/>
          <p:nvPr/>
        </p:nvSpPr>
        <p:spPr>
          <a:xfrm>
            <a:off x="231840" y="47880"/>
            <a:ext cx="12110400" cy="636120"/>
          </a:xfrm>
          <a:prstGeom prst="rect">
            <a:avLst/>
          </a:prstGeom>
          <a:noFill/>
          <a:ln w="190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Does this fetal exposure impact immune responses during early life? 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61" name="" descr=""/>
          <p:cNvPicPr/>
          <p:nvPr/>
        </p:nvPicPr>
        <p:blipFill>
          <a:blip r:embed="rId7"/>
          <a:stretch/>
        </p:blipFill>
        <p:spPr>
          <a:xfrm>
            <a:off x="457200" y="6172200"/>
            <a:ext cx="1368000" cy="356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"/>
          <p:cNvSpPr/>
          <p:nvPr/>
        </p:nvSpPr>
        <p:spPr>
          <a:xfrm>
            <a:off x="8076240" y="1371600"/>
            <a:ext cx="3123000" cy="4255200"/>
          </a:xfrm>
          <a:prstGeom prst="rect">
            <a:avLst/>
          </a:prstGeom>
          <a:solidFill>
            <a:srgbClr val="ffb66c">
              <a:alpha val="5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63" name=""/>
          <p:cNvSpPr/>
          <p:nvPr/>
        </p:nvSpPr>
        <p:spPr>
          <a:xfrm>
            <a:off x="685800" y="1371600"/>
            <a:ext cx="3123000" cy="4255200"/>
          </a:xfrm>
          <a:prstGeom prst="rect">
            <a:avLst/>
          </a:prstGeom>
          <a:solidFill>
            <a:srgbClr val="afd095">
              <a:alpha val="5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364" name="Picture 60" descr=""/>
          <p:cNvPicPr/>
          <p:nvPr/>
        </p:nvPicPr>
        <p:blipFill>
          <a:blip r:embed="rId1"/>
          <a:stretch/>
        </p:blipFill>
        <p:spPr>
          <a:xfrm>
            <a:off x="3902040" y="2065680"/>
            <a:ext cx="3975840" cy="2577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5" name=""/>
          <p:cNvSpPr/>
          <p:nvPr/>
        </p:nvSpPr>
        <p:spPr>
          <a:xfrm>
            <a:off x="685800" y="1371600"/>
            <a:ext cx="3123000" cy="379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2200" strike="noStrike" u="sng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Some Studies: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OpenSymbol"/>
              <a:buChar char="►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Increased frequency of Th1-like cytokines in T cells </a:t>
            </a:r>
            <a:r>
              <a:rPr b="0" i="1" lang="en-US" sz="21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ex-vivo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OpenSymbol"/>
              <a:buChar char="►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Decreased proliferation in culture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OpenSymbol"/>
              <a:buChar char="►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Lower antibody titers for maternal antibodies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"/>
          <p:cNvSpPr/>
          <p:nvPr/>
        </p:nvSpPr>
        <p:spPr>
          <a:xfrm>
            <a:off x="8076240" y="1371600"/>
            <a:ext cx="3123000" cy="411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2200" strike="noStrike" u="sng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Other Studies: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OpenSymbol"/>
              <a:buChar char="►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Same (or lower) frequency of Th1-like cytokines in T cells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OpenSymbol"/>
              <a:buChar char="►"/>
            </a:pPr>
            <a:r>
              <a:rPr b="0" i="1" lang="en-US" sz="21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ex-vivo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OpenSymbol"/>
              <a:buChar char="►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No change in proliferation in culture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OpenSymbol"/>
              <a:buChar char="►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Higher antibody titers for maternal antibodies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67" name="Picture 12" descr=""/>
          <p:cNvPicPr/>
          <p:nvPr/>
        </p:nvPicPr>
        <p:blipFill>
          <a:blip r:embed="rId2"/>
          <a:stretch/>
        </p:blipFill>
        <p:spPr>
          <a:xfrm>
            <a:off x="10435680" y="6172560"/>
            <a:ext cx="1139400" cy="397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8" name="PlaceHolder 25"/>
          <p:cNvSpPr/>
          <p:nvPr/>
        </p:nvSpPr>
        <p:spPr>
          <a:xfrm>
            <a:off x="79560" y="47880"/>
            <a:ext cx="12110400" cy="636120"/>
          </a:xfrm>
          <a:prstGeom prst="rect">
            <a:avLst/>
          </a:prstGeom>
          <a:noFill/>
          <a:ln w="190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rmAutofit lnSpcReduction="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Conflicting Studies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69" name="" descr=""/>
          <p:cNvPicPr/>
          <p:nvPr/>
        </p:nvPicPr>
        <p:blipFill>
          <a:blip r:embed="rId3"/>
          <a:stretch/>
        </p:blipFill>
        <p:spPr>
          <a:xfrm>
            <a:off x="457200" y="6172200"/>
            <a:ext cx="1368000" cy="356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0" name="" descr=""/>
          <p:cNvPicPr/>
          <p:nvPr/>
        </p:nvPicPr>
        <p:blipFill>
          <a:blip r:embed="rId1"/>
          <a:stretch/>
        </p:blipFill>
        <p:spPr>
          <a:xfrm>
            <a:off x="5715000" y="1327320"/>
            <a:ext cx="5940360" cy="415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1" name=""/>
          <p:cNvSpPr/>
          <p:nvPr/>
        </p:nvSpPr>
        <p:spPr>
          <a:xfrm>
            <a:off x="687240" y="1327320"/>
            <a:ext cx="5025600" cy="2283840"/>
          </a:xfrm>
          <a:prstGeom prst="rect">
            <a:avLst/>
          </a:prstGeom>
          <a:solidFill>
            <a:srgbClr val="ffdbb6">
              <a:alpha val="5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72" name=""/>
          <p:cNvSpPr/>
          <p:nvPr/>
        </p:nvSpPr>
        <p:spPr>
          <a:xfrm>
            <a:off x="849240" y="1443960"/>
            <a:ext cx="4863600" cy="20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MT Extra" charset="2"/>
              <a:buChar char="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As anti-retrovirals became more available, health policy changed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MT Extra" charset="2"/>
              <a:buChar char="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Maternal antiretroviral until birth → 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MT Extra" charset="2"/>
              <a:buChar char="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Single antiretroviral for life → 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MT Extra" charset="2"/>
              <a:buChar char="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Combined antiretroviral for life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"/>
          <p:cNvSpPr/>
          <p:nvPr/>
        </p:nvSpPr>
        <p:spPr>
          <a:xfrm>
            <a:off x="685800" y="4114800"/>
            <a:ext cx="5027040" cy="1370880"/>
          </a:xfrm>
          <a:prstGeom prst="rect">
            <a:avLst/>
          </a:prstGeom>
          <a:solidFill>
            <a:srgbClr val="dde8cb">
              <a:alpha val="5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74" name=""/>
          <p:cNvSpPr/>
          <p:nvPr/>
        </p:nvSpPr>
        <p:spPr>
          <a:xfrm>
            <a:off x="713880" y="4228200"/>
            <a:ext cx="5456160" cy="10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Prior studies may have grouped infants with varied viral and antiretroviral exposures together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5" name="Picture 85" descr=""/>
          <p:cNvPicPr/>
          <p:nvPr/>
        </p:nvPicPr>
        <p:blipFill>
          <a:blip r:embed="rId2"/>
          <a:stretch/>
        </p:blipFill>
        <p:spPr>
          <a:xfrm>
            <a:off x="10435680" y="6172560"/>
            <a:ext cx="1139400" cy="397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6" name="PlaceHolder 26"/>
          <p:cNvSpPr/>
          <p:nvPr/>
        </p:nvSpPr>
        <p:spPr>
          <a:xfrm>
            <a:off x="79560" y="48240"/>
            <a:ext cx="12110400" cy="636120"/>
          </a:xfrm>
          <a:prstGeom prst="rect">
            <a:avLst/>
          </a:prstGeom>
          <a:noFill/>
          <a:ln w="190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rmAutofit lnSpcReduction="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Treatment standards changed over time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7" name="" descr=""/>
          <p:cNvPicPr/>
          <p:nvPr/>
        </p:nvPicPr>
        <p:blipFill>
          <a:blip r:embed="rId3"/>
          <a:stretch/>
        </p:blipFill>
        <p:spPr>
          <a:xfrm>
            <a:off x="457200" y="6172200"/>
            <a:ext cx="1368000" cy="356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" descr=""/>
          <p:cNvPicPr/>
          <p:nvPr/>
        </p:nvPicPr>
        <p:blipFill>
          <a:blip r:embed="rId1"/>
          <a:stretch/>
        </p:blipFill>
        <p:spPr>
          <a:xfrm>
            <a:off x="1529640" y="1753920"/>
            <a:ext cx="4111200" cy="2735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9" name="" descr=""/>
          <p:cNvPicPr/>
          <p:nvPr/>
        </p:nvPicPr>
        <p:blipFill>
          <a:blip r:embed="rId2"/>
          <a:stretch/>
        </p:blipFill>
        <p:spPr>
          <a:xfrm>
            <a:off x="457200" y="6172200"/>
            <a:ext cx="1368000" cy="35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0" name=""/>
          <p:cNvSpPr/>
          <p:nvPr/>
        </p:nvSpPr>
        <p:spPr>
          <a:xfrm>
            <a:off x="6558840" y="1292760"/>
            <a:ext cx="4111200" cy="1825200"/>
          </a:xfrm>
          <a:prstGeom prst="rect">
            <a:avLst/>
          </a:prstGeom>
          <a:solidFill>
            <a:srgbClr val="ffdbb6">
              <a:alpha val="5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81" name=""/>
          <p:cNvSpPr/>
          <p:nvPr/>
        </p:nvSpPr>
        <p:spPr>
          <a:xfrm>
            <a:off x="6522840" y="3350160"/>
            <a:ext cx="4219200" cy="2053800"/>
          </a:xfrm>
          <a:prstGeom prst="rect">
            <a:avLst/>
          </a:prstGeom>
          <a:solidFill>
            <a:srgbClr val="afd095">
              <a:alpha val="5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82" name="PlaceHolder 1"/>
          <p:cNvSpPr>
            <a:spLocks noGrp="1"/>
          </p:cNvSpPr>
          <p:nvPr>
            <p:ph type="subTitle"/>
          </p:nvPr>
        </p:nvSpPr>
        <p:spPr>
          <a:xfrm>
            <a:off x="6630840" y="1436040"/>
            <a:ext cx="4111200" cy="167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MT Extra" charset="2"/>
              <a:buChar char="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Even carefully controlled ground-breaking studies are defined by the technology and resources available at time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"/>
          <p:cNvSpPr/>
          <p:nvPr/>
        </p:nvSpPr>
        <p:spPr>
          <a:xfrm>
            <a:off x="6558840" y="3369600"/>
            <a:ext cx="4111200" cy="234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MT Extra" charset="2"/>
              <a:buChar char=""/>
            </a:pPr>
            <a:r>
              <a:rPr b="0" lang="en-US" sz="2200" strike="noStrike" u="sng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Conventional Flow Cytometers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MT Extra" charset="2"/>
              <a:buChar char="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Calibur (2007) (4-fluorophores)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MT Extra" charset="2"/>
              <a:buChar char="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LSR II (2017) (14-fluorophores)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MT Extra" charset="2"/>
              <a:buChar char=""/>
            </a:pPr>
            <a:r>
              <a:rPr b="0" lang="en-US" sz="2200" strike="noStrike" u="sng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Spectral Flow Cytometers 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MT Extra" charset="2"/>
              <a:buChar char="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Up to 60! fluorophores now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4" name="Picture 14" descr=""/>
          <p:cNvPicPr/>
          <p:nvPr/>
        </p:nvPicPr>
        <p:blipFill>
          <a:blip r:embed="rId3"/>
          <a:stretch/>
        </p:blipFill>
        <p:spPr>
          <a:xfrm>
            <a:off x="10435680" y="6172560"/>
            <a:ext cx="1139400" cy="397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5" name="PlaceHolder 33"/>
          <p:cNvSpPr/>
          <p:nvPr/>
        </p:nvSpPr>
        <p:spPr>
          <a:xfrm>
            <a:off x="79560" y="48600"/>
            <a:ext cx="12110400" cy="636120"/>
          </a:xfrm>
          <a:prstGeom prst="rect">
            <a:avLst/>
          </a:prstGeom>
          <a:noFill/>
          <a:ln w="190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rmAutofit lnSpcReduction="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Snapshots in Time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Picture 176" descr=""/>
          <p:cNvPicPr/>
          <p:nvPr/>
        </p:nvPicPr>
        <p:blipFill>
          <a:blip r:embed="rId1"/>
          <a:stretch/>
        </p:blipFill>
        <p:spPr>
          <a:xfrm>
            <a:off x="2773080" y="228600"/>
            <a:ext cx="9140400" cy="639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7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10400" cy="6361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Our Malawian Cohort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8" name="Picture 177" descr=""/>
          <p:cNvPicPr/>
          <p:nvPr/>
        </p:nvPicPr>
        <p:blipFill>
          <a:blip r:embed="rId2"/>
          <a:stretch/>
        </p:blipFill>
        <p:spPr>
          <a:xfrm>
            <a:off x="459000" y="1765440"/>
            <a:ext cx="3066480" cy="3568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9" name="Picture 178" descr=""/>
          <p:cNvPicPr/>
          <p:nvPr/>
        </p:nvPicPr>
        <p:blipFill>
          <a:blip r:embed="rId3"/>
          <a:stretch/>
        </p:blipFill>
        <p:spPr>
          <a:xfrm>
            <a:off x="10435680" y="6172200"/>
            <a:ext cx="1139400" cy="397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0" name="" descr=""/>
          <p:cNvPicPr/>
          <p:nvPr/>
        </p:nvPicPr>
        <p:blipFill>
          <a:blip r:embed="rId4"/>
          <a:stretch/>
        </p:blipFill>
        <p:spPr>
          <a:xfrm>
            <a:off x="457200" y="6172200"/>
            <a:ext cx="1368000" cy="356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10400" cy="6361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Study Timeline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2" name="Picture 179" descr=""/>
          <p:cNvPicPr/>
          <p:nvPr/>
        </p:nvPicPr>
        <p:blipFill>
          <a:blip r:embed="rId1"/>
          <a:srcRect l="0" t="18235" r="0" b="29137"/>
          <a:stretch/>
        </p:blipFill>
        <p:spPr>
          <a:xfrm>
            <a:off x="404640" y="1332360"/>
            <a:ext cx="11379240" cy="4190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3" name="Arrow: Right 4"/>
          <p:cNvSpPr/>
          <p:nvPr/>
        </p:nvSpPr>
        <p:spPr>
          <a:xfrm rot="16200000">
            <a:off x="4167720" y="5543280"/>
            <a:ext cx="528120" cy="2833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8a3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94" name="Arrow: Right 5"/>
          <p:cNvSpPr/>
          <p:nvPr/>
        </p:nvSpPr>
        <p:spPr>
          <a:xfrm rot="16200000">
            <a:off x="9073080" y="5557320"/>
            <a:ext cx="528120" cy="2833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8a3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95" name="Arrow: Right 6"/>
          <p:cNvSpPr/>
          <p:nvPr/>
        </p:nvSpPr>
        <p:spPr>
          <a:xfrm rot="16200000">
            <a:off x="10784880" y="5578560"/>
            <a:ext cx="528120" cy="2833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8a3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396" name="Picture 180" descr=""/>
          <p:cNvPicPr/>
          <p:nvPr/>
        </p:nvPicPr>
        <p:blipFill>
          <a:blip r:embed="rId2"/>
          <a:stretch/>
        </p:blipFill>
        <p:spPr>
          <a:xfrm>
            <a:off x="10435680" y="6172200"/>
            <a:ext cx="1139400" cy="397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7" name="" descr=""/>
          <p:cNvPicPr/>
          <p:nvPr/>
        </p:nvPicPr>
        <p:blipFill>
          <a:blip r:embed="rId3"/>
          <a:stretch/>
        </p:blipFill>
        <p:spPr>
          <a:xfrm>
            <a:off x="457200" y="6172200"/>
            <a:ext cx="1368000" cy="356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8" name="" descr=""/>
          <p:cNvPicPr/>
          <p:nvPr/>
        </p:nvPicPr>
        <p:blipFill>
          <a:blip r:embed="rId1"/>
          <a:stretch/>
        </p:blipFill>
        <p:spPr>
          <a:xfrm>
            <a:off x="1371600" y="1143000"/>
            <a:ext cx="6614640" cy="502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9" name=""/>
          <p:cNvSpPr/>
          <p:nvPr/>
        </p:nvSpPr>
        <p:spPr>
          <a:xfrm>
            <a:off x="7990200" y="1143000"/>
            <a:ext cx="3437640" cy="1721160"/>
          </a:xfrm>
          <a:prstGeom prst="rect">
            <a:avLst/>
          </a:prstGeom>
          <a:solidFill>
            <a:srgbClr val="afd095">
              <a:alpha val="5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00" name=""/>
          <p:cNvSpPr/>
          <p:nvPr/>
        </p:nvSpPr>
        <p:spPr>
          <a:xfrm>
            <a:off x="7990200" y="1249560"/>
            <a:ext cx="3437640" cy="143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Innate: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OpenSymbol"/>
              <a:buChar char="►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Rapid response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OpenSymbol"/>
              <a:buChar char="►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Conserved patterns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"/>
          <p:cNvSpPr/>
          <p:nvPr/>
        </p:nvSpPr>
        <p:spPr>
          <a:xfrm>
            <a:off x="7990200" y="3088440"/>
            <a:ext cx="3437640" cy="1721160"/>
          </a:xfrm>
          <a:prstGeom prst="rect">
            <a:avLst/>
          </a:prstGeom>
          <a:solidFill>
            <a:srgbClr val="dee6ef">
              <a:alpha val="5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02" name=""/>
          <p:cNvSpPr/>
          <p:nvPr/>
        </p:nvSpPr>
        <p:spPr>
          <a:xfrm>
            <a:off x="7990200" y="3195000"/>
            <a:ext cx="3437640" cy="143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Adaptive: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OpenSymbol"/>
              <a:buChar char="►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Slower response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OpenSymbol"/>
              <a:buChar char="►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Antigen-specific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03" name="Picture 76" descr=""/>
          <p:cNvPicPr/>
          <p:nvPr/>
        </p:nvPicPr>
        <p:blipFill>
          <a:blip r:embed="rId2"/>
          <a:stretch/>
        </p:blipFill>
        <p:spPr>
          <a:xfrm>
            <a:off x="10435680" y="6172560"/>
            <a:ext cx="1139400" cy="397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4" name="" descr=""/>
          <p:cNvPicPr/>
          <p:nvPr/>
        </p:nvPicPr>
        <p:blipFill>
          <a:blip r:embed="rId3"/>
          <a:stretch/>
        </p:blipFill>
        <p:spPr>
          <a:xfrm>
            <a:off x="457200" y="6172200"/>
            <a:ext cx="1368000" cy="35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5" name="PlaceHolder 34"/>
          <p:cNvSpPr/>
          <p:nvPr/>
        </p:nvSpPr>
        <p:spPr>
          <a:xfrm>
            <a:off x="0" y="46440"/>
            <a:ext cx="12110400" cy="636120"/>
          </a:xfrm>
          <a:prstGeom prst="rect">
            <a:avLst/>
          </a:prstGeom>
          <a:noFill/>
          <a:ln w="190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rmAutofit lnSpcReduction="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Cells of the Immune System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6" name="" descr=""/>
          <p:cNvPicPr/>
          <p:nvPr/>
        </p:nvPicPr>
        <p:blipFill>
          <a:blip r:embed="rId1"/>
          <a:stretch/>
        </p:blipFill>
        <p:spPr>
          <a:xfrm>
            <a:off x="457200" y="6172200"/>
            <a:ext cx="1139400" cy="356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7" name="" descr=""/>
          <p:cNvPicPr/>
          <p:nvPr/>
        </p:nvPicPr>
        <p:blipFill>
          <a:blip r:embed="rId2"/>
          <a:stretch/>
        </p:blipFill>
        <p:spPr>
          <a:xfrm>
            <a:off x="1166760" y="1490400"/>
            <a:ext cx="6614280" cy="479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8" name=""/>
          <p:cNvSpPr/>
          <p:nvPr/>
        </p:nvSpPr>
        <p:spPr>
          <a:xfrm>
            <a:off x="7785000" y="1627560"/>
            <a:ext cx="3437640" cy="1395360"/>
          </a:xfrm>
          <a:prstGeom prst="rect">
            <a:avLst/>
          </a:prstGeom>
          <a:solidFill>
            <a:srgbClr val="ffffa6">
              <a:alpha val="5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09" name=""/>
          <p:cNvSpPr/>
          <p:nvPr/>
        </p:nvSpPr>
        <p:spPr>
          <a:xfrm>
            <a:off x="7785000" y="3260160"/>
            <a:ext cx="3431880" cy="1396080"/>
          </a:xfrm>
          <a:prstGeom prst="rect">
            <a:avLst/>
          </a:prstGeom>
          <a:solidFill>
            <a:srgbClr val="ffdbb6">
              <a:alpha val="5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10" name=""/>
          <p:cNvSpPr/>
          <p:nvPr/>
        </p:nvSpPr>
        <p:spPr>
          <a:xfrm>
            <a:off x="7785000" y="4892760"/>
            <a:ext cx="3437640" cy="673560"/>
          </a:xfrm>
          <a:prstGeom prst="rect">
            <a:avLst/>
          </a:prstGeom>
          <a:solidFill>
            <a:srgbClr val="ffffa6">
              <a:alpha val="5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11" name=""/>
          <p:cNvSpPr/>
          <p:nvPr/>
        </p:nvSpPr>
        <p:spPr>
          <a:xfrm>
            <a:off x="7785000" y="1628640"/>
            <a:ext cx="3437640" cy="133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1600" strike="noStrike" u="sng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Natural Killer T cells (NKTs)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ctr">
              <a:lnSpc>
                <a:spcPct val="100000"/>
              </a:lnSpc>
              <a:buClr>
                <a:srgbClr val="000000"/>
              </a:buClr>
              <a:buSzPct val="45000"/>
              <a:buFont typeface="OpenSymbol"/>
              <a:buChar char="►"/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V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ɑ24Jɑ18+ (antibody)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ctr">
              <a:lnSpc>
                <a:spcPct val="100000"/>
              </a:lnSpc>
              <a:buClr>
                <a:srgbClr val="000000"/>
              </a:buClr>
              <a:buSzPct val="45000"/>
              <a:buFont typeface="OpenSymbol"/>
              <a:buChar char="►"/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CD1d (tetramer) with PBS-57 (Lipid)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"/>
          <p:cNvSpPr/>
          <p:nvPr/>
        </p:nvSpPr>
        <p:spPr>
          <a:xfrm>
            <a:off x="7785000" y="3260160"/>
            <a:ext cx="3431880" cy="106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1600" strike="noStrike" u="sng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Mucosal-Associated Invariant T cells (MAITs)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ctr">
              <a:lnSpc>
                <a:spcPct val="100000"/>
              </a:lnSpc>
              <a:buClr>
                <a:srgbClr val="000000"/>
              </a:buClr>
              <a:buSzPct val="45000"/>
              <a:buFont typeface="OpenSymbol"/>
              <a:buChar char="►"/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Va7.2+CD161hi (antibody)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ctr">
              <a:lnSpc>
                <a:spcPct val="100000"/>
              </a:lnSpc>
              <a:buClr>
                <a:srgbClr val="000000"/>
              </a:buClr>
              <a:buSzPct val="45000"/>
              <a:buFont typeface="OpenSymbol"/>
              <a:buChar char="►"/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MR1 (tetramer) + OP-RU-56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"/>
          <p:cNvSpPr/>
          <p:nvPr/>
        </p:nvSpPr>
        <p:spPr>
          <a:xfrm>
            <a:off x="7790760" y="4916160"/>
            <a:ext cx="3431880" cy="577080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1600" strike="noStrike" u="sng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V</a:t>
            </a:r>
            <a:r>
              <a:rPr b="0" lang="en-US" sz="1600" strike="noStrike" u="sng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ᵧ9+V</a:t>
            </a:r>
            <a:r>
              <a:rPr b="0" lang="en-US" sz="16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δ2+ </a:t>
            </a:r>
            <a:r>
              <a:rPr b="0" lang="en-US" sz="1600" strike="noStrike" u="sng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ᵧ</a:t>
            </a:r>
            <a:r>
              <a:rPr b="0" lang="en-US" sz="16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δ T cells (Vδ2)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ctr">
              <a:lnSpc>
                <a:spcPct val="100000"/>
              </a:lnSpc>
              <a:buClr>
                <a:srgbClr val="000000"/>
              </a:buClr>
              <a:buSzPct val="45000"/>
              <a:buFont typeface="OpenSymbol"/>
              <a:buChar char="►"/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V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ᵧ9+V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δ2+ (antibody)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14" name="Picture 77" descr=""/>
          <p:cNvPicPr/>
          <p:nvPr/>
        </p:nvPicPr>
        <p:blipFill>
          <a:blip r:embed="rId3"/>
          <a:stretch/>
        </p:blipFill>
        <p:spPr>
          <a:xfrm>
            <a:off x="10435680" y="6172560"/>
            <a:ext cx="1139400" cy="397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5" name=""/>
          <p:cNvSpPr/>
          <p:nvPr/>
        </p:nvSpPr>
        <p:spPr>
          <a:xfrm>
            <a:off x="4442760" y="228600"/>
            <a:ext cx="5384880" cy="59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Innate-like T cells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"/>
          <p:cNvSpPr/>
          <p:nvPr/>
        </p:nvSpPr>
        <p:spPr>
          <a:xfrm>
            <a:off x="2430000" y="4438440"/>
            <a:ext cx="2968200" cy="303120"/>
          </a:xfrm>
          <a:prstGeom prst="rect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Breadth (Total Markers Profiled)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"/>
          <p:cNvSpPr/>
          <p:nvPr/>
        </p:nvSpPr>
        <p:spPr>
          <a:xfrm>
            <a:off x="1720800" y="5003640"/>
            <a:ext cx="2968200" cy="303120"/>
          </a:xfrm>
          <a:prstGeom prst="rect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Depth (Total Cells Acquired)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18" name="" descr=""/>
          <p:cNvPicPr/>
          <p:nvPr/>
        </p:nvPicPr>
        <p:blipFill>
          <a:blip r:embed="rId1"/>
          <a:stretch/>
        </p:blipFill>
        <p:spPr>
          <a:xfrm>
            <a:off x="230040" y="6172200"/>
            <a:ext cx="1368000" cy="35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9" name=""/>
          <p:cNvSpPr/>
          <p:nvPr/>
        </p:nvSpPr>
        <p:spPr>
          <a:xfrm>
            <a:off x="1443600" y="1371600"/>
            <a:ext cx="4111200" cy="2739600"/>
          </a:xfrm>
          <a:prstGeom prst="rect">
            <a:avLst/>
          </a:prstGeom>
          <a:solidFill>
            <a:srgbClr val="ffd7d7">
              <a:alpha val="2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20" name=""/>
          <p:cNvSpPr/>
          <p:nvPr/>
        </p:nvSpPr>
        <p:spPr>
          <a:xfrm>
            <a:off x="6472800" y="1371600"/>
            <a:ext cx="4111200" cy="1825200"/>
          </a:xfrm>
          <a:prstGeom prst="rect">
            <a:avLst/>
          </a:prstGeom>
          <a:solidFill>
            <a:srgbClr val="ffa6a6">
              <a:alpha val="5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21" name=""/>
          <p:cNvSpPr/>
          <p:nvPr/>
        </p:nvSpPr>
        <p:spPr>
          <a:xfrm>
            <a:off x="6472800" y="3657600"/>
            <a:ext cx="4111200" cy="1825200"/>
          </a:xfrm>
          <a:prstGeom prst="rect">
            <a:avLst/>
          </a:prstGeom>
          <a:solidFill>
            <a:srgbClr val="ffdbb6">
              <a:alpha val="5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22" name=""/>
          <p:cNvSpPr/>
          <p:nvPr/>
        </p:nvSpPr>
        <p:spPr>
          <a:xfrm>
            <a:off x="6472800" y="1462320"/>
            <a:ext cx="4111200" cy="17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MT Extra" charset="2"/>
              <a:buChar char="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Additional lineage markers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Symbol" charset="2"/>
              <a:buChar char="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V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δ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2+, V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ɑ24Jɑ18+, Vɑ7.2+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OpenSymbol"/>
              <a:buChar char="►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Unfeasible for Conventional Flow Cytometry due to smaller panels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"/>
          <p:cNvSpPr/>
          <p:nvPr/>
        </p:nvSpPr>
        <p:spPr>
          <a:xfrm>
            <a:off x="6661800" y="3886200"/>
            <a:ext cx="3693600" cy="146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MT Extra" charset="2"/>
              <a:buChar char="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Rare in Cord Blood!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Symbol" charset="2"/>
              <a:buChar char="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&lt; 0.1% of T cells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OpenSymbol"/>
              <a:buChar char="►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Unfeasible for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Mass Cytometry due to low acquisition rate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"/>
          <p:cNvSpPr/>
          <p:nvPr/>
        </p:nvSpPr>
        <p:spPr>
          <a:xfrm>
            <a:off x="3043800" y="1443600"/>
            <a:ext cx="682200" cy="2439000"/>
          </a:xfrm>
          <a:prstGeom prst="rect">
            <a:avLst/>
          </a:prstGeom>
          <a:solidFill>
            <a:srgbClr val="729fcf">
              <a:alpha val="5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25" name=""/>
          <p:cNvSpPr/>
          <p:nvPr/>
        </p:nvSpPr>
        <p:spPr>
          <a:xfrm>
            <a:off x="1587600" y="1443600"/>
            <a:ext cx="3774600" cy="682200"/>
          </a:xfrm>
          <a:prstGeom prst="rect">
            <a:avLst/>
          </a:prstGeom>
          <a:solidFill>
            <a:srgbClr val="069a2e">
              <a:alpha val="5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26" name=""/>
          <p:cNvSpPr/>
          <p:nvPr/>
        </p:nvSpPr>
        <p:spPr>
          <a:xfrm>
            <a:off x="2430000" y="1600200"/>
            <a:ext cx="1596600" cy="303120"/>
          </a:xfrm>
          <a:prstGeom prst="rect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Mass Cytometry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"/>
          <p:cNvSpPr/>
          <p:nvPr/>
        </p:nvSpPr>
        <p:spPr>
          <a:xfrm rot="5400">
            <a:off x="2582280" y="3166200"/>
            <a:ext cx="1596600" cy="516600"/>
          </a:xfrm>
          <a:prstGeom prst="rect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Conventional Flow Cytometry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"/>
          <p:cNvSpPr/>
          <p:nvPr/>
        </p:nvSpPr>
        <p:spPr>
          <a:xfrm>
            <a:off x="1936800" y="4572000"/>
            <a:ext cx="360" cy="685800"/>
          </a:xfrm>
          <a:prstGeom prst="line">
            <a:avLst/>
          </a:prstGeom>
          <a:ln w="54720">
            <a:solidFill>
              <a:srgbClr val="16825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17360" rIns="117360" tIns="72360" bIns="7236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29" name=""/>
          <p:cNvSpPr/>
          <p:nvPr/>
        </p:nvSpPr>
        <p:spPr>
          <a:xfrm flipV="1">
            <a:off x="1900800" y="4572000"/>
            <a:ext cx="685800" cy="9000"/>
          </a:xfrm>
          <a:prstGeom prst="line">
            <a:avLst/>
          </a:prstGeom>
          <a:ln w="54720">
            <a:solidFill>
              <a:srgbClr val="16825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17360" rIns="117360" tIns="-63360" bIns="-6336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30" name=""/>
          <p:cNvSpPr/>
          <p:nvPr/>
        </p:nvSpPr>
        <p:spPr>
          <a:xfrm>
            <a:off x="4872600" y="3657600"/>
            <a:ext cx="225000" cy="22500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31" name=""/>
          <p:cNvSpPr/>
          <p:nvPr/>
        </p:nvSpPr>
        <p:spPr>
          <a:xfrm>
            <a:off x="4451400" y="3367440"/>
            <a:ext cx="910800" cy="303120"/>
          </a:xfrm>
          <a:prstGeom prst="rect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Cord ILT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32" name="Picture 89" descr=""/>
          <p:cNvPicPr/>
          <p:nvPr/>
        </p:nvPicPr>
        <p:blipFill>
          <a:blip r:embed="rId2"/>
          <a:stretch/>
        </p:blipFill>
        <p:spPr>
          <a:xfrm>
            <a:off x="10435680" y="6172560"/>
            <a:ext cx="1139400" cy="397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3" name=""/>
          <p:cNvSpPr/>
          <p:nvPr/>
        </p:nvSpPr>
        <p:spPr>
          <a:xfrm>
            <a:off x="228600" y="63000"/>
            <a:ext cx="11427840" cy="11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Little is known about cord blood Innate-like T cells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"/>
          <p:cNvSpPr/>
          <p:nvPr/>
        </p:nvSpPr>
        <p:spPr>
          <a:xfrm>
            <a:off x="2286000" y="972720"/>
            <a:ext cx="7432200" cy="5243040"/>
          </a:xfrm>
          <a:prstGeom prst="rect">
            <a:avLst/>
          </a:prstGeom>
          <a:solidFill>
            <a:srgbClr val="ffd7d7">
              <a:alpha val="2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435" name="" descr=""/>
          <p:cNvPicPr/>
          <p:nvPr/>
        </p:nvPicPr>
        <p:blipFill>
          <a:blip r:embed="rId1"/>
          <a:srcRect l="11535" t="0" r="0" b="0"/>
          <a:stretch/>
        </p:blipFill>
        <p:spPr>
          <a:xfrm>
            <a:off x="2286000" y="914400"/>
            <a:ext cx="7770240" cy="5301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6" name="Picture 110" descr=""/>
          <p:cNvPicPr/>
          <p:nvPr/>
        </p:nvPicPr>
        <p:blipFill>
          <a:blip r:embed="rId2"/>
          <a:stretch/>
        </p:blipFill>
        <p:spPr>
          <a:xfrm>
            <a:off x="10435680" y="6172560"/>
            <a:ext cx="1139400" cy="397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7" name="" descr=""/>
          <p:cNvPicPr/>
          <p:nvPr/>
        </p:nvPicPr>
        <p:blipFill>
          <a:blip r:embed="rId3"/>
          <a:stretch/>
        </p:blipFill>
        <p:spPr>
          <a:xfrm>
            <a:off x="457200" y="6172200"/>
            <a:ext cx="1368000" cy="35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8" name=""/>
          <p:cNvSpPr/>
          <p:nvPr/>
        </p:nvSpPr>
        <p:spPr>
          <a:xfrm>
            <a:off x="2286360" y="360"/>
            <a:ext cx="9029160" cy="59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Innate-like T cell SFC Panel – 29 fluorophores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10400" cy="6361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32-Fluorophore Spectral Flow Cytometry Panel 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40" name="Picture 51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39400" cy="397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41" name="Picture 52" descr=""/>
          <p:cNvPicPr/>
          <p:nvPr/>
        </p:nvPicPr>
        <p:blipFill>
          <a:blip r:embed="rId2"/>
          <a:srcRect l="0" t="0" r="0" b="29919"/>
          <a:stretch/>
        </p:blipFill>
        <p:spPr>
          <a:xfrm>
            <a:off x="995400" y="1772280"/>
            <a:ext cx="2739600" cy="3058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42" name="Picture 53" descr=""/>
          <p:cNvPicPr/>
          <p:nvPr/>
        </p:nvPicPr>
        <p:blipFill>
          <a:blip r:embed="rId3"/>
          <a:stretch/>
        </p:blipFill>
        <p:spPr>
          <a:xfrm>
            <a:off x="3919320" y="1633320"/>
            <a:ext cx="2707920" cy="3622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43" name="" descr=""/>
          <p:cNvPicPr/>
          <p:nvPr/>
        </p:nvPicPr>
        <p:blipFill>
          <a:blip r:embed="rId4"/>
          <a:stretch/>
        </p:blipFill>
        <p:spPr>
          <a:xfrm>
            <a:off x="457200" y="6172200"/>
            <a:ext cx="1368000" cy="35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4" name=""/>
          <p:cNvSpPr/>
          <p:nvPr/>
        </p:nvSpPr>
        <p:spPr>
          <a:xfrm>
            <a:off x="7244640" y="2057400"/>
            <a:ext cx="4111200" cy="2512440"/>
          </a:xfrm>
          <a:prstGeom prst="rect">
            <a:avLst/>
          </a:prstGeom>
          <a:solidFill>
            <a:srgbClr val="729fcf">
              <a:alpha val="2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45" name="PlaceHolder 28"/>
          <p:cNvSpPr/>
          <p:nvPr/>
        </p:nvSpPr>
        <p:spPr>
          <a:xfrm>
            <a:off x="7316640" y="1828800"/>
            <a:ext cx="3882600" cy="335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MT Extra" charset="2"/>
              <a:buChar char="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Lineage markers for ILTs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MT Extra" charset="2"/>
              <a:buChar char="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Phenotypic markers for T and NK cells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MT Extra" charset="2"/>
              <a:buChar char="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Cytokines (TNF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ɑ, IFNᵧ, IL-2)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6" name="Picture 181" descr=""/>
          <p:cNvPicPr/>
          <p:nvPr/>
        </p:nvPicPr>
        <p:blipFill>
          <a:blip r:embed="rId1"/>
          <a:srcRect l="0" t="6125" r="0" b="0"/>
          <a:stretch/>
        </p:blipFill>
        <p:spPr>
          <a:xfrm>
            <a:off x="1055520" y="674280"/>
            <a:ext cx="9593640" cy="6303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47" name="Picture 54" descr=""/>
          <p:cNvPicPr/>
          <p:nvPr/>
        </p:nvPicPr>
        <p:blipFill>
          <a:blip r:embed="rId2"/>
          <a:stretch/>
        </p:blipFill>
        <p:spPr>
          <a:xfrm>
            <a:off x="10435680" y="6172200"/>
            <a:ext cx="1139400" cy="397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8" name=""/>
          <p:cNvSpPr/>
          <p:nvPr/>
        </p:nvSpPr>
        <p:spPr>
          <a:xfrm>
            <a:off x="2286000" y="0"/>
            <a:ext cx="9029160" cy="62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ɑ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β 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T cell SFC Panel – 32 fluorophores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49" name="" descr=""/>
          <p:cNvPicPr/>
          <p:nvPr/>
        </p:nvPicPr>
        <p:blipFill>
          <a:blip r:embed="rId3"/>
          <a:stretch/>
        </p:blipFill>
        <p:spPr>
          <a:xfrm>
            <a:off x="457200" y="6172200"/>
            <a:ext cx="1368000" cy="356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" name="Picture 9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39400" cy="397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1" name="PlaceHolder 1"/>
          <p:cNvSpPr>
            <a:spLocks noGrp="1"/>
          </p:cNvSpPr>
          <p:nvPr>
            <p:ph type="title"/>
          </p:nvPr>
        </p:nvSpPr>
        <p:spPr>
          <a:xfrm>
            <a:off x="657360" y="104400"/>
            <a:ext cx="10896840" cy="60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Personal Goal: No cell left behind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52" name="Picture 4" descr=""/>
          <p:cNvPicPr/>
          <p:nvPr/>
        </p:nvPicPr>
        <p:blipFill>
          <a:blip r:embed="rId2"/>
          <a:stretch/>
        </p:blipFill>
        <p:spPr>
          <a:xfrm>
            <a:off x="1311840" y="792360"/>
            <a:ext cx="3853440" cy="514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3" name="TextBox 6"/>
          <p:cNvSpPr/>
          <p:nvPr/>
        </p:nvSpPr>
        <p:spPr>
          <a:xfrm>
            <a:off x="6095880" y="1191240"/>
            <a:ext cx="5043240" cy="447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400" strike="noStrike" u="sng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Repeated 3 AM thoughts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What makes spectral flow cytometry data amazing is both the depth and the breadth… why in the world would we want to down-sample as a routine step!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If acquiring 3 million cells to profile just 100 rare ones, how to fully profile the rest of the dataset to avoid missing other changes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54" name="" descr=""/>
          <p:cNvPicPr/>
          <p:nvPr/>
        </p:nvPicPr>
        <p:blipFill>
          <a:blip r:embed="rId3"/>
          <a:stretch/>
        </p:blipFill>
        <p:spPr>
          <a:xfrm>
            <a:off x="457200" y="6172200"/>
            <a:ext cx="1368000" cy="356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5" name="Picture 55" descr=""/>
          <p:cNvPicPr/>
          <p:nvPr/>
        </p:nvPicPr>
        <p:blipFill>
          <a:blip r:embed="rId1"/>
          <a:srcRect l="13383" t="8378" r="6425" b="0"/>
          <a:stretch/>
        </p:blipFill>
        <p:spPr>
          <a:xfrm>
            <a:off x="2700720" y="1371600"/>
            <a:ext cx="2326320" cy="2283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6" name=""/>
          <p:cNvSpPr/>
          <p:nvPr/>
        </p:nvSpPr>
        <p:spPr>
          <a:xfrm>
            <a:off x="5486400" y="1828800"/>
            <a:ext cx="682200" cy="682200"/>
          </a:xfrm>
          <a:prstGeom prst="rect">
            <a:avLst/>
          </a:prstGeom>
          <a:solidFill>
            <a:srgbClr val="ffffff"/>
          </a:solidFill>
          <a:ln w="36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360" rIns="108360" tIns="63360" bIns="6336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457" name="Picture 56" descr=""/>
          <p:cNvPicPr/>
          <p:nvPr/>
        </p:nvPicPr>
        <p:blipFill>
          <a:blip r:embed="rId2"/>
          <a:stretch/>
        </p:blipFill>
        <p:spPr>
          <a:xfrm>
            <a:off x="10435680" y="6172560"/>
            <a:ext cx="1139400" cy="397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8" name=""/>
          <p:cNvSpPr/>
          <p:nvPr/>
        </p:nvSpPr>
        <p:spPr>
          <a:xfrm>
            <a:off x="0" y="41040"/>
            <a:ext cx="12113640" cy="10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To unlock the comprehensive biological discovery potential,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we need to address these pink elephants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"/>
          <p:cNvSpPr/>
          <p:nvPr/>
        </p:nvSpPr>
        <p:spPr>
          <a:xfrm>
            <a:off x="6402240" y="1457640"/>
            <a:ext cx="5025600" cy="1329120"/>
          </a:xfrm>
          <a:prstGeom prst="rect">
            <a:avLst/>
          </a:prstGeom>
          <a:solidFill>
            <a:srgbClr val="77bc65">
              <a:alpha val="2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60" name="Rectangle 21"/>
          <p:cNvSpPr/>
          <p:nvPr/>
        </p:nvSpPr>
        <p:spPr>
          <a:xfrm>
            <a:off x="6402240" y="1418400"/>
            <a:ext cx="502560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Quality of the unmixed full-stained data is linked to the quality of our single-color controls (and our ability to provide appropriate autofluorescence controls). 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"/>
          <p:cNvSpPr/>
          <p:nvPr/>
        </p:nvSpPr>
        <p:spPr>
          <a:xfrm>
            <a:off x="6400800" y="3214440"/>
            <a:ext cx="5027040" cy="1512000"/>
          </a:xfrm>
          <a:prstGeom prst="rect">
            <a:avLst/>
          </a:prstGeom>
          <a:solidFill>
            <a:srgbClr val="ffe994">
              <a:alpha val="2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62" name="Rectangle 22"/>
          <p:cNvSpPr/>
          <p:nvPr/>
        </p:nvSpPr>
        <p:spPr>
          <a:xfrm>
            <a:off x="6400800" y="3201480"/>
            <a:ext cx="502560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If we are acquiring 3 million cells to detect 100 rare cells, how do we thoroughly explore the rest of the sample to avoid wasting useful data?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"/>
          <p:cNvSpPr/>
          <p:nvPr/>
        </p:nvSpPr>
        <p:spPr>
          <a:xfrm>
            <a:off x="5486400" y="3585600"/>
            <a:ext cx="682200" cy="682200"/>
          </a:xfrm>
          <a:prstGeom prst="rect">
            <a:avLst/>
          </a:prstGeom>
          <a:solidFill>
            <a:srgbClr val="ffffff"/>
          </a:solidFill>
          <a:ln w="36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360" rIns="108360" tIns="63360" bIns="6336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464" name="" descr=""/>
          <p:cNvPicPr/>
          <p:nvPr/>
        </p:nvPicPr>
        <p:blipFill>
          <a:blip r:embed="rId3"/>
          <a:stretch/>
        </p:blipFill>
        <p:spPr>
          <a:xfrm>
            <a:off x="651960" y="3357000"/>
            <a:ext cx="2774880" cy="2741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65" name="" descr=""/>
          <p:cNvPicPr/>
          <p:nvPr/>
        </p:nvPicPr>
        <p:blipFill>
          <a:blip r:embed="rId4"/>
          <a:stretch/>
        </p:blipFill>
        <p:spPr>
          <a:xfrm>
            <a:off x="457200" y="6172200"/>
            <a:ext cx="1368000" cy="356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6" name="Picture 64" descr="A screenshot of a video game&#10;&#10;AI-generated content may be incorrect."/>
          <p:cNvPicPr/>
          <p:nvPr/>
        </p:nvPicPr>
        <p:blipFill>
          <a:blip r:embed="rId1"/>
          <a:srcRect l="0" t="0" r="0" b="13847"/>
          <a:stretch/>
        </p:blipFill>
        <p:spPr>
          <a:xfrm>
            <a:off x="2304360" y="1143000"/>
            <a:ext cx="7751880" cy="4569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67" name="" descr=""/>
          <p:cNvPicPr/>
          <p:nvPr/>
        </p:nvPicPr>
        <p:blipFill>
          <a:blip r:embed="rId2"/>
          <a:stretch/>
        </p:blipFill>
        <p:spPr>
          <a:xfrm>
            <a:off x="458640" y="6172200"/>
            <a:ext cx="1368000" cy="35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8" name=""/>
          <p:cNvSpPr/>
          <p:nvPr/>
        </p:nvSpPr>
        <p:spPr>
          <a:xfrm>
            <a:off x="1143000" y="4141440"/>
            <a:ext cx="1184760" cy="303120"/>
          </a:xfrm>
          <a:prstGeom prst="rect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PE-Vio 770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"/>
          <p:cNvSpPr/>
          <p:nvPr/>
        </p:nvSpPr>
        <p:spPr>
          <a:xfrm>
            <a:off x="1143000" y="1525320"/>
            <a:ext cx="1184760" cy="516600"/>
          </a:xfrm>
          <a:prstGeom prst="rect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APC-Vio 770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"/>
          <p:cNvSpPr/>
          <p:nvPr/>
        </p:nvSpPr>
        <p:spPr>
          <a:xfrm>
            <a:off x="2034720" y="4631400"/>
            <a:ext cx="594360" cy="360"/>
          </a:xfrm>
          <a:prstGeom prst="line">
            <a:avLst/>
          </a:prstGeom>
          <a:ln w="3672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8360" rIns="108360" tIns="-63360" bIns="-6336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71" name=""/>
          <p:cNvSpPr/>
          <p:nvPr/>
        </p:nvSpPr>
        <p:spPr>
          <a:xfrm>
            <a:off x="2034720" y="2014920"/>
            <a:ext cx="594360" cy="720"/>
          </a:xfrm>
          <a:prstGeom prst="line">
            <a:avLst/>
          </a:prstGeom>
          <a:ln w="3672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8360" rIns="108360" tIns="-63360" bIns="-6336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472" name="Picture 93" descr=""/>
          <p:cNvPicPr/>
          <p:nvPr/>
        </p:nvPicPr>
        <p:blipFill>
          <a:blip r:embed="rId3"/>
          <a:stretch/>
        </p:blipFill>
        <p:spPr>
          <a:xfrm>
            <a:off x="10435680" y="6172560"/>
            <a:ext cx="1139400" cy="397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3" name="PlaceHolder 19"/>
          <p:cNvSpPr/>
          <p:nvPr/>
        </p:nvSpPr>
        <p:spPr>
          <a:xfrm>
            <a:off x="231840" y="47880"/>
            <a:ext cx="12110400" cy="636120"/>
          </a:xfrm>
          <a:prstGeom prst="rect">
            <a:avLst/>
          </a:prstGeom>
          <a:noFill/>
          <a:ln w="190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rmAutofit lnSpcReduction="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Spectral Unmixing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4" name="Picture 65" descr="A screenshot of a video game&#10;&#10;AI-generated content may be incorrect."/>
          <p:cNvPicPr/>
          <p:nvPr/>
        </p:nvPicPr>
        <p:blipFill>
          <a:blip r:embed="rId1"/>
          <a:srcRect l="0" t="0" r="0" b="12458"/>
          <a:stretch/>
        </p:blipFill>
        <p:spPr>
          <a:xfrm>
            <a:off x="2996640" y="1143000"/>
            <a:ext cx="7288200" cy="4798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75" name="" descr=""/>
          <p:cNvPicPr/>
          <p:nvPr/>
        </p:nvPicPr>
        <p:blipFill>
          <a:blip r:embed="rId2"/>
          <a:stretch/>
        </p:blipFill>
        <p:spPr>
          <a:xfrm>
            <a:off x="458640" y="6172200"/>
            <a:ext cx="1368000" cy="35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6" name=""/>
          <p:cNvSpPr/>
          <p:nvPr/>
        </p:nvSpPr>
        <p:spPr>
          <a:xfrm>
            <a:off x="1600200" y="4239000"/>
            <a:ext cx="1113120" cy="303120"/>
          </a:xfrm>
          <a:prstGeom prst="rect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PE-Vio 770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"/>
          <p:cNvSpPr/>
          <p:nvPr/>
        </p:nvSpPr>
        <p:spPr>
          <a:xfrm>
            <a:off x="1600200" y="1537560"/>
            <a:ext cx="1113120" cy="516600"/>
          </a:xfrm>
          <a:prstGeom prst="rect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APC-Vio 770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"/>
          <p:cNvSpPr/>
          <p:nvPr/>
        </p:nvSpPr>
        <p:spPr>
          <a:xfrm>
            <a:off x="2437920" y="4744800"/>
            <a:ext cx="558720" cy="720"/>
          </a:xfrm>
          <a:prstGeom prst="line">
            <a:avLst/>
          </a:prstGeom>
          <a:ln w="3672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8360" rIns="108360" tIns="-63360" bIns="-6336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79" name=""/>
          <p:cNvSpPr/>
          <p:nvPr/>
        </p:nvSpPr>
        <p:spPr>
          <a:xfrm>
            <a:off x="2437920" y="2043360"/>
            <a:ext cx="558720" cy="720"/>
          </a:xfrm>
          <a:prstGeom prst="line">
            <a:avLst/>
          </a:prstGeom>
          <a:ln w="3672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8360" rIns="108360" tIns="-63360" bIns="-6336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480" name="Picture 94" descr=""/>
          <p:cNvPicPr/>
          <p:nvPr/>
        </p:nvPicPr>
        <p:blipFill>
          <a:blip r:embed="rId3"/>
          <a:stretch/>
        </p:blipFill>
        <p:spPr>
          <a:xfrm>
            <a:off x="10435680" y="6172560"/>
            <a:ext cx="1139400" cy="397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1" name="PlaceHolder 35"/>
          <p:cNvSpPr/>
          <p:nvPr/>
        </p:nvSpPr>
        <p:spPr>
          <a:xfrm>
            <a:off x="0" y="228600"/>
            <a:ext cx="12110400" cy="636120"/>
          </a:xfrm>
          <a:prstGeom prst="rect">
            <a:avLst/>
          </a:prstGeom>
          <a:noFill/>
          <a:ln w="190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rmAutofit lnSpcReduction="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Mismatched References lead to errors in attribution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2" name="" descr=""/>
          <p:cNvPicPr/>
          <p:nvPr/>
        </p:nvPicPr>
        <p:blipFill>
          <a:blip r:embed="rId1"/>
          <a:stretch/>
        </p:blipFill>
        <p:spPr>
          <a:xfrm>
            <a:off x="2971800" y="1220760"/>
            <a:ext cx="6398640" cy="3115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83" name="" descr=""/>
          <p:cNvPicPr/>
          <p:nvPr/>
        </p:nvPicPr>
        <p:blipFill>
          <a:blip r:embed="rId2"/>
          <a:stretch/>
        </p:blipFill>
        <p:spPr>
          <a:xfrm>
            <a:off x="457200" y="6172200"/>
            <a:ext cx="1368000" cy="35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4" name=""/>
          <p:cNvSpPr/>
          <p:nvPr/>
        </p:nvSpPr>
        <p:spPr>
          <a:xfrm>
            <a:off x="3238560" y="4607640"/>
            <a:ext cx="6131880" cy="1333800"/>
          </a:xfrm>
          <a:prstGeom prst="rect">
            <a:avLst/>
          </a:prstGeom>
          <a:solidFill>
            <a:srgbClr val="f7d1d5">
              <a:alpha val="5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85" name=""/>
          <p:cNvSpPr/>
          <p:nvPr/>
        </p:nvSpPr>
        <p:spPr>
          <a:xfrm>
            <a:off x="3238560" y="4875120"/>
            <a:ext cx="586512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Is the population you are seeing biological, or just a technical artifact?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86" name="Picture 95" descr=""/>
          <p:cNvPicPr/>
          <p:nvPr/>
        </p:nvPicPr>
        <p:blipFill>
          <a:blip r:embed="rId3"/>
          <a:stretch/>
        </p:blipFill>
        <p:spPr>
          <a:xfrm>
            <a:off x="10435680" y="6172560"/>
            <a:ext cx="1139400" cy="397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7" name="PlaceHolder 36"/>
          <p:cNvSpPr/>
          <p:nvPr/>
        </p:nvSpPr>
        <p:spPr>
          <a:xfrm>
            <a:off x="0" y="228960"/>
            <a:ext cx="12110400" cy="636120"/>
          </a:xfrm>
          <a:prstGeom prst="rect">
            <a:avLst/>
          </a:prstGeom>
          <a:noFill/>
          <a:ln w="190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rmAutofit lnSpcReduction="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Unmixing Errors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8" name="" descr=""/>
          <p:cNvPicPr/>
          <p:nvPr/>
        </p:nvPicPr>
        <p:blipFill>
          <a:blip r:embed="rId1"/>
          <a:stretch/>
        </p:blipFill>
        <p:spPr>
          <a:xfrm>
            <a:off x="457200" y="6172200"/>
            <a:ext cx="1368000" cy="35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9" name=""/>
          <p:cNvSpPr/>
          <p:nvPr/>
        </p:nvSpPr>
        <p:spPr>
          <a:xfrm>
            <a:off x="7482960" y="1600200"/>
            <a:ext cx="4402080" cy="3426840"/>
          </a:xfrm>
          <a:prstGeom prst="rect">
            <a:avLst/>
          </a:prstGeom>
          <a:solidFill>
            <a:srgbClr val="afd095">
              <a:alpha val="5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90" name=""/>
          <p:cNvSpPr/>
          <p:nvPr/>
        </p:nvSpPr>
        <p:spPr>
          <a:xfrm>
            <a:off x="7748640" y="1863360"/>
            <a:ext cx="4365000" cy="359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OpenSymbol"/>
              <a:buChar char="►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The power to shoot yourself in the foot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OpenSymbol"/>
              <a:buChar char="►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Garbage In, Garbage Out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OpenSymbol"/>
              <a:buChar char="►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Adding to the reproducibility crisis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OpenSymbol"/>
              <a:buChar char="►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Wasting time, effort and funds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91" name="" descr=""/>
          <p:cNvPicPr/>
          <p:nvPr/>
        </p:nvPicPr>
        <p:blipFill>
          <a:blip r:embed="rId2"/>
          <a:stretch/>
        </p:blipFill>
        <p:spPr>
          <a:xfrm>
            <a:off x="1637280" y="1143000"/>
            <a:ext cx="5516640" cy="383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2" name=""/>
          <p:cNvSpPr/>
          <p:nvPr/>
        </p:nvSpPr>
        <p:spPr>
          <a:xfrm>
            <a:off x="1371600" y="5038200"/>
            <a:ext cx="5842080" cy="730080"/>
          </a:xfrm>
          <a:prstGeom prst="rect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* Paper used an identical viability dye signature as the fluorophore of their main marker of interest. No way to tell if their entire paper is based on necrotic cells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93" name="Picture 96" descr=""/>
          <p:cNvPicPr/>
          <p:nvPr/>
        </p:nvPicPr>
        <p:blipFill>
          <a:blip r:embed="rId3"/>
          <a:stretch/>
        </p:blipFill>
        <p:spPr>
          <a:xfrm>
            <a:off x="10435680" y="6172560"/>
            <a:ext cx="1139400" cy="397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4" name=""/>
          <p:cNvSpPr/>
          <p:nvPr/>
        </p:nvSpPr>
        <p:spPr>
          <a:xfrm>
            <a:off x="4343400" y="228600"/>
            <a:ext cx="4889880" cy="10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Why does this matter?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"/>
          <p:cNvSpPr/>
          <p:nvPr/>
        </p:nvSpPr>
        <p:spPr>
          <a:xfrm>
            <a:off x="5715000" y="2851200"/>
            <a:ext cx="5257080" cy="1034280"/>
          </a:xfrm>
          <a:prstGeom prst="rect">
            <a:avLst/>
          </a:prstGeom>
          <a:solidFill>
            <a:srgbClr val="729fcf">
              <a:alpha val="2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96" name=""/>
          <p:cNvSpPr/>
          <p:nvPr/>
        </p:nvSpPr>
        <p:spPr>
          <a:xfrm>
            <a:off x="5727600" y="1299600"/>
            <a:ext cx="5244480" cy="1322280"/>
          </a:xfrm>
          <a:prstGeom prst="rect">
            <a:avLst/>
          </a:prstGeom>
          <a:solidFill>
            <a:srgbClr val="ffb66c">
              <a:alpha val="2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97" name=""/>
          <p:cNvSpPr/>
          <p:nvPr/>
        </p:nvSpPr>
        <p:spPr>
          <a:xfrm>
            <a:off x="5799600" y="2496240"/>
            <a:ext cx="5219640" cy="134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</a:pP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MT Extra" charset="2"/>
              <a:buChar char="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No tools exist to screen the quality of your unmixing control derived signatures pre-unmixing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98" name="" descr=""/>
          <p:cNvPicPr/>
          <p:nvPr/>
        </p:nvPicPr>
        <p:blipFill>
          <a:blip r:embed="rId1"/>
          <a:stretch/>
        </p:blipFill>
        <p:spPr>
          <a:xfrm>
            <a:off x="230040" y="6172200"/>
            <a:ext cx="1368000" cy="35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9" name=""/>
          <p:cNvSpPr/>
          <p:nvPr/>
        </p:nvSpPr>
        <p:spPr>
          <a:xfrm>
            <a:off x="5812200" y="1083600"/>
            <a:ext cx="5219640" cy="134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</a:pP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MT Extra" charset="2"/>
              <a:buChar char="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Reference signatures extracted from our unmixing controls are critical to the final data quality of the full-stained sample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00" name="Picture 97" descr=""/>
          <p:cNvPicPr/>
          <p:nvPr/>
        </p:nvPicPr>
        <p:blipFill>
          <a:blip r:embed="rId2"/>
          <a:stretch/>
        </p:blipFill>
        <p:spPr>
          <a:xfrm>
            <a:off x="10435680" y="6172560"/>
            <a:ext cx="1139400" cy="397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1" name=""/>
          <p:cNvSpPr/>
          <p:nvPr/>
        </p:nvSpPr>
        <p:spPr>
          <a:xfrm>
            <a:off x="2514600" y="48600"/>
            <a:ext cx="7998840" cy="10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Breaking into the unmixing black box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"/>
          <p:cNvSpPr/>
          <p:nvPr/>
        </p:nvSpPr>
        <p:spPr>
          <a:xfrm>
            <a:off x="5715000" y="3994200"/>
            <a:ext cx="5257080" cy="805680"/>
          </a:xfrm>
          <a:prstGeom prst="rect">
            <a:avLst/>
          </a:prstGeom>
          <a:solidFill>
            <a:srgbClr val="a7074b">
              <a:alpha val="2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03" name=""/>
          <p:cNvSpPr/>
          <p:nvPr/>
        </p:nvSpPr>
        <p:spPr>
          <a:xfrm>
            <a:off x="5812200" y="3738240"/>
            <a:ext cx="521964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</a:pP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MT Extra" charset="2"/>
              <a:buChar char="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Multiple rounds of unmixing trial and error to spot problematic single-color controls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04" name="Picture 88" descr="A close-up of a blue and red dot&#10;&#10;AI-generated content may be incorrect."/>
          <p:cNvPicPr/>
          <p:nvPr/>
        </p:nvPicPr>
        <p:blipFill>
          <a:blip r:embed="rId3"/>
          <a:stretch/>
        </p:blipFill>
        <p:spPr>
          <a:xfrm>
            <a:off x="1052640" y="1149120"/>
            <a:ext cx="3975840" cy="3879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5" name="" descr=""/>
          <p:cNvPicPr/>
          <p:nvPr/>
        </p:nvPicPr>
        <p:blipFill>
          <a:blip r:embed="rId1"/>
          <a:stretch/>
        </p:blipFill>
        <p:spPr>
          <a:xfrm>
            <a:off x="3565080" y="1199520"/>
            <a:ext cx="2885040" cy="4706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06" name="" descr=""/>
          <p:cNvPicPr/>
          <p:nvPr/>
        </p:nvPicPr>
        <p:blipFill>
          <a:blip r:embed="rId2"/>
          <a:stretch/>
        </p:blipFill>
        <p:spPr>
          <a:xfrm>
            <a:off x="457200" y="6172200"/>
            <a:ext cx="1368000" cy="35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7" name=""/>
          <p:cNvSpPr/>
          <p:nvPr/>
        </p:nvSpPr>
        <p:spPr>
          <a:xfrm>
            <a:off x="6629400" y="4957200"/>
            <a:ext cx="5255640" cy="912240"/>
          </a:xfrm>
          <a:prstGeom prst="rect">
            <a:avLst/>
          </a:prstGeom>
          <a:solidFill>
            <a:srgbClr val="ffdbb6">
              <a:alpha val="5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508" name="Picture 66" descr="A graph of a number of data&#10;&#10;AI-generated content may be incorrect."/>
          <p:cNvPicPr/>
          <p:nvPr/>
        </p:nvPicPr>
        <p:blipFill>
          <a:blip r:embed="rId3"/>
          <a:stretch/>
        </p:blipFill>
        <p:spPr>
          <a:xfrm>
            <a:off x="228600" y="1741680"/>
            <a:ext cx="3082320" cy="1908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09" name="" descr=""/>
          <p:cNvPicPr/>
          <p:nvPr/>
        </p:nvPicPr>
        <p:blipFill>
          <a:blip r:embed="rId4"/>
          <a:srcRect l="0" t="0" r="12502" b="0"/>
          <a:stretch/>
        </p:blipFill>
        <p:spPr>
          <a:xfrm>
            <a:off x="547920" y="4358880"/>
            <a:ext cx="2684160" cy="1603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0" name=""/>
          <p:cNvSpPr/>
          <p:nvPr/>
        </p:nvSpPr>
        <p:spPr>
          <a:xfrm>
            <a:off x="271080" y="1285560"/>
            <a:ext cx="2999880" cy="333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spAutoFit/>
          </a:bodyPr>
          <a:p>
            <a:pPr algn="ctr">
              <a:lnSpc>
                <a:spcPct val="100000"/>
              </a:lnSpc>
            </a:pP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Tandem Degradation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"/>
          <p:cNvSpPr/>
          <p:nvPr/>
        </p:nvSpPr>
        <p:spPr>
          <a:xfrm>
            <a:off x="271440" y="1285560"/>
            <a:ext cx="2999880" cy="333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spAutoFit/>
          </a:bodyPr>
          <a:p>
            <a:pPr algn="ctr">
              <a:lnSpc>
                <a:spcPct val="100000"/>
              </a:lnSpc>
            </a:pP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Tandem Degradation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"/>
          <p:cNvSpPr/>
          <p:nvPr/>
        </p:nvSpPr>
        <p:spPr>
          <a:xfrm>
            <a:off x="311040" y="3812040"/>
            <a:ext cx="2999880" cy="333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spAutoFit/>
          </a:bodyPr>
          <a:p>
            <a:pPr algn="ctr">
              <a:lnSpc>
                <a:spcPct val="100000"/>
              </a:lnSpc>
            </a:pP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Multiple Autofluorescence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"/>
          <p:cNvSpPr/>
          <p:nvPr/>
        </p:nvSpPr>
        <p:spPr>
          <a:xfrm>
            <a:off x="6593400" y="4525920"/>
            <a:ext cx="5255640" cy="143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Symbol" charset="2"/>
              <a:buChar char="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What if instead of looking at the signature of the population, we looked at the signatures of the individual cells? 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14" name="Picture 98" descr=""/>
          <p:cNvPicPr/>
          <p:nvPr/>
        </p:nvPicPr>
        <p:blipFill>
          <a:blip r:embed="rId5"/>
          <a:stretch/>
        </p:blipFill>
        <p:spPr>
          <a:xfrm>
            <a:off x="10435680" y="6172560"/>
            <a:ext cx="1139400" cy="397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5" name=""/>
          <p:cNvSpPr/>
          <p:nvPr/>
        </p:nvSpPr>
        <p:spPr>
          <a:xfrm>
            <a:off x="2514960" y="48960"/>
            <a:ext cx="7998840" cy="10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Breaking into the unmixing black box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"/>
          <p:cNvSpPr/>
          <p:nvPr/>
        </p:nvSpPr>
        <p:spPr>
          <a:xfrm>
            <a:off x="6542640" y="2779200"/>
            <a:ext cx="5257080" cy="1034280"/>
          </a:xfrm>
          <a:prstGeom prst="rect">
            <a:avLst/>
          </a:prstGeom>
          <a:solidFill>
            <a:srgbClr val="729fcf">
              <a:alpha val="2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17" name=""/>
          <p:cNvSpPr/>
          <p:nvPr/>
        </p:nvSpPr>
        <p:spPr>
          <a:xfrm>
            <a:off x="6555240" y="1227600"/>
            <a:ext cx="5244480" cy="1322280"/>
          </a:xfrm>
          <a:prstGeom prst="rect">
            <a:avLst/>
          </a:prstGeom>
          <a:solidFill>
            <a:srgbClr val="ffb66c">
              <a:alpha val="2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18" name=""/>
          <p:cNvSpPr/>
          <p:nvPr/>
        </p:nvSpPr>
        <p:spPr>
          <a:xfrm>
            <a:off x="6627240" y="2424240"/>
            <a:ext cx="5219640" cy="134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</a:pP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MT Extra" charset="2"/>
              <a:buChar char="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No tools exist to screen the quality of your unmixing control derived signatures pre-unmixing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"/>
          <p:cNvSpPr/>
          <p:nvPr/>
        </p:nvSpPr>
        <p:spPr>
          <a:xfrm>
            <a:off x="6542640" y="3922200"/>
            <a:ext cx="5257080" cy="805680"/>
          </a:xfrm>
          <a:prstGeom prst="rect">
            <a:avLst/>
          </a:prstGeom>
          <a:solidFill>
            <a:srgbClr val="a7074b">
              <a:alpha val="2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20" name=""/>
          <p:cNvSpPr/>
          <p:nvPr/>
        </p:nvSpPr>
        <p:spPr>
          <a:xfrm>
            <a:off x="6639840" y="3666240"/>
            <a:ext cx="521964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</a:pP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MT Extra" charset="2"/>
              <a:buChar char="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Multiple rounds of unmixing trial and error to spot problematic single-color controls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"/>
          <p:cNvSpPr/>
          <p:nvPr/>
        </p:nvSpPr>
        <p:spPr>
          <a:xfrm>
            <a:off x="6640200" y="1049760"/>
            <a:ext cx="5219640" cy="134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</a:pP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MT Extra" charset="2"/>
              <a:buChar char="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Reference signatures extracted from our unmixing controls are critical to the final data quality of the full-stained sample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" name="" descr=""/>
          <p:cNvPicPr/>
          <p:nvPr/>
        </p:nvPicPr>
        <p:blipFill>
          <a:blip r:embed="rId1"/>
          <a:stretch/>
        </p:blipFill>
        <p:spPr>
          <a:xfrm rot="21582600">
            <a:off x="1219320" y="1152000"/>
            <a:ext cx="4011840" cy="4373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23" name="" descr=""/>
          <p:cNvPicPr/>
          <p:nvPr/>
        </p:nvPicPr>
        <p:blipFill>
          <a:blip r:embed="rId2"/>
          <a:stretch/>
        </p:blipFill>
        <p:spPr>
          <a:xfrm>
            <a:off x="5714280" y="1143000"/>
            <a:ext cx="5179680" cy="4572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4" name=""/>
          <p:cNvSpPr/>
          <p:nvPr/>
        </p:nvSpPr>
        <p:spPr>
          <a:xfrm>
            <a:off x="10928160" y="2466720"/>
            <a:ext cx="21240" cy="1883160"/>
          </a:xfrm>
          <a:prstGeom prst="line">
            <a:avLst/>
          </a:prstGeom>
          <a:ln w="73080">
            <a:solidFill>
              <a:srgbClr val="069a2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26360" rIns="126360" tIns="81360" bIns="8136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525" name="Picture 129" descr=""/>
          <p:cNvPicPr/>
          <p:nvPr/>
        </p:nvPicPr>
        <p:blipFill>
          <a:blip r:embed="rId3"/>
          <a:stretch/>
        </p:blipFill>
        <p:spPr>
          <a:xfrm>
            <a:off x="10435680" y="6172560"/>
            <a:ext cx="1139400" cy="397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26" name="" descr=""/>
          <p:cNvPicPr/>
          <p:nvPr/>
        </p:nvPicPr>
        <p:blipFill>
          <a:blip r:embed="rId4"/>
          <a:stretch/>
        </p:blipFill>
        <p:spPr>
          <a:xfrm>
            <a:off x="457200" y="6172200"/>
            <a:ext cx="1368000" cy="35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7" name=""/>
          <p:cNvSpPr/>
          <p:nvPr/>
        </p:nvSpPr>
        <p:spPr>
          <a:xfrm>
            <a:off x="457200" y="89280"/>
            <a:ext cx="114278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Sparked journey into R programming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8" name="Picture 13" descr=""/>
          <p:cNvPicPr/>
          <p:nvPr/>
        </p:nvPicPr>
        <p:blipFill>
          <a:blip r:embed="rId1"/>
          <a:srcRect l="28727" t="0" r="0" b="0"/>
          <a:stretch/>
        </p:blipFill>
        <p:spPr>
          <a:xfrm>
            <a:off x="3931200" y="469800"/>
            <a:ext cx="6125040" cy="594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9" name="PlaceHolder 1"/>
          <p:cNvSpPr>
            <a:spLocks noGrp="1"/>
          </p:cNvSpPr>
          <p:nvPr>
            <p:ph type="title"/>
          </p:nvPr>
        </p:nvSpPr>
        <p:spPr>
          <a:xfrm>
            <a:off x="231840" y="47520"/>
            <a:ext cx="12110400" cy="6361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Luciernaga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30" name="Picture 19" descr=""/>
          <p:cNvPicPr/>
          <p:nvPr/>
        </p:nvPicPr>
        <p:blipFill>
          <a:blip r:embed="rId2"/>
          <a:srcRect l="0" t="29511" r="72127" b="28628"/>
          <a:stretch/>
        </p:blipFill>
        <p:spPr>
          <a:xfrm>
            <a:off x="1371600" y="952200"/>
            <a:ext cx="2393280" cy="2485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1" name="TextBox 10"/>
          <p:cNvSpPr/>
          <p:nvPr/>
        </p:nvSpPr>
        <p:spPr>
          <a:xfrm>
            <a:off x="1491480" y="5803560"/>
            <a:ext cx="197676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Code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32" name="Graphic 5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980000" y="4222440"/>
            <a:ext cx="1524960" cy="1505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33" name="Picture 22" descr=""/>
          <p:cNvPicPr/>
          <p:nvPr/>
        </p:nvPicPr>
        <p:blipFill>
          <a:blip r:embed="rId5"/>
          <a:stretch/>
        </p:blipFill>
        <p:spPr>
          <a:xfrm>
            <a:off x="10435680" y="6172200"/>
            <a:ext cx="1139400" cy="397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34" name="" descr=""/>
          <p:cNvPicPr/>
          <p:nvPr/>
        </p:nvPicPr>
        <p:blipFill>
          <a:blip r:embed="rId6"/>
          <a:stretch/>
        </p:blipFill>
        <p:spPr>
          <a:xfrm>
            <a:off x="457560" y="6172560"/>
            <a:ext cx="1368000" cy="35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5" name=""/>
          <p:cNvSpPr/>
          <p:nvPr/>
        </p:nvSpPr>
        <p:spPr>
          <a:xfrm>
            <a:off x="6028200" y="914400"/>
            <a:ext cx="4114080" cy="54856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6" name="Picture 90" descr=""/>
          <p:cNvPicPr/>
          <p:nvPr/>
        </p:nvPicPr>
        <p:blipFill>
          <a:blip r:embed="rId1"/>
          <a:srcRect l="28727" t="0" r="0" b="0"/>
          <a:stretch/>
        </p:blipFill>
        <p:spPr>
          <a:xfrm>
            <a:off x="3931200" y="469800"/>
            <a:ext cx="6125040" cy="594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7" name="PlaceHolder 1"/>
          <p:cNvSpPr>
            <a:spLocks noGrp="1"/>
          </p:cNvSpPr>
          <p:nvPr>
            <p:ph type="title"/>
          </p:nvPr>
        </p:nvSpPr>
        <p:spPr>
          <a:xfrm>
            <a:off x="231840" y="47520"/>
            <a:ext cx="12110400" cy="6361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Luciernaga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38" name="Picture 91" descr=""/>
          <p:cNvPicPr/>
          <p:nvPr/>
        </p:nvPicPr>
        <p:blipFill>
          <a:blip r:embed="rId2"/>
          <a:srcRect l="0" t="29511" r="72127" b="28628"/>
          <a:stretch/>
        </p:blipFill>
        <p:spPr>
          <a:xfrm>
            <a:off x="1371600" y="952200"/>
            <a:ext cx="2393280" cy="2485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9" name="TextBox 15"/>
          <p:cNvSpPr/>
          <p:nvPr/>
        </p:nvSpPr>
        <p:spPr>
          <a:xfrm>
            <a:off x="1491480" y="5803560"/>
            <a:ext cx="197676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Code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40" name="Graphic 1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980000" y="4222440"/>
            <a:ext cx="1524960" cy="1505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41" name="Picture 92" descr=""/>
          <p:cNvPicPr/>
          <p:nvPr/>
        </p:nvPicPr>
        <p:blipFill>
          <a:blip r:embed="rId5"/>
          <a:stretch/>
        </p:blipFill>
        <p:spPr>
          <a:xfrm>
            <a:off x="10435680" y="6172200"/>
            <a:ext cx="1139400" cy="397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42" name="" descr=""/>
          <p:cNvPicPr/>
          <p:nvPr/>
        </p:nvPicPr>
        <p:blipFill>
          <a:blip r:embed="rId6"/>
          <a:stretch/>
        </p:blipFill>
        <p:spPr>
          <a:xfrm>
            <a:off x="457560" y="6172560"/>
            <a:ext cx="1368000" cy="35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3" name=""/>
          <p:cNvSpPr/>
          <p:nvPr/>
        </p:nvSpPr>
        <p:spPr>
          <a:xfrm>
            <a:off x="7979400" y="1143000"/>
            <a:ext cx="2076840" cy="52570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4" name="Picture 99" descr=""/>
          <p:cNvPicPr/>
          <p:nvPr/>
        </p:nvPicPr>
        <p:blipFill>
          <a:blip r:embed="rId1"/>
          <a:srcRect l="28727" t="0" r="0" b="0"/>
          <a:stretch/>
        </p:blipFill>
        <p:spPr>
          <a:xfrm>
            <a:off x="3931200" y="469800"/>
            <a:ext cx="6125040" cy="594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5" name="PlaceHolder 1"/>
          <p:cNvSpPr>
            <a:spLocks noGrp="1"/>
          </p:cNvSpPr>
          <p:nvPr>
            <p:ph type="title"/>
          </p:nvPr>
        </p:nvSpPr>
        <p:spPr>
          <a:xfrm>
            <a:off x="231840" y="47520"/>
            <a:ext cx="12110400" cy="6361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Luciernaga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46" name="Picture 100" descr=""/>
          <p:cNvPicPr/>
          <p:nvPr/>
        </p:nvPicPr>
        <p:blipFill>
          <a:blip r:embed="rId2"/>
          <a:srcRect l="0" t="29511" r="72127" b="28628"/>
          <a:stretch/>
        </p:blipFill>
        <p:spPr>
          <a:xfrm>
            <a:off x="1371600" y="952200"/>
            <a:ext cx="2393280" cy="2485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7" name="TextBox 16"/>
          <p:cNvSpPr/>
          <p:nvPr/>
        </p:nvSpPr>
        <p:spPr>
          <a:xfrm>
            <a:off x="1491480" y="5803560"/>
            <a:ext cx="197676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Code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48" name="Graphic 7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980000" y="4222440"/>
            <a:ext cx="1524960" cy="1505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49" name="Picture 102" descr=""/>
          <p:cNvPicPr/>
          <p:nvPr/>
        </p:nvPicPr>
        <p:blipFill>
          <a:blip r:embed="rId5"/>
          <a:stretch/>
        </p:blipFill>
        <p:spPr>
          <a:xfrm>
            <a:off x="10435680" y="6172200"/>
            <a:ext cx="1139400" cy="397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50" name="" descr=""/>
          <p:cNvPicPr/>
          <p:nvPr/>
        </p:nvPicPr>
        <p:blipFill>
          <a:blip r:embed="rId6"/>
          <a:stretch/>
        </p:blipFill>
        <p:spPr>
          <a:xfrm>
            <a:off x="457560" y="6172560"/>
            <a:ext cx="1368000" cy="356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PlaceHolder 1"/>
          <p:cNvSpPr>
            <a:spLocks noGrp="1"/>
          </p:cNvSpPr>
          <p:nvPr>
            <p:ph type="subTitle"/>
          </p:nvPr>
        </p:nvSpPr>
        <p:spPr>
          <a:xfrm>
            <a:off x="3438000" y="4438440"/>
            <a:ext cx="8353080" cy="15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algn="ctr">
              <a:lnSpc>
                <a:spcPct val="90000"/>
              </a:lnSpc>
              <a:spcBef>
                <a:spcPts val="751"/>
              </a:spcBef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2" name=""/>
          <p:cNvSpPr/>
          <p:nvPr/>
        </p:nvSpPr>
        <p:spPr>
          <a:xfrm>
            <a:off x="928440" y="3677040"/>
            <a:ext cx="5050440" cy="2017800"/>
          </a:xfrm>
          <a:prstGeom prst="rect">
            <a:avLst/>
          </a:prstGeom>
          <a:solidFill>
            <a:srgbClr val="729fcf">
              <a:alpha val="5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53" name=""/>
          <p:cNvSpPr/>
          <p:nvPr/>
        </p:nvSpPr>
        <p:spPr>
          <a:xfrm>
            <a:off x="6487920" y="2309040"/>
            <a:ext cx="4545000" cy="2017800"/>
          </a:xfrm>
          <a:prstGeom prst="rect">
            <a:avLst/>
          </a:prstGeom>
          <a:solidFill>
            <a:srgbClr val="afd095">
              <a:alpha val="5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54" name=""/>
          <p:cNvSpPr/>
          <p:nvPr/>
        </p:nvSpPr>
        <p:spPr>
          <a:xfrm>
            <a:off x="914400" y="1143000"/>
            <a:ext cx="5064480" cy="2277360"/>
          </a:xfrm>
          <a:prstGeom prst="rect">
            <a:avLst/>
          </a:prstGeom>
          <a:solidFill>
            <a:srgbClr val="ffd7d7">
              <a:alpha val="2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grpSp>
        <p:nvGrpSpPr>
          <p:cNvPr id="555" name=""/>
          <p:cNvGrpSpPr/>
          <p:nvPr/>
        </p:nvGrpSpPr>
        <p:grpSpPr>
          <a:xfrm>
            <a:off x="1686600" y="1233360"/>
            <a:ext cx="3946320" cy="1783800"/>
            <a:chOff x="1686600" y="1233360"/>
            <a:chExt cx="3946320" cy="1783800"/>
          </a:xfrm>
        </p:grpSpPr>
        <p:sp>
          <p:nvSpPr>
            <p:cNvPr id="556" name="Arrow: Right 2"/>
            <p:cNvSpPr/>
            <p:nvPr/>
          </p:nvSpPr>
          <p:spPr>
            <a:xfrm rot="10800000">
              <a:off x="4869000" y="1355040"/>
              <a:ext cx="417960" cy="2214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d81f37"/>
            </a:solidFill>
            <a:ln w="12600">
              <a:solidFill>
                <a:srgbClr val="5e0d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endParaRPr>
            </a:p>
          </p:txBody>
        </p:sp>
        <p:sp>
          <p:nvSpPr>
            <p:cNvPr id="557" name="TextBox 4"/>
            <p:cNvSpPr/>
            <p:nvPr/>
          </p:nvSpPr>
          <p:spPr>
            <a:xfrm>
              <a:off x="4759200" y="1505520"/>
              <a:ext cx="873720" cy="54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en-US" sz="15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DejaVu Sans"/>
                </a:rPr>
                <a:t>APC-Fire 810</a:t>
              </a:r>
              <a:endPara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558" name="Picture 4" descr="A graph of a number of data&#10;&#10;AI-generated content may be incorrect."/>
            <p:cNvPicPr/>
            <p:nvPr/>
          </p:nvPicPr>
          <p:blipFill>
            <a:blip r:embed="rId1"/>
            <a:stretch/>
          </p:blipFill>
          <p:spPr>
            <a:xfrm>
              <a:off x="1686600" y="1233360"/>
              <a:ext cx="3174840" cy="17838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559" name="TextBox 3"/>
            <p:cNvSpPr/>
            <p:nvPr/>
          </p:nvSpPr>
          <p:spPr>
            <a:xfrm>
              <a:off x="3405960" y="1486440"/>
              <a:ext cx="627840" cy="31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en-US" sz="15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DejaVu Sans"/>
                </a:rPr>
                <a:t>APC</a:t>
              </a:r>
              <a:endPara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0" name="Arrow: Right 1"/>
            <p:cNvSpPr/>
            <p:nvPr/>
          </p:nvSpPr>
          <p:spPr>
            <a:xfrm>
              <a:off x="4076640" y="1538280"/>
              <a:ext cx="219960" cy="22104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d81f37"/>
            </a:solidFill>
            <a:ln w="12600">
              <a:solidFill>
                <a:srgbClr val="5e0d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endParaRPr>
            </a:p>
          </p:txBody>
        </p:sp>
      </p:grpSp>
      <p:pic>
        <p:nvPicPr>
          <p:cNvPr id="561" name="" descr=""/>
          <p:cNvPicPr/>
          <p:nvPr/>
        </p:nvPicPr>
        <p:blipFill>
          <a:blip r:embed="rId2"/>
          <a:srcRect l="36749" t="50780" r="-263" b="0"/>
          <a:stretch/>
        </p:blipFill>
        <p:spPr>
          <a:xfrm>
            <a:off x="1061640" y="3804120"/>
            <a:ext cx="4797720" cy="1464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2" name=""/>
          <p:cNvSpPr/>
          <p:nvPr/>
        </p:nvSpPr>
        <p:spPr>
          <a:xfrm>
            <a:off x="1939320" y="3028680"/>
            <a:ext cx="2775600" cy="333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spAutoFit/>
          </a:bodyPr>
          <a:p>
            <a:pPr algn="ctr">
              <a:lnSpc>
                <a:spcPct val="100000"/>
              </a:lnSpc>
            </a:pP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Tandem Degradation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3" name=""/>
          <p:cNvSpPr/>
          <p:nvPr/>
        </p:nvSpPr>
        <p:spPr>
          <a:xfrm>
            <a:off x="1686600" y="5356800"/>
            <a:ext cx="3534120" cy="333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spAutoFit/>
          </a:bodyPr>
          <a:p>
            <a:pPr algn="ctr">
              <a:lnSpc>
                <a:spcPct val="100000"/>
              </a:lnSpc>
            </a:pP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Residual Autofluorescence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64" name="" descr=""/>
          <p:cNvPicPr/>
          <p:nvPr/>
        </p:nvPicPr>
        <p:blipFill>
          <a:blip r:embed="rId3"/>
          <a:srcRect l="0" t="0" r="15005" b="0"/>
          <a:stretch/>
        </p:blipFill>
        <p:spPr>
          <a:xfrm>
            <a:off x="7459200" y="2365560"/>
            <a:ext cx="2775960" cy="1549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5" name=""/>
          <p:cNvSpPr/>
          <p:nvPr/>
        </p:nvSpPr>
        <p:spPr>
          <a:xfrm>
            <a:off x="6993360" y="3948840"/>
            <a:ext cx="3534480" cy="333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spAutoFit/>
          </a:bodyPr>
          <a:p>
            <a:pPr algn="ctr">
              <a:lnSpc>
                <a:spcPct val="100000"/>
              </a:lnSpc>
            </a:pP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Autofluorescence Isolation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66" name="Picture 101" descr=""/>
          <p:cNvPicPr/>
          <p:nvPr/>
        </p:nvPicPr>
        <p:blipFill>
          <a:blip r:embed="rId4"/>
          <a:stretch/>
        </p:blipFill>
        <p:spPr>
          <a:xfrm>
            <a:off x="10435680" y="6172560"/>
            <a:ext cx="1139400" cy="397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67" name="" descr=""/>
          <p:cNvPicPr/>
          <p:nvPr/>
        </p:nvPicPr>
        <p:blipFill>
          <a:blip r:embed="rId5"/>
          <a:stretch/>
        </p:blipFill>
        <p:spPr>
          <a:xfrm>
            <a:off x="457200" y="6172200"/>
            <a:ext cx="1368000" cy="35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8" name=""/>
          <p:cNvSpPr/>
          <p:nvPr/>
        </p:nvSpPr>
        <p:spPr>
          <a:xfrm>
            <a:off x="1371600" y="228600"/>
            <a:ext cx="9548280" cy="59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Automated tools for screening unmixing controls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"/>
          <p:cNvSpPr/>
          <p:nvPr/>
        </p:nvSpPr>
        <p:spPr>
          <a:xfrm>
            <a:off x="228600" y="4538880"/>
            <a:ext cx="6171480" cy="718200"/>
          </a:xfrm>
          <a:prstGeom prst="rect">
            <a:avLst/>
          </a:prstGeom>
          <a:solidFill>
            <a:srgbClr val="729fcf">
              <a:alpha val="2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70" name=""/>
          <p:cNvSpPr/>
          <p:nvPr/>
        </p:nvSpPr>
        <p:spPr>
          <a:xfrm>
            <a:off x="221400" y="3128400"/>
            <a:ext cx="6178680" cy="1142280"/>
          </a:xfrm>
          <a:prstGeom prst="rect">
            <a:avLst/>
          </a:prstGeom>
          <a:solidFill>
            <a:srgbClr val="ff6d6d">
              <a:alpha val="2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71" name=""/>
          <p:cNvSpPr/>
          <p:nvPr/>
        </p:nvSpPr>
        <p:spPr>
          <a:xfrm>
            <a:off x="277200" y="915120"/>
            <a:ext cx="6122880" cy="912960"/>
          </a:xfrm>
          <a:prstGeom prst="rect">
            <a:avLst/>
          </a:prstGeom>
          <a:solidFill>
            <a:srgbClr val="f7d1d5">
              <a:alpha val="2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572" name="" descr=""/>
          <p:cNvPicPr/>
          <p:nvPr/>
        </p:nvPicPr>
        <p:blipFill>
          <a:blip r:embed="rId1"/>
          <a:stretch/>
        </p:blipFill>
        <p:spPr>
          <a:xfrm>
            <a:off x="6782040" y="744120"/>
            <a:ext cx="4647240" cy="296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3" name=""/>
          <p:cNvSpPr/>
          <p:nvPr/>
        </p:nvSpPr>
        <p:spPr>
          <a:xfrm>
            <a:off x="277200" y="961920"/>
            <a:ext cx="5590800" cy="63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74" name=""/>
          <p:cNvSpPr/>
          <p:nvPr/>
        </p:nvSpPr>
        <p:spPr>
          <a:xfrm>
            <a:off x="216000" y="3128400"/>
            <a:ext cx="6436080" cy="10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When the </a:t>
            </a:r>
            <a:r>
              <a:rPr b="0" lang="en-US" sz="22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fluorophore degrades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, noticeable </a:t>
            </a:r>
            <a:r>
              <a:rPr b="1" lang="en-US" sz="22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increase in variant signatures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, making up substantial proportion of all cells in the unmixing control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5" name=""/>
          <p:cNvSpPr/>
          <p:nvPr/>
        </p:nvSpPr>
        <p:spPr>
          <a:xfrm>
            <a:off x="228600" y="4497840"/>
            <a:ext cx="640008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Automated screening all acquired unmixing controls from campus users during off-hours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76" name="" descr=""/>
          <p:cNvPicPr/>
          <p:nvPr/>
        </p:nvPicPr>
        <p:blipFill>
          <a:blip r:embed="rId2"/>
          <a:stretch/>
        </p:blipFill>
        <p:spPr>
          <a:xfrm>
            <a:off x="6629400" y="3714480"/>
            <a:ext cx="5254200" cy="170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7" name=""/>
          <p:cNvSpPr/>
          <p:nvPr/>
        </p:nvSpPr>
        <p:spPr>
          <a:xfrm>
            <a:off x="0" y="47520"/>
            <a:ext cx="123436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Identifying degrading fluorophores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78" name="Picture 74" descr=""/>
          <p:cNvPicPr/>
          <p:nvPr/>
        </p:nvPicPr>
        <p:blipFill>
          <a:blip r:embed="rId3"/>
          <a:stretch/>
        </p:blipFill>
        <p:spPr>
          <a:xfrm>
            <a:off x="10436040" y="6172560"/>
            <a:ext cx="1139400" cy="397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79" name="" descr=""/>
          <p:cNvPicPr/>
          <p:nvPr/>
        </p:nvPicPr>
        <p:blipFill>
          <a:blip r:embed="rId4"/>
          <a:stretch/>
        </p:blipFill>
        <p:spPr>
          <a:xfrm>
            <a:off x="457920" y="6172920"/>
            <a:ext cx="1368000" cy="35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0" name=""/>
          <p:cNvSpPr/>
          <p:nvPr/>
        </p:nvSpPr>
        <p:spPr>
          <a:xfrm>
            <a:off x="8001000" y="2057400"/>
            <a:ext cx="5942160" cy="912240"/>
          </a:xfrm>
          <a:prstGeom prst="rect">
            <a:avLst/>
          </a:prstGeom>
          <a:solidFill>
            <a:srgbClr val="3faf46">
              <a:alpha val="2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81" name=""/>
          <p:cNvSpPr/>
          <p:nvPr/>
        </p:nvSpPr>
        <p:spPr>
          <a:xfrm>
            <a:off x="257400" y="878400"/>
            <a:ext cx="6527880" cy="12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When looking at normalized signatures of individual cells in the unmixing controls grouped on the basis of  shared detectors of relatively same heights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2" name=""/>
          <p:cNvSpPr/>
          <p:nvPr/>
        </p:nvSpPr>
        <p:spPr>
          <a:xfrm>
            <a:off x="264600" y="2020320"/>
            <a:ext cx="6170760" cy="950760"/>
          </a:xfrm>
          <a:prstGeom prst="rect">
            <a:avLst/>
          </a:prstGeom>
          <a:solidFill>
            <a:srgbClr val="00a933">
              <a:alpha val="2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83" name=""/>
          <p:cNvSpPr/>
          <p:nvPr/>
        </p:nvSpPr>
        <p:spPr>
          <a:xfrm>
            <a:off x="221400" y="1984320"/>
            <a:ext cx="6178680" cy="12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Fluorophores in </a:t>
            </a:r>
            <a:r>
              <a:rPr b="0" lang="en-US" sz="22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good shape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→ </a:t>
            </a:r>
            <a:r>
              <a:rPr b="1" lang="en-US" sz="22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one predominant normalized signature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within the unmixing control raw .fcs file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"/>
          <p:cNvSpPr/>
          <p:nvPr/>
        </p:nvSpPr>
        <p:spPr>
          <a:xfrm>
            <a:off x="5258520" y="4143240"/>
            <a:ext cx="5942160" cy="988560"/>
          </a:xfrm>
          <a:prstGeom prst="rect">
            <a:avLst/>
          </a:prstGeom>
          <a:solidFill>
            <a:srgbClr val="ff3838">
              <a:alpha val="2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85" name=""/>
          <p:cNvSpPr/>
          <p:nvPr/>
        </p:nvSpPr>
        <p:spPr>
          <a:xfrm>
            <a:off x="5245920" y="2732040"/>
            <a:ext cx="5954760" cy="1092240"/>
          </a:xfrm>
          <a:prstGeom prst="rect">
            <a:avLst/>
          </a:prstGeom>
          <a:solidFill>
            <a:srgbClr val="ff972f">
              <a:alpha val="2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86" name=""/>
          <p:cNvSpPr/>
          <p:nvPr/>
        </p:nvSpPr>
        <p:spPr>
          <a:xfrm>
            <a:off x="5258520" y="1494720"/>
            <a:ext cx="5942160" cy="1139760"/>
          </a:xfrm>
          <a:prstGeom prst="rect">
            <a:avLst/>
          </a:prstGeom>
          <a:solidFill>
            <a:srgbClr val="729fcf">
              <a:alpha val="2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587" name="" descr=""/>
          <p:cNvPicPr/>
          <p:nvPr/>
        </p:nvPicPr>
        <p:blipFill>
          <a:blip r:embed="rId1"/>
          <a:stretch/>
        </p:blipFill>
        <p:spPr>
          <a:xfrm>
            <a:off x="2476440" y="3654720"/>
            <a:ext cx="2255760" cy="2021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88" name="" descr=""/>
          <p:cNvPicPr/>
          <p:nvPr/>
        </p:nvPicPr>
        <p:blipFill>
          <a:blip r:embed="rId2"/>
          <a:stretch/>
        </p:blipFill>
        <p:spPr>
          <a:xfrm>
            <a:off x="318600" y="3675240"/>
            <a:ext cx="2051280" cy="2001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9" name=""/>
          <p:cNvSpPr/>
          <p:nvPr/>
        </p:nvSpPr>
        <p:spPr>
          <a:xfrm>
            <a:off x="5259240" y="1539000"/>
            <a:ext cx="6170040" cy="10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OpenSymbol"/>
              <a:buChar char="►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This approach also works to isolate variant autofluorescence signatures from unstained controls 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0" name=""/>
          <p:cNvSpPr/>
          <p:nvPr/>
        </p:nvSpPr>
        <p:spPr>
          <a:xfrm>
            <a:off x="5212440" y="2661480"/>
            <a:ext cx="5952240" cy="10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OpenSymbol"/>
              <a:buChar char="►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Return directly as an .fcs file containing just cells with same signature for use as an autofluorescent tag in SpectroFlo 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1" name=""/>
          <p:cNvSpPr/>
          <p:nvPr/>
        </p:nvSpPr>
        <p:spPr>
          <a:xfrm>
            <a:off x="5258520" y="4036680"/>
            <a:ext cx="5942160" cy="10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Unlike other approaches, the isolated cells share normalized signatures, only differing in terms of brightness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2" name=""/>
          <p:cNvSpPr/>
          <p:nvPr/>
        </p:nvSpPr>
        <p:spPr>
          <a:xfrm>
            <a:off x="0" y="46800"/>
            <a:ext cx="121914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Isolating additional autofluorescence signatures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93" name="Picture 75" descr=""/>
          <p:cNvPicPr/>
          <p:nvPr/>
        </p:nvPicPr>
        <p:blipFill>
          <a:blip r:embed="rId3"/>
          <a:stretch/>
        </p:blipFill>
        <p:spPr>
          <a:xfrm>
            <a:off x="10436040" y="6172560"/>
            <a:ext cx="1139400" cy="397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94" name="" descr=""/>
          <p:cNvPicPr/>
          <p:nvPr/>
        </p:nvPicPr>
        <p:blipFill>
          <a:blip r:embed="rId4"/>
          <a:stretch/>
        </p:blipFill>
        <p:spPr>
          <a:xfrm>
            <a:off x="457920" y="6172920"/>
            <a:ext cx="1368000" cy="356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95" name="" descr=""/>
          <p:cNvPicPr/>
          <p:nvPr/>
        </p:nvPicPr>
        <p:blipFill>
          <a:blip r:embed="rId5"/>
          <a:stretch/>
        </p:blipFill>
        <p:spPr>
          <a:xfrm>
            <a:off x="409320" y="914400"/>
            <a:ext cx="4251960" cy="2633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6" name="" descr=""/>
          <p:cNvPicPr/>
          <p:nvPr/>
        </p:nvPicPr>
        <p:blipFill>
          <a:blip r:embed="rId1"/>
          <a:srcRect l="0" t="0" r="0" b="45221"/>
          <a:stretch/>
        </p:blipFill>
        <p:spPr>
          <a:xfrm>
            <a:off x="228600" y="1828800"/>
            <a:ext cx="11628360" cy="2511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7" name=""/>
          <p:cNvSpPr/>
          <p:nvPr/>
        </p:nvSpPr>
        <p:spPr>
          <a:xfrm>
            <a:off x="228600" y="4547520"/>
            <a:ext cx="11655000" cy="10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For cell controls with a </a:t>
            </a:r>
            <a:r>
              <a:rPr b="1" lang="en-US" sz="2000" strike="noStrike" u="sng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moderate density antigen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on </a:t>
            </a:r>
            <a:r>
              <a:rPr b="1" lang="en-US" sz="2000" strike="noStrike" u="sng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bright fluorophores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, we see that any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residual autofluorescence contributes minimally to the overall isolated single-color signature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when gated according to best practices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8" name=""/>
          <p:cNvSpPr/>
          <p:nvPr/>
        </p:nvSpPr>
        <p:spPr>
          <a:xfrm>
            <a:off x="228600" y="4114800"/>
            <a:ext cx="682200" cy="225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99" name=""/>
          <p:cNvSpPr/>
          <p:nvPr/>
        </p:nvSpPr>
        <p:spPr>
          <a:xfrm>
            <a:off x="4114800" y="4114800"/>
            <a:ext cx="682200" cy="225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00" name=""/>
          <p:cNvSpPr/>
          <p:nvPr/>
        </p:nvSpPr>
        <p:spPr>
          <a:xfrm>
            <a:off x="8458200" y="4114800"/>
            <a:ext cx="682200" cy="225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01" name=""/>
          <p:cNvSpPr/>
          <p:nvPr/>
        </p:nvSpPr>
        <p:spPr>
          <a:xfrm rot="144600">
            <a:off x="5058720" y="4234320"/>
            <a:ext cx="3428640" cy="22968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02" name=""/>
          <p:cNvSpPr/>
          <p:nvPr/>
        </p:nvSpPr>
        <p:spPr>
          <a:xfrm rot="144600">
            <a:off x="8644320" y="4222080"/>
            <a:ext cx="3428640" cy="22968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03" name=""/>
          <p:cNvSpPr/>
          <p:nvPr/>
        </p:nvSpPr>
        <p:spPr>
          <a:xfrm>
            <a:off x="0" y="41040"/>
            <a:ext cx="1219032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PSA: For dim antigen-fluorophore combinations, 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be cautious using cell unmixing controls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04" name="Picture 80" descr=""/>
          <p:cNvPicPr/>
          <p:nvPr/>
        </p:nvPicPr>
        <p:blipFill>
          <a:blip r:embed="rId2"/>
          <a:stretch/>
        </p:blipFill>
        <p:spPr>
          <a:xfrm>
            <a:off x="10436040" y="6172560"/>
            <a:ext cx="1139400" cy="397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05" name="" descr=""/>
          <p:cNvPicPr/>
          <p:nvPr/>
        </p:nvPicPr>
        <p:blipFill>
          <a:blip r:embed="rId3"/>
          <a:stretch/>
        </p:blipFill>
        <p:spPr>
          <a:xfrm>
            <a:off x="457920" y="6172920"/>
            <a:ext cx="1368000" cy="35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6" name=""/>
          <p:cNvSpPr/>
          <p:nvPr/>
        </p:nvSpPr>
        <p:spPr>
          <a:xfrm>
            <a:off x="685800" y="4572000"/>
            <a:ext cx="10742760" cy="1141560"/>
          </a:xfrm>
          <a:prstGeom prst="rect">
            <a:avLst/>
          </a:prstGeom>
          <a:solidFill>
            <a:srgbClr val="afd095">
              <a:alpha val="2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11654640" cy="132156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8" name=""/>
          <p:cNvSpPr/>
          <p:nvPr/>
        </p:nvSpPr>
        <p:spPr>
          <a:xfrm>
            <a:off x="228600" y="4619520"/>
            <a:ext cx="11655000" cy="10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For cell controls with a </a:t>
            </a: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moderate density antigen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on </a:t>
            </a: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dim fluorophores,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we see substantial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residual autofluorescence contributions to the isolated single-color normalized signatures even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when gated according to best practices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09" name=""/>
          <p:cNvGrpSpPr/>
          <p:nvPr/>
        </p:nvGrpSpPr>
        <p:grpSpPr>
          <a:xfrm>
            <a:off x="0" y="1756800"/>
            <a:ext cx="11883600" cy="2583000"/>
            <a:chOff x="0" y="1756800"/>
            <a:chExt cx="11883600" cy="2583000"/>
          </a:xfrm>
        </p:grpSpPr>
        <p:pic>
          <p:nvPicPr>
            <p:cNvPr id="610" name="" descr=""/>
            <p:cNvPicPr/>
            <p:nvPr/>
          </p:nvPicPr>
          <p:blipFill>
            <a:blip r:embed="rId1"/>
            <a:srcRect l="0" t="47914" r="0" b="0"/>
            <a:stretch/>
          </p:blipFill>
          <p:spPr>
            <a:xfrm>
              <a:off x="0" y="1900080"/>
              <a:ext cx="11883600" cy="24397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611" name=""/>
            <p:cNvSpPr/>
            <p:nvPr/>
          </p:nvSpPr>
          <p:spPr>
            <a:xfrm>
              <a:off x="0" y="1788840"/>
              <a:ext cx="4111200" cy="225000"/>
            </a:xfrm>
            <a:prstGeom prst="rect">
              <a:avLst/>
            </a:prstGeom>
            <a:solidFill>
              <a:srgbClr val="ffffff"/>
            </a:solidFill>
            <a:ln w="0">
              <a:solidFill>
                <a:srgbClr val="ffffff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612" name=""/>
            <p:cNvSpPr/>
            <p:nvPr/>
          </p:nvSpPr>
          <p:spPr>
            <a:xfrm>
              <a:off x="4343400" y="1756800"/>
              <a:ext cx="4111200" cy="225000"/>
            </a:xfrm>
            <a:prstGeom prst="rect">
              <a:avLst/>
            </a:prstGeom>
            <a:solidFill>
              <a:srgbClr val="ffffff"/>
            </a:solidFill>
            <a:ln w="0">
              <a:solidFill>
                <a:srgbClr val="ffffff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613" name=""/>
            <p:cNvSpPr/>
            <p:nvPr/>
          </p:nvSpPr>
          <p:spPr>
            <a:xfrm>
              <a:off x="7772400" y="1756800"/>
              <a:ext cx="4111200" cy="225000"/>
            </a:xfrm>
            <a:prstGeom prst="rect">
              <a:avLst/>
            </a:prstGeom>
            <a:solidFill>
              <a:srgbClr val="ffffff"/>
            </a:solidFill>
            <a:ln w="0">
              <a:solidFill>
                <a:srgbClr val="ffffff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pic>
        <p:nvPicPr>
          <p:cNvPr id="614" name="Picture 82" descr=""/>
          <p:cNvPicPr/>
          <p:nvPr/>
        </p:nvPicPr>
        <p:blipFill>
          <a:blip r:embed="rId2"/>
          <a:stretch/>
        </p:blipFill>
        <p:spPr>
          <a:xfrm>
            <a:off x="10436040" y="6172560"/>
            <a:ext cx="1139400" cy="397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15" name="" descr=""/>
          <p:cNvPicPr/>
          <p:nvPr/>
        </p:nvPicPr>
        <p:blipFill>
          <a:blip r:embed="rId3"/>
          <a:stretch/>
        </p:blipFill>
        <p:spPr>
          <a:xfrm>
            <a:off x="457920" y="6172920"/>
            <a:ext cx="1368000" cy="35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6" name=""/>
          <p:cNvSpPr/>
          <p:nvPr/>
        </p:nvSpPr>
        <p:spPr>
          <a:xfrm>
            <a:off x="-113040" y="40680"/>
            <a:ext cx="1222704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Residual autofluorescence after background subtraction still present in single-color reference signatures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7" name=""/>
          <p:cNvSpPr/>
          <p:nvPr/>
        </p:nvSpPr>
        <p:spPr>
          <a:xfrm>
            <a:off x="685800" y="4572000"/>
            <a:ext cx="10742760" cy="1141560"/>
          </a:xfrm>
          <a:prstGeom prst="rect">
            <a:avLst/>
          </a:prstGeom>
          <a:solidFill>
            <a:srgbClr val="ff6d6d">
              <a:alpha val="2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8" name="Picture 87" descr="A group of images of a square&#10;&#10;AI-generated content may be incorrect."/>
          <p:cNvPicPr/>
          <p:nvPr/>
        </p:nvPicPr>
        <p:blipFill>
          <a:blip r:embed="rId1"/>
          <a:srcRect l="0" t="67054" r="0" b="0"/>
          <a:stretch/>
        </p:blipFill>
        <p:spPr>
          <a:xfrm>
            <a:off x="2347560" y="1754640"/>
            <a:ext cx="7021440" cy="3355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9" name=""/>
          <p:cNvSpPr/>
          <p:nvPr/>
        </p:nvSpPr>
        <p:spPr>
          <a:xfrm>
            <a:off x="1143000" y="5029200"/>
            <a:ext cx="9828360" cy="912960"/>
          </a:xfrm>
          <a:prstGeom prst="rect">
            <a:avLst/>
          </a:prstGeom>
          <a:solidFill>
            <a:srgbClr val="ff972f">
              <a:alpha val="2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20" name="TextBox 13"/>
          <p:cNvSpPr/>
          <p:nvPr/>
        </p:nvSpPr>
        <p:spPr>
          <a:xfrm>
            <a:off x="228600" y="2893680"/>
            <a:ext cx="20556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PE signature with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residual AF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1" name="TextBox 14"/>
          <p:cNvSpPr/>
          <p:nvPr/>
        </p:nvSpPr>
        <p:spPr>
          <a:xfrm>
            <a:off x="9372600" y="2827800"/>
            <a:ext cx="24361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PE signature without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residual AF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2" name=""/>
          <p:cNvSpPr/>
          <p:nvPr/>
        </p:nvSpPr>
        <p:spPr>
          <a:xfrm>
            <a:off x="228600" y="5111640"/>
            <a:ext cx="1165500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This </a:t>
            </a: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residual autofluorescence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contribution </a:t>
            </a: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results in unmixing errors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,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and when switched out for bead controls the panel unmixing significantly improved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23" name="Picture 86" descr=""/>
          <p:cNvPicPr/>
          <p:nvPr/>
        </p:nvPicPr>
        <p:blipFill>
          <a:blip r:embed="rId2"/>
          <a:stretch/>
        </p:blipFill>
        <p:spPr>
          <a:xfrm>
            <a:off x="10436040" y="6172560"/>
            <a:ext cx="1139400" cy="397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4" name="" descr=""/>
          <p:cNvPicPr/>
          <p:nvPr/>
        </p:nvPicPr>
        <p:blipFill>
          <a:blip r:embed="rId3"/>
          <a:stretch/>
        </p:blipFill>
        <p:spPr>
          <a:xfrm>
            <a:off x="457920" y="6172920"/>
            <a:ext cx="1368000" cy="35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5" name=""/>
          <p:cNvSpPr/>
          <p:nvPr/>
        </p:nvSpPr>
        <p:spPr>
          <a:xfrm>
            <a:off x="76320" y="40680"/>
            <a:ext cx="121140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Swap dim antigen-fluorophore combinations for beads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6" name="Picture 63" descr=""/>
          <p:cNvPicPr/>
          <p:nvPr/>
        </p:nvPicPr>
        <p:blipFill>
          <a:blip r:embed="rId1"/>
          <a:srcRect l="13383" t="8378" r="6425" b="0"/>
          <a:stretch/>
        </p:blipFill>
        <p:spPr>
          <a:xfrm>
            <a:off x="2700720" y="1371600"/>
            <a:ext cx="2326320" cy="2283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7" name=""/>
          <p:cNvSpPr/>
          <p:nvPr/>
        </p:nvSpPr>
        <p:spPr>
          <a:xfrm>
            <a:off x="5486400" y="1828800"/>
            <a:ext cx="682200" cy="682200"/>
          </a:xfrm>
          <a:prstGeom prst="rect">
            <a:avLst/>
          </a:prstGeom>
          <a:solidFill>
            <a:srgbClr val="ffffff"/>
          </a:solidFill>
          <a:ln w="36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360" rIns="108360" tIns="63360" bIns="6336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628" name="Picture 24" descr=""/>
          <p:cNvPicPr/>
          <p:nvPr/>
        </p:nvPicPr>
        <p:blipFill>
          <a:blip r:embed="rId2"/>
          <a:stretch/>
        </p:blipFill>
        <p:spPr>
          <a:xfrm>
            <a:off x="10435680" y="6172560"/>
            <a:ext cx="1139400" cy="397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9" name=""/>
          <p:cNvSpPr/>
          <p:nvPr/>
        </p:nvSpPr>
        <p:spPr>
          <a:xfrm>
            <a:off x="0" y="41040"/>
            <a:ext cx="12113640" cy="10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To unlock the comprehensive biological discovery potential,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we need to address these pink elephants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0" name=""/>
          <p:cNvSpPr/>
          <p:nvPr/>
        </p:nvSpPr>
        <p:spPr>
          <a:xfrm>
            <a:off x="6402240" y="1457640"/>
            <a:ext cx="5025600" cy="1329120"/>
          </a:xfrm>
          <a:prstGeom prst="rect">
            <a:avLst/>
          </a:prstGeom>
          <a:solidFill>
            <a:srgbClr val="77bc65">
              <a:alpha val="2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31" name="Rectangle 3"/>
          <p:cNvSpPr/>
          <p:nvPr/>
        </p:nvSpPr>
        <p:spPr>
          <a:xfrm>
            <a:off x="6402240" y="1418400"/>
            <a:ext cx="502560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Quality of the unmixed full-stained data is linked to the quality of our single-color controls (and our ability to provide appropriate autofluorescence controls). 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2" name=""/>
          <p:cNvSpPr/>
          <p:nvPr/>
        </p:nvSpPr>
        <p:spPr>
          <a:xfrm>
            <a:off x="6400800" y="3214440"/>
            <a:ext cx="5027040" cy="1512000"/>
          </a:xfrm>
          <a:prstGeom prst="rect">
            <a:avLst/>
          </a:prstGeom>
          <a:solidFill>
            <a:srgbClr val="ffe994">
              <a:alpha val="2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33" name="Rectangle 6"/>
          <p:cNvSpPr/>
          <p:nvPr/>
        </p:nvSpPr>
        <p:spPr>
          <a:xfrm>
            <a:off x="6400800" y="3201480"/>
            <a:ext cx="502560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If we are acquiring 3 million cells to detect 100 rare cells, how do we thoroughly explore the rest of the sample to avoid wasting useful data?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4" name=""/>
          <p:cNvSpPr/>
          <p:nvPr/>
        </p:nvSpPr>
        <p:spPr>
          <a:xfrm>
            <a:off x="5486400" y="3585600"/>
            <a:ext cx="682200" cy="682200"/>
          </a:xfrm>
          <a:prstGeom prst="rect">
            <a:avLst/>
          </a:prstGeom>
          <a:solidFill>
            <a:srgbClr val="ffffff"/>
          </a:solidFill>
          <a:ln w="36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360" rIns="108360" tIns="63360" bIns="6336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635" name="" descr=""/>
          <p:cNvPicPr/>
          <p:nvPr/>
        </p:nvPicPr>
        <p:blipFill>
          <a:blip r:embed="rId3"/>
          <a:stretch/>
        </p:blipFill>
        <p:spPr>
          <a:xfrm>
            <a:off x="651960" y="3429000"/>
            <a:ext cx="2774880" cy="2741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6" name=""/>
          <p:cNvSpPr/>
          <p:nvPr/>
        </p:nvSpPr>
        <p:spPr>
          <a:xfrm flipV="1">
            <a:off x="5787000" y="1636200"/>
            <a:ext cx="385200" cy="637200"/>
          </a:xfrm>
          <a:prstGeom prst="line">
            <a:avLst/>
          </a:prstGeom>
          <a:ln w="91440">
            <a:solidFill>
              <a:srgbClr val="00a9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35720" rIns="135720" tIns="90720" bIns="9072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37" name=""/>
          <p:cNvSpPr/>
          <p:nvPr/>
        </p:nvSpPr>
        <p:spPr>
          <a:xfrm flipH="1" flipV="1">
            <a:off x="5558400" y="2057400"/>
            <a:ext cx="228600" cy="228600"/>
          </a:xfrm>
          <a:prstGeom prst="line">
            <a:avLst/>
          </a:prstGeom>
          <a:ln w="91440">
            <a:solidFill>
              <a:srgbClr val="00a9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35720" rIns="135720" tIns="90720" bIns="9072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638" name="" descr=""/>
          <p:cNvPicPr/>
          <p:nvPr/>
        </p:nvPicPr>
        <p:blipFill>
          <a:blip r:embed="rId4"/>
          <a:stretch/>
        </p:blipFill>
        <p:spPr>
          <a:xfrm>
            <a:off x="457200" y="6172200"/>
            <a:ext cx="1368000" cy="356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" descr=""/>
          <p:cNvPicPr/>
          <p:nvPr/>
        </p:nvPicPr>
        <p:blipFill>
          <a:blip r:embed="rId1"/>
          <a:srcRect l="0" t="0" r="55268" b="0"/>
          <a:stretch/>
        </p:blipFill>
        <p:spPr>
          <a:xfrm>
            <a:off x="1143000" y="1371600"/>
            <a:ext cx="4740120" cy="4065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0" name=""/>
          <p:cNvSpPr/>
          <p:nvPr/>
        </p:nvSpPr>
        <p:spPr>
          <a:xfrm>
            <a:off x="6400800" y="2828160"/>
            <a:ext cx="4341240" cy="1375920"/>
          </a:xfrm>
          <a:prstGeom prst="rect">
            <a:avLst/>
          </a:prstGeom>
          <a:solidFill>
            <a:srgbClr val="ffb66c">
              <a:alpha val="5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41" name=""/>
          <p:cNvSpPr/>
          <p:nvPr/>
        </p:nvSpPr>
        <p:spPr>
          <a:xfrm>
            <a:off x="6436800" y="2775240"/>
            <a:ext cx="4533840" cy="143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Unlike what we saw for NKTs and MAITs, marker co-expression matrices suggested additional heterogeneity within the V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δ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2s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42" name="Picture 124" descr=""/>
          <p:cNvPicPr/>
          <p:nvPr/>
        </p:nvPicPr>
        <p:blipFill>
          <a:blip r:embed="rId2"/>
          <a:stretch/>
        </p:blipFill>
        <p:spPr>
          <a:xfrm>
            <a:off x="10435680" y="6172560"/>
            <a:ext cx="1139400" cy="397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43" name="" descr=""/>
          <p:cNvPicPr/>
          <p:nvPr/>
        </p:nvPicPr>
        <p:blipFill>
          <a:blip r:embed="rId3"/>
          <a:stretch/>
        </p:blipFill>
        <p:spPr>
          <a:xfrm>
            <a:off x="457200" y="6172200"/>
            <a:ext cx="1368000" cy="35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4" name=""/>
          <p:cNvSpPr/>
          <p:nvPr/>
        </p:nvSpPr>
        <p:spPr>
          <a:xfrm>
            <a:off x="0" y="40680"/>
            <a:ext cx="12189960" cy="11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Evidence for additional heterogeneity present in V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δ2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10400" cy="6361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Grouping cells that share every marker 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46" name="Picture 57" descr=""/>
          <p:cNvPicPr/>
          <p:nvPr/>
        </p:nvPicPr>
        <p:blipFill>
          <a:blip r:embed="rId1"/>
          <a:stretch/>
        </p:blipFill>
        <p:spPr>
          <a:xfrm>
            <a:off x="1523880" y="1185480"/>
            <a:ext cx="9140400" cy="639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47" name="Picture 62" descr=""/>
          <p:cNvPicPr/>
          <p:nvPr/>
        </p:nvPicPr>
        <p:blipFill>
          <a:blip r:embed="rId2"/>
          <a:stretch/>
        </p:blipFill>
        <p:spPr>
          <a:xfrm>
            <a:off x="10435680" y="6172200"/>
            <a:ext cx="1139400" cy="397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48" name="" descr=""/>
          <p:cNvPicPr/>
          <p:nvPr/>
        </p:nvPicPr>
        <p:blipFill>
          <a:blip r:embed="rId3"/>
          <a:stretch/>
        </p:blipFill>
        <p:spPr>
          <a:xfrm>
            <a:off x="457200" y="6172200"/>
            <a:ext cx="1368000" cy="356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9" name=""/>
          <p:cNvGrpSpPr/>
          <p:nvPr/>
        </p:nvGrpSpPr>
        <p:grpSpPr>
          <a:xfrm>
            <a:off x="6172200" y="1651320"/>
            <a:ext cx="5789160" cy="2461320"/>
            <a:chOff x="6172200" y="1651320"/>
            <a:chExt cx="5789160" cy="2461320"/>
          </a:xfrm>
        </p:grpSpPr>
        <p:sp>
          <p:nvSpPr>
            <p:cNvPr id="650" name=""/>
            <p:cNvSpPr/>
            <p:nvPr/>
          </p:nvSpPr>
          <p:spPr>
            <a:xfrm>
              <a:off x="6172200" y="1654200"/>
              <a:ext cx="5712840" cy="2458440"/>
            </a:xfrm>
            <a:prstGeom prst="rect">
              <a:avLst/>
            </a:prstGeom>
            <a:solidFill>
              <a:srgbClr val="afd095">
                <a:alpha val="50000"/>
              </a:srgbClr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651" name=""/>
            <p:cNvSpPr/>
            <p:nvPr/>
          </p:nvSpPr>
          <p:spPr>
            <a:xfrm>
              <a:off x="6291360" y="1651320"/>
              <a:ext cx="5670000" cy="234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spAutoFit/>
            </a:bodyPr>
            <a:p>
              <a:pPr>
                <a:lnSpc>
                  <a:spcPct val="100000"/>
                </a:lnSpc>
              </a:pPr>
              <a:endPara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16000" indent="-216000">
                <a:lnSpc>
                  <a:spcPct val="100000"/>
                </a:lnSpc>
                <a:buClr>
                  <a:srgbClr val="000000"/>
                </a:buClr>
                <a:buSzPct val="45000"/>
                <a:buFont typeface="MT Extra" charset="2"/>
                <a:buChar char=""/>
              </a:pPr>
              <a:r>
                <a:rPr b="0" lang="en-US" sz="22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Different clustering methods tend  to inappropriately group or split</a:t>
              </a:r>
              <a:endPara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16000" indent="-216000">
                <a:lnSpc>
                  <a:spcPct val="100000"/>
                </a:lnSpc>
                <a:buClr>
                  <a:srgbClr val="000000"/>
                </a:buClr>
                <a:buSzPct val="45000"/>
                <a:buFont typeface="MT Extra" charset="2"/>
                <a:buChar char=""/>
              </a:pPr>
              <a:r>
                <a:rPr b="0" lang="en-US" sz="22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Manual gating doesn’t scale</a:t>
              </a:r>
              <a:endPara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16000" indent="-216000">
                <a:lnSpc>
                  <a:spcPct val="100000"/>
                </a:lnSpc>
                <a:buClr>
                  <a:srgbClr val="000000"/>
                </a:buClr>
                <a:buSzPct val="45000"/>
                <a:buFont typeface="MT Extra" charset="2"/>
                <a:buChar char=""/>
              </a:pPr>
              <a:r>
                <a:rPr b="0" lang="en-US" sz="22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Automated gates aren’t easily adjustable</a:t>
              </a:r>
              <a:endPara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16000" indent="-216000">
                <a:lnSpc>
                  <a:spcPct val="100000"/>
                </a:lnSpc>
                <a:buClr>
                  <a:srgbClr val="000000"/>
                </a:buClr>
                <a:buSzPct val="45000"/>
                <a:buFont typeface="MT Extra" charset="2"/>
                <a:buChar char=""/>
              </a:pPr>
              <a:r>
                <a:rPr b="0" lang="en-US" sz="22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Unclear what drives various unsupervised algorithms</a:t>
              </a:r>
              <a:endPara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52" name=""/>
          <p:cNvGrpSpPr/>
          <p:nvPr/>
        </p:nvGrpSpPr>
        <p:grpSpPr>
          <a:xfrm>
            <a:off x="6172200" y="4114800"/>
            <a:ext cx="5941440" cy="1460160"/>
            <a:chOff x="6172200" y="4114800"/>
            <a:chExt cx="5941440" cy="1460160"/>
          </a:xfrm>
        </p:grpSpPr>
        <p:sp>
          <p:nvSpPr>
            <p:cNvPr id="653" name=""/>
            <p:cNvSpPr/>
            <p:nvPr/>
          </p:nvSpPr>
          <p:spPr>
            <a:xfrm>
              <a:off x="6172200" y="4331520"/>
              <a:ext cx="5712840" cy="1243440"/>
            </a:xfrm>
            <a:prstGeom prst="rect">
              <a:avLst/>
            </a:prstGeom>
            <a:solidFill>
              <a:srgbClr val="ffdbb6">
                <a:alpha val="50000"/>
              </a:srgbClr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654" name=""/>
            <p:cNvSpPr/>
            <p:nvPr/>
          </p:nvSpPr>
          <p:spPr>
            <a:xfrm>
              <a:off x="6309360" y="4114800"/>
              <a:ext cx="5804280" cy="1430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endPara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16000" indent="-216000">
                <a:lnSpc>
                  <a:spcPct val="100000"/>
                </a:lnSpc>
                <a:buClr>
                  <a:srgbClr val="000000"/>
                </a:buClr>
                <a:buSzPct val="45000"/>
                <a:buFont typeface="Symbol" charset="2"/>
                <a:buChar char=""/>
              </a:pPr>
              <a:r>
                <a:rPr b="0" lang="en-US" sz="22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What if we just annotated manual-gating information in before passing off to the unsupervised algorithms? </a:t>
              </a:r>
              <a:endPara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655" name="" descr=""/>
          <p:cNvPicPr/>
          <p:nvPr/>
        </p:nvPicPr>
        <p:blipFill>
          <a:blip r:embed="rId1"/>
          <a:stretch/>
        </p:blipFill>
        <p:spPr>
          <a:xfrm>
            <a:off x="452520" y="1626480"/>
            <a:ext cx="2576880" cy="3909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56" name="" descr=""/>
          <p:cNvPicPr/>
          <p:nvPr/>
        </p:nvPicPr>
        <p:blipFill>
          <a:blip r:embed="rId2"/>
          <a:stretch/>
        </p:blipFill>
        <p:spPr>
          <a:xfrm rot="600">
            <a:off x="3289680" y="1369440"/>
            <a:ext cx="2234880" cy="2310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57" name="" descr=""/>
          <p:cNvPicPr/>
          <p:nvPr/>
        </p:nvPicPr>
        <p:blipFill>
          <a:blip r:embed="rId3"/>
          <a:stretch/>
        </p:blipFill>
        <p:spPr>
          <a:xfrm>
            <a:off x="3290760" y="3871440"/>
            <a:ext cx="2273400" cy="2387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58" name="Picture 127" descr=""/>
          <p:cNvPicPr/>
          <p:nvPr/>
        </p:nvPicPr>
        <p:blipFill>
          <a:blip r:embed="rId4"/>
          <a:stretch/>
        </p:blipFill>
        <p:spPr>
          <a:xfrm>
            <a:off x="10435680" y="6172560"/>
            <a:ext cx="1139400" cy="397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59" name="" descr=""/>
          <p:cNvPicPr/>
          <p:nvPr/>
        </p:nvPicPr>
        <p:blipFill>
          <a:blip r:embed="rId5"/>
          <a:stretch/>
        </p:blipFill>
        <p:spPr>
          <a:xfrm>
            <a:off x="457200" y="6172200"/>
            <a:ext cx="1368000" cy="35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0" name=""/>
          <p:cNvSpPr/>
          <p:nvPr/>
        </p:nvSpPr>
        <p:spPr>
          <a:xfrm>
            <a:off x="2743200" y="228600"/>
            <a:ext cx="7414560" cy="59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Grouping for shared marker expression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10400" cy="6361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Grouping cells that share every marker 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62" name="Picture 2" descr=""/>
          <p:cNvPicPr/>
          <p:nvPr/>
        </p:nvPicPr>
        <p:blipFill>
          <a:blip r:embed="rId1"/>
          <a:stretch/>
        </p:blipFill>
        <p:spPr>
          <a:xfrm>
            <a:off x="1523880" y="1185480"/>
            <a:ext cx="9140400" cy="639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3" name="Arrow: Down 3"/>
          <p:cNvSpPr/>
          <p:nvPr/>
        </p:nvSpPr>
        <p:spPr>
          <a:xfrm>
            <a:off x="7251480" y="829440"/>
            <a:ext cx="517320" cy="75132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8a3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664" name="Picture 6" descr=""/>
          <p:cNvPicPr/>
          <p:nvPr/>
        </p:nvPicPr>
        <p:blipFill>
          <a:blip r:embed="rId2"/>
          <a:stretch/>
        </p:blipFill>
        <p:spPr>
          <a:xfrm>
            <a:off x="10435680" y="6172200"/>
            <a:ext cx="1139400" cy="397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65" name="" descr=""/>
          <p:cNvPicPr/>
          <p:nvPr/>
        </p:nvPicPr>
        <p:blipFill>
          <a:blip r:embed="rId3"/>
          <a:stretch/>
        </p:blipFill>
        <p:spPr>
          <a:xfrm>
            <a:off x="457200" y="6172200"/>
            <a:ext cx="1368000" cy="356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10400" cy="6361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Coereba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67" name="Picture 10" descr=""/>
          <p:cNvPicPr/>
          <p:nvPr/>
        </p:nvPicPr>
        <p:blipFill>
          <a:blip r:embed="rId1"/>
          <a:srcRect l="28389" t="0" r="0" b="0"/>
          <a:stretch/>
        </p:blipFill>
        <p:spPr>
          <a:xfrm>
            <a:off x="3166200" y="293040"/>
            <a:ext cx="6560640" cy="6412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68" name="Picture 26" descr=""/>
          <p:cNvPicPr/>
          <p:nvPr/>
        </p:nvPicPr>
        <p:blipFill>
          <a:blip r:embed="rId2"/>
          <a:srcRect l="0" t="26724" r="72153" b="28563"/>
          <a:stretch/>
        </p:blipFill>
        <p:spPr>
          <a:xfrm>
            <a:off x="373320" y="777240"/>
            <a:ext cx="2549160" cy="286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9" name="TextBox 8"/>
          <p:cNvSpPr/>
          <p:nvPr/>
        </p:nvSpPr>
        <p:spPr>
          <a:xfrm>
            <a:off x="499680" y="5584680"/>
            <a:ext cx="210240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Code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70" name="Graphic 6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860760" y="3645360"/>
            <a:ext cx="1829160" cy="1829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71" name="Picture 29" descr=""/>
          <p:cNvPicPr/>
          <p:nvPr/>
        </p:nvPicPr>
        <p:blipFill>
          <a:blip r:embed="rId5"/>
          <a:stretch/>
        </p:blipFill>
        <p:spPr>
          <a:xfrm>
            <a:off x="10435680" y="6172200"/>
            <a:ext cx="1139400" cy="397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72" name="" descr=""/>
          <p:cNvPicPr/>
          <p:nvPr/>
        </p:nvPicPr>
        <p:blipFill>
          <a:blip r:embed="rId6"/>
          <a:stretch/>
        </p:blipFill>
        <p:spPr>
          <a:xfrm>
            <a:off x="457200" y="6172200"/>
            <a:ext cx="1368000" cy="356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10400" cy="6361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Initial automated gate, with ability to adjust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74" name="Picture 5" descr=""/>
          <p:cNvPicPr/>
          <p:nvPr/>
        </p:nvPicPr>
        <p:blipFill>
          <a:blip r:embed="rId1"/>
          <a:srcRect l="0" t="26726" r="72154" b="28564"/>
          <a:stretch/>
        </p:blipFill>
        <p:spPr>
          <a:xfrm>
            <a:off x="0" y="-132840"/>
            <a:ext cx="1580760" cy="1776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75" name="Picture 8" descr=""/>
          <p:cNvPicPr/>
          <p:nvPr/>
        </p:nvPicPr>
        <p:blipFill>
          <a:blip r:embed="rId2"/>
          <a:stretch/>
        </p:blipFill>
        <p:spPr>
          <a:xfrm>
            <a:off x="10435680" y="6172200"/>
            <a:ext cx="1139400" cy="397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76" name="Picture 2" descr=""/>
          <p:cNvPicPr/>
          <p:nvPr/>
        </p:nvPicPr>
        <p:blipFill>
          <a:blip r:embed="rId3"/>
          <a:srcRect l="0" t="0" r="50000" b="26630"/>
          <a:stretch/>
        </p:blipFill>
        <p:spPr>
          <a:xfrm>
            <a:off x="1844640" y="1020240"/>
            <a:ext cx="4247640" cy="445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7" name="TextBox 3"/>
          <p:cNvSpPr/>
          <p:nvPr/>
        </p:nvSpPr>
        <p:spPr>
          <a:xfrm>
            <a:off x="6531840" y="1122480"/>
            <a:ext cx="4447800" cy="344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Initial gates for designated markers calculated via openCyto (mindensity) 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Ability to update gate_range constraints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Launch a Shiny app and designate interactively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78" name="" descr=""/>
          <p:cNvPicPr/>
          <p:nvPr/>
        </p:nvPicPr>
        <p:blipFill>
          <a:blip r:embed="rId4"/>
          <a:stretch/>
        </p:blipFill>
        <p:spPr>
          <a:xfrm>
            <a:off x="457200" y="6172200"/>
            <a:ext cx="1368000" cy="356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10400" cy="6361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CoerebaID column gets added to the .fcs file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80" name="Picture 5" descr=""/>
          <p:cNvPicPr/>
          <p:nvPr/>
        </p:nvPicPr>
        <p:blipFill>
          <a:blip r:embed="rId1"/>
          <a:srcRect l="0" t="26726" r="72154" b="28564"/>
          <a:stretch/>
        </p:blipFill>
        <p:spPr>
          <a:xfrm>
            <a:off x="0" y="-132840"/>
            <a:ext cx="1580760" cy="1776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81" name="Picture 4" descr=""/>
          <p:cNvPicPr/>
          <p:nvPr/>
        </p:nvPicPr>
        <p:blipFill>
          <a:blip r:embed="rId2"/>
          <a:stretch/>
        </p:blipFill>
        <p:spPr>
          <a:xfrm>
            <a:off x="7691040" y="776880"/>
            <a:ext cx="7574040" cy="5300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82" name="Picture 7" descr=""/>
          <p:cNvPicPr/>
          <p:nvPr/>
        </p:nvPicPr>
        <p:blipFill>
          <a:blip r:embed="rId3"/>
          <a:srcRect l="0" t="0" r="0" b="54009"/>
          <a:stretch/>
        </p:blipFill>
        <p:spPr>
          <a:xfrm>
            <a:off x="-219600" y="2347920"/>
            <a:ext cx="7828920" cy="2518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83" name="Picture 8" descr=""/>
          <p:cNvPicPr/>
          <p:nvPr/>
        </p:nvPicPr>
        <p:blipFill>
          <a:blip r:embed="rId4"/>
          <a:stretch/>
        </p:blipFill>
        <p:spPr>
          <a:xfrm>
            <a:off x="10435680" y="6172200"/>
            <a:ext cx="1139400" cy="397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84" name="" descr=""/>
          <p:cNvPicPr/>
          <p:nvPr/>
        </p:nvPicPr>
        <p:blipFill>
          <a:blip r:embed="rId5"/>
          <a:stretch/>
        </p:blipFill>
        <p:spPr>
          <a:xfrm>
            <a:off x="457200" y="6172200"/>
            <a:ext cx="1368000" cy="356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10400" cy="6361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Pipeline: Summarized Experiment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86" name="Picture 2" descr=""/>
          <p:cNvPicPr/>
          <p:nvPr/>
        </p:nvPicPr>
        <p:blipFill>
          <a:blip r:embed="rId1"/>
          <a:srcRect l="0" t="0" r="27212" b="0"/>
          <a:stretch/>
        </p:blipFill>
        <p:spPr>
          <a:xfrm>
            <a:off x="-99000" y="491400"/>
            <a:ext cx="6016320" cy="5785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7" name="Rectangle 1"/>
          <p:cNvSpPr/>
          <p:nvPr/>
        </p:nvSpPr>
        <p:spPr>
          <a:xfrm>
            <a:off x="5897880" y="733680"/>
            <a:ext cx="2668320" cy="5423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88" name="Arrow: Down 3"/>
          <p:cNvSpPr/>
          <p:nvPr/>
        </p:nvSpPr>
        <p:spPr>
          <a:xfrm rot="5400000">
            <a:off x="6108480" y="4750920"/>
            <a:ext cx="517320" cy="6768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8a3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89" name="Rectangle 4"/>
          <p:cNvSpPr/>
          <p:nvPr/>
        </p:nvSpPr>
        <p:spPr>
          <a:xfrm>
            <a:off x="5960160" y="2318040"/>
            <a:ext cx="2489400" cy="2388600"/>
          </a:xfrm>
          <a:prstGeom prst="rect">
            <a:avLst/>
          </a:prstGeom>
          <a:solidFill>
            <a:schemeClr val="bg2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90" name="Rectangle 5"/>
          <p:cNvSpPr/>
          <p:nvPr/>
        </p:nvSpPr>
        <p:spPr>
          <a:xfrm>
            <a:off x="5978880" y="2509200"/>
            <a:ext cx="2449080" cy="22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Data stored in a Summarized Experiment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Interoperability with Bioconductor statistics packages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91" name="Picture 6" descr=""/>
          <p:cNvPicPr/>
          <p:nvPr/>
        </p:nvPicPr>
        <p:blipFill>
          <a:blip r:embed="rId2"/>
          <a:stretch/>
        </p:blipFill>
        <p:spPr>
          <a:xfrm>
            <a:off x="10435680" y="6172200"/>
            <a:ext cx="1139400" cy="397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92" name="" descr=""/>
          <p:cNvPicPr/>
          <p:nvPr/>
        </p:nvPicPr>
        <p:blipFill>
          <a:blip r:embed="rId3"/>
          <a:stretch/>
        </p:blipFill>
        <p:spPr>
          <a:xfrm>
            <a:off x="457200" y="6172200"/>
            <a:ext cx="1368000" cy="356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10400" cy="6361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Summarized Experiment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4" name="Rectangle 50"/>
          <p:cNvSpPr/>
          <p:nvPr/>
        </p:nvSpPr>
        <p:spPr>
          <a:xfrm>
            <a:off x="7864560" y="1079280"/>
            <a:ext cx="3871080" cy="451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Permits rapid re-aggregation of the terminal nodes for re-evaluation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Ties in with downstream Bioconductor statistics packages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Portable. Don’t like how we aggregated groups of cells? File is small enough to store in the same data repository as .fcs files for subsequent re-analysis.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Filterable by metadata or node.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- Nodes only in HEU-hi?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- Nodes unique to one individual?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95" name="Picture 2" descr=""/>
          <p:cNvPicPr/>
          <p:nvPr/>
        </p:nvPicPr>
        <p:blipFill>
          <a:blip r:embed="rId1"/>
          <a:stretch/>
        </p:blipFill>
        <p:spPr>
          <a:xfrm>
            <a:off x="718560" y="705240"/>
            <a:ext cx="7184880" cy="5603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96" name="Picture 3" descr=""/>
          <p:cNvPicPr/>
          <p:nvPr/>
        </p:nvPicPr>
        <p:blipFill>
          <a:blip r:embed="rId2"/>
          <a:stretch/>
        </p:blipFill>
        <p:spPr>
          <a:xfrm>
            <a:off x="10435680" y="6172200"/>
            <a:ext cx="1139400" cy="397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97" name="" descr=""/>
          <p:cNvPicPr/>
          <p:nvPr/>
        </p:nvPicPr>
        <p:blipFill>
          <a:blip r:embed="rId3"/>
          <a:stretch/>
        </p:blipFill>
        <p:spPr>
          <a:xfrm>
            <a:off x="457200" y="6172200"/>
            <a:ext cx="1368000" cy="356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PlaceHolder 1"/>
          <p:cNvSpPr>
            <a:spLocks noGrp="1"/>
          </p:cNvSpPr>
          <p:nvPr>
            <p:ph type="title"/>
          </p:nvPr>
        </p:nvSpPr>
        <p:spPr>
          <a:xfrm>
            <a:off x="1063080" y="0"/>
            <a:ext cx="10509840" cy="69300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Retrieval of marker expressions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99" name="Picture 151" descr=""/>
          <p:cNvPicPr/>
          <p:nvPr/>
        </p:nvPicPr>
        <p:blipFill>
          <a:blip r:embed="rId1"/>
          <a:stretch/>
        </p:blipFill>
        <p:spPr>
          <a:xfrm>
            <a:off x="72000" y="108000"/>
            <a:ext cx="1842120" cy="1594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00" name="Graphic 152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0515600" y="0"/>
            <a:ext cx="1594440" cy="1594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01" name="Picture 2" descr=""/>
          <p:cNvPicPr/>
          <p:nvPr/>
        </p:nvPicPr>
        <p:blipFill>
          <a:blip r:embed="rId4"/>
          <a:stretch/>
        </p:blipFill>
        <p:spPr>
          <a:xfrm>
            <a:off x="1863720" y="1362240"/>
            <a:ext cx="8461080" cy="4577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02" name="Picture 125" descr=""/>
          <p:cNvPicPr/>
          <p:nvPr/>
        </p:nvPicPr>
        <p:blipFill>
          <a:blip r:embed="rId5"/>
          <a:stretch/>
        </p:blipFill>
        <p:spPr>
          <a:xfrm>
            <a:off x="10435680" y="6172560"/>
            <a:ext cx="1139400" cy="397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03" name="" descr=""/>
          <p:cNvPicPr/>
          <p:nvPr/>
        </p:nvPicPr>
        <p:blipFill>
          <a:blip r:embed="rId6"/>
          <a:stretch/>
        </p:blipFill>
        <p:spPr>
          <a:xfrm>
            <a:off x="457200" y="6172200"/>
            <a:ext cx="1368000" cy="356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4" name="" descr=""/>
          <p:cNvPicPr/>
          <p:nvPr/>
        </p:nvPicPr>
        <p:blipFill>
          <a:blip r:embed="rId1"/>
          <a:stretch/>
        </p:blipFill>
        <p:spPr>
          <a:xfrm>
            <a:off x="914400" y="1503720"/>
            <a:ext cx="10284840" cy="4209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05" name="Picture 133" descr=""/>
          <p:cNvPicPr/>
          <p:nvPr/>
        </p:nvPicPr>
        <p:blipFill>
          <a:blip r:embed="rId2"/>
          <a:stretch/>
        </p:blipFill>
        <p:spPr>
          <a:xfrm>
            <a:off x="10435680" y="6172560"/>
            <a:ext cx="1139400" cy="397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06" name="" descr=""/>
          <p:cNvPicPr/>
          <p:nvPr/>
        </p:nvPicPr>
        <p:blipFill>
          <a:blip r:embed="rId3"/>
          <a:stretch/>
        </p:blipFill>
        <p:spPr>
          <a:xfrm>
            <a:off x="457200" y="6172200"/>
            <a:ext cx="1368000" cy="35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7" name=""/>
          <p:cNvSpPr/>
          <p:nvPr/>
        </p:nvSpPr>
        <p:spPr>
          <a:xfrm>
            <a:off x="621360" y="269640"/>
            <a:ext cx="11035080" cy="160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Ability to contrast unsupervised methods vs “manual” ground-truth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8" name="" descr=""/>
          <p:cNvPicPr/>
          <p:nvPr/>
        </p:nvPicPr>
        <p:blipFill>
          <a:blip r:embed="rId1"/>
          <a:srcRect l="0" t="0" r="75396" b="50082"/>
          <a:stretch/>
        </p:blipFill>
        <p:spPr>
          <a:xfrm>
            <a:off x="685800" y="1438560"/>
            <a:ext cx="2617200" cy="2244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09" name="" descr=""/>
          <p:cNvPicPr/>
          <p:nvPr/>
        </p:nvPicPr>
        <p:blipFill>
          <a:blip r:embed="rId2"/>
          <a:srcRect l="0" t="0" r="0" b="46265"/>
          <a:stretch/>
        </p:blipFill>
        <p:spPr>
          <a:xfrm>
            <a:off x="3568680" y="2063160"/>
            <a:ext cx="3881520" cy="1881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10" name="" descr=""/>
          <p:cNvPicPr/>
          <p:nvPr/>
        </p:nvPicPr>
        <p:blipFill>
          <a:blip r:embed="rId3"/>
          <a:srcRect l="28789" t="0" r="0" b="79839"/>
          <a:stretch/>
        </p:blipFill>
        <p:spPr>
          <a:xfrm>
            <a:off x="5927760" y="4227840"/>
            <a:ext cx="5500080" cy="1604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1" name=""/>
          <p:cNvSpPr/>
          <p:nvPr/>
        </p:nvSpPr>
        <p:spPr>
          <a:xfrm>
            <a:off x="3306600" y="1522080"/>
            <a:ext cx="547920" cy="642240"/>
          </a:xfrm>
          <a:prstGeom prst="line">
            <a:avLst/>
          </a:prstGeom>
          <a:ln w="91440">
            <a:solidFill>
              <a:srgbClr val="2a609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35720" rIns="135720" tIns="90720" bIns="9072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12" name=""/>
          <p:cNvSpPr/>
          <p:nvPr/>
        </p:nvSpPr>
        <p:spPr>
          <a:xfrm>
            <a:off x="7017480" y="3729240"/>
            <a:ext cx="565200" cy="626400"/>
          </a:xfrm>
          <a:prstGeom prst="line">
            <a:avLst/>
          </a:prstGeom>
          <a:ln w="91440">
            <a:solidFill>
              <a:srgbClr val="2a609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35720" rIns="135720" tIns="90720" bIns="9072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grpSp>
        <p:nvGrpSpPr>
          <p:cNvPr id="713" name=""/>
          <p:cNvGrpSpPr/>
          <p:nvPr/>
        </p:nvGrpSpPr>
        <p:grpSpPr>
          <a:xfrm>
            <a:off x="1307160" y="3903120"/>
            <a:ext cx="1733760" cy="591480"/>
            <a:chOff x="1307160" y="3903120"/>
            <a:chExt cx="1733760" cy="591480"/>
          </a:xfrm>
        </p:grpSpPr>
        <p:sp>
          <p:nvSpPr>
            <p:cNvPr id="714" name=""/>
            <p:cNvSpPr/>
            <p:nvPr/>
          </p:nvSpPr>
          <p:spPr>
            <a:xfrm>
              <a:off x="1307160" y="3903120"/>
              <a:ext cx="1527480" cy="591480"/>
            </a:xfrm>
            <a:prstGeom prst="rect">
              <a:avLst/>
            </a:prstGeom>
            <a:solidFill>
              <a:srgbClr val="afd095">
                <a:alpha val="50000"/>
              </a:srgbClr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715" name=""/>
            <p:cNvSpPr/>
            <p:nvPr/>
          </p:nvSpPr>
          <p:spPr>
            <a:xfrm>
              <a:off x="1491480" y="3957120"/>
              <a:ext cx="154944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1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1) Gate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16" name=""/>
          <p:cNvSpPr/>
          <p:nvPr/>
        </p:nvSpPr>
        <p:spPr>
          <a:xfrm>
            <a:off x="4051800" y="1319400"/>
            <a:ext cx="3156840" cy="741600"/>
          </a:xfrm>
          <a:prstGeom prst="rect">
            <a:avLst/>
          </a:prstGeom>
          <a:solidFill>
            <a:srgbClr val="afd095">
              <a:alpha val="5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17" name=""/>
          <p:cNvSpPr/>
          <p:nvPr/>
        </p:nvSpPr>
        <p:spPr>
          <a:xfrm>
            <a:off x="4226040" y="1387080"/>
            <a:ext cx="32022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2) Retrieve manual-annotated gates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8" name=""/>
          <p:cNvSpPr/>
          <p:nvPr/>
        </p:nvSpPr>
        <p:spPr>
          <a:xfrm>
            <a:off x="7789320" y="3428640"/>
            <a:ext cx="2590200" cy="741600"/>
          </a:xfrm>
          <a:prstGeom prst="rect">
            <a:avLst/>
          </a:prstGeom>
          <a:solidFill>
            <a:srgbClr val="afd095">
              <a:alpha val="5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19" name=""/>
          <p:cNvSpPr/>
          <p:nvPr/>
        </p:nvSpPr>
        <p:spPr>
          <a:xfrm>
            <a:off x="7963200" y="3496320"/>
            <a:ext cx="24163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3) Re-enumerate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and plot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20" name="Picture 132" descr=""/>
          <p:cNvPicPr/>
          <p:nvPr/>
        </p:nvPicPr>
        <p:blipFill>
          <a:blip r:embed="rId4"/>
          <a:stretch/>
        </p:blipFill>
        <p:spPr>
          <a:xfrm>
            <a:off x="10435680" y="6172560"/>
            <a:ext cx="1139400" cy="397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21" name="" descr=""/>
          <p:cNvPicPr/>
          <p:nvPr/>
        </p:nvPicPr>
        <p:blipFill>
          <a:blip r:embed="rId5"/>
          <a:stretch/>
        </p:blipFill>
        <p:spPr>
          <a:xfrm>
            <a:off x="457200" y="6172200"/>
            <a:ext cx="1368000" cy="35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2" name="PlaceHolder 53"/>
          <p:cNvSpPr/>
          <p:nvPr/>
        </p:nvSpPr>
        <p:spPr>
          <a:xfrm>
            <a:off x="0" y="46440"/>
            <a:ext cx="12110400" cy="636120"/>
          </a:xfrm>
          <a:prstGeom prst="rect">
            <a:avLst/>
          </a:prstGeom>
          <a:noFill/>
          <a:ln w="190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rmAutofit lnSpcReduction="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Retrieving and re-enumerating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"/>
          <p:cNvSpPr/>
          <p:nvPr/>
        </p:nvSpPr>
        <p:spPr>
          <a:xfrm>
            <a:off x="2286000" y="2600640"/>
            <a:ext cx="1139400" cy="910800"/>
          </a:xfrm>
          <a:prstGeom prst="rect">
            <a:avLst/>
          </a:prstGeom>
          <a:solidFill>
            <a:srgbClr val="729fcf">
              <a:alpha val="5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24" name=""/>
          <p:cNvSpPr/>
          <p:nvPr/>
        </p:nvSpPr>
        <p:spPr>
          <a:xfrm>
            <a:off x="6004800" y="2600640"/>
            <a:ext cx="1332000" cy="910800"/>
          </a:xfrm>
          <a:prstGeom prst="rect">
            <a:avLst/>
          </a:prstGeom>
          <a:solidFill>
            <a:srgbClr val="afd095">
              <a:alpha val="5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725" name="" descr=""/>
          <p:cNvPicPr/>
          <p:nvPr/>
        </p:nvPicPr>
        <p:blipFill>
          <a:blip r:embed="rId1"/>
          <a:srcRect l="60436" t="-549" r="0" b="0"/>
          <a:stretch/>
        </p:blipFill>
        <p:spPr>
          <a:xfrm>
            <a:off x="3547800" y="1371600"/>
            <a:ext cx="2053800" cy="42948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726" name=""/>
          <p:cNvGrpSpPr/>
          <p:nvPr/>
        </p:nvGrpSpPr>
        <p:grpSpPr>
          <a:xfrm>
            <a:off x="7376400" y="1373040"/>
            <a:ext cx="2387880" cy="4581000"/>
            <a:chOff x="7376400" y="1373040"/>
            <a:chExt cx="2387880" cy="4581000"/>
          </a:xfrm>
        </p:grpSpPr>
        <p:pic>
          <p:nvPicPr>
            <p:cNvPr id="727" name="" descr=""/>
            <p:cNvPicPr/>
            <p:nvPr/>
          </p:nvPicPr>
          <p:blipFill>
            <a:blip r:embed="rId2"/>
            <a:srcRect l="28839" t="5550" r="32256" b="22228"/>
            <a:stretch/>
          </p:blipFill>
          <p:spPr>
            <a:xfrm>
              <a:off x="7376400" y="1373040"/>
              <a:ext cx="2387880" cy="44370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728" name=""/>
            <p:cNvSpPr/>
            <p:nvPr/>
          </p:nvSpPr>
          <p:spPr>
            <a:xfrm>
              <a:off x="7605000" y="5729040"/>
              <a:ext cx="1596600" cy="22500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sp>
        <p:nvSpPr>
          <p:cNvPr id="729" name=""/>
          <p:cNvSpPr/>
          <p:nvPr/>
        </p:nvSpPr>
        <p:spPr>
          <a:xfrm>
            <a:off x="2374920" y="2840400"/>
            <a:ext cx="1351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Control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0" name=""/>
          <p:cNvSpPr/>
          <p:nvPr/>
        </p:nvSpPr>
        <p:spPr>
          <a:xfrm>
            <a:off x="6021720" y="2757240"/>
            <a:ext cx="13510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PMA-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Ionomycin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31" name="Picture 146" descr=""/>
          <p:cNvPicPr/>
          <p:nvPr/>
        </p:nvPicPr>
        <p:blipFill>
          <a:blip r:embed="rId3"/>
          <a:stretch/>
        </p:blipFill>
        <p:spPr>
          <a:xfrm>
            <a:off x="10435680" y="6172560"/>
            <a:ext cx="1139400" cy="397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32" name="" descr=""/>
          <p:cNvPicPr/>
          <p:nvPr/>
        </p:nvPicPr>
        <p:blipFill>
          <a:blip r:embed="rId4"/>
          <a:stretch/>
        </p:blipFill>
        <p:spPr>
          <a:xfrm>
            <a:off x="457200" y="6172200"/>
            <a:ext cx="1368000" cy="35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3" name=""/>
          <p:cNvSpPr/>
          <p:nvPr/>
        </p:nvSpPr>
        <p:spPr>
          <a:xfrm>
            <a:off x="228600" y="228600"/>
            <a:ext cx="11885040" cy="13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Marker expression of cord blood ILT subsets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PlaceHolder 1"/>
          <p:cNvSpPr>
            <a:spLocks noGrp="1"/>
          </p:cNvSpPr>
          <p:nvPr>
            <p:ph type="title"/>
          </p:nvPr>
        </p:nvSpPr>
        <p:spPr>
          <a:xfrm>
            <a:off x="0" y="175320"/>
            <a:ext cx="12189960" cy="9655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fontScale="92500" lnSpcReduction="1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Retrieve manual annotated gating information </a:t>
            </a:r>
            <a:br>
              <a:rPr sz="3600"/>
            </a:b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following unsupervised steps 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35" name="Group 4"/>
          <p:cNvGrpSpPr/>
          <p:nvPr/>
        </p:nvGrpSpPr>
        <p:grpSpPr>
          <a:xfrm>
            <a:off x="1035000" y="1090440"/>
            <a:ext cx="9785520" cy="4673520"/>
            <a:chOff x="1035000" y="1090440"/>
            <a:chExt cx="9785520" cy="4673520"/>
          </a:xfrm>
        </p:grpSpPr>
        <p:pic>
          <p:nvPicPr>
            <p:cNvPr id="736" name="Picture 67" descr=""/>
            <p:cNvPicPr/>
            <p:nvPr/>
          </p:nvPicPr>
          <p:blipFill>
            <a:blip r:embed="rId1"/>
            <a:stretch/>
          </p:blipFill>
          <p:spPr>
            <a:xfrm>
              <a:off x="3891960" y="3265560"/>
              <a:ext cx="6927840" cy="249840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737" name="Group 5"/>
            <p:cNvGrpSpPr/>
            <p:nvPr/>
          </p:nvGrpSpPr>
          <p:grpSpPr>
            <a:xfrm>
              <a:off x="3314880" y="1090440"/>
              <a:ext cx="7505640" cy="2185920"/>
              <a:chOff x="3314880" y="1090440"/>
              <a:chExt cx="7505640" cy="2185920"/>
            </a:xfrm>
          </p:grpSpPr>
          <p:pic>
            <p:nvPicPr>
              <p:cNvPr id="738" name="Picture 68" descr=""/>
              <p:cNvPicPr/>
              <p:nvPr/>
            </p:nvPicPr>
            <p:blipFill>
              <a:blip r:embed="rId2"/>
              <a:srcRect l="0" t="44464" r="9095" b="0"/>
              <a:stretch/>
            </p:blipFill>
            <p:spPr>
              <a:xfrm>
                <a:off x="3893040" y="1217880"/>
                <a:ext cx="6927480" cy="20584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sp>
            <p:nvSpPr>
              <p:cNvPr id="739" name="Rectangle 23"/>
              <p:cNvSpPr/>
              <p:nvPr/>
            </p:nvSpPr>
            <p:spPr>
              <a:xfrm>
                <a:off x="3314880" y="1090440"/>
                <a:ext cx="7505640" cy="337680"/>
              </a:xfrm>
              <a:prstGeom prst="rect">
                <a:avLst/>
              </a:prstGeom>
              <a:solidFill>
                <a:srgbClr val="ffffff"/>
              </a:solidFill>
              <a:ln w="0">
                <a:solidFill>
                  <a:srgbClr val="ffffff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endParaRPr>
              </a:p>
            </p:txBody>
          </p:sp>
        </p:grpSp>
        <p:pic>
          <p:nvPicPr>
            <p:cNvPr id="740" name="Picture 69" descr=""/>
            <p:cNvPicPr/>
            <p:nvPr/>
          </p:nvPicPr>
          <p:blipFill>
            <a:blip r:embed="rId3"/>
            <a:stretch/>
          </p:blipFill>
          <p:spPr>
            <a:xfrm>
              <a:off x="1035000" y="1386360"/>
              <a:ext cx="2562120" cy="4377600"/>
            </a:xfrm>
            <a:prstGeom prst="rect">
              <a:avLst/>
            </a:prstGeom>
            <a:noFill/>
            <a:ln w="0">
              <a:noFill/>
            </a:ln>
          </p:spPr>
        </p:pic>
      </p:grpSp>
      <p:pic>
        <p:nvPicPr>
          <p:cNvPr id="741" name="Picture 70" descr=""/>
          <p:cNvPicPr/>
          <p:nvPr/>
        </p:nvPicPr>
        <p:blipFill>
          <a:blip r:embed="rId4"/>
          <a:stretch/>
        </p:blipFill>
        <p:spPr>
          <a:xfrm>
            <a:off x="10435680" y="6172560"/>
            <a:ext cx="1139400" cy="397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2" name="" descr=""/>
          <p:cNvPicPr/>
          <p:nvPr/>
        </p:nvPicPr>
        <p:blipFill>
          <a:blip r:embed="rId5"/>
          <a:stretch/>
        </p:blipFill>
        <p:spPr>
          <a:xfrm>
            <a:off x="457200" y="6172200"/>
            <a:ext cx="1368000" cy="356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TextBox 5"/>
          <p:cNvSpPr/>
          <p:nvPr/>
        </p:nvSpPr>
        <p:spPr>
          <a:xfrm>
            <a:off x="7269840" y="1225800"/>
            <a:ext cx="4730400" cy="56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Fun off-label uses thus far: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 Contrasting where “manually-gated” cells end up vs. our unsupervised methods (normalization, clustering, etc.)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Added benefit of looking-at-the-forest: Easy to identify badly cryopreserved specimens where cell populations were lost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4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10400" cy="6361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Functional and Iterative: plenty for everyone to dislike 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Wingdings"/>
                <a:ea typeface="DejaVu Sans"/>
              </a:rPr>
              <a:t>:)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45" name="Picture 2" descr=""/>
          <p:cNvPicPr/>
          <p:nvPr/>
        </p:nvPicPr>
        <p:blipFill>
          <a:blip r:embed="rId1"/>
          <a:stretch/>
        </p:blipFill>
        <p:spPr>
          <a:xfrm>
            <a:off x="479160" y="1063080"/>
            <a:ext cx="6451920" cy="4515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6" name="Picture 3" descr=""/>
          <p:cNvPicPr/>
          <p:nvPr/>
        </p:nvPicPr>
        <p:blipFill>
          <a:blip r:embed="rId2"/>
          <a:stretch/>
        </p:blipFill>
        <p:spPr>
          <a:xfrm>
            <a:off x="10435680" y="6172200"/>
            <a:ext cx="1139400" cy="397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7" name="" descr=""/>
          <p:cNvPicPr/>
          <p:nvPr/>
        </p:nvPicPr>
        <p:blipFill>
          <a:blip r:embed="rId3"/>
          <a:stretch/>
        </p:blipFill>
        <p:spPr>
          <a:xfrm>
            <a:off x="457200" y="6172200"/>
            <a:ext cx="1368000" cy="356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10400" cy="6361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Semi-supervised Pipeline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49" name="Picture 16" descr=""/>
          <p:cNvPicPr/>
          <p:nvPr/>
        </p:nvPicPr>
        <p:blipFill>
          <a:blip r:embed="rId1"/>
          <a:stretch/>
        </p:blipFill>
        <p:spPr>
          <a:xfrm>
            <a:off x="2061000" y="491400"/>
            <a:ext cx="8266680" cy="5785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50" name="Picture 71" descr=""/>
          <p:cNvPicPr/>
          <p:nvPr/>
        </p:nvPicPr>
        <p:blipFill>
          <a:blip r:embed="rId2"/>
          <a:stretch/>
        </p:blipFill>
        <p:spPr>
          <a:xfrm>
            <a:off x="10435680" y="6172200"/>
            <a:ext cx="1139400" cy="397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51" name="" descr=""/>
          <p:cNvPicPr/>
          <p:nvPr/>
        </p:nvPicPr>
        <p:blipFill>
          <a:blip r:embed="rId3"/>
          <a:stretch/>
        </p:blipFill>
        <p:spPr>
          <a:xfrm>
            <a:off x="457200" y="6172200"/>
            <a:ext cx="1368000" cy="356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2" name="Picture 103" descr=""/>
          <p:cNvPicPr/>
          <p:nvPr/>
        </p:nvPicPr>
        <p:blipFill>
          <a:blip r:embed="rId1"/>
          <a:srcRect l="13383" t="8378" r="6425" b="0"/>
          <a:stretch/>
        </p:blipFill>
        <p:spPr>
          <a:xfrm>
            <a:off x="2700720" y="1371600"/>
            <a:ext cx="2326320" cy="2283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3" name=""/>
          <p:cNvSpPr/>
          <p:nvPr/>
        </p:nvSpPr>
        <p:spPr>
          <a:xfrm>
            <a:off x="5486400" y="1828800"/>
            <a:ext cx="682200" cy="682200"/>
          </a:xfrm>
          <a:prstGeom prst="rect">
            <a:avLst/>
          </a:prstGeom>
          <a:solidFill>
            <a:srgbClr val="ffffff"/>
          </a:solidFill>
          <a:ln w="36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360" rIns="108360" tIns="63360" bIns="6336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754" name="Picture 104" descr=""/>
          <p:cNvPicPr/>
          <p:nvPr/>
        </p:nvPicPr>
        <p:blipFill>
          <a:blip r:embed="rId2"/>
          <a:stretch/>
        </p:blipFill>
        <p:spPr>
          <a:xfrm>
            <a:off x="10435680" y="6172560"/>
            <a:ext cx="1139400" cy="397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5" name=""/>
          <p:cNvSpPr/>
          <p:nvPr/>
        </p:nvSpPr>
        <p:spPr>
          <a:xfrm>
            <a:off x="0" y="41040"/>
            <a:ext cx="1211364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To unlock the comprehensive biological discovery potential,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we need to address these pink elephants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6" name=""/>
          <p:cNvSpPr/>
          <p:nvPr/>
        </p:nvSpPr>
        <p:spPr>
          <a:xfrm>
            <a:off x="6402240" y="1457640"/>
            <a:ext cx="5025600" cy="1329120"/>
          </a:xfrm>
          <a:prstGeom prst="rect">
            <a:avLst/>
          </a:prstGeom>
          <a:solidFill>
            <a:srgbClr val="77bc65">
              <a:alpha val="2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57" name="Rectangle 19"/>
          <p:cNvSpPr/>
          <p:nvPr/>
        </p:nvSpPr>
        <p:spPr>
          <a:xfrm>
            <a:off x="6402240" y="1418400"/>
            <a:ext cx="502560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Quality of the unmixed full-stained data is linked to the quality of our single-color controls (and our ability to provide appropriate autofluorescence controls). 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8" name=""/>
          <p:cNvSpPr/>
          <p:nvPr/>
        </p:nvSpPr>
        <p:spPr>
          <a:xfrm>
            <a:off x="6400800" y="3214440"/>
            <a:ext cx="5027040" cy="1512000"/>
          </a:xfrm>
          <a:prstGeom prst="rect">
            <a:avLst/>
          </a:prstGeom>
          <a:solidFill>
            <a:srgbClr val="ffe994">
              <a:alpha val="2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59" name="Rectangle 24"/>
          <p:cNvSpPr/>
          <p:nvPr/>
        </p:nvSpPr>
        <p:spPr>
          <a:xfrm>
            <a:off x="6400800" y="3201480"/>
            <a:ext cx="502560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If we are acquiring 3 million cells to detect 100 rare cells, how do we thoroughly explore the rest of the sample to avoid wasting useful data?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0" name=""/>
          <p:cNvSpPr/>
          <p:nvPr/>
        </p:nvSpPr>
        <p:spPr>
          <a:xfrm>
            <a:off x="5486400" y="3585600"/>
            <a:ext cx="682200" cy="682200"/>
          </a:xfrm>
          <a:prstGeom prst="rect">
            <a:avLst/>
          </a:prstGeom>
          <a:solidFill>
            <a:srgbClr val="ffffff"/>
          </a:solidFill>
          <a:ln w="36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360" rIns="108360" tIns="63360" bIns="6336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761" name="" descr=""/>
          <p:cNvPicPr/>
          <p:nvPr/>
        </p:nvPicPr>
        <p:blipFill>
          <a:blip r:embed="rId3"/>
          <a:stretch/>
        </p:blipFill>
        <p:spPr>
          <a:xfrm>
            <a:off x="651960" y="3429000"/>
            <a:ext cx="2774880" cy="2741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2" name=""/>
          <p:cNvSpPr/>
          <p:nvPr/>
        </p:nvSpPr>
        <p:spPr>
          <a:xfrm flipV="1">
            <a:off x="5787000" y="1636200"/>
            <a:ext cx="385200" cy="637200"/>
          </a:xfrm>
          <a:prstGeom prst="line">
            <a:avLst/>
          </a:prstGeom>
          <a:ln w="91440">
            <a:solidFill>
              <a:srgbClr val="00a9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35720" rIns="135720" tIns="90720" bIns="9072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63" name=""/>
          <p:cNvSpPr/>
          <p:nvPr/>
        </p:nvSpPr>
        <p:spPr>
          <a:xfrm flipH="1" flipV="1">
            <a:off x="5558400" y="2057400"/>
            <a:ext cx="228600" cy="228600"/>
          </a:xfrm>
          <a:prstGeom prst="line">
            <a:avLst/>
          </a:prstGeom>
          <a:ln w="91440">
            <a:solidFill>
              <a:srgbClr val="00a9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35720" rIns="135720" tIns="90720" bIns="9072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764" name="" descr=""/>
          <p:cNvPicPr/>
          <p:nvPr/>
        </p:nvPicPr>
        <p:blipFill>
          <a:blip r:embed="rId4"/>
          <a:stretch/>
        </p:blipFill>
        <p:spPr>
          <a:xfrm>
            <a:off x="457200" y="6172200"/>
            <a:ext cx="1368000" cy="35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5" name=""/>
          <p:cNvSpPr/>
          <p:nvPr/>
        </p:nvSpPr>
        <p:spPr>
          <a:xfrm flipH="1" flipV="1">
            <a:off x="5558760" y="3857760"/>
            <a:ext cx="228600" cy="228600"/>
          </a:xfrm>
          <a:prstGeom prst="line">
            <a:avLst/>
          </a:prstGeom>
          <a:ln w="91440">
            <a:solidFill>
              <a:srgbClr val="00a9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35720" rIns="135720" tIns="90720" bIns="9072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66" name=""/>
          <p:cNvSpPr/>
          <p:nvPr/>
        </p:nvSpPr>
        <p:spPr>
          <a:xfrm flipV="1">
            <a:off x="5751000" y="3441600"/>
            <a:ext cx="385200" cy="637200"/>
          </a:xfrm>
          <a:prstGeom prst="line">
            <a:avLst/>
          </a:prstGeom>
          <a:ln w="91440">
            <a:solidFill>
              <a:srgbClr val="00a9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35720" rIns="135720" tIns="90720" bIns="9072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7" name="Picture 43" descr=""/>
          <p:cNvPicPr/>
          <p:nvPr/>
        </p:nvPicPr>
        <p:blipFill>
          <a:blip r:embed="rId1"/>
          <a:srcRect l="19535" t="32531" r="20350" b="27779"/>
          <a:stretch/>
        </p:blipFill>
        <p:spPr>
          <a:xfrm>
            <a:off x="1098000" y="1371600"/>
            <a:ext cx="10329840" cy="383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8" name=""/>
          <p:cNvSpPr/>
          <p:nvPr/>
        </p:nvSpPr>
        <p:spPr>
          <a:xfrm>
            <a:off x="2491200" y="92520"/>
            <a:ext cx="8226000" cy="63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So are all our problems solved?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69" name="" descr=""/>
          <p:cNvPicPr/>
          <p:nvPr/>
        </p:nvPicPr>
        <p:blipFill>
          <a:blip r:embed="rId2"/>
          <a:stretch/>
        </p:blipFill>
        <p:spPr>
          <a:xfrm>
            <a:off x="230040" y="6172200"/>
            <a:ext cx="1368000" cy="356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70" name="Picture 42" descr=""/>
          <p:cNvPicPr/>
          <p:nvPr/>
        </p:nvPicPr>
        <p:blipFill>
          <a:blip r:embed="rId3"/>
          <a:stretch/>
        </p:blipFill>
        <p:spPr>
          <a:xfrm>
            <a:off x="10435680" y="6172560"/>
            <a:ext cx="1139400" cy="397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"/>
          <p:cNvSpPr/>
          <p:nvPr/>
        </p:nvSpPr>
        <p:spPr>
          <a:xfrm>
            <a:off x="5185800" y="3200400"/>
            <a:ext cx="6481440" cy="2513880"/>
          </a:xfrm>
          <a:prstGeom prst="rect">
            <a:avLst/>
          </a:prstGeom>
          <a:solidFill>
            <a:srgbClr val="ffffff"/>
          </a:solidFill>
          <a:ln w="1836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72" name=""/>
          <p:cNvSpPr/>
          <p:nvPr/>
        </p:nvSpPr>
        <p:spPr>
          <a:xfrm>
            <a:off x="5185800" y="1058400"/>
            <a:ext cx="6481440" cy="1935720"/>
          </a:xfrm>
          <a:prstGeom prst="rect">
            <a:avLst/>
          </a:prstGeom>
          <a:solidFill>
            <a:srgbClr val="ffffff"/>
          </a:solidFill>
          <a:ln w="1836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73" name="PlaceHolder 1"/>
          <p:cNvSpPr>
            <a:spLocks noGrp="1"/>
          </p:cNvSpPr>
          <p:nvPr>
            <p:ph type="title"/>
          </p:nvPr>
        </p:nvSpPr>
        <p:spPr>
          <a:xfrm>
            <a:off x="0" y="-182520"/>
            <a:ext cx="12185280" cy="13183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What good is any tool if the community is not able to use it?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4" name="Rectangle 18"/>
          <p:cNvSpPr/>
          <p:nvPr/>
        </p:nvSpPr>
        <p:spPr>
          <a:xfrm>
            <a:off x="5176440" y="3249000"/>
            <a:ext cx="6252840" cy="24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72 Bioconductor cytometry packages (+ 20? GitHub based packages) 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Heavily under-utilized, some unmaintained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Evidence that “Build the `software tool` and they will come” approach doesn’t work in practice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75" name="Picture 37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37960" cy="396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76" name="" descr=""/>
          <p:cNvPicPr/>
          <p:nvPr/>
        </p:nvPicPr>
        <p:blipFill>
          <a:blip r:embed="rId2"/>
          <a:stretch/>
        </p:blipFill>
        <p:spPr>
          <a:xfrm>
            <a:off x="659880" y="909000"/>
            <a:ext cx="3908160" cy="4913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77" name="" descr=""/>
          <p:cNvPicPr/>
          <p:nvPr/>
        </p:nvPicPr>
        <p:blipFill>
          <a:blip r:embed="rId3"/>
          <a:stretch/>
        </p:blipFill>
        <p:spPr>
          <a:xfrm>
            <a:off x="457200" y="6172200"/>
            <a:ext cx="1368000" cy="35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8" name=""/>
          <p:cNvSpPr/>
          <p:nvPr/>
        </p:nvSpPr>
        <p:spPr>
          <a:xfrm>
            <a:off x="5185800" y="1136520"/>
            <a:ext cx="6436800" cy="101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MT Extra" charset="2"/>
              <a:buChar char="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Working towards formally submitting my R packages to Bioconductor this year (adding documentation, generalizing for different instrument manufacturers)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9" name=""/>
          <p:cNvSpPr/>
          <p:nvPr/>
        </p:nvSpPr>
        <p:spPr>
          <a:xfrm>
            <a:off x="5185800" y="2286000"/>
            <a:ext cx="6436800" cy="70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MT Extra" charset="2"/>
              <a:buChar char="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Still learning better ways to parallelize and speed up the process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PlaceHolder 1"/>
          <p:cNvSpPr>
            <a:spLocks noGrp="1"/>
          </p:cNvSpPr>
          <p:nvPr>
            <p:ph type="title"/>
          </p:nvPr>
        </p:nvSpPr>
        <p:spPr>
          <a:xfrm>
            <a:off x="0" y="-182520"/>
            <a:ext cx="12185280" cy="13183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Major barrier to entry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81" name="Picture 31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37960" cy="3960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782" name=""/>
          <p:cNvGrpSpPr/>
          <p:nvPr/>
        </p:nvGrpSpPr>
        <p:grpSpPr>
          <a:xfrm>
            <a:off x="4800600" y="1371600"/>
            <a:ext cx="6726240" cy="4339440"/>
            <a:chOff x="4800600" y="1371600"/>
            <a:chExt cx="6726240" cy="4339440"/>
          </a:xfrm>
        </p:grpSpPr>
        <p:pic>
          <p:nvPicPr>
            <p:cNvPr id="783" name="" descr=""/>
            <p:cNvPicPr/>
            <p:nvPr/>
          </p:nvPicPr>
          <p:blipFill>
            <a:blip r:embed="rId2"/>
            <a:stretch/>
          </p:blipFill>
          <p:spPr>
            <a:xfrm>
              <a:off x="4800600" y="1371600"/>
              <a:ext cx="6726240" cy="43394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784" name="" descr=""/>
            <p:cNvPicPr/>
            <p:nvPr/>
          </p:nvPicPr>
          <p:blipFill>
            <a:blip r:embed="rId3"/>
            <a:stretch/>
          </p:blipFill>
          <p:spPr>
            <a:xfrm>
              <a:off x="8342280" y="1600200"/>
              <a:ext cx="2518560" cy="257112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785" name=""/>
          <p:cNvSpPr/>
          <p:nvPr/>
        </p:nvSpPr>
        <p:spPr>
          <a:xfrm>
            <a:off x="228600" y="1371600"/>
            <a:ext cx="4460040" cy="4145040"/>
          </a:xfrm>
          <a:prstGeom prst="rect">
            <a:avLst/>
          </a:prstGeom>
          <a:solidFill>
            <a:srgbClr val="ffffff"/>
          </a:solidFill>
          <a:ln w="1836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86" name="Rectangle 2"/>
          <p:cNvSpPr/>
          <p:nvPr/>
        </p:nvSpPr>
        <p:spPr>
          <a:xfrm>
            <a:off x="199440" y="1407600"/>
            <a:ext cx="4597200" cy="411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Few resources to begin with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Those that exist aimed at those with intermediate-advanced R skills, not beginners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Know-how concentrated at a few institutions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Most self-learning attempts end in frustration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87" name="" descr=""/>
          <p:cNvPicPr/>
          <p:nvPr/>
        </p:nvPicPr>
        <p:blipFill>
          <a:blip r:embed="rId4"/>
          <a:stretch/>
        </p:blipFill>
        <p:spPr>
          <a:xfrm>
            <a:off x="457200" y="6172200"/>
            <a:ext cx="1368000" cy="356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PlaceHolder 1"/>
          <p:cNvSpPr>
            <a:spLocks noGrp="1"/>
          </p:cNvSpPr>
          <p:nvPr>
            <p:ph type="title"/>
          </p:nvPr>
        </p:nvSpPr>
        <p:spPr>
          <a:xfrm>
            <a:off x="0" y="-182520"/>
            <a:ext cx="12185280" cy="13183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Cytometry in R: A free weekly course for flow cytometrist</a:t>
            </a:r>
            <a:br>
              <a:rPr sz="3200"/>
            </a:b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with no-to-little coding experience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89" name="Picture 11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37960" cy="396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90" name="" descr=""/>
          <p:cNvPicPr/>
          <p:nvPr/>
        </p:nvPicPr>
        <p:blipFill>
          <a:blip r:embed="rId2"/>
          <a:stretch/>
        </p:blipFill>
        <p:spPr>
          <a:xfrm>
            <a:off x="3500640" y="1081800"/>
            <a:ext cx="6821640" cy="1513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91" name="" descr=""/>
          <p:cNvPicPr/>
          <p:nvPr/>
        </p:nvPicPr>
        <p:blipFill>
          <a:blip r:embed="rId3"/>
          <a:stretch/>
        </p:blipFill>
        <p:spPr>
          <a:xfrm>
            <a:off x="3483720" y="2774160"/>
            <a:ext cx="6838560" cy="4018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92" name="Picture 23" descr=""/>
          <p:cNvPicPr/>
          <p:nvPr/>
        </p:nvPicPr>
        <p:blipFill>
          <a:blip r:embed="rId4"/>
          <a:stretch/>
        </p:blipFill>
        <p:spPr>
          <a:xfrm>
            <a:off x="757800" y="1094760"/>
            <a:ext cx="1973880" cy="1455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93" name="Graphic 3" descr="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964800" y="3429000"/>
            <a:ext cx="1356480" cy="1194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4" name="PlaceHolder 40"/>
          <p:cNvSpPr/>
          <p:nvPr/>
        </p:nvSpPr>
        <p:spPr>
          <a:xfrm>
            <a:off x="613800" y="4800600"/>
            <a:ext cx="1550880" cy="1047960"/>
          </a:xfrm>
          <a:prstGeom prst="rect">
            <a:avLst/>
          </a:prstGeom>
          <a:noFill/>
          <a:ln w="190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rm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Website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95" name="" descr=""/>
          <p:cNvPicPr/>
          <p:nvPr/>
        </p:nvPicPr>
        <p:blipFill>
          <a:blip r:embed="rId7"/>
          <a:stretch/>
        </p:blipFill>
        <p:spPr>
          <a:xfrm>
            <a:off x="457200" y="6172200"/>
            <a:ext cx="1368000" cy="356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"/>
          <p:cNvSpPr/>
          <p:nvPr/>
        </p:nvSpPr>
        <p:spPr>
          <a:xfrm>
            <a:off x="2214000" y="4264920"/>
            <a:ext cx="7804440" cy="2360520"/>
          </a:xfrm>
          <a:prstGeom prst="rect">
            <a:avLst/>
          </a:prstGeom>
          <a:solidFill>
            <a:srgbClr val="ffffff"/>
          </a:solidFill>
          <a:ln w="1836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97" name="PlaceHolder 1"/>
          <p:cNvSpPr>
            <a:spLocks noGrp="1"/>
          </p:cNvSpPr>
          <p:nvPr>
            <p:ph type="title"/>
          </p:nvPr>
        </p:nvSpPr>
        <p:spPr>
          <a:xfrm>
            <a:off x="0" y="-182520"/>
            <a:ext cx="12185280" cy="13183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Overall structure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8" name="Rectangle 8"/>
          <p:cNvSpPr/>
          <p:nvPr/>
        </p:nvSpPr>
        <p:spPr>
          <a:xfrm>
            <a:off x="2286000" y="4343400"/>
            <a:ext cx="7768440" cy="213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ts val="2449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30-week course, starting from Intro to R, gradually moving to more advanced content.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871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ts val="1871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Multiple ways to learn with flexible scheduling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871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ts val="1871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Taught in Positron instead of Rstudio (ask me why!)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871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ts val="1871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Version Control/Git introduced from the beginning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99" name="Picture 30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37960" cy="396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00" name="" descr=""/>
          <p:cNvPicPr/>
          <p:nvPr/>
        </p:nvPicPr>
        <p:blipFill>
          <a:blip r:embed="rId2"/>
          <a:stretch/>
        </p:blipFill>
        <p:spPr>
          <a:xfrm>
            <a:off x="-3600" y="745200"/>
            <a:ext cx="12187440" cy="3443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01" name="" descr=""/>
          <p:cNvPicPr/>
          <p:nvPr/>
        </p:nvPicPr>
        <p:blipFill>
          <a:blip r:embed="rId3"/>
          <a:stretch/>
        </p:blipFill>
        <p:spPr>
          <a:xfrm>
            <a:off x="457200" y="6172200"/>
            <a:ext cx="1368000" cy="356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"/>
          <p:cNvSpPr/>
          <p:nvPr/>
        </p:nvSpPr>
        <p:spPr>
          <a:xfrm>
            <a:off x="6629400" y="1467000"/>
            <a:ext cx="4339800" cy="3787200"/>
          </a:xfrm>
          <a:prstGeom prst="rect">
            <a:avLst/>
          </a:prstGeom>
          <a:solidFill>
            <a:srgbClr val="ffffff"/>
          </a:solidFill>
          <a:ln w="1836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803" name="" descr=""/>
          <p:cNvPicPr/>
          <p:nvPr/>
        </p:nvPicPr>
        <p:blipFill>
          <a:blip r:embed="rId1"/>
          <a:stretch/>
        </p:blipFill>
        <p:spPr>
          <a:xfrm>
            <a:off x="228600" y="868320"/>
            <a:ext cx="5711040" cy="5528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4" name="PlaceHolder 1"/>
          <p:cNvSpPr>
            <a:spLocks noGrp="1"/>
          </p:cNvSpPr>
          <p:nvPr>
            <p:ph type="title"/>
          </p:nvPr>
        </p:nvSpPr>
        <p:spPr>
          <a:xfrm>
            <a:off x="0" y="-182520"/>
            <a:ext cx="12185280" cy="13183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YouTube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5" name="Rectangle 9"/>
          <p:cNvSpPr/>
          <p:nvPr/>
        </p:nvSpPr>
        <p:spPr>
          <a:xfrm>
            <a:off x="6665400" y="1467000"/>
            <a:ext cx="4597200" cy="374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Three live-streams a week (accommodating different timezones and schedules)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Recordings available immediately after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Best of the weekly livestreams added to the playlist, cutting down on editing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06" name="Picture 32" descr=""/>
          <p:cNvPicPr/>
          <p:nvPr/>
        </p:nvPicPr>
        <p:blipFill>
          <a:blip r:embed="rId2"/>
          <a:stretch/>
        </p:blipFill>
        <p:spPr>
          <a:xfrm>
            <a:off x="10435680" y="6172200"/>
            <a:ext cx="1137960" cy="396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07" name="" descr=""/>
          <p:cNvPicPr/>
          <p:nvPr/>
        </p:nvPicPr>
        <p:blipFill>
          <a:blip r:embed="rId3"/>
          <a:stretch/>
        </p:blipFill>
        <p:spPr>
          <a:xfrm>
            <a:off x="457200" y="6172200"/>
            <a:ext cx="1368000" cy="356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"/>
          <p:cNvSpPr/>
          <p:nvPr/>
        </p:nvSpPr>
        <p:spPr>
          <a:xfrm>
            <a:off x="252000" y="1238040"/>
            <a:ext cx="4652640" cy="4244400"/>
          </a:xfrm>
          <a:prstGeom prst="rect">
            <a:avLst/>
          </a:prstGeom>
          <a:solidFill>
            <a:srgbClr val="ffffff"/>
          </a:solidFill>
          <a:ln w="1836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09" name="PlaceHolder 1"/>
          <p:cNvSpPr>
            <a:spLocks noGrp="1"/>
          </p:cNvSpPr>
          <p:nvPr>
            <p:ph type="title"/>
          </p:nvPr>
        </p:nvSpPr>
        <p:spPr>
          <a:xfrm>
            <a:off x="0" y="-182520"/>
            <a:ext cx="12185280" cy="13183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Website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0" name="Rectangle 10"/>
          <p:cNvSpPr/>
          <p:nvPr/>
        </p:nvSpPr>
        <p:spPr>
          <a:xfrm>
            <a:off x="307440" y="1443600"/>
            <a:ext cx="4597200" cy="374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Created with Quarto, hosted via GitHub pages.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Code, code outputs, screenshots and explanations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Searchable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New weekly material added as a new .qmd file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11" name="Picture 33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37960" cy="396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12" name="" descr=""/>
          <p:cNvPicPr/>
          <p:nvPr/>
        </p:nvPicPr>
        <p:blipFill>
          <a:blip r:embed="rId2"/>
          <a:stretch/>
        </p:blipFill>
        <p:spPr>
          <a:xfrm>
            <a:off x="5029200" y="1062000"/>
            <a:ext cx="5399640" cy="442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13" name="" descr=""/>
          <p:cNvPicPr/>
          <p:nvPr/>
        </p:nvPicPr>
        <p:blipFill>
          <a:blip r:embed="rId3"/>
          <a:stretch/>
        </p:blipFill>
        <p:spPr>
          <a:xfrm>
            <a:off x="457200" y="6172200"/>
            <a:ext cx="1368000" cy="356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"/>
          <p:cNvSpPr/>
          <p:nvPr/>
        </p:nvSpPr>
        <p:spPr>
          <a:xfrm>
            <a:off x="6773760" y="914400"/>
            <a:ext cx="4652640" cy="4797000"/>
          </a:xfrm>
          <a:prstGeom prst="rect">
            <a:avLst/>
          </a:prstGeom>
          <a:solidFill>
            <a:srgbClr val="ffffff"/>
          </a:solidFill>
          <a:ln w="1836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15" name="PlaceHolder 1"/>
          <p:cNvSpPr>
            <a:spLocks noGrp="1"/>
          </p:cNvSpPr>
          <p:nvPr>
            <p:ph type="title"/>
          </p:nvPr>
        </p:nvSpPr>
        <p:spPr>
          <a:xfrm>
            <a:off x="0" y="-182520"/>
            <a:ext cx="12185280" cy="13183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GitHub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6" name="Rectangle 14"/>
          <p:cNvSpPr/>
          <p:nvPr/>
        </p:nvSpPr>
        <p:spPr>
          <a:xfrm>
            <a:off x="6828480" y="1048680"/>
            <a:ext cx="4597200" cy="447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Code and datasets available via the GitHub repository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Course participants start course by creating GitHub account and forking the repository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After Positron is linked to GitHub account, pull locally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When new material posted each week, sync and pull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17" name="Picture 34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37960" cy="396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18" name="" descr=""/>
          <p:cNvPicPr/>
          <p:nvPr/>
        </p:nvPicPr>
        <p:blipFill>
          <a:blip r:embed="rId2"/>
          <a:stretch/>
        </p:blipFill>
        <p:spPr>
          <a:xfrm>
            <a:off x="457200" y="914400"/>
            <a:ext cx="6042960" cy="4812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"/>
          <p:cNvSpPr/>
          <p:nvPr/>
        </p:nvSpPr>
        <p:spPr>
          <a:xfrm>
            <a:off x="685800" y="2561400"/>
            <a:ext cx="4652640" cy="1368000"/>
          </a:xfrm>
          <a:prstGeom prst="rect">
            <a:avLst/>
          </a:prstGeom>
          <a:solidFill>
            <a:srgbClr val="ffffff"/>
          </a:solidFill>
          <a:ln w="1836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20" name="PlaceHolder 1"/>
          <p:cNvSpPr>
            <a:spLocks noGrp="1"/>
          </p:cNvSpPr>
          <p:nvPr>
            <p:ph type="title"/>
          </p:nvPr>
        </p:nvSpPr>
        <p:spPr>
          <a:xfrm>
            <a:off x="0" y="-182520"/>
            <a:ext cx="12185280" cy="13183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Discussion Forum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1" name="Rectangle 15"/>
          <p:cNvSpPr/>
          <p:nvPr/>
        </p:nvSpPr>
        <p:spPr>
          <a:xfrm>
            <a:off x="717480" y="2561400"/>
            <a:ext cx="4597200" cy="155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GitHub Discussions page has been repurposed as a community forum for questions, etc.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22" name="Picture 35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37960" cy="396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23" name="" descr=""/>
          <p:cNvPicPr/>
          <p:nvPr/>
        </p:nvPicPr>
        <p:blipFill>
          <a:blip r:embed="rId2"/>
          <a:stretch/>
        </p:blipFill>
        <p:spPr>
          <a:xfrm>
            <a:off x="5591520" y="914400"/>
            <a:ext cx="5834880" cy="5040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"/>
          <p:cNvSpPr/>
          <p:nvPr/>
        </p:nvSpPr>
        <p:spPr>
          <a:xfrm>
            <a:off x="2569320" y="4523400"/>
            <a:ext cx="6625440" cy="1596240"/>
          </a:xfrm>
          <a:prstGeom prst="rect">
            <a:avLst/>
          </a:prstGeom>
          <a:solidFill>
            <a:srgbClr val="ffffff"/>
          </a:solidFill>
          <a:ln w="1836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25" name="PlaceHolder 1"/>
          <p:cNvSpPr>
            <a:spLocks noGrp="1"/>
          </p:cNvSpPr>
          <p:nvPr>
            <p:ph type="title"/>
          </p:nvPr>
        </p:nvSpPr>
        <p:spPr>
          <a:xfrm>
            <a:off x="0" y="-182520"/>
            <a:ext cx="12185280" cy="13183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Where to next?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6" name="Rectangle 17"/>
          <p:cNvSpPr/>
          <p:nvPr/>
        </p:nvSpPr>
        <p:spPr>
          <a:xfrm>
            <a:off x="2569320" y="4523400"/>
            <a:ext cx="7026840" cy="155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Wrapping up Cytometry Core module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Gathering steam to start on the Unsupervised Analysis section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27" name="Picture 36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37960" cy="396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28" name="" descr=""/>
          <p:cNvPicPr/>
          <p:nvPr/>
        </p:nvPicPr>
        <p:blipFill>
          <a:blip r:embed="rId2"/>
          <a:stretch/>
        </p:blipFill>
        <p:spPr>
          <a:xfrm>
            <a:off x="228600" y="914400"/>
            <a:ext cx="11656440" cy="3443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29" name="" descr=""/>
          <p:cNvPicPr/>
          <p:nvPr/>
        </p:nvPicPr>
        <p:blipFill>
          <a:blip r:embed="rId3"/>
          <a:stretch/>
        </p:blipFill>
        <p:spPr>
          <a:xfrm>
            <a:off x="457200" y="6172200"/>
            <a:ext cx="1368000" cy="356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"/>
          <p:cNvSpPr/>
          <p:nvPr/>
        </p:nvSpPr>
        <p:spPr>
          <a:xfrm>
            <a:off x="1600200" y="5308200"/>
            <a:ext cx="1824840" cy="453240"/>
          </a:xfrm>
          <a:prstGeom prst="rect">
            <a:avLst/>
          </a:prstGeom>
          <a:solidFill>
            <a:srgbClr val="ffffff"/>
          </a:solidFill>
          <a:ln w="1836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31" name=""/>
          <p:cNvSpPr/>
          <p:nvPr/>
        </p:nvSpPr>
        <p:spPr>
          <a:xfrm>
            <a:off x="10395000" y="3729600"/>
            <a:ext cx="1367640" cy="681840"/>
          </a:xfrm>
          <a:prstGeom prst="rect">
            <a:avLst/>
          </a:prstGeom>
          <a:solidFill>
            <a:srgbClr val="ffffff"/>
          </a:solidFill>
          <a:ln w="1836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32" name=""/>
          <p:cNvSpPr/>
          <p:nvPr/>
        </p:nvSpPr>
        <p:spPr>
          <a:xfrm>
            <a:off x="8458200" y="3693600"/>
            <a:ext cx="1367640" cy="681840"/>
          </a:xfrm>
          <a:prstGeom prst="rect">
            <a:avLst/>
          </a:prstGeom>
          <a:solidFill>
            <a:srgbClr val="ffffff"/>
          </a:solidFill>
          <a:ln w="1836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33" name=""/>
          <p:cNvSpPr/>
          <p:nvPr/>
        </p:nvSpPr>
        <p:spPr>
          <a:xfrm>
            <a:off x="3922200" y="3828600"/>
            <a:ext cx="4339440" cy="1367640"/>
          </a:xfrm>
          <a:prstGeom prst="rect">
            <a:avLst/>
          </a:prstGeom>
          <a:solidFill>
            <a:srgbClr val="ffffff"/>
          </a:solidFill>
          <a:ln w="1836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34" name=""/>
          <p:cNvSpPr/>
          <p:nvPr/>
        </p:nvSpPr>
        <p:spPr>
          <a:xfrm>
            <a:off x="349200" y="4235400"/>
            <a:ext cx="2163240" cy="912240"/>
          </a:xfrm>
          <a:prstGeom prst="rect">
            <a:avLst/>
          </a:prstGeom>
          <a:solidFill>
            <a:srgbClr val="ffffff"/>
          </a:solidFill>
          <a:ln w="1836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35" name=""/>
          <p:cNvSpPr/>
          <p:nvPr/>
        </p:nvSpPr>
        <p:spPr>
          <a:xfrm>
            <a:off x="349200" y="1636200"/>
            <a:ext cx="3425040" cy="683640"/>
          </a:xfrm>
          <a:prstGeom prst="rect">
            <a:avLst/>
          </a:prstGeom>
          <a:solidFill>
            <a:srgbClr val="ffffff"/>
          </a:solidFill>
          <a:ln w="1836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36" name=""/>
          <p:cNvSpPr/>
          <p:nvPr/>
        </p:nvSpPr>
        <p:spPr>
          <a:xfrm>
            <a:off x="338400" y="2550600"/>
            <a:ext cx="3425040" cy="1596240"/>
          </a:xfrm>
          <a:prstGeom prst="rect">
            <a:avLst/>
          </a:prstGeom>
          <a:solidFill>
            <a:srgbClr val="ffffff"/>
          </a:solidFill>
          <a:ln w="1836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37" name="PlaceHolder 1"/>
          <p:cNvSpPr>
            <a:spLocks noGrp="1"/>
          </p:cNvSpPr>
          <p:nvPr>
            <p:ph type="title"/>
          </p:nvPr>
        </p:nvSpPr>
        <p:spPr>
          <a:xfrm>
            <a:off x="3886200" y="46080"/>
            <a:ext cx="4564800" cy="13183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Acknowledgements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38" name="Picture 38" descr=""/>
          <p:cNvPicPr/>
          <p:nvPr/>
        </p:nvPicPr>
        <p:blipFill>
          <a:blip r:embed="rId1"/>
          <a:stretch/>
        </p:blipFill>
        <p:spPr>
          <a:xfrm>
            <a:off x="9290520" y="4645800"/>
            <a:ext cx="2364120" cy="422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39" name="Picture 39" descr=""/>
          <p:cNvPicPr/>
          <p:nvPr/>
        </p:nvPicPr>
        <p:blipFill>
          <a:blip r:embed="rId2"/>
          <a:stretch/>
        </p:blipFill>
        <p:spPr>
          <a:xfrm>
            <a:off x="9673200" y="5072400"/>
            <a:ext cx="1982880" cy="401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0" name="Content Placeholder 1"/>
          <p:cNvSpPr/>
          <p:nvPr/>
        </p:nvSpPr>
        <p:spPr>
          <a:xfrm>
            <a:off x="228600" y="4235400"/>
            <a:ext cx="3972600" cy="1821600"/>
          </a:xfrm>
          <a:prstGeom prst="rect">
            <a:avLst/>
          </a:prstGeom>
          <a:noFill/>
          <a:ln w="190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marL="108000" defTabSz="914400">
              <a:lnSpc>
                <a:spcPct val="100000"/>
              </a:lnSpc>
              <a:spcBef>
                <a:spcPts val="1417"/>
              </a:spcBef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Dr. Cristiana Cairo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8000" defTabSz="914400">
              <a:lnSpc>
                <a:spcPts val="720"/>
              </a:lnSpc>
              <a:spcBef>
                <a:spcPts val="1417"/>
              </a:spcBef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Dr. Kirsten E. Lyke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8000" defTabSz="914400">
              <a:lnSpc>
                <a:spcPts val="720"/>
              </a:lnSpc>
              <a:spcBef>
                <a:spcPts val="1417"/>
              </a:spcBef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Dr. Xiaoxuan Fan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8000" algn="r" defTabSz="914400">
              <a:lnSpc>
                <a:spcPts val="720"/>
              </a:lnSpc>
              <a:spcBef>
                <a:spcPts val="1417"/>
              </a:spcBef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8000" algn="r" defTabSz="914400">
              <a:lnSpc>
                <a:spcPts val="720"/>
              </a:lnSpc>
              <a:spcBef>
                <a:spcPts val="1417"/>
              </a:spcBef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8000" algn="r" defTabSz="914400">
              <a:lnSpc>
                <a:spcPts val="720"/>
              </a:lnSpc>
              <a:spcBef>
                <a:spcPts val="1417"/>
              </a:spcBef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8000" defTabSz="914400">
              <a:lnSpc>
                <a:spcPts val="720"/>
              </a:lnSpc>
              <a:spcBef>
                <a:spcPts val="1417"/>
              </a:spcBef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8000" defTabSz="914400">
              <a:lnSpc>
                <a:spcPts val="720"/>
              </a:lnSpc>
              <a:spcBef>
                <a:spcPts val="1417"/>
              </a:spcBef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8000" defTabSz="914400">
              <a:lnSpc>
                <a:spcPts val="720"/>
              </a:lnSpc>
              <a:spcBef>
                <a:spcPts val="1417"/>
              </a:spcBef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8000" defTabSz="914400">
              <a:lnSpc>
                <a:spcPts val="720"/>
              </a:lnSpc>
              <a:spcBef>
                <a:spcPts val="1417"/>
              </a:spcBef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8000" defTabSz="914400">
              <a:lnSpc>
                <a:spcPts val="720"/>
              </a:lnSpc>
              <a:spcBef>
                <a:spcPts val="1417"/>
              </a:spcBef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1" name="TextBox 3"/>
          <p:cNvSpPr/>
          <p:nvPr/>
        </p:nvSpPr>
        <p:spPr>
          <a:xfrm>
            <a:off x="255240" y="1647000"/>
            <a:ext cx="34002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108000" defTabSz="914400">
              <a:lnSpc>
                <a:spcPct val="100000"/>
              </a:lnSpc>
              <a:spcBef>
                <a:spcPts val="1417"/>
              </a:spcBef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All mothers and their infants, and their communities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2" name="TextBox 1"/>
          <p:cNvSpPr/>
          <p:nvPr/>
        </p:nvSpPr>
        <p:spPr>
          <a:xfrm>
            <a:off x="302400" y="2635200"/>
            <a:ext cx="3400200" cy="146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108000" defTabSz="914400">
              <a:lnSpc>
                <a:spcPct val="100000"/>
              </a:lnSpc>
              <a:spcBef>
                <a:spcPts val="1417"/>
              </a:spcBef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All the open-source contributors, developers, and maintainers, that collectively made the tool sets without which all of this would not be feasible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3" name="Content Placeholder 3"/>
          <p:cNvSpPr/>
          <p:nvPr/>
        </p:nvSpPr>
        <p:spPr>
          <a:xfrm>
            <a:off x="9829800" y="1486800"/>
            <a:ext cx="3972600" cy="1821600"/>
          </a:xfrm>
          <a:prstGeom prst="rect">
            <a:avLst/>
          </a:prstGeom>
          <a:noFill/>
          <a:ln w="190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marL="108000" defTabSz="914400">
              <a:lnSpc>
                <a:spcPct val="100000"/>
              </a:lnSpc>
              <a:spcBef>
                <a:spcPts val="1417"/>
              </a:spcBef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8000" algn="r" defTabSz="914400">
              <a:lnSpc>
                <a:spcPts val="720"/>
              </a:lnSpc>
              <a:spcBef>
                <a:spcPts val="1417"/>
              </a:spcBef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8000" algn="r" defTabSz="914400">
              <a:lnSpc>
                <a:spcPts val="720"/>
              </a:lnSpc>
              <a:spcBef>
                <a:spcPts val="1417"/>
              </a:spcBef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8000" algn="r" defTabSz="914400">
              <a:lnSpc>
                <a:spcPts val="720"/>
              </a:lnSpc>
              <a:spcBef>
                <a:spcPts val="1417"/>
              </a:spcBef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8000" defTabSz="914400">
              <a:lnSpc>
                <a:spcPts val="720"/>
              </a:lnSpc>
              <a:spcBef>
                <a:spcPts val="1417"/>
              </a:spcBef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8000" defTabSz="914400">
              <a:lnSpc>
                <a:spcPts val="720"/>
              </a:lnSpc>
              <a:spcBef>
                <a:spcPts val="1417"/>
              </a:spcBef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8000" defTabSz="914400">
              <a:lnSpc>
                <a:spcPts val="720"/>
              </a:lnSpc>
              <a:spcBef>
                <a:spcPts val="1417"/>
              </a:spcBef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8000" defTabSz="914400">
              <a:lnSpc>
                <a:spcPts val="720"/>
              </a:lnSpc>
              <a:spcBef>
                <a:spcPts val="1417"/>
              </a:spcBef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8000" defTabSz="914400">
              <a:lnSpc>
                <a:spcPts val="720"/>
              </a:lnSpc>
              <a:spcBef>
                <a:spcPts val="1417"/>
              </a:spcBef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4" name="TextBox 9"/>
          <p:cNvSpPr/>
          <p:nvPr/>
        </p:nvSpPr>
        <p:spPr>
          <a:xfrm>
            <a:off x="8001000" y="3926880"/>
            <a:ext cx="2257200" cy="41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marL="108000" algn="ctr" defTabSz="914400">
              <a:lnSpc>
                <a:spcPts val="575"/>
              </a:lnSpc>
              <a:spcBef>
                <a:spcPts val="1417"/>
              </a:spcBef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Cytometry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8000" algn="ctr" defTabSz="914400">
              <a:lnSpc>
                <a:spcPts val="575"/>
              </a:lnSpc>
              <a:spcBef>
                <a:spcPts val="1417"/>
              </a:spcBef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Discord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5" name="TextBox 11"/>
          <p:cNvSpPr/>
          <p:nvPr/>
        </p:nvSpPr>
        <p:spPr>
          <a:xfrm>
            <a:off x="10287000" y="3939120"/>
            <a:ext cx="1571400" cy="41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spAutoFit/>
          </a:bodyPr>
          <a:p>
            <a:pPr algn="ctr" defTabSz="914400">
              <a:lnSpc>
                <a:spcPts val="575"/>
              </a:lnSpc>
              <a:spcBef>
                <a:spcPts val="1417"/>
              </a:spcBef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Bioconductor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575"/>
              </a:lnSpc>
              <a:spcBef>
                <a:spcPts val="1417"/>
              </a:spcBef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Zulip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46" name="Picture 41" descr=""/>
          <p:cNvPicPr/>
          <p:nvPr/>
        </p:nvPicPr>
        <p:blipFill>
          <a:blip r:embed="rId3"/>
          <a:stretch/>
        </p:blipFill>
        <p:spPr>
          <a:xfrm>
            <a:off x="8686800" y="229320"/>
            <a:ext cx="3193920" cy="1253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47" name="Graphic 2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227160" y="228600"/>
            <a:ext cx="3655080" cy="95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8" name="Rectangle 20"/>
          <p:cNvSpPr/>
          <p:nvPr/>
        </p:nvSpPr>
        <p:spPr>
          <a:xfrm>
            <a:off x="3922200" y="3890160"/>
            <a:ext cx="4293000" cy="13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This publication was supported by funds through Maryland Department of Health’s Cigarette Restitution Fund Program – CH- 649-CRF and the National Cancer Institute – Cancer Center Support Grant (CCSG) – P30CA134274.d Service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9" name="TextBox 12"/>
          <p:cNvSpPr/>
          <p:nvPr/>
        </p:nvSpPr>
        <p:spPr>
          <a:xfrm>
            <a:off x="1299600" y="5558400"/>
            <a:ext cx="2257200" cy="14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7080" bIns="37080" anchor="t" anchorCtr="1">
            <a:spAutoFit/>
          </a:bodyPr>
          <a:p>
            <a:pPr marL="108000" algn="ctr" defTabSz="914400">
              <a:lnSpc>
                <a:spcPts val="575"/>
              </a:lnSpc>
              <a:spcBef>
                <a:spcPts val="1417"/>
              </a:spcBef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Dr. Daniela Franco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50" name="" descr="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8350200" y="2080800"/>
            <a:ext cx="1596240" cy="1596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51" name="" descr=""/>
          <p:cNvPicPr/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>
          <a:xfrm>
            <a:off x="10251000" y="2106000"/>
            <a:ext cx="1596240" cy="1596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52" name="Picture 27" descr="A picture containing text, person, indoor, working&#10;&#10;Description automatically generated"/>
          <p:cNvPicPr/>
          <p:nvPr/>
        </p:nvPicPr>
        <p:blipFill>
          <a:blip r:embed="rId10"/>
          <a:stretch/>
        </p:blipFill>
        <p:spPr>
          <a:xfrm>
            <a:off x="4305240" y="1234080"/>
            <a:ext cx="3579480" cy="2430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53" name="Picture 1" descr=""/>
          <p:cNvPicPr/>
          <p:nvPr/>
        </p:nvPicPr>
        <p:blipFill>
          <a:blip r:embed="rId11"/>
          <a:stretch/>
        </p:blipFill>
        <p:spPr>
          <a:xfrm>
            <a:off x="146880" y="5691240"/>
            <a:ext cx="4036680" cy="1056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54" name="Picture 40" descr=""/>
          <p:cNvPicPr/>
          <p:nvPr/>
        </p:nvPicPr>
        <p:blipFill>
          <a:blip r:embed="rId12"/>
          <a:stretch/>
        </p:blipFill>
        <p:spPr>
          <a:xfrm>
            <a:off x="9073800" y="5700600"/>
            <a:ext cx="2852280" cy="1070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"/>
          <p:cNvSpPr/>
          <p:nvPr/>
        </p:nvSpPr>
        <p:spPr>
          <a:xfrm>
            <a:off x="2971800" y="1143000"/>
            <a:ext cx="4568040" cy="5028480"/>
          </a:xfrm>
          <a:prstGeom prst="rect">
            <a:avLst/>
          </a:prstGeom>
          <a:solidFill>
            <a:srgbClr val="ffffff"/>
          </a:solidFill>
          <a:ln w="1836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56" name="PlaceHolder 1"/>
          <p:cNvSpPr>
            <a:spLocks noGrp="1"/>
          </p:cNvSpPr>
          <p:nvPr>
            <p:ph type="title"/>
          </p:nvPr>
        </p:nvSpPr>
        <p:spPr>
          <a:xfrm>
            <a:off x="1143000" y="-182520"/>
            <a:ext cx="10051200" cy="13183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Questions?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7" name="Rectangle 37"/>
          <p:cNvSpPr/>
          <p:nvPr/>
        </p:nvSpPr>
        <p:spPr>
          <a:xfrm>
            <a:off x="4346640" y="5579640"/>
            <a:ext cx="2964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YouTube </a:t>
            </a: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@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CytometryInR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8" name="Rectangle 38"/>
          <p:cNvSpPr/>
          <p:nvPr/>
        </p:nvSpPr>
        <p:spPr>
          <a:xfrm>
            <a:off x="3200400" y="3080160"/>
            <a:ext cx="43362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Website: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https://github.com/UMGCCCFCSR/CytometryInR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9" name="Rectangle 39"/>
          <p:cNvSpPr/>
          <p:nvPr/>
        </p:nvSpPr>
        <p:spPr>
          <a:xfrm>
            <a:off x="8440920" y="3113640"/>
            <a:ext cx="2964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Luciernaga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0" name="Rectangle 40"/>
          <p:cNvSpPr/>
          <p:nvPr/>
        </p:nvSpPr>
        <p:spPr>
          <a:xfrm>
            <a:off x="8440920" y="5579640"/>
            <a:ext cx="2964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Coereba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61" name="Picture 44" descr=""/>
          <p:cNvPicPr/>
          <p:nvPr/>
        </p:nvPicPr>
        <p:blipFill>
          <a:blip r:embed="rId1"/>
          <a:stretch/>
        </p:blipFill>
        <p:spPr>
          <a:xfrm>
            <a:off x="3378240" y="3900240"/>
            <a:ext cx="2104200" cy="1593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62" name="Picture 45" descr=""/>
          <p:cNvPicPr/>
          <p:nvPr/>
        </p:nvPicPr>
        <p:blipFill>
          <a:blip r:embed="rId2"/>
          <a:stretch/>
        </p:blipFill>
        <p:spPr>
          <a:xfrm>
            <a:off x="7772400" y="3886200"/>
            <a:ext cx="1840680" cy="1593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63" name="Picture 47" descr=""/>
          <p:cNvPicPr/>
          <p:nvPr/>
        </p:nvPicPr>
        <p:blipFill>
          <a:blip r:embed="rId3"/>
          <a:stretch/>
        </p:blipFill>
        <p:spPr>
          <a:xfrm>
            <a:off x="7772400" y="1392840"/>
            <a:ext cx="1840320" cy="1593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64" name="Picture 48" descr=""/>
          <p:cNvPicPr/>
          <p:nvPr/>
        </p:nvPicPr>
        <p:blipFill>
          <a:blip r:embed="rId4"/>
          <a:stretch/>
        </p:blipFill>
        <p:spPr>
          <a:xfrm>
            <a:off x="3378240" y="1329480"/>
            <a:ext cx="2104200" cy="1593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65" name="Graphic 20" descr="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9704520" y="3750840"/>
            <a:ext cx="1821600" cy="1821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66" name="Graphic 23" descr="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5489640" y="3750840"/>
            <a:ext cx="1821600" cy="1821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67" name="Graphic 25" descr=""/>
          <p:cNvPicPr/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9704520" y="1248840"/>
            <a:ext cx="1821600" cy="1821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68" name="Graphic 26" descr=""/>
          <p:cNvPicPr/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/>
        </p:blipFill>
        <p:spPr>
          <a:xfrm>
            <a:off x="5489640" y="1329480"/>
            <a:ext cx="1821600" cy="1821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9" name=""/>
          <p:cNvSpPr/>
          <p:nvPr/>
        </p:nvSpPr>
        <p:spPr>
          <a:xfrm>
            <a:off x="228600" y="2971800"/>
            <a:ext cx="228204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Current Works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In Progress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70" name="Picture 160" descr=""/>
          <p:cNvPicPr/>
          <p:nvPr/>
        </p:nvPicPr>
        <p:blipFill>
          <a:blip r:embed="rId13"/>
          <a:stretch/>
        </p:blipFill>
        <p:spPr>
          <a:xfrm>
            <a:off x="10435680" y="6172560"/>
            <a:ext cx="1139400" cy="397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10400" cy="6361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Published in Frontiers in Immunology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72" name="Picture 15" descr=""/>
          <p:cNvPicPr/>
          <p:nvPr/>
        </p:nvPicPr>
        <p:blipFill>
          <a:blip r:embed="rId1"/>
          <a:stretch/>
        </p:blipFill>
        <p:spPr>
          <a:xfrm>
            <a:off x="4910760" y="1035000"/>
            <a:ext cx="5831280" cy="4637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73" name="Graphic 4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2591640" y="2514600"/>
            <a:ext cx="1515600" cy="151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74" name="TextBox 7"/>
          <p:cNvSpPr/>
          <p:nvPr/>
        </p:nvSpPr>
        <p:spPr>
          <a:xfrm>
            <a:off x="2514600" y="4118760"/>
            <a:ext cx="127512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Paper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75" name="Picture 17" descr=""/>
          <p:cNvPicPr/>
          <p:nvPr/>
        </p:nvPicPr>
        <p:blipFill>
          <a:blip r:embed="rId4"/>
          <a:stretch/>
        </p:blipFill>
        <p:spPr>
          <a:xfrm>
            <a:off x="10435680" y="6172200"/>
            <a:ext cx="1139400" cy="397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76" name="" descr=""/>
          <p:cNvPicPr/>
          <p:nvPr/>
        </p:nvPicPr>
        <p:blipFill>
          <a:blip r:embed="rId5"/>
          <a:stretch/>
        </p:blipFill>
        <p:spPr>
          <a:xfrm>
            <a:off x="457200" y="6172200"/>
            <a:ext cx="1368000" cy="356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738</TotalTime>
  <Application>LibreOffice/25.2.3.2$Linux_X86_64 LibreOffice_project/520$Build-2</Application>
  <AppVersion>15.0000</AppVersion>
  <Words>1146</Words>
  <Paragraphs>268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2025-07-21T11:58:18Z</dcterms:created>
  <dc:creator>Thomas Evans</dc:creator>
  <dc:description/>
  <dc:language>en-US</dc:language>
  <cp:lastModifiedBy/>
  <cp:lastPrinted>2026-09-22T08:07:53Z</cp:lastPrinted>
  <dcterms:modified xsi:type="dcterms:W3CDTF">2026-09-23T19:12:33Z</dcterms:modified>
  <cp:revision>74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0x010100804A9A38EF1C6344A4E9D5FEC9AF05B5</vt:lpwstr>
  </property>
  <property fmtid="{D5CDD505-2E9C-101B-9397-08002B2CF9AE}" pid="3" name="Notes">
    <vt:i4>3</vt:i4>
  </property>
  <property fmtid="{D5CDD505-2E9C-101B-9397-08002B2CF9AE}" pid="4" name="PresentationFormat">
    <vt:lpwstr>Widescreen</vt:lpwstr>
  </property>
  <property fmtid="{D5CDD505-2E9C-101B-9397-08002B2CF9AE}" pid="5" name="Slides">
    <vt:i4>39</vt:i4>
  </property>
  <property fmtid="{D5CDD505-2E9C-101B-9397-08002B2CF9AE}" pid="6" name="_dlc_DocIdItemGuid">
    <vt:lpwstr>4d3e5825-e8bc-4995-b9ad-4f8ee15e5c87</vt:lpwstr>
  </property>
</Properties>
</file>