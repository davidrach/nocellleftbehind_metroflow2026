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25.png" ContentType="image/png"/>
  <Override PartName="/ppt/media/image25.png" ContentType="image/png"/>
  <Override PartName="/ppt/media/image41.svg" ContentType="image/svg"/>
  <Override PartName="/ppt/media/image123.png" ContentType="image/png"/>
  <Override PartName="/ppt/media/image23.png" ContentType="image/png"/>
  <Override PartName="/ppt/media/image119.png" ContentType="image/png"/>
  <Override PartName="/ppt/media/image118.png" ContentType="image/png"/>
  <Override PartName="/ppt/media/image86.png" ContentType="image/png"/>
  <Override PartName="/ppt/media/image18.png" ContentType="image/png"/>
  <Override PartName="/ppt/media/image134.svg" ContentType="image/svg"/>
  <Override PartName="/ppt/media/image117.png" ContentType="image/png"/>
  <Override PartName="/ppt/media/image17.png" ContentType="image/png"/>
  <Override PartName="/ppt/media/image115.png" ContentType="image/png"/>
  <Override PartName="/ppt/media/image15.png" ContentType="image/png"/>
  <Override PartName="/ppt/media/image111.svg" ContentType="image/svg"/>
  <Override PartName="/ppt/media/image63.png" ContentType="image/png"/>
  <Override PartName="/ppt/media/image163.png" ContentType="image/png"/>
  <Override PartName="/ppt/media/image108.png" ContentType="image/png"/>
  <Override PartName="/ppt/media/image76.png" ContentType="image/png"/>
  <Override PartName="/ppt/media/image124.svg" ContentType="image/svg"/>
  <Override PartName="/ppt/media/image101.svg" ContentType="image/svg"/>
  <Override PartName="/ppt/media/image7.png" ContentType="image/png"/>
  <Override PartName="/ppt/media/image53.png" ContentType="image/png"/>
  <Override PartName="/ppt/media/image153.png" ContentType="image/png"/>
  <Override PartName="/ppt/media/image99.svg" ContentType="image/svg"/>
  <Override PartName="/ppt/media/image98.png" ContentType="image/png"/>
  <Override PartName="/ppt/media/image11.jpeg" ContentType="image/jpeg"/>
  <Override PartName="/ppt/media/image96.png" ContentType="image/png"/>
  <Override PartName="/ppt/media/image28.png" ContentType="image/png"/>
  <Override PartName="/ppt/media/image95.svg" ContentType="image/svg"/>
  <Override PartName="/ppt/media/image93.svg" ContentType="image/svg"/>
  <Override PartName="/ppt/media/image91.svg" ContentType="image/svg"/>
  <Override PartName="/ppt/media/image89.svg" ContentType="image/svg"/>
  <Override PartName="/ppt/media/image160.jpeg" ContentType="image/jpeg"/>
  <Override PartName="/ppt/media/image88.png" ContentType="image/png"/>
  <Override PartName="/ppt/media/image136.svg" ContentType="image/svg"/>
  <Override PartName="/ppt/media/image87.svg" ContentType="image/svg"/>
  <Override PartName="/ppt/media/image19.svg" ContentType="image/svg"/>
  <Override PartName="/ppt/media/image85.svg" ContentType="image/svg"/>
  <Override PartName="/ppt/media/image169.png" ContentType="image/png"/>
  <Override PartName="/ppt/media/image48.png" ContentType="image/png"/>
  <Override PartName="/ppt/media/image148.png" ContentType="image/png"/>
  <Override PartName="/ppt/media/image30.jpeg" ContentType="image/jpeg"/>
  <Override PartName="/ppt/media/image8.jpeg" ContentType="image/jpeg"/>
  <Override PartName="/ppt/media/image151.png" ContentType="image/png"/>
  <Override PartName="/ppt/media/image5.png" ContentType="image/png"/>
  <Override PartName="/ppt/media/image1.png" ContentType="image/png"/>
  <Override PartName="/ppt/media/image57.svg" ContentType="image/svg"/>
  <Override PartName="/ppt/media/image157.svg" ContentType="image/svg"/>
  <Override PartName="/ppt/media/image128.svg" ContentType="image/svg"/>
  <Override PartName="/ppt/media/image36.png" ContentType="image/png"/>
  <Override PartName="/ppt/media/image152.svg" ContentType="image/svg"/>
  <Override PartName="/ppt/media/image60.png" ContentType="image/png"/>
  <Override PartName="/ppt/media/image12.jpeg" ContentType="image/jpeg"/>
  <Override PartName="/ppt/media/image141.png" ContentType="image/png"/>
  <Override PartName="/ppt/media/image2.png" ContentType="image/png"/>
  <Override PartName="/ppt/media/image131.png" ContentType="image/png"/>
  <Override PartName="/ppt/media/image31.png" ContentType="image/png"/>
  <Override PartName="/ppt/media/image37.png" ContentType="image/png"/>
  <Override PartName="/ppt/media/image137.png" ContentType="image/png"/>
  <Override PartName="/ppt/media/image100.png" ContentType="image/png"/>
  <Override PartName="/ppt/media/image6.png" ContentType="image/png"/>
  <Override PartName="/ppt/media/image52.png" ContentType="image/png"/>
  <Override PartName="/ppt/media/image39.png" ContentType="image/png"/>
  <Override PartName="/ppt/media/image55.svg" ContentType="image/svg"/>
  <Override PartName="/ppt/media/image139.png" ContentType="image/png"/>
  <Override PartName="/ppt/media/image143.png" ContentType="image/png"/>
  <Override PartName="/ppt/media/image150.png" ContentType="image/png"/>
  <Override PartName="/ppt/media/image4.png" ContentType="image/png"/>
  <Override PartName="/ppt/media/image50.png" ContentType="image/png"/>
  <Override PartName="/ppt/media/image145.png" ContentType="image/png"/>
  <Override PartName="/ppt/media/image147.png" ContentType="image/png"/>
  <Override PartName="/ppt/media/image44.png" ContentType="image/png"/>
  <Override PartName="/ppt/media/image144.png" ContentType="image/png"/>
  <Override PartName="/ppt/media/image168.svg" ContentType="image/svg"/>
  <Override PartName="/ppt/media/image146.png" ContentType="image/png"/>
  <Override PartName="/ppt/media/image46.png" ContentType="image/png"/>
  <Override PartName="/ppt/media/image38.svg" ContentType="image/svg"/>
  <Override PartName="/ppt/media/image138.svg" ContentType="image/svg"/>
  <Override PartName="/ppt/media/image49.png" ContentType="image/png"/>
  <Override PartName="/ppt/media/image149.png" ContentType="image/png"/>
  <Override PartName="/ppt/media/image170.svg" ContentType="image/svg"/>
  <Override PartName="/ppt/media/image154.png" ContentType="image/png"/>
  <Override PartName="/ppt/media/image54.png" ContentType="image/png"/>
  <Override PartName="/ppt/media/image156.png" ContentType="image/png"/>
  <Override PartName="/ppt/media/image56.png" ContentType="image/png"/>
  <Override PartName="/ppt/media/image13.jpeg" ContentType="image/jpeg"/>
  <Override PartName="/ppt/media/image166.svg" ContentType="image/svg"/>
  <Override PartName="/ppt/media/image42.png" ContentType="image/png"/>
  <Override PartName="/ppt/media/image142.png" ContentType="image/png"/>
  <Override PartName="/ppt/media/image26.png" ContentType="image/png"/>
  <Override PartName="/ppt/media/image94.png" ContentType="image/png"/>
  <Override PartName="/ppt/media/image159.svg" ContentType="image/svg"/>
  <Override PartName="/ppt/media/image40.png" ContentType="image/png"/>
  <Override PartName="/ppt/media/image84.png" ContentType="image/png"/>
  <Override PartName="/ppt/media/image116.png" ContentType="image/png"/>
  <Override PartName="/ppt/media/image16.png" ContentType="image/png"/>
  <Override PartName="/ppt/media/image132.svg" ContentType="image/svg"/>
  <Override PartName="/ppt/media/image79.svg" ContentType="image/svg"/>
  <Override PartName="/ppt/media/image51.svg" ContentType="image/svg"/>
  <Override PartName="/ppt/media/image135.png" ContentType="image/png"/>
  <Override PartName="/ppt/media/image35.png" ContentType="image/png"/>
  <Override PartName="/ppt/media/image32.png" ContentType="image/png"/>
  <Override PartName="/ppt/media/image97.svg" ContentType="image/svg"/>
  <Override PartName="/ppt/media/image33.png" ContentType="image/png"/>
  <Override PartName="/ppt/media/image133.png" ContentType="image/png"/>
  <Override PartName="/ppt/media/image3.svg" ContentType="image/svg"/>
  <Override PartName="/ppt/media/image34.png" ContentType="image/png"/>
  <Override PartName="/ppt/media/image77.svg" ContentType="image/svg"/>
  <Override PartName="/ppt/media/image109.svg" ContentType="image/svg"/>
  <Override PartName="/ppt/media/image20.jpeg" ContentType="image/jpeg"/>
  <Override PartName="/ppt/media/image158.png" ContentType="image/png"/>
  <Override PartName="/ppt/media/image58.png" ContentType="image/png"/>
  <Override PartName="/ppt/media/image74.png" ContentType="image/png"/>
  <Override PartName="/ppt/media/image106.png" ContentType="image/png"/>
  <Override PartName="/ppt/media/image21.png" ContentType="image/png"/>
  <Override PartName="/ppt/media/image107.svg" ContentType="image/svg"/>
  <Override PartName="/ppt/media/image75.svg" ContentType="image/svg"/>
  <Override PartName="/ppt/media/image59.png" ContentType="image/png"/>
  <Override PartName="/ppt/media/image47.svg" ContentType="image/svg"/>
  <Override PartName="/ppt/media/image67.svg" ContentType="image/svg"/>
  <Override PartName="/ppt/media/image69.svg" ContentType="image/svg"/>
  <Override PartName="/ppt/media/image127.png" ContentType="image/png"/>
  <Override PartName="/ppt/media/image43.svg" ContentType="image/svg"/>
  <Override PartName="/ppt/media/image27.png" ContentType="image/png"/>
  <Override PartName="/ppt/media/image92.png" ContentType="image/png"/>
  <Override PartName="/ppt/media/image140.svg" ContentType="image/svg"/>
  <Override PartName="/ppt/media/image24.png" ContentType="image/png"/>
  <Override PartName="/ppt/media/image65.jpeg" ContentType="image/jpeg"/>
  <Override PartName="/ppt/media/image29.png" ContentType="image/png"/>
  <Override PartName="/ppt/media/image129.png" ContentType="image/png"/>
  <Override PartName="/ppt/media/image45.svg" ContentType="image/svg"/>
  <Override PartName="/ppt/media/image161.png" ContentType="image/png"/>
  <Override PartName="/ppt/media/image61.png" ContentType="image/png"/>
  <Override PartName="/ppt/media/image162.png" ContentType="image/png"/>
  <Override PartName="/ppt/media/image62.png" ContentType="image/png"/>
  <Override PartName="/ppt/media/image10.png" ContentType="image/png"/>
  <Override PartName="/ppt/media/image110.png" ContentType="image/png"/>
  <Override PartName="/ppt/media/image164.png" ContentType="image/png"/>
  <Override PartName="/ppt/media/image64.png" ContentType="image/png"/>
  <Override PartName="/ppt/media/image80.png" ContentType="image/png"/>
  <Override PartName="/ppt/media/image112.png" ContentType="image/png"/>
  <Override PartName="/ppt/media/image66.png" ContentType="image/png"/>
  <Override PartName="/ppt/media/image14.png" ContentType="image/png"/>
  <Override PartName="/ppt/media/image82.png" ContentType="image/png"/>
  <Override PartName="/ppt/media/image114.png" ContentType="image/png"/>
  <Override PartName="/ppt/media/image130.svg" ContentType="image/svg"/>
  <Override PartName="/ppt/media/image68.png" ContentType="image/png"/>
  <Override PartName="/ppt/media/image102.png" ContentType="image/png"/>
  <Override PartName="/ppt/media/image70.png" ContentType="image/png"/>
  <Override PartName="/ppt/media/image9.png" ContentType="image/png"/>
  <Override PartName="/ppt/media/image103.svg" ContentType="image/svg"/>
  <Override PartName="/ppt/media/image155.png" ContentType="image/png"/>
  <Override PartName="/ppt/media/image71.svg" ContentType="image/svg"/>
  <Override PartName="/ppt/media/image104.png" ContentType="image/png"/>
  <Override PartName="/ppt/media/image72.png" ContentType="image/png"/>
  <Override PartName="/ppt/media/image120.png" ContentType="image/png"/>
  <Override PartName="/ppt/media/image105.svg" ContentType="image/svg"/>
  <Override PartName="/ppt/media/image73.svg" ContentType="image/svg"/>
  <Override PartName="/ppt/media/image121.svg" ContentType="image/svg"/>
  <Override PartName="/ppt/media/image122.png" ContentType="image/png"/>
  <Override PartName="/ppt/media/image90.png" ContentType="image/png"/>
  <Override PartName="/ppt/media/image22.png" ContentType="image/png"/>
  <Override PartName="/ppt/media/image126.svg" ContentType="image/svg"/>
  <Override PartName="/ppt/media/image78.png" ContentType="image/png"/>
  <Override PartName="/ppt/media/image113.svg" ContentType="image/svg"/>
  <Override PartName="/ppt/media/image165.png" ContentType="image/png"/>
  <Override PartName="/ppt/media/image81.svg" ContentType="image/svg"/>
  <Override PartName="/ppt/media/image167.png" ContentType="image/png"/>
  <Override PartName="/ppt/media/image83.svg" ContentType="image/svg"/>
  <Override PartName="/ppt/slides/_rels/slide44.xml.rels" ContentType="application/vnd.openxmlformats-package.relationships+xml"/>
  <Override PartName="/ppt/slides/_rels/slide43.xml.rels" ContentType="application/vnd.openxmlformats-package.relationships+xml"/>
  <Override PartName="/ppt/slides/_rels/slide42.xml.rels" ContentType="application/vnd.openxmlformats-package.relationships+xml"/>
  <Override PartName="/ppt/slides/_rels/slide41.xml.rels" ContentType="application/vnd.openxmlformats-package.relationships+xml"/>
  <Override PartName="/ppt/slides/_rels/slide40.xml.rels" ContentType="application/vnd.openxmlformats-package.relationships+xml"/>
  <Override PartName="/ppt/slides/_rels/slide39.xml.rels" ContentType="application/vnd.openxmlformats-package.relationships+xml"/>
  <Override PartName="/ppt/slides/_rels/slide38.xml.rels" ContentType="application/vnd.openxmlformats-package.relationships+xml"/>
  <Override PartName="/ppt/slides/_rels/slide37.xml.rels" ContentType="application/vnd.openxmlformats-package.relationships+xml"/>
  <Override PartName="/ppt/slides/_rels/slide67.xml.rels" ContentType="application/vnd.openxmlformats-package.relationships+xml"/>
  <Override PartName="/ppt/slides/_rels/slide30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56.xml.rels" ContentType="application/vnd.openxmlformats-package.relationships+xml"/>
  <Override PartName="/ppt/slides/_rels/slide47.xml.rels" ContentType="application/vnd.openxmlformats-package.relationships+xml"/>
  <Override PartName="/ppt/slides/_rels/slide10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57.xml.rels" ContentType="application/vnd.openxmlformats-package.relationships+xml"/>
  <Override PartName="/ppt/slides/_rels/slide55.xml.rels" ContentType="application/vnd.openxmlformats-package.relationships+xml"/>
  <Override PartName="/ppt/slides/_rels/slide17.xml.rels" ContentType="application/vnd.openxmlformats-package.relationships+xml"/>
  <Override PartName="/ppt/slides/_rels/slide54.xml.rels" ContentType="application/vnd.openxmlformats-package.relationships+xml"/>
  <Override PartName="/ppt/slides/_rels/slide16.xml.rels" ContentType="application/vnd.openxmlformats-package.relationships+xml"/>
  <Override PartName="/ppt/slides/_rels/slide53.xml.rels" ContentType="application/vnd.openxmlformats-package.relationships+xml"/>
  <Override PartName="/ppt/slides/_rels/slide15.xml.rels" ContentType="application/vnd.openxmlformats-package.relationships+xml"/>
  <Override PartName="/ppt/slides/_rels/slide52.xml.rels" ContentType="application/vnd.openxmlformats-package.relationships+xml"/>
  <Override PartName="/ppt/slides/_rels/slide51.xml.rels" ContentType="application/vnd.openxmlformats-package.relationships+xml"/>
  <Override PartName="/ppt/slides/_rels/slide45.xml.rels" ContentType="application/vnd.openxmlformats-package.relationships+xml"/>
  <Override PartName="/ppt/slides/_rels/slide50.xml.rels" ContentType="application/vnd.openxmlformats-package.relationships+xml"/>
  <Override PartName="/ppt/slides/_rels/slide48.xml.rels" ContentType="application/vnd.openxmlformats-package.relationships+xml"/>
  <Override PartName="/ppt/slides/_rels/slide11.xml.rels" ContentType="application/vnd.openxmlformats-package.relationships+xml"/>
  <Override PartName="/ppt/slides/_rels/slide46.xml.rels" ContentType="application/vnd.openxmlformats-package.relationships+xml"/>
  <Override PartName="/ppt/slides/_rels/slide66.xml.rels" ContentType="application/vnd.openxmlformats-package.relationships+xml"/>
  <Override PartName="/ppt/slides/_rels/slide1.xml.rels" ContentType="application/vnd.openxmlformats-package.relationships+xml"/>
  <Override PartName="/ppt/slides/_rels/slide29.xml.rels" ContentType="application/vnd.openxmlformats-package.relationships+xml"/>
  <Override PartName="/ppt/slides/_rels/slide65.xml.rels" ContentType="application/vnd.openxmlformats-package.relationships+xml"/>
  <Override PartName="/ppt/slides/_rels/slide28.xml.rels" ContentType="application/vnd.openxmlformats-package.relationships+xml"/>
  <Override PartName="/ppt/slides/_rels/slide62.xml.rels" ContentType="application/vnd.openxmlformats-package.relationships+xml"/>
  <Override PartName="/ppt/slides/_rels/slide64.xml.rels" ContentType="application/vnd.openxmlformats-package.relationships+xml"/>
  <Override PartName="/ppt/slides/_rels/slide27.xml.rels" ContentType="application/vnd.openxmlformats-package.relationships+xml"/>
  <Override PartName="/ppt/slides/_rels/slide61.xml.rels" ContentType="application/vnd.openxmlformats-package.relationships+xml"/>
  <Override PartName="/ppt/slides/_rels/slide19.xml.rels" ContentType="application/vnd.openxmlformats-package.relationships+xml"/>
  <Override PartName="/ppt/slides/_rels/slide63.xml.rels" ContentType="application/vnd.openxmlformats-package.relationships+xml"/>
  <Override PartName="/ppt/slides/_rels/slide14.xml.rels" ContentType="application/vnd.openxmlformats-package.relationships+xml"/>
  <Override PartName="/ppt/slides/_rels/slide60.xml.rels" ContentType="application/vnd.openxmlformats-package.relationships+xml"/>
  <Override PartName="/ppt/slides/_rels/slide18.xml.rels" ContentType="application/vnd.openxmlformats-package.relationships+xml"/>
  <Override PartName="/ppt/slides/_rels/slide4.xml.rels" ContentType="application/vnd.openxmlformats-package.relationships+xml"/>
  <Override PartName="/ppt/slides/_rels/slide21.xml.rels" ContentType="application/vnd.openxmlformats-package.relationships+xml"/>
  <Override PartName="/ppt/slides/_rels/slide58.xml.rels" ContentType="application/vnd.openxmlformats-package.relationships+xml"/>
  <Override PartName="/ppt/slides/_rels/slide12.xml.rels" ContentType="application/vnd.openxmlformats-package.relationships+xml"/>
  <Override PartName="/ppt/slides/_rels/slide49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59.xml.rels" ContentType="application/vnd.openxmlformats-package.relationships+xml"/>
  <Override PartName="/ppt/slides/_rels/slide13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35.xml.rels" ContentType="application/vnd.openxmlformats-package.relationships+xml"/>
  <Override PartName="/ppt/slides/_rels/slide36.xml.rels" ContentType="application/vnd.openxmlformats-package.relationships+xml"/>
  <Override PartName="/ppt/slides/slide56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52.xml" ContentType="application/vnd.openxmlformats-officedocument.presentationml.slide+xml"/>
  <Override PartName="/ppt/slides/slide51.xml" ContentType="application/vnd.openxmlformats-officedocument.presentationml.slide+xml"/>
  <Override PartName="/ppt/slides/slide50.xml" ContentType="application/vnd.openxmlformats-officedocument.presentationml.slide+xml"/>
  <Override PartName="/ppt/slides/slide45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48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4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4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67.xml" ContentType="application/vnd.openxmlformats-officedocument.presentationml.slide+xml"/>
  <Override PartName="/ppt/slides/slide30.xml" ContentType="application/vnd.openxmlformats-officedocument.presentationml.slide+xml"/>
  <Override PartName="/ppt/slides/slide66.xml" ContentType="application/vnd.openxmlformats-officedocument.presentationml.slide+xml"/>
  <Override PartName="/ppt/slides/slide29.xml" ContentType="application/vnd.openxmlformats-officedocument.presentationml.slide+xml"/>
  <Override PartName="/ppt/slides/slide65.xml" ContentType="application/vnd.openxmlformats-officedocument.presentationml.slide+xml"/>
  <Override PartName="/ppt/slides/slide28.xml" ContentType="application/vnd.openxmlformats-officedocument.presentationml.slide+xml"/>
  <Override PartName="/ppt/slides/slide62.xml" ContentType="application/vnd.openxmlformats-officedocument.presentationml.slide+xml"/>
  <Override PartName="/ppt/slides/slide64.xml" ContentType="application/vnd.openxmlformats-officedocument.presentationml.slide+xml"/>
  <Override PartName="/ppt/slides/slide27.xml" ContentType="application/vnd.openxmlformats-officedocument.presentationml.slide+xml"/>
  <Override PartName="/ppt/slides/slide61.xml" ContentType="application/vnd.openxmlformats-officedocument.presentationml.slide+xml"/>
  <Override PartName="/ppt/slides/slide19.xml" ContentType="application/vnd.openxmlformats-officedocument.presentationml.slide+xml"/>
  <Override PartName="/ppt/slides/slide63.xml" ContentType="application/vnd.openxmlformats-officedocument.presentationml.slide+xml"/>
  <Override PartName="/ppt/slides/slide26.xml" ContentType="application/vnd.openxmlformats-officedocument.presentationml.slide+xml"/>
  <Override PartName="/ppt/slides/slide60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49.xml" ContentType="application/vnd.openxmlformats-officedocument.presentationml.slide+xml"/>
  <Override PartName="/ppt/slides/slide21.xml" ContentType="application/vnd.openxmlformats-officedocument.presentationml.slide+xml"/>
  <Override PartName="/ppt/slides/slide58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59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Slides/_rels/notesSlide66.xml.rels" ContentType="application/vnd.openxmlformats-package.relationships+xml"/>
  <Override PartName="/ppt/notesSlides/_rels/notesSlide42.xml.rels" ContentType="application/vnd.openxmlformats-package.relationships+xml"/>
  <Override PartName="/ppt/notesSlides/_rels/notesSlide41.xml.rels" ContentType="application/vnd.openxmlformats-package.relationships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6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3" r:id="rId4"/>
    <p:sldMasterId id="2147483658" r:id="rId5"/>
    <p:sldMasterId id="2147483660" r:id="rId6"/>
    <p:sldMasterId id="2147483662" r:id="rId7"/>
    <p:sldMasterId id="2147483664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06" r:id="rId60"/>
    <p:sldId id="307" r:id="rId61"/>
    <p:sldId id="308" r:id="rId62"/>
    <p:sldId id="309" r:id="rId63"/>
    <p:sldId id="310" r:id="rId64"/>
    <p:sldId id="311" r:id="rId65"/>
    <p:sldId id="312" r:id="rId66"/>
    <p:sldId id="313" r:id="rId67"/>
    <p:sldId id="314" r:id="rId68"/>
    <p:sldId id="315" r:id="rId69"/>
    <p:sldId id="316" r:id="rId70"/>
    <p:sldId id="317" r:id="rId71"/>
    <p:sldId id="318" r:id="rId72"/>
    <p:sldId id="319" r:id="rId73"/>
    <p:sldId id="320" r:id="rId74"/>
    <p:sldId id="321" r:id="rId75"/>
    <p:sldId id="322" r:id="rId76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6.xml"/><Relationship Id="rId6" Type="http://schemas.openxmlformats.org/officeDocument/2006/relationships/slideMaster" Target="slideMasters/slideMaster7.xml"/><Relationship Id="rId7" Type="http://schemas.openxmlformats.org/officeDocument/2006/relationships/slideMaster" Target="slideMasters/slideMaster8.xml"/><Relationship Id="rId8" Type="http://schemas.openxmlformats.org/officeDocument/2006/relationships/slideMaster" Target="slideMasters/slideMaster9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slide" Target="slides/slide44.xml"/><Relationship Id="rId54" Type="http://schemas.openxmlformats.org/officeDocument/2006/relationships/slide" Target="slides/slide45.xml"/><Relationship Id="rId55" Type="http://schemas.openxmlformats.org/officeDocument/2006/relationships/slide" Target="slides/slide46.xml"/><Relationship Id="rId56" Type="http://schemas.openxmlformats.org/officeDocument/2006/relationships/slide" Target="slides/slide47.xml"/><Relationship Id="rId57" Type="http://schemas.openxmlformats.org/officeDocument/2006/relationships/slide" Target="slides/slide48.xml"/><Relationship Id="rId58" Type="http://schemas.openxmlformats.org/officeDocument/2006/relationships/slide" Target="slides/slide49.xml"/><Relationship Id="rId59" Type="http://schemas.openxmlformats.org/officeDocument/2006/relationships/slide" Target="slides/slide50.xml"/><Relationship Id="rId60" Type="http://schemas.openxmlformats.org/officeDocument/2006/relationships/slide" Target="slides/slide51.xml"/><Relationship Id="rId61" Type="http://schemas.openxmlformats.org/officeDocument/2006/relationships/slide" Target="slides/slide52.xml"/><Relationship Id="rId62" Type="http://schemas.openxmlformats.org/officeDocument/2006/relationships/slide" Target="slides/slide53.xml"/><Relationship Id="rId63" Type="http://schemas.openxmlformats.org/officeDocument/2006/relationships/slide" Target="slides/slide54.xml"/><Relationship Id="rId64" Type="http://schemas.openxmlformats.org/officeDocument/2006/relationships/slide" Target="slides/slide55.xml"/><Relationship Id="rId65" Type="http://schemas.openxmlformats.org/officeDocument/2006/relationships/slide" Target="slides/slide56.xml"/><Relationship Id="rId66" Type="http://schemas.openxmlformats.org/officeDocument/2006/relationships/slide" Target="slides/slide57.xml"/><Relationship Id="rId67" Type="http://schemas.openxmlformats.org/officeDocument/2006/relationships/slide" Target="slides/slide58.xml"/><Relationship Id="rId68" Type="http://schemas.openxmlformats.org/officeDocument/2006/relationships/slide" Target="slides/slide59.xml"/><Relationship Id="rId69" Type="http://schemas.openxmlformats.org/officeDocument/2006/relationships/slide" Target="slides/slide60.xml"/><Relationship Id="rId70" Type="http://schemas.openxmlformats.org/officeDocument/2006/relationships/slide" Target="slides/slide61.xml"/><Relationship Id="rId71" Type="http://schemas.openxmlformats.org/officeDocument/2006/relationships/slide" Target="slides/slide62.xml"/><Relationship Id="rId72" Type="http://schemas.openxmlformats.org/officeDocument/2006/relationships/slide" Target="slides/slide63.xml"/><Relationship Id="rId73" Type="http://schemas.openxmlformats.org/officeDocument/2006/relationships/slide" Target="slides/slide64.xml"/><Relationship Id="rId74" Type="http://schemas.openxmlformats.org/officeDocument/2006/relationships/slide" Target="slides/slide65.xml"/><Relationship Id="rId75" Type="http://schemas.openxmlformats.org/officeDocument/2006/relationships/slide" Target="slides/slide66.xml"/><Relationship Id="rId76" Type="http://schemas.openxmlformats.org/officeDocument/2006/relationships/slide" Target="slides/slide67.xml"/><Relationship Id="rId7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7F26C88-43EE-4728-92D2-68800305B3C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66.xml.rels><?xml version="1.0" encoding="UTF-8"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
</Relationship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PlaceHolder 1"/>
          <p:cNvSpPr>
            <a:spLocks noGrp="1"/>
          </p:cNvSpPr>
          <p:nvPr>
            <p:ph type="sldImg"/>
          </p:nvPr>
        </p:nvSpPr>
        <p:spPr>
          <a:xfrm>
            <a:off x="870120" y="1257480"/>
            <a:ext cx="6031080" cy="3392640"/>
          </a:xfrm>
          <a:prstGeom prst="rect">
            <a:avLst/>
          </a:prstGeom>
          <a:ln w="0">
            <a:noFill/>
          </a:ln>
        </p:spPr>
      </p:sp>
      <p:sp>
        <p:nvSpPr>
          <p:cNvPr id="820" name="PlaceHolder 2"/>
          <p:cNvSpPr>
            <a:spLocks noGrp="1"/>
          </p:cNvSpPr>
          <p:nvPr>
            <p:ph type="body"/>
          </p:nvPr>
        </p:nvSpPr>
        <p:spPr>
          <a:xfrm>
            <a:off x="777960" y="4840200"/>
            <a:ext cx="6215040" cy="39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PlaceHolder 3"/>
          <p:cNvSpPr>
            <a:spLocks noGrp="1"/>
          </p:cNvSpPr>
          <p:nvPr>
            <p:ph type="sldNum" idx="37"/>
          </p:nvPr>
        </p:nvSpPr>
        <p:spPr>
          <a:xfrm>
            <a:off x="4402080" y="9553680"/>
            <a:ext cx="3367080" cy="50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DB3BF74-9498-478D-9879-86086A0E5589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PlaceHolder 1"/>
          <p:cNvSpPr>
            <a:spLocks noGrp="1"/>
          </p:cNvSpPr>
          <p:nvPr>
            <p:ph type="sldImg"/>
          </p:nvPr>
        </p:nvSpPr>
        <p:spPr>
          <a:xfrm>
            <a:off x="870120" y="1257480"/>
            <a:ext cx="6031080" cy="3392640"/>
          </a:xfrm>
          <a:prstGeom prst="rect">
            <a:avLst/>
          </a:prstGeom>
          <a:ln w="0">
            <a:noFill/>
          </a:ln>
        </p:spPr>
      </p:sp>
      <p:sp>
        <p:nvSpPr>
          <p:cNvPr id="823" name="PlaceHolder 2"/>
          <p:cNvSpPr>
            <a:spLocks noGrp="1"/>
          </p:cNvSpPr>
          <p:nvPr>
            <p:ph type="body"/>
          </p:nvPr>
        </p:nvSpPr>
        <p:spPr>
          <a:xfrm>
            <a:off x="777960" y="4840200"/>
            <a:ext cx="6215040" cy="39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PlaceHolder 3"/>
          <p:cNvSpPr>
            <a:spLocks noGrp="1"/>
          </p:cNvSpPr>
          <p:nvPr>
            <p:ph type="sldNum" idx="38"/>
          </p:nvPr>
        </p:nvSpPr>
        <p:spPr>
          <a:xfrm>
            <a:off x="4402080" y="9553680"/>
            <a:ext cx="3367080" cy="50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FEE5A7C-935F-498D-8297-746BDB49D58B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PlaceHolder 1"/>
          <p:cNvSpPr>
            <a:spLocks noGrp="1"/>
          </p:cNvSpPr>
          <p:nvPr>
            <p:ph type="sldImg"/>
          </p:nvPr>
        </p:nvSpPr>
        <p:spPr>
          <a:xfrm>
            <a:off x="870120" y="1257480"/>
            <a:ext cx="6026040" cy="3387600"/>
          </a:xfrm>
          <a:prstGeom prst="rect">
            <a:avLst/>
          </a:prstGeom>
          <a:ln w="0">
            <a:noFill/>
          </a:ln>
        </p:spPr>
      </p:sp>
      <p:sp>
        <p:nvSpPr>
          <p:cNvPr id="826" name="PlaceHolder 2"/>
          <p:cNvSpPr>
            <a:spLocks noGrp="1"/>
          </p:cNvSpPr>
          <p:nvPr>
            <p:ph type="body"/>
          </p:nvPr>
        </p:nvSpPr>
        <p:spPr>
          <a:xfrm>
            <a:off x="777960" y="4840200"/>
            <a:ext cx="6210000" cy="39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7" name="PlaceHolder 3"/>
          <p:cNvSpPr>
            <a:spLocks noGrp="1"/>
          </p:cNvSpPr>
          <p:nvPr>
            <p:ph type="sldNum" idx="39"/>
          </p:nvPr>
        </p:nvSpPr>
        <p:spPr>
          <a:xfrm>
            <a:off x="4402080" y="9553680"/>
            <a:ext cx="336204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5BD358F-2DDB-438E-87EE-C2A1A9E1558D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Master1-Office-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8080" y="712800"/>
            <a:ext cx="105120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6200" cy="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626760" y="1604520"/>
            <a:ext cx="16200" cy="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/>
          </p:nvPr>
        </p:nvSpPr>
        <p:spPr>
          <a:xfrm>
            <a:off x="609480" y="1609200"/>
            <a:ext cx="16200" cy="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/>
          </p:nvPr>
        </p:nvSpPr>
        <p:spPr>
          <a:xfrm>
            <a:off x="626760" y="1609200"/>
            <a:ext cx="16200" cy="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4155877-7AC0-40D2-8F64-1EA29F12CD8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Master1-Layout1-title-Title-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8080" y="889920"/>
            <a:ext cx="10512000" cy="27468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0680" cy="18932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0680" cy="18932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0680" cy="18932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0680" cy="18932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7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5E8FC66-6CA8-4B33-A07C-1F31C9D79AC5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8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8080" y="889920"/>
            <a:ext cx="10512000" cy="27468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29440" cy="18932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29440" cy="18932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29440" cy="18932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29440" cy="18932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29440" cy="18932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29440" cy="189324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8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9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E0BB275-E723-46D1-ABEB-D094DE0B4E68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10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Master1-Layout2-obj-Title-and-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888120"/>
            <a:ext cx="105120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70200" cy="2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5DF00B7-4181-4C64-8AF9-C3B328BA394F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8080" y="888120"/>
            <a:ext cx="105120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3480" cy="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46200" y="1604520"/>
            <a:ext cx="33480" cy="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609480" y="1616040"/>
            <a:ext cx="33480" cy="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46200" y="1616040"/>
            <a:ext cx="33480" cy="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A556A54-901B-4BF9-838A-6C07A13B0887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8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888120"/>
            <a:ext cx="105120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3480" cy="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646200" y="1604520"/>
            <a:ext cx="33480" cy="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609480" y="1616040"/>
            <a:ext cx="33480" cy="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646200" y="1616040"/>
            <a:ext cx="33480" cy="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E625F73-F47C-427D-9E25-561667E28B37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8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8080" y="888120"/>
            <a:ext cx="105120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3480" cy="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46200" y="1604520"/>
            <a:ext cx="33480" cy="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609480" y="1616040"/>
            <a:ext cx="33480" cy="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646200" y="1616040"/>
            <a:ext cx="33480" cy="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7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359124B-0C27-4FC4-B13F-216BF6137940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8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Master1-Layout2-obj-Title-and-Conten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712800"/>
            <a:ext cx="105120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6200" cy="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626760" y="1604520"/>
            <a:ext cx="16200" cy="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609480" y="1609200"/>
            <a:ext cx="16200" cy="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/>
          </p:nvPr>
        </p:nvSpPr>
        <p:spPr>
          <a:xfrm>
            <a:off x="626760" y="1609200"/>
            <a:ext cx="16200" cy="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53854597-416A-443F-B60B-6E344349D5B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38080" y="712800"/>
            <a:ext cx="105120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subTitle"/>
          </p:nvPr>
        </p:nvSpPr>
        <p:spPr>
          <a:xfrm>
            <a:off x="609480" y="-2265120"/>
            <a:ext cx="33480" cy="774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FBD49D1D-B842-45C9-A4B7-A15BB770AC1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712800"/>
            <a:ext cx="105120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3480" cy="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AA8EA4F6-DA17-4832-88CE-501CD1225C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5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838080" y="712800"/>
            <a:ext cx="105120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ubTitle"/>
          </p:nvPr>
        </p:nvSpPr>
        <p:spPr>
          <a:xfrm>
            <a:off x="609480" y="-2265120"/>
            <a:ext cx="33480" cy="774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80AC1574-CA98-4B61-963A-BE0CFB46C4A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8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9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10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887760"/>
            <a:ext cx="105120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5840" cy="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26760" y="1604520"/>
            <a:ext cx="15840" cy="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609480" y="1609560"/>
            <a:ext cx="15840" cy="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26760" y="1609560"/>
            <a:ext cx="15840" cy="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7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1287217-D61B-4688-8F17-06770C6FED6D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8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  <p:sldLayoutId id="2147483655" r:id="rId3"/>
    <p:sldLayoutId id="2147483656" r:id="rId4"/>
    <p:sldLayoutId id="2147483657" r:id="rId5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8080" y="887760"/>
            <a:ext cx="105120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5840" cy="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626760" y="1604520"/>
            <a:ext cx="15840" cy="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09480" y="1609560"/>
            <a:ext cx="15840" cy="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626760" y="1609560"/>
            <a:ext cx="15840" cy="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07600" cy="3578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7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36000" cy="3578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1D87276-DA8F-40B5-834F-8FC46C26CC8E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8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36000" cy="3578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838080" y="887760"/>
            <a:ext cx="105120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ftr" idx="25"/>
          </p:nvPr>
        </p:nvSpPr>
        <p:spPr>
          <a:xfrm>
            <a:off x="3447360" y="5165280"/>
            <a:ext cx="3189960" cy="38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sldNum" idx="26"/>
          </p:nvPr>
        </p:nvSpPr>
        <p:spPr>
          <a:xfrm>
            <a:off x="7227360" y="5165280"/>
            <a:ext cx="2343240" cy="38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D6FF46B-5198-4B3F-8332-89BE4D818C5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dt" idx="27"/>
          </p:nvPr>
        </p:nvSpPr>
        <p:spPr>
          <a:xfrm>
            <a:off x="504000" y="5165280"/>
            <a:ext cx="2343240" cy="38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38080" y="887760"/>
            <a:ext cx="105120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3480" cy="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07600" cy="3578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36000" cy="3578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F53A73E-81FD-48D3-B253-E0AD54B01A46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36000" cy="3578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676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ftr" idx="31"/>
          </p:nvPr>
        </p:nvSpPr>
        <p:spPr>
          <a:xfrm>
            <a:off x="3447360" y="5165280"/>
            <a:ext cx="3191040" cy="38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32"/>
          </p:nvPr>
        </p:nvSpPr>
        <p:spPr>
          <a:xfrm>
            <a:off x="7227360" y="5165280"/>
            <a:ext cx="2344320" cy="38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2FB01A7-0E54-4FAB-B7E8-A9FEB4B0D6E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dt" idx="33"/>
          </p:nvPr>
        </p:nvSpPr>
        <p:spPr>
          <a:xfrm>
            <a:off x="504000" y="5165280"/>
            <a:ext cx="2344320" cy="38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1.jpe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1.jpe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2.jpe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2.jpe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8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8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8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8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5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svg"/><Relationship Id="rId6" Type="http://schemas.openxmlformats.org/officeDocument/2006/relationships/slideLayout" Target="../slideLayouts/slideLayout1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0.jpe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7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7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7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7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7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1.png"/><Relationship Id="rId3" Type="http://schemas.openxmlformats.org/officeDocument/2006/relationships/image" Target="../media/image30.jpe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slideLayout" Target="../slideLayouts/slideLayout1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37.png"/><Relationship Id="rId3" Type="http://schemas.openxmlformats.org/officeDocument/2006/relationships/image" Target="../media/image38.sv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7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8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40.png"/><Relationship Id="rId3" Type="http://schemas.openxmlformats.org/officeDocument/2006/relationships/image" Target="../media/image41.svg"/><Relationship Id="rId4" Type="http://schemas.openxmlformats.org/officeDocument/2006/relationships/image" Target="../media/image42.png"/><Relationship Id="rId5" Type="http://schemas.openxmlformats.org/officeDocument/2006/relationships/image" Target="../media/image43.svg"/><Relationship Id="rId6" Type="http://schemas.openxmlformats.org/officeDocument/2006/relationships/image" Target="../media/image44.png"/><Relationship Id="rId7" Type="http://schemas.openxmlformats.org/officeDocument/2006/relationships/image" Target="../media/image45.svg"/><Relationship Id="rId8" Type="http://schemas.openxmlformats.org/officeDocument/2006/relationships/image" Target="../media/image46.png"/><Relationship Id="rId9" Type="http://schemas.openxmlformats.org/officeDocument/2006/relationships/image" Target="../media/image47.svg"/><Relationship Id="rId10" Type="http://schemas.openxmlformats.org/officeDocument/2006/relationships/image" Target="../media/image1.png"/><Relationship Id="rId11" Type="http://schemas.openxmlformats.org/officeDocument/2006/relationships/image" Target="../media/image7.png"/><Relationship Id="rId12" Type="http://schemas.openxmlformats.org/officeDocument/2006/relationships/slideLayout" Target="../slideLayouts/slideLayout7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8.png"/><Relationship Id="rId3" Type="http://schemas.openxmlformats.org/officeDocument/2006/relationships/image" Target="../media/image33.png"/><Relationship Id="rId4" Type="http://schemas.openxmlformats.org/officeDocument/2006/relationships/slideLayout" Target="../slideLayouts/slideLayout8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svg"/><Relationship Id="rId5" Type="http://schemas.openxmlformats.org/officeDocument/2006/relationships/image" Target="../media/image52.png"/><Relationship Id="rId6" Type="http://schemas.openxmlformats.org/officeDocument/2006/relationships/slideLayout" Target="../slideLayouts/slideLayout8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3.png"/><Relationship Id="rId3" Type="http://schemas.openxmlformats.org/officeDocument/2006/relationships/slideLayout" Target="../slideLayouts/slideLayout8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54.png"/><Relationship Id="rId3" Type="http://schemas.openxmlformats.org/officeDocument/2006/relationships/image" Target="../media/image55.svg"/><Relationship Id="rId4" Type="http://schemas.openxmlformats.org/officeDocument/2006/relationships/image" Target="../media/image56.png"/><Relationship Id="rId5" Type="http://schemas.openxmlformats.org/officeDocument/2006/relationships/image" Target="../media/image57.svg"/><Relationship Id="rId6" Type="http://schemas.openxmlformats.org/officeDocument/2006/relationships/image" Target="../media/image1.png"/><Relationship Id="rId7" Type="http://schemas.openxmlformats.org/officeDocument/2006/relationships/image" Target="../media/image7.png"/><Relationship Id="rId8" Type="http://schemas.openxmlformats.org/officeDocument/2006/relationships/slideLayout" Target="../slideLayouts/slideLayout7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image" Target="../media/image58.png"/><Relationship Id="rId3" Type="http://schemas.openxmlformats.org/officeDocument/2006/relationships/image" Target="../media/image54.png"/><Relationship Id="rId4" Type="http://schemas.openxmlformats.org/officeDocument/2006/relationships/image" Target="../media/image55.sv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slideLayout" Target="../slideLayouts/slideLayout7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slideLayout" Target="../slideLayouts/slideLayout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62.png"/><Relationship Id="rId2" Type="http://schemas.openxmlformats.org/officeDocument/2006/relationships/image" Target="../media/image63.pn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64.png"/><Relationship Id="rId6" Type="http://schemas.openxmlformats.org/officeDocument/2006/relationships/slideLayout" Target="../slideLayouts/slideLayout8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60.png"/><Relationship Id="rId3" Type="http://schemas.openxmlformats.org/officeDocument/2006/relationships/image" Target="../media/image65.jpeg"/><Relationship Id="rId4" Type="http://schemas.openxmlformats.org/officeDocument/2006/relationships/slideLayout" Target="../slideLayouts/slideLayout8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66.png"/><Relationship Id="rId3" Type="http://schemas.openxmlformats.org/officeDocument/2006/relationships/image" Target="../media/image67.svg"/><Relationship Id="rId4" Type="http://schemas.openxmlformats.org/officeDocument/2006/relationships/image" Target="../media/image68.png"/><Relationship Id="rId5" Type="http://schemas.openxmlformats.org/officeDocument/2006/relationships/image" Target="../media/image69.svg"/><Relationship Id="rId6" Type="http://schemas.openxmlformats.org/officeDocument/2006/relationships/image" Target="../media/image70.png"/><Relationship Id="rId7" Type="http://schemas.openxmlformats.org/officeDocument/2006/relationships/image" Target="../media/image71.svg"/><Relationship Id="rId8" Type="http://schemas.openxmlformats.org/officeDocument/2006/relationships/image" Target="../media/image72.png"/><Relationship Id="rId9" Type="http://schemas.openxmlformats.org/officeDocument/2006/relationships/image" Target="../media/image73.svg"/><Relationship Id="rId10" Type="http://schemas.openxmlformats.org/officeDocument/2006/relationships/image" Target="../media/image1.png"/><Relationship Id="rId11" Type="http://schemas.openxmlformats.org/officeDocument/2006/relationships/image" Target="../media/image7.png"/><Relationship Id="rId12" Type="http://schemas.openxmlformats.org/officeDocument/2006/relationships/slideLayout" Target="../slideLayouts/slideLayout7.xml"/><Relationship Id="rId13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74.png"/><Relationship Id="rId2" Type="http://schemas.openxmlformats.org/officeDocument/2006/relationships/image" Target="../media/image75.svg"/><Relationship Id="rId3" Type="http://schemas.openxmlformats.org/officeDocument/2006/relationships/image" Target="../media/image39.png"/><Relationship Id="rId4" Type="http://schemas.openxmlformats.org/officeDocument/2006/relationships/image" Target="../media/image76.png"/><Relationship Id="rId5" Type="http://schemas.openxmlformats.org/officeDocument/2006/relationships/image" Target="../media/image77.svg"/><Relationship Id="rId6" Type="http://schemas.openxmlformats.org/officeDocument/2006/relationships/image" Target="../media/image78.png"/><Relationship Id="rId7" Type="http://schemas.openxmlformats.org/officeDocument/2006/relationships/image" Target="../media/image79.svg"/><Relationship Id="rId8" Type="http://schemas.openxmlformats.org/officeDocument/2006/relationships/image" Target="../media/image80.png"/><Relationship Id="rId9" Type="http://schemas.openxmlformats.org/officeDocument/2006/relationships/image" Target="../media/image81.svg"/><Relationship Id="rId10" Type="http://schemas.openxmlformats.org/officeDocument/2006/relationships/image" Target="../media/image82.png"/><Relationship Id="rId11" Type="http://schemas.openxmlformats.org/officeDocument/2006/relationships/image" Target="../media/image83.svg"/><Relationship Id="rId12" Type="http://schemas.openxmlformats.org/officeDocument/2006/relationships/image" Target="../media/image1.png"/><Relationship Id="rId13" Type="http://schemas.openxmlformats.org/officeDocument/2006/relationships/image" Target="../media/image7.png"/><Relationship Id="rId14" Type="http://schemas.openxmlformats.org/officeDocument/2006/relationships/slideLayout" Target="../slideLayouts/slideLayout7.xml"/><Relationship Id="rId15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84.png"/><Relationship Id="rId3" Type="http://schemas.openxmlformats.org/officeDocument/2006/relationships/image" Target="../media/image85.svg"/><Relationship Id="rId4" Type="http://schemas.openxmlformats.org/officeDocument/2006/relationships/image" Target="../media/image86.png"/><Relationship Id="rId5" Type="http://schemas.openxmlformats.org/officeDocument/2006/relationships/image" Target="../media/image87.svg"/><Relationship Id="rId6" Type="http://schemas.openxmlformats.org/officeDocument/2006/relationships/image" Target="../media/image88.png"/><Relationship Id="rId7" Type="http://schemas.openxmlformats.org/officeDocument/2006/relationships/image" Target="../media/image89.svg"/><Relationship Id="rId8" Type="http://schemas.openxmlformats.org/officeDocument/2006/relationships/image" Target="../media/image90.png"/><Relationship Id="rId9" Type="http://schemas.openxmlformats.org/officeDocument/2006/relationships/image" Target="../media/image91.svg"/><Relationship Id="rId10" Type="http://schemas.openxmlformats.org/officeDocument/2006/relationships/image" Target="../media/image92.png"/><Relationship Id="rId11" Type="http://schemas.openxmlformats.org/officeDocument/2006/relationships/image" Target="../media/image93.svg"/><Relationship Id="rId12" Type="http://schemas.openxmlformats.org/officeDocument/2006/relationships/image" Target="../media/image94.png"/><Relationship Id="rId13" Type="http://schemas.openxmlformats.org/officeDocument/2006/relationships/image" Target="../media/image95.svg"/><Relationship Id="rId14" Type="http://schemas.openxmlformats.org/officeDocument/2006/relationships/image" Target="../media/image1.png"/><Relationship Id="rId15" Type="http://schemas.openxmlformats.org/officeDocument/2006/relationships/image" Target="../media/image7.png"/><Relationship Id="rId16" Type="http://schemas.openxmlformats.org/officeDocument/2006/relationships/slideLayout" Target="../slideLayouts/slideLayout7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96.png"/><Relationship Id="rId3" Type="http://schemas.openxmlformats.org/officeDocument/2006/relationships/image" Target="../media/image97.svg"/><Relationship Id="rId4" Type="http://schemas.openxmlformats.org/officeDocument/2006/relationships/image" Target="../media/image98.png"/><Relationship Id="rId5" Type="http://schemas.openxmlformats.org/officeDocument/2006/relationships/image" Target="../media/image99.svg"/><Relationship Id="rId6" Type="http://schemas.openxmlformats.org/officeDocument/2006/relationships/image" Target="../media/image100.png"/><Relationship Id="rId7" Type="http://schemas.openxmlformats.org/officeDocument/2006/relationships/image" Target="../media/image101.svg"/><Relationship Id="rId8" Type="http://schemas.openxmlformats.org/officeDocument/2006/relationships/image" Target="../media/image102.png"/><Relationship Id="rId9" Type="http://schemas.openxmlformats.org/officeDocument/2006/relationships/image" Target="../media/image103.svg"/><Relationship Id="rId10" Type="http://schemas.openxmlformats.org/officeDocument/2006/relationships/image" Target="../media/image104.png"/><Relationship Id="rId11" Type="http://schemas.openxmlformats.org/officeDocument/2006/relationships/image" Target="../media/image105.svg"/><Relationship Id="rId12" Type="http://schemas.openxmlformats.org/officeDocument/2006/relationships/image" Target="../media/image1.png"/><Relationship Id="rId13" Type="http://schemas.openxmlformats.org/officeDocument/2006/relationships/image" Target="../media/image7.png"/><Relationship Id="rId14" Type="http://schemas.openxmlformats.org/officeDocument/2006/relationships/slideLayout" Target="../slideLayouts/slideLayout7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106.png"/><Relationship Id="rId3" Type="http://schemas.openxmlformats.org/officeDocument/2006/relationships/image" Target="../media/image107.svg"/><Relationship Id="rId4" Type="http://schemas.openxmlformats.org/officeDocument/2006/relationships/image" Target="../media/image108.png"/><Relationship Id="rId5" Type="http://schemas.openxmlformats.org/officeDocument/2006/relationships/image" Target="../media/image109.svg"/><Relationship Id="rId6" Type="http://schemas.openxmlformats.org/officeDocument/2006/relationships/image" Target="../media/image110.png"/><Relationship Id="rId7" Type="http://schemas.openxmlformats.org/officeDocument/2006/relationships/image" Target="../media/image111.svg"/><Relationship Id="rId8" Type="http://schemas.openxmlformats.org/officeDocument/2006/relationships/image" Target="../media/image112.png"/><Relationship Id="rId9" Type="http://schemas.openxmlformats.org/officeDocument/2006/relationships/image" Target="../media/image113.svg"/><Relationship Id="rId10" Type="http://schemas.openxmlformats.org/officeDocument/2006/relationships/image" Target="../media/image1.png"/><Relationship Id="rId11" Type="http://schemas.openxmlformats.org/officeDocument/2006/relationships/image" Target="../media/image7.png"/><Relationship Id="rId12" Type="http://schemas.openxmlformats.org/officeDocument/2006/relationships/slideLayout" Target="../slideLayouts/slideLayout7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106.png"/><Relationship Id="rId3" Type="http://schemas.openxmlformats.org/officeDocument/2006/relationships/image" Target="../media/image107.svg"/><Relationship Id="rId4" Type="http://schemas.openxmlformats.org/officeDocument/2006/relationships/image" Target="../media/image108.png"/><Relationship Id="rId5" Type="http://schemas.openxmlformats.org/officeDocument/2006/relationships/image" Target="../media/image109.svg"/><Relationship Id="rId6" Type="http://schemas.openxmlformats.org/officeDocument/2006/relationships/image" Target="../media/image110.png"/><Relationship Id="rId7" Type="http://schemas.openxmlformats.org/officeDocument/2006/relationships/image" Target="../media/image111.svg"/><Relationship Id="rId8" Type="http://schemas.openxmlformats.org/officeDocument/2006/relationships/image" Target="../media/image112.png"/><Relationship Id="rId9" Type="http://schemas.openxmlformats.org/officeDocument/2006/relationships/image" Target="../media/image113.svg"/><Relationship Id="rId10" Type="http://schemas.openxmlformats.org/officeDocument/2006/relationships/image" Target="../media/image1.png"/><Relationship Id="rId11" Type="http://schemas.openxmlformats.org/officeDocument/2006/relationships/image" Target="../media/image7.png"/><Relationship Id="rId12" Type="http://schemas.openxmlformats.org/officeDocument/2006/relationships/slideLayout" Target="../slideLayouts/slideLayout7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114.png"/><Relationship Id="rId2" Type="http://schemas.openxmlformats.org/officeDocument/2006/relationships/image" Target="../media/image114.png"/><Relationship Id="rId3" Type="http://schemas.openxmlformats.org/officeDocument/2006/relationships/image" Target="../media/image106.png"/><Relationship Id="rId4" Type="http://schemas.openxmlformats.org/officeDocument/2006/relationships/image" Target="../media/image107.sv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slideLayout" Target="../slideLayouts/slideLayout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115.png"/><Relationship Id="rId2" Type="http://schemas.openxmlformats.org/officeDocument/2006/relationships/image" Target="../media/image14.pn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7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115.png"/><Relationship Id="rId2" Type="http://schemas.openxmlformats.org/officeDocument/2006/relationships/image" Target="../media/image1.png"/><Relationship Id="rId3" Type="http://schemas.openxmlformats.org/officeDocument/2006/relationships/image" Target="../media/image11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7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115.png"/><Relationship Id="rId2" Type="http://schemas.openxmlformats.org/officeDocument/2006/relationships/image" Target="../media/image117.png"/><Relationship Id="rId3" Type="http://schemas.openxmlformats.org/officeDocument/2006/relationships/image" Target="../media/image118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7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7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119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7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120.png"/><Relationship Id="rId3" Type="http://schemas.openxmlformats.org/officeDocument/2006/relationships/image" Target="../media/image121.svg"/><Relationship Id="rId4" Type="http://schemas.openxmlformats.org/officeDocument/2006/relationships/image" Target="../media/image122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slideLayout" Target="../slideLayouts/slideLayout7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123.png"/><Relationship Id="rId3" Type="http://schemas.openxmlformats.org/officeDocument/2006/relationships/image" Target="../media/image124.svg"/><Relationship Id="rId4" Type="http://schemas.openxmlformats.org/officeDocument/2006/relationships/image" Target="../media/image125.png"/><Relationship Id="rId5" Type="http://schemas.openxmlformats.org/officeDocument/2006/relationships/image" Target="../media/image126.svg"/><Relationship Id="rId6" Type="http://schemas.openxmlformats.org/officeDocument/2006/relationships/image" Target="../media/image127.png"/><Relationship Id="rId7" Type="http://schemas.openxmlformats.org/officeDocument/2006/relationships/image" Target="../media/image128.svg"/><Relationship Id="rId8" Type="http://schemas.openxmlformats.org/officeDocument/2006/relationships/image" Target="../media/image129.png"/><Relationship Id="rId9" Type="http://schemas.openxmlformats.org/officeDocument/2006/relationships/image" Target="../media/image130.svg"/><Relationship Id="rId10" Type="http://schemas.openxmlformats.org/officeDocument/2006/relationships/image" Target="../media/image1.png"/><Relationship Id="rId11" Type="http://schemas.openxmlformats.org/officeDocument/2006/relationships/image" Target="../media/image7.png"/><Relationship Id="rId12" Type="http://schemas.openxmlformats.org/officeDocument/2006/relationships/slideLayout" Target="../slideLayouts/slideLayout7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131.png"/><Relationship Id="rId3" Type="http://schemas.openxmlformats.org/officeDocument/2006/relationships/image" Target="../media/image132.svg"/><Relationship Id="rId4" Type="http://schemas.openxmlformats.org/officeDocument/2006/relationships/image" Target="../media/image133.png"/><Relationship Id="rId5" Type="http://schemas.openxmlformats.org/officeDocument/2006/relationships/image" Target="../media/image134.svg"/><Relationship Id="rId6" Type="http://schemas.openxmlformats.org/officeDocument/2006/relationships/image" Target="../media/image1.png"/><Relationship Id="rId7" Type="http://schemas.openxmlformats.org/officeDocument/2006/relationships/image" Target="../media/image7.png"/><Relationship Id="rId8" Type="http://schemas.openxmlformats.org/officeDocument/2006/relationships/slideLayout" Target="../slideLayouts/slideLayout7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135.png"/><Relationship Id="rId3" Type="http://schemas.openxmlformats.org/officeDocument/2006/relationships/image" Target="../media/image136.svg"/><Relationship Id="rId4" Type="http://schemas.openxmlformats.org/officeDocument/2006/relationships/image" Target="../media/image137.png"/><Relationship Id="rId5" Type="http://schemas.openxmlformats.org/officeDocument/2006/relationships/image" Target="../media/image138.svg"/><Relationship Id="rId6" Type="http://schemas.openxmlformats.org/officeDocument/2006/relationships/image" Target="../media/image139.png"/><Relationship Id="rId7" Type="http://schemas.openxmlformats.org/officeDocument/2006/relationships/image" Target="../media/image140.svg"/><Relationship Id="rId8" Type="http://schemas.openxmlformats.org/officeDocument/2006/relationships/image" Target="../media/image139.png"/><Relationship Id="rId9" Type="http://schemas.openxmlformats.org/officeDocument/2006/relationships/image" Target="../media/image140.svg"/><Relationship Id="rId10" Type="http://schemas.openxmlformats.org/officeDocument/2006/relationships/image" Target="../media/image1.png"/><Relationship Id="rId11" Type="http://schemas.openxmlformats.org/officeDocument/2006/relationships/image" Target="../media/image7.png"/><Relationship Id="rId12" Type="http://schemas.openxmlformats.org/officeDocument/2006/relationships/slideLayout" Target="../slideLayouts/slideLayout7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7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141.png"/><Relationship Id="rId5" Type="http://schemas.openxmlformats.org/officeDocument/2006/relationships/image" Target="../media/image142.png"/><Relationship Id="rId6" Type="http://schemas.openxmlformats.org/officeDocument/2006/relationships/slideLayout" Target="../slideLayouts/slideLayout7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143.png"/><Relationship Id="rId2" Type="http://schemas.openxmlformats.org/officeDocument/2006/relationships/image" Target="../media/image5.png"/><Relationship Id="rId3" Type="http://schemas.openxmlformats.org/officeDocument/2006/relationships/image" Target="../media/image144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7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145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7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4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7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8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image" Target="../media/image147.png"/><Relationship Id="rId4" Type="http://schemas.openxmlformats.org/officeDocument/2006/relationships/image" Target="../media/image148.png"/><Relationship Id="rId5" Type="http://schemas.openxmlformats.org/officeDocument/2006/relationships/slideLayout" Target="../slideLayouts/slideLayout8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49.png"/><Relationship Id="rId3" Type="http://schemas.openxmlformats.org/officeDocument/2006/relationships/image" Target="../media/image150.png"/><Relationship Id="rId4" Type="http://schemas.openxmlformats.org/officeDocument/2006/relationships/image" Target="../media/image35.png"/><Relationship Id="rId5" Type="http://schemas.openxmlformats.org/officeDocument/2006/relationships/image" Target="../media/image151.png"/><Relationship Id="rId6" Type="http://schemas.openxmlformats.org/officeDocument/2006/relationships/image" Target="../media/image152.svg"/><Relationship Id="rId7" Type="http://schemas.openxmlformats.org/officeDocument/2006/relationships/image" Target="../media/image7.png"/><Relationship Id="rId8" Type="http://schemas.openxmlformats.org/officeDocument/2006/relationships/slideLayout" Target="../slideLayouts/slideLayout8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53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8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image" Target="../media/image154.png"/><Relationship Id="rId2" Type="http://schemas.openxmlformats.org/officeDocument/2006/relationships/image" Target="../media/image155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svg"/><Relationship Id="rId6" Type="http://schemas.openxmlformats.org/officeDocument/2006/relationships/image" Target="../media/image156.png"/><Relationship Id="rId7" Type="http://schemas.openxmlformats.org/officeDocument/2006/relationships/image" Target="../media/image157.svg"/><Relationship Id="rId8" Type="http://schemas.openxmlformats.org/officeDocument/2006/relationships/image" Target="../media/image158.png"/><Relationship Id="rId9" Type="http://schemas.openxmlformats.org/officeDocument/2006/relationships/image" Target="../media/image159.svg"/><Relationship Id="rId10" Type="http://schemas.openxmlformats.org/officeDocument/2006/relationships/image" Target="../media/image160.jpeg"/><Relationship Id="rId11" Type="http://schemas.openxmlformats.org/officeDocument/2006/relationships/image" Target="../media/image161.png"/><Relationship Id="rId12" Type="http://schemas.openxmlformats.org/officeDocument/2006/relationships/image" Target="../media/image162.png"/><Relationship Id="rId13" Type="http://schemas.openxmlformats.org/officeDocument/2006/relationships/image" Target="../media/image163.png"/><Relationship Id="rId14" Type="http://schemas.openxmlformats.org/officeDocument/2006/relationships/slideLayout" Target="../slideLayouts/slideLayout8.xml"/><Relationship Id="rId15" Type="http://schemas.openxmlformats.org/officeDocument/2006/relationships/notesSlide" Target="../notesSlides/notesSlide66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image" Target="../media/image164.png"/><Relationship Id="rId6" Type="http://schemas.openxmlformats.org/officeDocument/2006/relationships/image" Target="../media/image35.png"/><Relationship Id="rId7" Type="http://schemas.openxmlformats.org/officeDocument/2006/relationships/image" Target="../media/image120.png"/><Relationship Id="rId8" Type="http://schemas.openxmlformats.org/officeDocument/2006/relationships/image" Target="../media/image121.svg"/><Relationship Id="rId9" Type="http://schemas.openxmlformats.org/officeDocument/2006/relationships/image" Target="../media/image165.png"/><Relationship Id="rId10" Type="http://schemas.openxmlformats.org/officeDocument/2006/relationships/image" Target="../media/image166.svg"/><Relationship Id="rId11" Type="http://schemas.openxmlformats.org/officeDocument/2006/relationships/image" Target="../media/image167.png"/><Relationship Id="rId12" Type="http://schemas.openxmlformats.org/officeDocument/2006/relationships/image" Target="../media/image168.svg"/><Relationship Id="rId13" Type="http://schemas.openxmlformats.org/officeDocument/2006/relationships/image" Target="../media/image50.png"/><Relationship Id="rId14" Type="http://schemas.openxmlformats.org/officeDocument/2006/relationships/image" Target="../media/image51.svg"/><Relationship Id="rId15" Type="http://schemas.openxmlformats.org/officeDocument/2006/relationships/image" Target="../media/image169.png"/><Relationship Id="rId16" Type="http://schemas.openxmlformats.org/officeDocument/2006/relationships/image" Target="../media/image170.svg"/><Relationship Id="rId17" Type="http://schemas.openxmlformats.org/officeDocument/2006/relationships/image" Target="../media/image151.png"/><Relationship Id="rId18" Type="http://schemas.openxmlformats.org/officeDocument/2006/relationships/image" Target="../media/image152.svg"/><Relationship Id="rId19" Type="http://schemas.openxmlformats.org/officeDocument/2006/relationships/image" Target="../media/image7.png"/><Relationship Id="rId20" Type="http://schemas.openxmlformats.org/officeDocument/2006/relationships/image" Target="../media/image1.png"/><Relationship Id="rId2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/>
          </p:nvPr>
        </p:nvSpPr>
        <p:spPr>
          <a:xfrm>
            <a:off x="914760" y="4669200"/>
            <a:ext cx="10512000" cy="18234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t" anchorCtr="1">
            <a:normAutofit/>
          </a:bodyPr>
          <a:p>
            <a:pPr marL="432000" indent="0" algn="ctr" defTabSz="9144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David Rach, Ph.D.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ctr" defTabSz="914400">
              <a:lnSpc>
                <a:spcPts val="144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Noto Sans CJK SC"/>
              </a:rPr>
              <a:t>UMGCCC Flow Cytometry Shared Resource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ctr" defTabSz="914400">
              <a:lnSpc>
                <a:spcPts val="144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Noto Sans CJK SC"/>
              </a:rPr>
              <a:t>Baltimore, MD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ctr" defTabSz="914400">
              <a:lnSpc>
                <a:spcPct val="100000"/>
              </a:lnSpc>
              <a:spcBef>
                <a:spcPts val="1701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Noto Sans CJK SC"/>
              </a:rPr>
              <a:t>October 23, 2026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" name="Picture 46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4156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TextBox 2"/>
          <p:cNvSpPr/>
          <p:nvPr/>
        </p:nvSpPr>
        <p:spPr>
          <a:xfrm>
            <a:off x="122760" y="6404400"/>
            <a:ext cx="210456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Slides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" name="Graphic 5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65920" y="229320"/>
            <a:ext cx="3655080" cy="95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" name="Picture 72" descr=""/>
          <p:cNvPicPr/>
          <p:nvPr/>
        </p:nvPicPr>
        <p:blipFill>
          <a:blip r:embed="rId4"/>
          <a:stretch/>
        </p:blipFill>
        <p:spPr>
          <a:xfrm>
            <a:off x="8375760" y="115920"/>
            <a:ext cx="3193560" cy="12535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04" name=""/>
          <p:cNvGrpSpPr/>
          <p:nvPr/>
        </p:nvGrpSpPr>
        <p:grpSpPr>
          <a:xfrm>
            <a:off x="759960" y="1407240"/>
            <a:ext cx="10054080" cy="2113200"/>
            <a:chOff x="759960" y="1407240"/>
            <a:chExt cx="10054080" cy="2113200"/>
          </a:xfrm>
        </p:grpSpPr>
        <p:grpSp>
          <p:nvGrpSpPr>
            <p:cNvPr id="105" name=""/>
            <p:cNvGrpSpPr/>
            <p:nvPr/>
          </p:nvGrpSpPr>
          <p:grpSpPr>
            <a:xfrm>
              <a:off x="759960" y="1407240"/>
              <a:ext cx="10054080" cy="2113200"/>
              <a:chOff x="759960" y="1407240"/>
              <a:chExt cx="10054080" cy="2113200"/>
            </a:xfrm>
          </p:grpSpPr>
          <p:pic>
            <p:nvPicPr>
              <p:cNvPr id="106" name="" descr=""/>
              <p:cNvPicPr/>
              <p:nvPr/>
            </p:nvPicPr>
            <p:blipFill>
              <a:blip r:embed="rId5"/>
              <a:srcRect l="0" t="44464" r="9095" b="0"/>
              <a:stretch/>
            </p:blipFill>
            <p:spPr>
              <a:xfrm>
                <a:off x="1534320" y="1530360"/>
                <a:ext cx="9279720" cy="1990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107" name=""/>
              <p:cNvSpPr/>
              <p:nvPr/>
            </p:nvSpPr>
            <p:spPr>
              <a:xfrm>
                <a:off x="759960" y="1407240"/>
                <a:ext cx="10054080" cy="327960"/>
              </a:xfrm>
              <a:prstGeom prst="rect">
                <a:avLst/>
              </a:prstGeom>
              <a:solidFill>
                <a:srgbClr val="ffffff"/>
              </a:solidFill>
              <a:ln w="0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endParaRPr>
              </a:p>
            </p:txBody>
          </p:sp>
        </p:grpSp>
        <p:sp>
          <p:nvSpPr>
            <p:cNvPr id="108" name=""/>
            <p:cNvSpPr/>
            <p:nvPr/>
          </p:nvSpPr>
          <p:spPr>
            <a:xfrm>
              <a:off x="1035000" y="1828800"/>
              <a:ext cx="685800" cy="13716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9" name=""/>
          <p:cNvSpPr txBox="1"/>
          <p:nvPr/>
        </p:nvSpPr>
        <p:spPr>
          <a:xfrm>
            <a:off x="457200" y="3657600"/>
            <a:ext cx="11734920" cy="177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Towards ‘No Cell Left Behind’: open-source tool sets to 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leverage Spectral Flow Cytometry’s full biological discovery potential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"/>
          <p:cNvSpPr/>
          <p:nvPr/>
        </p:nvSpPr>
        <p:spPr>
          <a:xfrm>
            <a:off x="686160" y="1052640"/>
            <a:ext cx="5253480" cy="1458000"/>
          </a:xfrm>
          <a:prstGeom prst="rect">
            <a:avLst/>
          </a:prstGeom>
          <a:solidFill>
            <a:srgbClr val="ffb66c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08960" cy="6346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Spectral Flow Cytometry is amazing!!!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Picture 12" descr=""/>
          <p:cNvPicPr/>
          <p:nvPr/>
        </p:nvPicPr>
        <p:blipFill>
          <a:blip r:embed="rId1"/>
          <a:stretch/>
        </p:blipFill>
        <p:spPr>
          <a:xfrm>
            <a:off x="6095880" y="1037880"/>
            <a:ext cx="5496840" cy="444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" name="Picture 14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37960" cy="39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"/>
          <p:cNvSpPr/>
          <p:nvPr/>
        </p:nvSpPr>
        <p:spPr>
          <a:xfrm>
            <a:off x="686160" y="2660400"/>
            <a:ext cx="5253480" cy="1596240"/>
          </a:xfrm>
          <a:prstGeom prst="rect">
            <a:avLst/>
          </a:prstGeom>
          <a:solidFill>
            <a:srgbClr val="729fcf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5" name="Rectangle 7"/>
          <p:cNvSpPr/>
          <p:nvPr/>
        </p:nvSpPr>
        <p:spPr>
          <a:xfrm>
            <a:off x="748800" y="1052640"/>
            <a:ext cx="5190840" cy="20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Capable of </a:t>
            </a:r>
            <a:r>
              <a:rPr b="0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resolving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remarkably similar fluorophores →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increased number of markers per panel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compared to conventional flow cytometry (CFC)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ectangle 11"/>
          <p:cNvSpPr/>
          <p:nvPr/>
        </p:nvSpPr>
        <p:spPr>
          <a:xfrm>
            <a:off x="748800" y="2707200"/>
            <a:ext cx="5190840" cy="16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Allows for </a:t>
            </a:r>
            <a:r>
              <a:rPr b="0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rapid acquisition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of millions of events in a few minutes → typically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greater number of acquired cells per sample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compared to mass cytometry (MC)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ectangle 12"/>
          <p:cNvSpPr/>
          <p:nvPr/>
        </p:nvSpPr>
        <p:spPr>
          <a:xfrm>
            <a:off x="685800" y="4440600"/>
            <a:ext cx="519084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Spectral Flow Cytometry (SFC) datasets have an unique combination of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width and depth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compared to preceding technologies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685800" y="4397760"/>
            <a:ext cx="5253840" cy="1084680"/>
          </a:xfrm>
          <a:prstGeom prst="rect">
            <a:avLst/>
          </a:prstGeom>
          <a:solidFill>
            <a:srgbClr val="77bc65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19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6560" cy="35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" descr=""/>
          <p:cNvPicPr/>
          <p:nvPr/>
        </p:nvPicPr>
        <p:blipFill>
          <a:blip r:embed="rId1"/>
          <a:stretch/>
        </p:blipFill>
        <p:spPr>
          <a:xfrm>
            <a:off x="914400" y="1143000"/>
            <a:ext cx="5027760" cy="37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560" cy="638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Spectral Flow Cytometry is amazing!!!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Picture 42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4156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"/>
          <p:cNvSpPr/>
          <p:nvPr/>
        </p:nvSpPr>
        <p:spPr>
          <a:xfrm>
            <a:off x="6629400" y="1198800"/>
            <a:ext cx="5028120" cy="1230120"/>
          </a:xfrm>
          <a:prstGeom prst="rect">
            <a:avLst/>
          </a:prstGeom>
          <a:solidFill>
            <a:srgbClr val="729fcf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4" name=""/>
          <p:cNvSpPr/>
          <p:nvPr/>
        </p:nvSpPr>
        <p:spPr>
          <a:xfrm>
            <a:off x="6629400" y="3837600"/>
            <a:ext cx="5025240" cy="832680"/>
          </a:xfrm>
          <a:prstGeom prst="rect">
            <a:avLst/>
          </a:prstGeom>
          <a:solidFill>
            <a:srgbClr val="77bc65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5" name=""/>
          <p:cNvSpPr/>
          <p:nvPr/>
        </p:nvSpPr>
        <p:spPr>
          <a:xfrm>
            <a:off x="6629400" y="3895200"/>
            <a:ext cx="525384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Expand our knowledge about immune system heterogeneity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6629400" y="1234800"/>
            <a:ext cx="5025240" cy="23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Able to efficiently </a:t>
            </a:r>
            <a:r>
              <a:rPr b="0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acquire greater number of cells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→ more thorough profiling of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rare cell subsets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Build </a:t>
            </a:r>
            <a:r>
              <a:rPr b="0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one panel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, evaluate </a:t>
            </a:r>
            <a:r>
              <a:rPr b="0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multiple cell types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→ invaluable for studies with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limited biospecimen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6626520" y="2498400"/>
            <a:ext cx="5028120" cy="1230120"/>
          </a:xfrm>
          <a:prstGeom prst="rect">
            <a:avLst/>
          </a:prstGeom>
          <a:solidFill>
            <a:srgbClr val="ff972f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28" name="" descr=""/>
          <p:cNvPicPr/>
          <p:nvPr/>
        </p:nvPicPr>
        <p:blipFill>
          <a:blip r:embed="rId3"/>
          <a:stretch/>
        </p:blipFill>
        <p:spPr>
          <a:xfrm>
            <a:off x="231120" y="6281280"/>
            <a:ext cx="1366560" cy="35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"/>
          <p:cNvSpPr/>
          <p:nvPr/>
        </p:nvSpPr>
        <p:spPr>
          <a:xfrm>
            <a:off x="903960" y="3466080"/>
            <a:ext cx="5036040" cy="1453320"/>
          </a:xfrm>
          <a:prstGeom prst="rect">
            <a:avLst/>
          </a:prstGeom>
          <a:solidFill>
            <a:srgbClr val="780373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0" name=""/>
          <p:cNvSpPr/>
          <p:nvPr/>
        </p:nvSpPr>
        <p:spPr>
          <a:xfrm>
            <a:off x="909360" y="1603080"/>
            <a:ext cx="5024160" cy="1367640"/>
          </a:xfrm>
          <a:prstGeom prst="rect">
            <a:avLst/>
          </a:prstGeom>
          <a:solidFill>
            <a:srgbClr val="ffd8ce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5280" cy="1318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Trade-off: Increasing analytical complexity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ectangle 3"/>
          <p:cNvSpPr/>
          <p:nvPr/>
        </p:nvSpPr>
        <p:spPr>
          <a:xfrm>
            <a:off x="909360" y="1603080"/>
            <a:ext cx="487008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If you are only interested in a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single population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of cells → analysis process remains </a:t>
            </a:r>
            <a:r>
              <a:rPr b="0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essentially unchanged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(manual gating with a few more gates)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ectangle 13"/>
          <p:cNvSpPr/>
          <p:nvPr/>
        </p:nvSpPr>
        <p:spPr>
          <a:xfrm>
            <a:off x="970560" y="3514680"/>
            <a:ext cx="496944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If your goal is to characterize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all cell populations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that may be present →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the breadth and depth of the datasets complicate the analysis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4" name="Picture 15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7960" cy="39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" name="Picture 17" descr=""/>
          <p:cNvPicPr/>
          <p:nvPr/>
        </p:nvPicPr>
        <p:blipFill>
          <a:blip r:embed="rId2"/>
          <a:stretch/>
        </p:blipFill>
        <p:spPr>
          <a:xfrm>
            <a:off x="6400800" y="1371600"/>
            <a:ext cx="3882600" cy="4104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6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6560" cy="35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"/>
          <p:cNvSpPr/>
          <p:nvPr/>
        </p:nvSpPr>
        <p:spPr>
          <a:xfrm>
            <a:off x="5486400" y="4114800"/>
            <a:ext cx="5940000" cy="1368000"/>
          </a:xfrm>
          <a:prstGeom prst="rect">
            <a:avLst/>
          </a:prstGeom>
          <a:solidFill>
            <a:srgbClr val="3faf46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5280" cy="1318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Complex Datasets: Combinatorially Exponential Clusters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9" name="Picture 18" descr=""/>
          <p:cNvPicPr/>
          <p:nvPr/>
        </p:nvPicPr>
        <p:blipFill>
          <a:blip r:embed="rId1"/>
          <a:stretch/>
        </p:blipFill>
        <p:spPr>
          <a:xfrm>
            <a:off x="457200" y="1175400"/>
            <a:ext cx="5022000" cy="446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Rectangle 16"/>
          <p:cNvSpPr/>
          <p:nvPr/>
        </p:nvSpPr>
        <p:spPr>
          <a:xfrm>
            <a:off x="5403600" y="3154680"/>
            <a:ext cx="5571720" cy="766440"/>
          </a:xfrm>
          <a:prstGeom prst="rect">
            <a:avLst/>
          </a:prstGeom>
          <a:noFill/>
          <a:ln w="36720">
            <a:noFill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And at the end, we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grouped cells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that only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expressed the same markers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ectangle 17"/>
          <p:cNvSpPr/>
          <p:nvPr/>
        </p:nvSpPr>
        <p:spPr>
          <a:xfrm>
            <a:off x="5482800" y="4114800"/>
            <a:ext cx="596772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2" name="Rectangle 18"/>
          <p:cNvSpPr/>
          <p:nvPr/>
        </p:nvSpPr>
        <p:spPr>
          <a:xfrm>
            <a:off x="5486400" y="4572000"/>
            <a:ext cx="5940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marL="216000" indent="-216000"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“Groups” per panel = 2</a:t>
            </a:r>
            <a:r>
              <a:rPr b="0" lang="en-US" sz="2400" strike="noStrike" u="none" baseline="33000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Number of Fluorophores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3" name="Picture 21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37960" cy="39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"/>
          <p:cNvSpPr/>
          <p:nvPr/>
        </p:nvSpPr>
        <p:spPr>
          <a:xfrm>
            <a:off x="5481720" y="1403640"/>
            <a:ext cx="5861880" cy="2502360"/>
          </a:xfrm>
          <a:prstGeom prst="rect">
            <a:avLst/>
          </a:prstGeom>
          <a:solidFill>
            <a:srgbClr val="ffb66c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5" name="Rectangle 19"/>
          <p:cNvSpPr/>
          <p:nvPr/>
        </p:nvSpPr>
        <p:spPr>
          <a:xfrm>
            <a:off x="5403600" y="1325880"/>
            <a:ext cx="5711400" cy="766440"/>
          </a:xfrm>
          <a:prstGeom prst="rect">
            <a:avLst/>
          </a:prstGeom>
          <a:noFill/>
          <a:ln w="36720">
            <a:noFill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If for a given marker in your panel, you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split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the cells into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positive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and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negative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populations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Rectangle 30"/>
          <p:cNvSpPr/>
          <p:nvPr/>
        </p:nvSpPr>
        <p:spPr>
          <a:xfrm>
            <a:off x="5403600" y="2240280"/>
            <a:ext cx="5940000" cy="766440"/>
          </a:xfrm>
          <a:prstGeom prst="rect">
            <a:avLst/>
          </a:prstGeom>
          <a:noFill/>
          <a:ln w="36720">
            <a:noFill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And this splitting process was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repeated for every marker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in your panel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ectangle 31"/>
          <p:cNvSpPr/>
          <p:nvPr/>
        </p:nvSpPr>
        <p:spPr>
          <a:xfrm>
            <a:off x="5486400" y="5029200"/>
            <a:ext cx="617220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48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6560" cy="35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"/>
          <p:cNvSpPr/>
          <p:nvPr/>
        </p:nvSpPr>
        <p:spPr>
          <a:xfrm>
            <a:off x="5486400" y="4114800"/>
            <a:ext cx="5940000" cy="1368000"/>
          </a:xfrm>
          <a:prstGeom prst="rect">
            <a:avLst/>
          </a:prstGeom>
          <a:solidFill>
            <a:srgbClr val="3faf46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5280" cy="1318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Complex Datasets: Combinatorially Exponential Clusters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1" name="Picture 23" descr=""/>
          <p:cNvPicPr/>
          <p:nvPr/>
        </p:nvPicPr>
        <p:blipFill>
          <a:blip r:embed="rId1"/>
          <a:stretch/>
        </p:blipFill>
        <p:spPr>
          <a:xfrm>
            <a:off x="457200" y="1175400"/>
            <a:ext cx="5022000" cy="446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Rectangle 2"/>
          <p:cNvSpPr/>
          <p:nvPr/>
        </p:nvSpPr>
        <p:spPr>
          <a:xfrm>
            <a:off x="5403600" y="3154680"/>
            <a:ext cx="5571720" cy="766440"/>
          </a:xfrm>
          <a:prstGeom prst="rect">
            <a:avLst/>
          </a:prstGeom>
          <a:noFill/>
          <a:ln w="36720">
            <a:noFill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And at the end, we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grouped cells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that only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expressed the same markers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ectangle 32"/>
          <p:cNvSpPr/>
          <p:nvPr/>
        </p:nvSpPr>
        <p:spPr>
          <a:xfrm>
            <a:off x="5482800" y="4114800"/>
            <a:ext cx="596772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9-color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CFC panel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512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 at most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Rectangle 33"/>
          <p:cNvSpPr/>
          <p:nvPr/>
        </p:nvSpPr>
        <p:spPr>
          <a:xfrm>
            <a:off x="5482800" y="4572000"/>
            <a:ext cx="61722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40-color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SFC panel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1.1e+12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 (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trillion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5" name="Picture 26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37960" cy="39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"/>
          <p:cNvSpPr/>
          <p:nvPr/>
        </p:nvSpPr>
        <p:spPr>
          <a:xfrm>
            <a:off x="5481720" y="1403640"/>
            <a:ext cx="5861880" cy="2502360"/>
          </a:xfrm>
          <a:prstGeom prst="rect">
            <a:avLst/>
          </a:prstGeom>
          <a:solidFill>
            <a:srgbClr val="ffb66c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7" name="Rectangle 34"/>
          <p:cNvSpPr/>
          <p:nvPr/>
        </p:nvSpPr>
        <p:spPr>
          <a:xfrm>
            <a:off x="5403600" y="1325880"/>
            <a:ext cx="5711400" cy="766440"/>
          </a:xfrm>
          <a:prstGeom prst="rect">
            <a:avLst/>
          </a:prstGeom>
          <a:noFill/>
          <a:ln w="36720">
            <a:noFill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If for a given marker in your panel, you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split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the cells into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positive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and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negative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populations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ectangle 35"/>
          <p:cNvSpPr/>
          <p:nvPr/>
        </p:nvSpPr>
        <p:spPr>
          <a:xfrm>
            <a:off x="5403600" y="2240280"/>
            <a:ext cx="5940000" cy="766440"/>
          </a:xfrm>
          <a:prstGeom prst="rect">
            <a:avLst/>
          </a:prstGeom>
          <a:noFill/>
          <a:ln w="36720">
            <a:noFill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And this splitting process was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repeated for every marker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in your panel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ectangle 36"/>
          <p:cNvSpPr/>
          <p:nvPr/>
        </p:nvSpPr>
        <p:spPr>
          <a:xfrm>
            <a:off x="5486400" y="5029200"/>
            <a:ext cx="61722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60-color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SFC panel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1.2e+18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 (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quintillion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)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0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6560" cy="35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>
            <a:off x="457200" y="2784600"/>
            <a:ext cx="5940000" cy="1602000"/>
          </a:xfrm>
          <a:prstGeom prst="rect">
            <a:avLst/>
          </a:prstGeom>
          <a:solidFill>
            <a:srgbClr val="3faf46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36000" y="33480"/>
            <a:ext cx="12185280" cy="6512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What even is a quintillion? 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Rectangle 37"/>
          <p:cNvSpPr/>
          <p:nvPr/>
        </p:nvSpPr>
        <p:spPr>
          <a:xfrm>
            <a:off x="457200" y="2738520"/>
            <a:ext cx="596772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 gate, every 10 seconds → 6 groups/minute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4" name="Picture 29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7960" cy="39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Rectangle 38"/>
          <p:cNvSpPr/>
          <p:nvPr/>
        </p:nvSpPr>
        <p:spPr>
          <a:xfrm>
            <a:off x="453600" y="1945800"/>
            <a:ext cx="61722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60-color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SFC panel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1.2e+18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 (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quintillion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)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Rectangle 39"/>
          <p:cNvSpPr/>
          <p:nvPr/>
        </p:nvSpPr>
        <p:spPr>
          <a:xfrm>
            <a:off x="457200" y="3134520"/>
            <a:ext cx="596772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60 minutes in an hour → 360 groups/hour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ectangle 40"/>
          <p:cNvSpPr/>
          <p:nvPr/>
        </p:nvSpPr>
        <p:spPr>
          <a:xfrm>
            <a:off x="457200" y="3530520"/>
            <a:ext cx="596772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Awake 16 hours a day → 5760 groups/day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ectangle 41"/>
          <p:cNvSpPr/>
          <p:nvPr/>
        </p:nvSpPr>
        <p:spPr>
          <a:xfrm>
            <a:off x="457200" y="3962520"/>
            <a:ext cx="61686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365 days per year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2,102,400 groups/year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457200" y="1899000"/>
            <a:ext cx="5940000" cy="453600"/>
          </a:xfrm>
          <a:prstGeom prst="rect">
            <a:avLst/>
          </a:prstGeom>
          <a:solidFill>
            <a:srgbClr val="6b5e9b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70" name="" descr=""/>
          <p:cNvPicPr/>
          <p:nvPr/>
        </p:nvPicPr>
        <p:blipFill>
          <a:blip r:embed="rId2"/>
          <a:stretch/>
        </p:blipFill>
        <p:spPr>
          <a:xfrm>
            <a:off x="6567120" y="1545840"/>
            <a:ext cx="5545080" cy="302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1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6560" cy="35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PlaceHolder 12"/>
          <p:cNvSpPr/>
          <p:nvPr/>
        </p:nvSpPr>
        <p:spPr>
          <a:xfrm>
            <a:off x="1900800" y="808200"/>
            <a:ext cx="8914320" cy="108972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If I were to manually check for every combination...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"/>
          <p:cNvSpPr/>
          <p:nvPr/>
        </p:nvSpPr>
        <p:spPr>
          <a:xfrm>
            <a:off x="457200" y="2784600"/>
            <a:ext cx="5940000" cy="1602000"/>
          </a:xfrm>
          <a:prstGeom prst="rect">
            <a:avLst/>
          </a:prstGeom>
          <a:solidFill>
            <a:srgbClr val="3faf46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36000" y="33480"/>
            <a:ext cx="12185280" cy="6512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What even is a quintillion? 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Rectangle 45"/>
          <p:cNvSpPr/>
          <p:nvPr/>
        </p:nvSpPr>
        <p:spPr>
          <a:xfrm>
            <a:off x="457200" y="2738520"/>
            <a:ext cx="596772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 gate, every 10 seconds → 6 groups/minute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6" name="Picture 33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7960" cy="39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Rectangle 53"/>
          <p:cNvSpPr/>
          <p:nvPr/>
        </p:nvSpPr>
        <p:spPr>
          <a:xfrm>
            <a:off x="453600" y="1945800"/>
            <a:ext cx="61722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60-color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SFC panel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1.2e+18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 (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quintillion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)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Rectangle 54"/>
          <p:cNvSpPr/>
          <p:nvPr/>
        </p:nvSpPr>
        <p:spPr>
          <a:xfrm>
            <a:off x="457200" y="3134520"/>
            <a:ext cx="596772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60 minutes in an hour → 360 groups/hour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ectangle 55"/>
          <p:cNvSpPr/>
          <p:nvPr/>
        </p:nvSpPr>
        <p:spPr>
          <a:xfrm>
            <a:off x="457200" y="3530520"/>
            <a:ext cx="596772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Awake 16 hours a day → 5760 groups/day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ectangle 56"/>
          <p:cNvSpPr/>
          <p:nvPr/>
        </p:nvSpPr>
        <p:spPr>
          <a:xfrm>
            <a:off x="457200" y="3962520"/>
            <a:ext cx="61686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365 days per year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2,102,400 groups/year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457200" y="1899000"/>
            <a:ext cx="5940000" cy="453600"/>
          </a:xfrm>
          <a:prstGeom prst="rect">
            <a:avLst/>
          </a:prstGeom>
          <a:solidFill>
            <a:srgbClr val="6b5e9b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82" name="" descr=""/>
          <p:cNvPicPr/>
          <p:nvPr/>
        </p:nvPicPr>
        <p:blipFill>
          <a:blip r:embed="rId2"/>
          <a:stretch/>
        </p:blipFill>
        <p:spPr>
          <a:xfrm>
            <a:off x="6567120" y="1545840"/>
            <a:ext cx="5545080" cy="302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3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6560" cy="35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" name="PlaceHolder 14"/>
          <p:cNvSpPr/>
          <p:nvPr/>
        </p:nvSpPr>
        <p:spPr>
          <a:xfrm>
            <a:off x="1900800" y="808200"/>
            <a:ext cx="8914320" cy="108972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If I were to manually check for every combination...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1910520" y="4601520"/>
            <a:ext cx="288900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….Not even close….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"/>
          <p:cNvSpPr/>
          <p:nvPr/>
        </p:nvSpPr>
        <p:spPr>
          <a:xfrm>
            <a:off x="5490000" y="2056680"/>
            <a:ext cx="5936400" cy="1168200"/>
          </a:xfrm>
          <a:prstGeom prst="rect">
            <a:avLst/>
          </a:prstGeom>
          <a:solidFill>
            <a:srgbClr val="3faf46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5280" cy="1318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8" name="Picture 30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7960" cy="39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Rectangle 43"/>
          <p:cNvSpPr/>
          <p:nvPr/>
        </p:nvSpPr>
        <p:spPr>
          <a:xfrm>
            <a:off x="5486400" y="1371600"/>
            <a:ext cx="61722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60-color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SFC panel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1.2e+18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 (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quintillion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)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Rectangle 44"/>
          <p:cNvSpPr/>
          <p:nvPr/>
        </p:nvSpPr>
        <p:spPr>
          <a:xfrm>
            <a:off x="5490000" y="2046600"/>
            <a:ext cx="61686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365 days per year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2,102,400 groups/year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5486400" y="1371600"/>
            <a:ext cx="5940000" cy="453600"/>
          </a:xfrm>
          <a:prstGeom prst="rect">
            <a:avLst/>
          </a:prstGeom>
          <a:solidFill>
            <a:srgbClr val="6b5e9b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92" name="" descr=""/>
          <p:cNvPicPr/>
          <p:nvPr/>
        </p:nvPicPr>
        <p:blipFill>
          <a:blip r:embed="rId2"/>
          <a:stretch/>
        </p:blipFill>
        <p:spPr>
          <a:xfrm>
            <a:off x="457200" y="1371600"/>
            <a:ext cx="4872960" cy="265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Rectangle 46"/>
          <p:cNvSpPr/>
          <p:nvPr/>
        </p:nvSpPr>
        <p:spPr>
          <a:xfrm>
            <a:off x="5490000" y="2406600"/>
            <a:ext cx="61686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Invent a time-machine, become immortal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Rectangle 47"/>
          <p:cNvSpPr/>
          <p:nvPr/>
        </p:nvSpPr>
        <p:spPr>
          <a:xfrm>
            <a:off x="5490000" y="2730600"/>
            <a:ext cx="61686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13.8 billion years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2.9e+16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groups/reality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9"/>
          <p:cNvSpPr/>
          <p:nvPr/>
        </p:nvSpPr>
        <p:spPr>
          <a:xfrm>
            <a:off x="0" y="-182520"/>
            <a:ext cx="12185280" cy="131832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Continuously since the Big Bang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6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6560" cy="35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"/>
          <p:cNvSpPr/>
          <p:nvPr/>
        </p:nvSpPr>
        <p:spPr>
          <a:xfrm>
            <a:off x="5490000" y="2056680"/>
            <a:ext cx="5936400" cy="1168200"/>
          </a:xfrm>
          <a:prstGeom prst="rect">
            <a:avLst/>
          </a:prstGeom>
          <a:solidFill>
            <a:srgbClr val="3faf46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5280" cy="1318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9" name="Picture 27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7960" cy="39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0" name="Rectangle 62"/>
          <p:cNvSpPr/>
          <p:nvPr/>
        </p:nvSpPr>
        <p:spPr>
          <a:xfrm>
            <a:off x="5486400" y="1371600"/>
            <a:ext cx="61722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60-color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SFC panel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1.2e+18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 (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quintillion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)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Rectangle 63"/>
          <p:cNvSpPr/>
          <p:nvPr/>
        </p:nvSpPr>
        <p:spPr>
          <a:xfrm>
            <a:off x="5490000" y="2046600"/>
            <a:ext cx="61686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365 days per year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2,102,400 groups/year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5486400" y="1371600"/>
            <a:ext cx="5940000" cy="453600"/>
          </a:xfrm>
          <a:prstGeom prst="rect">
            <a:avLst/>
          </a:prstGeom>
          <a:solidFill>
            <a:srgbClr val="6b5e9b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03" name="" descr=""/>
          <p:cNvPicPr/>
          <p:nvPr/>
        </p:nvPicPr>
        <p:blipFill>
          <a:blip r:embed="rId2"/>
          <a:stretch/>
        </p:blipFill>
        <p:spPr>
          <a:xfrm>
            <a:off x="457200" y="1371600"/>
            <a:ext cx="4872960" cy="265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Rectangle 64"/>
          <p:cNvSpPr/>
          <p:nvPr/>
        </p:nvSpPr>
        <p:spPr>
          <a:xfrm>
            <a:off x="5490000" y="2406600"/>
            <a:ext cx="61686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Invent a time-machine, become immortal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Rectangle 65"/>
          <p:cNvSpPr/>
          <p:nvPr/>
        </p:nvSpPr>
        <p:spPr>
          <a:xfrm>
            <a:off x="5490000" y="2730600"/>
            <a:ext cx="61686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13.8 billion years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2.9e+16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groups/reality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4"/>
          <p:cNvSpPr/>
          <p:nvPr/>
        </p:nvSpPr>
        <p:spPr>
          <a:xfrm>
            <a:off x="0" y="-182520"/>
            <a:ext cx="12185280" cy="131832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Continuously since the Big Bang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7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6560" cy="35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8" name=""/>
          <p:cNvSpPr/>
          <p:nvPr/>
        </p:nvSpPr>
        <p:spPr>
          <a:xfrm>
            <a:off x="5486400" y="3429000"/>
            <a:ext cx="594252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….Still not enough….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" descr=""/>
          <p:cNvPicPr/>
          <p:nvPr/>
        </p:nvPicPr>
        <p:blipFill>
          <a:blip r:embed="rId1"/>
          <a:stretch/>
        </p:blipFill>
        <p:spPr>
          <a:xfrm>
            <a:off x="457200" y="1371600"/>
            <a:ext cx="4875120" cy="265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" name=""/>
          <p:cNvSpPr/>
          <p:nvPr/>
        </p:nvSpPr>
        <p:spPr>
          <a:xfrm>
            <a:off x="5490000" y="3578760"/>
            <a:ext cx="5936400" cy="1436040"/>
          </a:xfrm>
          <a:prstGeom prst="rect">
            <a:avLst/>
          </a:prstGeom>
          <a:solidFill>
            <a:srgbClr val="ffd7d7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11" name=""/>
          <p:cNvSpPr/>
          <p:nvPr/>
        </p:nvSpPr>
        <p:spPr>
          <a:xfrm>
            <a:off x="5490000" y="2056680"/>
            <a:ext cx="5936400" cy="1168200"/>
          </a:xfrm>
          <a:prstGeom prst="rect">
            <a:avLst/>
          </a:prstGeom>
          <a:solidFill>
            <a:srgbClr val="3faf46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5280" cy="1318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3" name="Picture 32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37960" cy="39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4" name="Rectangle 42"/>
          <p:cNvSpPr/>
          <p:nvPr/>
        </p:nvSpPr>
        <p:spPr>
          <a:xfrm>
            <a:off x="5486400" y="1371600"/>
            <a:ext cx="61722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60-color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SFC panel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1.2e+18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 (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quintillion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)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Rectangle 48"/>
          <p:cNvSpPr/>
          <p:nvPr/>
        </p:nvSpPr>
        <p:spPr>
          <a:xfrm>
            <a:off x="5490000" y="2046600"/>
            <a:ext cx="61686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365 days per year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2,102,400 groups/year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Rectangle 49"/>
          <p:cNvSpPr/>
          <p:nvPr/>
        </p:nvSpPr>
        <p:spPr>
          <a:xfrm>
            <a:off x="5490000" y="3578760"/>
            <a:ext cx="594000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So we need ~ </a:t>
            </a:r>
            <a:r>
              <a:rPr b="0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50 immortal researchers working continuously since the Big Bang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just to check all group combinations for a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single 60-fluorophore panel .fcs file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5486400" y="1371600"/>
            <a:ext cx="5940000" cy="453600"/>
          </a:xfrm>
          <a:prstGeom prst="rect">
            <a:avLst/>
          </a:prstGeom>
          <a:solidFill>
            <a:srgbClr val="6b5e9b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18" name="Rectangle 51"/>
          <p:cNvSpPr/>
          <p:nvPr/>
        </p:nvSpPr>
        <p:spPr>
          <a:xfrm>
            <a:off x="5490000" y="2406600"/>
            <a:ext cx="61686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Invent a time-machine, become immortal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Rectangle 52"/>
          <p:cNvSpPr/>
          <p:nvPr/>
        </p:nvSpPr>
        <p:spPr>
          <a:xfrm>
            <a:off x="5490000" y="2730600"/>
            <a:ext cx="61686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13.8 billion years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2.9e+16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groups/reality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11"/>
          <p:cNvSpPr/>
          <p:nvPr/>
        </p:nvSpPr>
        <p:spPr>
          <a:xfrm>
            <a:off x="0" y="-182520"/>
            <a:ext cx="12185280" cy="131832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Continuously since the Big Bang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1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6560" cy="35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" descr=""/>
          <p:cNvPicPr/>
          <p:nvPr/>
        </p:nvPicPr>
        <p:blipFill>
          <a:blip r:embed="rId1"/>
          <a:stretch/>
        </p:blipFill>
        <p:spPr>
          <a:xfrm>
            <a:off x="457200" y="1371600"/>
            <a:ext cx="4875120" cy="265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"/>
          <p:cNvSpPr/>
          <p:nvPr/>
        </p:nvSpPr>
        <p:spPr>
          <a:xfrm>
            <a:off x="5490000" y="3578760"/>
            <a:ext cx="5936400" cy="1436040"/>
          </a:xfrm>
          <a:prstGeom prst="rect">
            <a:avLst/>
          </a:prstGeom>
          <a:solidFill>
            <a:srgbClr val="ffd7d7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4" name=""/>
          <p:cNvSpPr/>
          <p:nvPr/>
        </p:nvSpPr>
        <p:spPr>
          <a:xfrm>
            <a:off x="5490000" y="2056680"/>
            <a:ext cx="5936400" cy="1168200"/>
          </a:xfrm>
          <a:prstGeom prst="rect">
            <a:avLst/>
          </a:prstGeom>
          <a:solidFill>
            <a:srgbClr val="3faf46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5280" cy="1318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6" name="Picture 34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37960" cy="39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7" name="Rectangle 57"/>
          <p:cNvSpPr/>
          <p:nvPr/>
        </p:nvSpPr>
        <p:spPr>
          <a:xfrm>
            <a:off x="5486400" y="1371600"/>
            <a:ext cx="61722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60-color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SFC panel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1.2e+18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 (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quintillion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)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Rectangle 58"/>
          <p:cNvSpPr/>
          <p:nvPr/>
        </p:nvSpPr>
        <p:spPr>
          <a:xfrm>
            <a:off x="5490000" y="2046600"/>
            <a:ext cx="61686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365 days per year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2,102,400 groups/year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Rectangle 59"/>
          <p:cNvSpPr/>
          <p:nvPr/>
        </p:nvSpPr>
        <p:spPr>
          <a:xfrm>
            <a:off x="5490000" y="3578760"/>
            <a:ext cx="594000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So we need ~ </a:t>
            </a:r>
            <a:r>
              <a:rPr b="0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50 immortal researchers working continuously since the Big Bang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just to check all group combinations for a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single 60-fluorophore panel .fcs file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5486400" y="1371600"/>
            <a:ext cx="5940000" cy="453600"/>
          </a:xfrm>
          <a:prstGeom prst="rect">
            <a:avLst/>
          </a:prstGeom>
          <a:solidFill>
            <a:srgbClr val="6b5e9b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31" name="Rectangle 60"/>
          <p:cNvSpPr/>
          <p:nvPr/>
        </p:nvSpPr>
        <p:spPr>
          <a:xfrm>
            <a:off x="5490000" y="2406600"/>
            <a:ext cx="61686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Invent a time-machine, become immortal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Rectangle 61"/>
          <p:cNvSpPr/>
          <p:nvPr/>
        </p:nvSpPr>
        <p:spPr>
          <a:xfrm>
            <a:off x="5490000" y="2730600"/>
            <a:ext cx="61686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13.8 billion years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2.9e+16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groups/reality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16"/>
          <p:cNvSpPr/>
          <p:nvPr/>
        </p:nvSpPr>
        <p:spPr>
          <a:xfrm>
            <a:off x="0" y="-182520"/>
            <a:ext cx="12185280" cy="131832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Continuously since the Big Bang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4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6560" cy="35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"/>
          <p:cNvSpPr/>
          <p:nvPr/>
        </p:nvSpPr>
        <p:spPr>
          <a:xfrm>
            <a:off x="6629400" y="5215320"/>
            <a:ext cx="3885120" cy="76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 file down, 99 more to go!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"/>
          <p:cNvGrpSpPr/>
          <p:nvPr/>
        </p:nvGrpSpPr>
        <p:grpSpPr>
          <a:xfrm>
            <a:off x="6858000" y="1371600"/>
            <a:ext cx="5026680" cy="4112280"/>
            <a:chOff x="6858000" y="1371600"/>
            <a:chExt cx="5026680" cy="4112280"/>
          </a:xfrm>
        </p:grpSpPr>
        <p:pic>
          <p:nvPicPr>
            <p:cNvPr id="237" name="" descr=""/>
            <p:cNvPicPr/>
            <p:nvPr/>
          </p:nvPicPr>
          <p:blipFill>
            <a:blip r:embed="rId1"/>
            <a:srcRect l="0" t="0" r="75396" b="50082"/>
            <a:stretch/>
          </p:blipFill>
          <p:spPr>
            <a:xfrm>
              <a:off x="7073280" y="1762920"/>
              <a:ext cx="4365720" cy="3720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38" name=""/>
            <p:cNvSpPr/>
            <p:nvPr/>
          </p:nvSpPr>
          <p:spPr>
            <a:xfrm>
              <a:off x="6858000" y="2743200"/>
              <a:ext cx="570240" cy="156492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39" name=""/>
            <p:cNvSpPr/>
            <p:nvPr/>
          </p:nvSpPr>
          <p:spPr>
            <a:xfrm>
              <a:off x="7239600" y="1371600"/>
              <a:ext cx="570600" cy="97704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40" name=""/>
            <p:cNvSpPr/>
            <p:nvPr/>
          </p:nvSpPr>
          <p:spPr>
            <a:xfrm>
              <a:off x="11314440" y="1567440"/>
              <a:ext cx="570240" cy="97704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pic>
        <p:nvPicPr>
          <p:cNvPr id="241" name="Picture 73" descr=""/>
          <p:cNvPicPr/>
          <p:nvPr/>
        </p:nvPicPr>
        <p:blipFill>
          <a:blip r:embed="rId2"/>
          <a:stretch/>
        </p:blipFill>
        <p:spPr>
          <a:xfrm>
            <a:off x="10435680" y="6172560"/>
            <a:ext cx="1139040" cy="39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2" name=""/>
          <p:cNvSpPr/>
          <p:nvPr/>
        </p:nvSpPr>
        <p:spPr>
          <a:xfrm>
            <a:off x="685800" y="1135800"/>
            <a:ext cx="5937480" cy="1437120"/>
          </a:xfrm>
          <a:prstGeom prst="rect">
            <a:avLst/>
          </a:prstGeom>
          <a:solidFill>
            <a:srgbClr val="ffd7d7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43" name="Rectangle 69"/>
          <p:cNvSpPr/>
          <p:nvPr/>
        </p:nvSpPr>
        <p:spPr>
          <a:xfrm>
            <a:off x="685800" y="1143000"/>
            <a:ext cx="594108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Consequently, if the goal is to characterize all cell populations present, some form of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unsupervised (algorithm) or semi-supervised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analytical approaches will be needed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-18360" y="48600"/>
            <a:ext cx="12207960" cy="10897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Alternative: Unsupervised Analysis (Algorithms)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Rectangle 70"/>
          <p:cNvSpPr/>
          <p:nvPr/>
        </p:nvSpPr>
        <p:spPr>
          <a:xfrm>
            <a:off x="685800" y="1143000"/>
            <a:ext cx="594108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Consequently, if the goal is to characterize all cell populations present, some form of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unsupervised (algorithm) or semi-supervised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analytical approaches will be needed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Rectangle 71"/>
          <p:cNvSpPr/>
          <p:nvPr/>
        </p:nvSpPr>
        <p:spPr>
          <a:xfrm>
            <a:off x="685800" y="3159000"/>
            <a:ext cx="59410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Clustering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→ FlowSOM, Phenograph, Xshift, etc.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Rectangle 72"/>
          <p:cNvSpPr/>
          <p:nvPr/>
        </p:nvSpPr>
        <p:spPr>
          <a:xfrm>
            <a:off x="685800" y="3789000"/>
            <a:ext cx="594108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Dimensionality visualization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→ opt-SNE, UMAP, PaCMAP, Phate, etc.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685800" y="4813200"/>
            <a:ext cx="5941080" cy="911880"/>
          </a:xfrm>
          <a:prstGeom prst="rect">
            <a:avLst/>
          </a:prstGeom>
          <a:solidFill>
            <a:srgbClr val="3faf46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49" name="Rectangle 73"/>
          <p:cNvSpPr/>
          <p:nvPr/>
        </p:nvSpPr>
        <p:spPr>
          <a:xfrm>
            <a:off x="685800" y="4932000"/>
            <a:ext cx="594108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Automated Gating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→ openCyto, flowMagic, ElasticGate, etc.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685800" y="3104640"/>
            <a:ext cx="5941080" cy="1536840"/>
          </a:xfrm>
          <a:prstGeom prst="rect">
            <a:avLst/>
          </a:prstGeom>
          <a:solidFill>
            <a:srgbClr val="729fcf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51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7640" cy="356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560" cy="638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The challenge for unsupervised approaches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3" name="Picture 2" descr=""/>
          <p:cNvPicPr/>
          <p:nvPr/>
        </p:nvPicPr>
        <p:blipFill>
          <a:blip r:embed="rId1"/>
          <a:stretch/>
        </p:blipFill>
        <p:spPr>
          <a:xfrm>
            <a:off x="1523880" y="1185480"/>
            <a:ext cx="9142560" cy="6399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4" name="Picture 1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41560" cy="39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5" name="" descr=""/>
          <p:cNvPicPr/>
          <p:nvPr/>
        </p:nvPicPr>
        <p:blipFill>
          <a:blip r:embed="rId3"/>
          <a:stretch/>
        </p:blipFill>
        <p:spPr>
          <a:xfrm>
            <a:off x="231120" y="6281280"/>
            <a:ext cx="1366560" cy="35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560" cy="638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The challenge for unsupervised approaches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7" name="Picture 35" descr=""/>
          <p:cNvPicPr/>
          <p:nvPr/>
        </p:nvPicPr>
        <p:blipFill>
          <a:blip r:embed="rId1"/>
          <a:stretch/>
        </p:blipFill>
        <p:spPr>
          <a:xfrm>
            <a:off x="1523880" y="1185480"/>
            <a:ext cx="9142560" cy="6399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8" name="Picture 36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4156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9" name=""/>
          <p:cNvSpPr/>
          <p:nvPr/>
        </p:nvSpPr>
        <p:spPr>
          <a:xfrm flipH="1" flipV="1" rot="16074000">
            <a:off x="1858320" y="894960"/>
            <a:ext cx="453600" cy="49644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860d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60" name="" descr=""/>
          <p:cNvPicPr/>
          <p:nvPr/>
        </p:nvPicPr>
        <p:blipFill>
          <a:blip r:embed="rId3"/>
          <a:stretch/>
        </p:blipFill>
        <p:spPr>
          <a:xfrm>
            <a:off x="231120" y="6281280"/>
            <a:ext cx="1366560" cy="35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560" cy="638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The challenge for unsupervised approaches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2" name="Picture 37" descr=""/>
          <p:cNvPicPr/>
          <p:nvPr/>
        </p:nvPicPr>
        <p:blipFill>
          <a:blip r:embed="rId1"/>
          <a:stretch/>
        </p:blipFill>
        <p:spPr>
          <a:xfrm>
            <a:off x="1523880" y="1185480"/>
            <a:ext cx="9142560" cy="6399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3" name="Picture 38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4156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4" name=""/>
          <p:cNvSpPr/>
          <p:nvPr/>
        </p:nvSpPr>
        <p:spPr>
          <a:xfrm flipH="1" flipV="1" rot="16074000">
            <a:off x="9402120" y="894960"/>
            <a:ext cx="453600" cy="49644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860d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65" name="" descr=""/>
          <p:cNvPicPr/>
          <p:nvPr/>
        </p:nvPicPr>
        <p:blipFill>
          <a:blip r:embed="rId3"/>
          <a:stretch/>
        </p:blipFill>
        <p:spPr>
          <a:xfrm>
            <a:off x="231120" y="6281280"/>
            <a:ext cx="1366560" cy="35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560" cy="638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The challenge for unsupervised approaches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7" name="Picture 39" descr=""/>
          <p:cNvPicPr/>
          <p:nvPr/>
        </p:nvPicPr>
        <p:blipFill>
          <a:blip r:embed="rId1"/>
          <a:stretch/>
        </p:blipFill>
        <p:spPr>
          <a:xfrm>
            <a:off x="1523880" y="1185480"/>
            <a:ext cx="9142560" cy="6399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8" name="Picture 40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4156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"/>
          <p:cNvSpPr/>
          <p:nvPr/>
        </p:nvSpPr>
        <p:spPr>
          <a:xfrm>
            <a:off x="3321360" y="5257800"/>
            <a:ext cx="4908600" cy="360"/>
          </a:xfrm>
          <a:prstGeom prst="line">
            <a:avLst/>
          </a:prstGeom>
          <a:ln w="73080">
            <a:solidFill>
              <a:srgbClr val="069a2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26360" rIns="126360" tIns="-81360" bIns="-81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0" name=""/>
          <p:cNvSpPr/>
          <p:nvPr/>
        </p:nvSpPr>
        <p:spPr>
          <a:xfrm flipH="1">
            <a:off x="3321360" y="5486400"/>
            <a:ext cx="4908600" cy="360"/>
          </a:xfrm>
          <a:prstGeom prst="line">
            <a:avLst/>
          </a:prstGeom>
          <a:ln w="73080">
            <a:solidFill>
              <a:srgbClr val="069a2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26360" rIns="126360" tIns="-81360" bIns="-81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71" name="" descr=""/>
          <p:cNvPicPr/>
          <p:nvPr/>
        </p:nvPicPr>
        <p:blipFill>
          <a:blip r:embed="rId3"/>
          <a:stretch/>
        </p:blipFill>
        <p:spPr>
          <a:xfrm>
            <a:off x="231120" y="6281280"/>
            <a:ext cx="1366560" cy="35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"/>
          <p:cNvSpPr/>
          <p:nvPr/>
        </p:nvSpPr>
        <p:spPr>
          <a:xfrm>
            <a:off x="5486400" y="1155600"/>
            <a:ext cx="5941080" cy="1369080"/>
          </a:xfrm>
          <a:prstGeom prst="rect">
            <a:avLst/>
          </a:prstGeom>
          <a:solidFill>
            <a:srgbClr val="6b5e9b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3" name=""/>
          <p:cNvSpPr/>
          <p:nvPr/>
        </p:nvSpPr>
        <p:spPr>
          <a:xfrm>
            <a:off x="5486400" y="2669040"/>
            <a:ext cx="5937480" cy="990720"/>
          </a:xfrm>
          <a:prstGeom prst="rect">
            <a:avLst/>
          </a:prstGeom>
          <a:solidFill>
            <a:srgbClr val="729fcf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4" name=""/>
          <p:cNvSpPr/>
          <p:nvPr/>
        </p:nvSpPr>
        <p:spPr>
          <a:xfrm>
            <a:off x="5486400" y="3810600"/>
            <a:ext cx="5937480" cy="1397880"/>
          </a:xfrm>
          <a:prstGeom prst="rect">
            <a:avLst/>
          </a:prstGeom>
          <a:solidFill>
            <a:srgbClr val="3faf46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6360" cy="13194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6" name="Picture 76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9040" cy="39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7" name="Rectangle 74"/>
          <p:cNvSpPr/>
          <p:nvPr/>
        </p:nvSpPr>
        <p:spPr>
          <a:xfrm>
            <a:off x="5486400" y="1143000"/>
            <a:ext cx="617328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Many of these software tools were </a:t>
            </a:r>
            <a:r>
              <a:rPr b="0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originally implemented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as R or Python packages, for use in analysis of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mass cytometry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or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single-cell RNA-seq datasets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Rectangle 75"/>
          <p:cNvSpPr/>
          <p:nvPr/>
        </p:nvSpPr>
        <p:spPr>
          <a:xfrm>
            <a:off x="5486400" y="2669040"/>
            <a:ext cx="5941080" cy="10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Mass cytometry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→ similar number of markers, typically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fewer events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, no unmixing variation due to autofluorescence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6"/>
          <p:cNvSpPr/>
          <p:nvPr/>
        </p:nvSpPr>
        <p:spPr>
          <a:xfrm>
            <a:off x="0" y="-182520"/>
            <a:ext cx="12186360" cy="131940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Adapted algorithmic tools struggle with number of events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Rectangle 76"/>
          <p:cNvSpPr/>
          <p:nvPr/>
        </p:nvSpPr>
        <p:spPr>
          <a:xfrm>
            <a:off x="5486400" y="3748680"/>
            <a:ext cx="594108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Single-cell RNA-seq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→ substantially more markers, typically way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fewer events.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No equivalent “negative” gate events for not expressed transcripts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Rectangle 77"/>
          <p:cNvSpPr/>
          <p:nvPr/>
        </p:nvSpPr>
        <p:spPr>
          <a:xfrm>
            <a:off x="5486400" y="5332680"/>
            <a:ext cx="59410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Down-sampling becomes often necessary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"/>
          <p:cNvSpPr/>
          <p:nvPr/>
        </p:nvSpPr>
        <p:spPr>
          <a:xfrm>
            <a:off x="5486400" y="5332680"/>
            <a:ext cx="5941080" cy="608400"/>
          </a:xfrm>
          <a:prstGeom prst="rect">
            <a:avLst/>
          </a:prstGeom>
          <a:solidFill>
            <a:srgbClr val="f7d1d5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83" name="" descr=""/>
          <p:cNvPicPr/>
          <p:nvPr/>
        </p:nvPicPr>
        <p:blipFill>
          <a:blip r:embed="rId2"/>
          <a:stretch/>
        </p:blipFill>
        <p:spPr>
          <a:xfrm>
            <a:off x="381240" y="2057400"/>
            <a:ext cx="4874040" cy="2659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4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7640" cy="356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" descr=""/>
          <p:cNvPicPr/>
          <p:nvPr/>
        </p:nvPicPr>
        <p:blipFill>
          <a:blip r:embed="rId1"/>
          <a:stretch/>
        </p:blipFill>
        <p:spPr>
          <a:xfrm>
            <a:off x="5768640" y="1863000"/>
            <a:ext cx="6116040" cy="29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6" name=""/>
          <p:cNvSpPr/>
          <p:nvPr/>
        </p:nvSpPr>
        <p:spPr>
          <a:xfrm>
            <a:off x="230040" y="1229040"/>
            <a:ext cx="5482440" cy="1367640"/>
          </a:xfrm>
          <a:prstGeom prst="rect">
            <a:avLst/>
          </a:prstGeom>
          <a:solidFill>
            <a:srgbClr val="f7d1d5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87" name="Picture 170" descr=""/>
          <p:cNvPicPr/>
          <p:nvPr/>
        </p:nvPicPr>
        <p:blipFill>
          <a:blip r:embed="rId2"/>
          <a:stretch/>
        </p:blipFill>
        <p:spPr>
          <a:xfrm>
            <a:off x="10435680" y="6172560"/>
            <a:ext cx="1139040" cy="39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8" name=""/>
          <p:cNvSpPr/>
          <p:nvPr/>
        </p:nvSpPr>
        <p:spPr>
          <a:xfrm>
            <a:off x="101880" y="89280"/>
            <a:ext cx="12011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Adapted algorithmic tools struggle with unmixing errors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Rectangle 78"/>
          <p:cNvSpPr/>
          <p:nvPr/>
        </p:nvSpPr>
        <p:spPr>
          <a:xfrm>
            <a:off x="228600" y="1192680"/>
            <a:ext cx="548748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Adapted software packages heavily rely on having a consistent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median fluorescent intensity (MFI)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to cluster cells based on positive or negative marker expression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"/>
          <p:cNvSpPr/>
          <p:nvPr/>
        </p:nvSpPr>
        <p:spPr>
          <a:xfrm>
            <a:off x="228600" y="4343400"/>
            <a:ext cx="5482440" cy="1367640"/>
          </a:xfrm>
          <a:prstGeom prst="rect">
            <a:avLst/>
          </a:prstGeom>
          <a:solidFill>
            <a:srgbClr val="77bc65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Unmixing errors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can seriously shift the MFI ranges for “negative” and “positive” cells for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individual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acquired specimens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228600" y="2780640"/>
            <a:ext cx="5482440" cy="1367640"/>
          </a:xfrm>
          <a:prstGeom prst="rect">
            <a:avLst/>
          </a:prstGeom>
          <a:solidFill>
            <a:srgbClr val="ff8000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Existing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batch correction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/ normalization / scaling tools target instrumental or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experimental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level variation for correction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2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7640" cy="356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"/>
          <p:cNvSpPr/>
          <p:nvPr/>
        </p:nvSpPr>
        <p:spPr>
          <a:xfrm>
            <a:off x="7317000" y="1144800"/>
            <a:ext cx="4568040" cy="1367640"/>
          </a:xfrm>
          <a:prstGeom prst="rect">
            <a:avLst/>
          </a:prstGeom>
          <a:solidFill>
            <a:srgbClr val="f7d1d5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94" name="Picture 77" descr=""/>
          <p:cNvPicPr/>
          <p:nvPr/>
        </p:nvPicPr>
        <p:blipFill>
          <a:blip r:embed="rId1"/>
          <a:stretch/>
        </p:blipFill>
        <p:spPr>
          <a:xfrm>
            <a:off x="10435680" y="6172560"/>
            <a:ext cx="1139040" cy="39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5" name=""/>
          <p:cNvSpPr/>
          <p:nvPr/>
        </p:nvSpPr>
        <p:spPr>
          <a:xfrm>
            <a:off x="101880" y="89280"/>
            <a:ext cx="12011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“We discovered a novel dendritic cell cluster”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6" name="" descr=""/>
          <p:cNvPicPr/>
          <p:nvPr/>
        </p:nvPicPr>
        <p:blipFill>
          <a:blip r:embed="rId2"/>
          <a:stretch/>
        </p:blipFill>
        <p:spPr>
          <a:xfrm>
            <a:off x="457200" y="6172200"/>
            <a:ext cx="1367640" cy="35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7" name="" descr=""/>
          <p:cNvPicPr/>
          <p:nvPr/>
        </p:nvPicPr>
        <p:blipFill>
          <a:blip r:embed="rId3"/>
          <a:stretch/>
        </p:blipFill>
        <p:spPr>
          <a:xfrm>
            <a:off x="393120" y="1062000"/>
            <a:ext cx="6691320" cy="465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8" name="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99000" y="4572360"/>
            <a:ext cx="1140480" cy="114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9" name=""/>
          <p:cNvSpPr/>
          <p:nvPr/>
        </p:nvSpPr>
        <p:spPr>
          <a:xfrm>
            <a:off x="7399800" y="1143000"/>
            <a:ext cx="456984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Despite the critical importance unmixing controls play, few tools permit us to determine quality of the individual control before unmixing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7315200" y="2514600"/>
            <a:ext cx="456984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Existing quality control algorithms (PeacoQC, FlowAI, etc.) primarily focus on detecting laser and fluidic issues in already acquired .fcs files.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7387200" y="3922200"/>
            <a:ext cx="456984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Unmixing errors can be introduced by tandem degradational, additional autofluorescences, undiagnosed instrumental issues, etc.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7315200" y="2552400"/>
            <a:ext cx="4568040" cy="1367640"/>
          </a:xfrm>
          <a:prstGeom prst="rect">
            <a:avLst/>
          </a:prstGeom>
          <a:solidFill>
            <a:srgbClr val="3faf46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03" name=""/>
          <p:cNvSpPr/>
          <p:nvPr/>
        </p:nvSpPr>
        <p:spPr>
          <a:xfrm>
            <a:off x="7281000" y="3994200"/>
            <a:ext cx="4568040" cy="1367640"/>
          </a:xfrm>
          <a:prstGeom prst="rect">
            <a:avLst/>
          </a:prstGeom>
          <a:solidFill>
            <a:srgbClr val="ffbf00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"/>
          <p:cNvSpPr/>
          <p:nvPr/>
        </p:nvSpPr>
        <p:spPr>
          <a:xfrm>
            <a:off x="6402240" y="4168440"/>
            <a:ext cx="4796640" cy="1315440"/>
          </a:xfrm>
          <a:prstGeom prst="rect">
            <a:avLst/>
          </a:prstGeom>
          <a:solidFill>
            <a:srgbClr val="6b5e9b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05" name="Picture 171" descr=""/>
          <p:cNvPicPr/>
          <p:nvPr/>
        </p:nvPicPr>
        <p:blipFill>
          <a:blip r:embed="rId1"/>
          <a:stretch/>
        </p:blipFill>
        <p:spPr>
          <a:xfrm>
            <a:off x="10435680" y="6172560"/>
            <a:ext cx="1139040" cy="39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6" name=""/>
          <p:cNvSpPr/>
          <p:nvPr/>
        </p:nvSpPr>
        <p:spPr>
          <a:xfrm>
            <a:off x="101880" y="89280"/>
            <a:ext cx="12011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Full biological discovery potential often out of reach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Rectangle 79"/>
          <p:cNvSpPr/>
          <p:nvPr/>
        </p:nvSpPr>
        <p:spPr>
          <a:xfrm>
            <a:off x="6400800" y="4082400"/>
            <a:ext cx="479808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For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most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spectral flow cytometry datasets, only a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handful of cell populations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end up being analyzed by any method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6400800" y="1371600"/>
            <a:ext cx="4798080" cy="597240"/>
          </a:xfrm>
          <a:prstGeom prst="rect">
            <a:avLst/>
          </a:prstGeom>
          <a:solidFill>
            <a:srgbClr val="77bc65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09" name="Rectangle 80"/>
          <p:cNvSpPr/>
          <p:nvPr/>
        </p:nvSpPr>
        <p:spPr>
          <a:xfrm>
            <a:off x="6402240" y="1418400"/>
            <a:ext cx="41518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Most flow cytometrist don’t code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10" name=""/>
          <p:cNvGrpSpPr/>
          <p:nvPr/>
        </p:nvGrpSpPr>
        <p:grpSpPr>
          <a:xfrm>
            <a:off x="204480" y="1612800"/>
            <a:ext cx="5965200" cy="3252240"/>
            <a:chOff x="204480" y="1612800"/>
            <a:chExt cx="5965200" cy="3252240"/>
          </a:xfrm>
        </p:grpSpPr>
        <p:pic>
          <p:nvPicPr>
            <p:cNvPr id="311" name="" descr=""/>
            <p:cNvPicPr/>
            <p:nvPr/>
          </p:nvPicPr>
          <p:blipFill>
            <a:blip r:embed="rId2"/>
            <a:stretch/>
          </p:blipFill>
          <p:spPr>
            <a:xfrm>
              <a:off x="204480" y="1612800"/>
              <a:ext cx="5965200" cy="32522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12" name=""/>
            <p:cNvSpPr/>
            <p:nvPr/>
          </p:nvSpPr>
          <p:spPr>
            <a:xfrm>
              <a:off x="3886200" y="1900800"/>
              <a:ext cx="1826280" cy="22608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313" name=""/>
          <p:cNvSpPr/>
          <p:nvPr/>
        </p:nvSpPr>
        <p:spPr>
          <a:xfrm>
            <a:off x="6402240" y="2143440"/>
            <a:ext cx="4796640" cy="825840"/>
          </a:xfrm>
          <a:prstGeom prst="rect">
            <a:avLst/>
          </a:prstGeom>
          <a:solidFill>
            <a:srgbClr val="ffe994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14" name="Rectangle 81"/>
          <p:cNvSpPr/>
          <p:nvPr/>
        </p:nvSpPr>
        <p:spPr>
          <a:xfrm>
            <a:off x="6400800" y="2201400"/>
            <a:ext cx="479808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You likely lost your bioinformatician while describing manual gating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6398640" y="3134520"/>
            <a:ext cx="4800240" cy="736920"/>
          </a:xfrm>
          <a:prstGeom prst="rect">
            <a:avLst/>
          </a:prstGeom>
          <a:solidFill>
            <a:srgbClr val="ffa6a6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16" name="Rectangle 82"/>
          <p:cNvSpPr/>
          <p:nvPr/>
        </p:nvSpPr>
        <p:spPr>
          <a:xfrm>
            <a:off x="6397200" y="3156480"/>
            <a:ext cx="4801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The statisticians were never consulted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7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7640" cy="356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"/>
          <p:cNvSpPr/>
          <p:nvPr/>
        </p:nvSpPr>
        <p:spPr>
          <a:xfrm>
            <a:off x="6118920" y="3496680"/>
            <a:ext cx="5104440" cy="1436040"/>
          </a:xfrm>
          <a:prstGeom prst="rect">
            <a:avLst/>
          </a:prstGeom>
          <a:solidFill>
            <a:srgbClr val="ff972f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19" name="Picture 81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4156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657360" y="104400"/>
            <a:ext cx="10899000" cy="60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Personal Goal: No cell left behind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1" name="Picture 82" descr=""/>
          <p:cNvPicPr/>
          <p:nvPr/>
        </p:nvPicPr>
        <p:blipFill>
          <a:blip r:embed="rId2"/>
          <a:stretch/>
        </p:blipFill>
        <p:spPr>
          <a:xfrm>
            <a:off x="1311840" y="792360"/>
            <a:ext cx="4109400" cy="5490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2" name="TextBox 15"/>
          <p:cNvSpPr/>
          <p:nvPr/>
        </p:nvSpPr>
        <p:spPr>
          <a:xfrm>
            <a:off x="6095880" y="1191240"/>
            <a:ext cx="5045400" cy="19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sng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Repeated 3 AM thoughts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What makes spectral flow cytometry data amazing is both the depth and the breadth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Box 28"/>
          <p:cNvSpPr/>
          <p:nvPr/>
        </p:nvSpPr>
        <p:spPr>
          <a:xfrm>
            <a:off x="6118920" y="3223800"/>
            <a:ext cx="504540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How to fully profile the entirety of the acquired dataset, not just a single cell population of interest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"/>
          <p:cNvSpPr/>
          <p:nvPr/>
        </p:nvSpPr>
        <p:spPr>
          <a:xfrm>
            <a:off x="6095880" y="1847880"/>
            <a:ext cx="5104440" cy="1436040"/>
          </a:xfrm>
          <a:prstGeom prst="rect">
            <a:avLst/>
          </a:prstGeom>
          <a:solidFill>
            <a:srgbClr val="afd095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25" name="" descr=""/>
          <p:cNvPicPr/>
          <p:nvPr/>
        </p:nvPicPr>
        <p:blipFill>
          <a:blip r:embed="rId3"/>
          <a:stretch/>
        </p:blipFill>
        <p:spPr>
          <a:xfrm>
            <a:off x="231120" y="6281280"/>
            <a:ext cx="1366560" cy="35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Picture 7" descr=""/>
          <p:cNvPicPr/>
          <p:nvPr/>
        </p:nvPicPr>
        <p:blipFill>
          <a:blip r:embed="rId1"/>
          <a:stretch/>
        </p:blipFill>
        <p:spPr>
          <a:xfrm>
            <a:off x="1908720" y="698760"/>
            <a:ext cx="8372880" cy="586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560" cy="638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My PhD’s focus: HIV-exposed Uninfected Infants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8" name="Picture 9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41560" cy="39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9" name="" descr=""/>
          <p:cNvPicPr/>
          <p:nvPr/>
        </p:nvPicPr>
        <p:blipFill>
          <a:blip r:embed="rId3"/>
          <a:stretch/>
        </p:blipFill>
        <p:spPr>
          <a:xfrm>
            <a:off x="231120" y="6281280"/>
            <a:ext cx="1366560" cy="35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Picture 2" descr=""/>
          <p:cNvPicPr/>
          <p:nvPr/>
        </p:nvPicPr>
        <p:blipFill>
          <a:blip r:embed="rId1"/>
          <a:stretch/>
        </p:blipFill>
        <p:spPr>
          <a:xfrm>
            <a:off x="2773080" y="228600"/>
            <a:ext cx="9142560" cy="639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560" cy="638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Our Malawian Cohort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2" name="Picture 4" descr=""/>
          <p:cNvPicPr/>
          <p:nvPr/>
        </p:nvPicPr>
        <p:blipFill>
          <a:blip r:embed="rId2"/>
          <a:stretch/>
        </p:blipFill>
        <p:spPr>
          <a:xfrm>
            <a:off x="459000" y="1765440"/>
            <a:ext cx="3068640" cy="3570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3" name="Picture 5" descr=""/>
          <p:cNvPicPr/>
          <p:nvPr/>
        </p:nvPicPr>
        <p:blipFill>
          <a:blip r:embed="rId3"/>
          <a:stretch/>
        </p:blipFill>
        <p:spPr>
          <a:xfrm>
            <a:off x="10435680" y="6172200"/>
            <a:ext cx="1141560" cy="39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4" name="" descr=""/>
          <p:cNvPicPr/>
          <p:nvPr/>
        </p:nvPicPr>
        <p:blipFill>
          <a:blip r:embed="rId4"/>
          <a:stretch/>
        </p:blipFill>
        <p:spPr>
          <a:xfrm>
            <a:off x="231120" y="6281280"/>
            <a:ext cx="1366560" cy="35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560" cy="638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Study Timeline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6" name="Picture 3" descr=""/>
          <p:cNvPicPr/>
          <p:nvPr/>
        </p:nvPicPr>
        <p:blipFill>
          <a:blip r:embed="rId1"/>
          <a:srcRect l="0" t="18235" r="0" b="29137"/>
          <a:stretch/>
        </p:blipFill>
        <p:spPr>
          <a:xfrm>
            <a:off x="404640" y="1332360"/>
            <a:ext cx="11381400" cy="419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7" name="Arrow: Right 4"/>
          <p:cNvSpPr/>
          <p:nvPr/>
        </p:nvSpPr>
        <p:spPr>
          <a:xfrm rot="16200000">
            <a:off x="4167720" y="5541120"/>
            <a:ext cx="530280" cy="2854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8" name="Arrow: Right 5"/>
          <p:cNvSpPr/>
          <p:nvPr/>
        </p:nvSpPr>
        <p:spPr>
          <a:xfrm rot="16200000">
            <a:off x="9073080" y="5555160"/>
            <a:ext cx="530280" cy="2854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9" name="Arrow: Right 6"/>
          <p:cNvSpPr/>
          <p:nvPr/>
        </p:nvSpPr>
        <p:spPr>
          <a:xfrm rot="16200000">
            <a:off x="10784880" y="5576400"/>
            <a:ext cx="530280" cy="2854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40" name="Picture 7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41560" cy="39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1" name="" descr=""/>
          <p:cNvPicPr/>
          <p:nvPr/>
        </p:nvPicPr>
        <p:blipFill>
          <a:blip r:embed="rId3"/>
          <a:stretch/>
        </p:blipFill>
        <p:spPr>
          <a:xfrm>
            <a:off x="231120" y="6281280"/>
            <a:ext cx="1366560" cy="35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560" cy="638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32-Fluorophore Spectral Flow Cytometry Panel 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3" name="Picture 1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41560" cy="3996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44" name=""/>
          <p:cNvGrpSpPr/>
          <p:nvPr/>
        </p:nvGrpSpPr>
        <p:grpSpPr>
          <a:xfrm>
            <a:off x="914400" y="757800"/>
            <a:ext cx="2284920" cy="5641920"/>
            <a:chOff x="914400" y="757800"/>
            <a:chExt cx="2284920" cy="5641920"/>
          </a:xfrm>
        </p:grpSpPr>
        <p:pic>
          <p:nvPicPr>
            <p:cNvPr id="345" name="Picture 3" descr=""/>
            <p:cNvPicPr/>
            <p:nvPr/>
          </p:nvPicPr>
          <p:blipFill>
            <a:blip r:embed="rId2"/>
            <a:srcRect l="0" t="0" r="0" b="29919"/>
            <a:stretch/>
          </p:blipFill>
          <p:spPr>
            <a:xfrm>
              <a:off x="914400" y="757800"/>
              <a:ext cx="2284920" cy="2573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46" name="Picture 7" descr=""/>
            <p:cNvPicPr/>
            <p:nvPr/>
          </p:nvPicPr>
          <p:blipFill>
            <a:blip r:embed="rId3"/>
            <a:stretch/>
          </p:blipFill>
          <p:spPr>
            <a:xfrm>
              <a:off x="914400" y="3324960"/>
              <a:ext cx="2278080" cy="307476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347" name="Picture 43" descr=""/>
          <p:cNvPicPr/>
          <p:nvPr/>
        </p:nvPicPr>
        <p:blipFill>
          <a:blip r:embed="rId4"/>
          <a:srcRect l="0" t="6125" r="0" b="0"/>
          <a:stretch/>
        </p:blipFill>
        <p:spPr>
          <a:xfrm>
            <a:off x="2743200" y="1022400"/>
            <a:ext cx="8228520" cy="540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8" name="" descr=""/>
          <p:cNvPicPr/>
          <p:nvPr/>
        </p:nvPicPr>
        <p:blipFill>
          <a:blip r:embed="rId5"/>
          <a:stretch/>
        </p:blipFill>
        <p:spPr>
          <a:xfrm>
            <a:off x="231120" y="6389280"/>
            <a:ext cx="1366560" cy="35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Picture 172" descr=""/>
          <p:cNvPicPr/>
          <p:nvPr/>
        </p:nvPicPr>
        <p:blipFill>
          <a:blip r:embed="rId1"/>
          <a:srcRect l="13383" t="8379" r="6425" b="0"/>
          <a:stretch/>
        </p:blipFill>
        <p:spPr>
          <a:xfrm>
            <a:off x="2700720" y="1371600"/>
            <a:ext cx="2325960" cy="228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0" name=""/>
          <p:cNvSpPr/>
          <p:nvPr/>
        </p:nvSpPr>
        <p:spPr>
          <a:xfrm>
            <a:off x="5486400" y="1828800"/>
            <a:ext cx="681840" cy="681840"/>
          </a:xfrm>
          <a:prstGeom prst="rect">
            <a:avLst/>
          </a:prstGeom>
          <a:solidFill>
            <a:srgbClr val="ffffff"/>
          </a:solidFill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51" name="Picture 78" descr=""/>
          <p:cNvPicPr/>
          <p:nvPr/>
        </p:nvPicPr>
        <p:blipFill>
          <a:blip r:embed="rId2"/>
          <a:stretch/>
        </p:blipFill>
        <p:spPr>
          <a:xfrm>
            <a:off x="10435680" y="6172560"/>
            <a:ext cx="1139040" cy="39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2" name=""/>
          <p:cNvSpPr/>
          <p:nvPr/>
        </p:nvSpPr>
        <p:spPr>
          <a:xfrm>
            <a:off x="0" y="41040"/>
            <a:ext cx="1211328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To unlock the comprehensive biological discovery potential,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we need to address these pink elephants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"/>
          <p:cNvSpPr/>
          <p:nvPr/>
        </p:nvSpPr>
        <p:spPr>
          <a:xfrm>
            <a:off x="6402240" y="1457640"/>
            <a:ext cx="5025240" cy="1328760"/>
          </a:xfrm>
          <a:prstGeom prst="rect">
            <a:avLst/>
          </a:prstGeom>
          <a:solidFill>
            <a:srgbClr val="77bc65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4" name="Rectangle 83"/>
          <p:cNvSpPr/>
          <p:nvPr/>
        </p:nvSpPr>
        <p:spPr>
          <a:xfrm>
            <a:off x="6402240" y="1418400"/>
            <a:ext cx="502524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Quality of the unmixed full-stained data is linked to the quality of our single-color controls (and our ability to provide appropriate autofluorescence controls).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>
            <a:off x="6400800" y="3214440"/>
            <a:ext cx="5026680" cy="1511640"/>
          </a:xfrm>
          <a:prstGeom prst="rect">
            <a:avLst/>
          </a:prstGeom>
          <a:solidFill>
            <a:srgbClr val="ffe994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6" name="Rectangle 84"/>
          <p:cNvSpPr/>
          <p:nvPr/>
        </p:nvSpPr>
        <p:spPr>
          <a:xfrm>
            <a:off x="6400800" y="3201480"/>
            <a:ext cx="502524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If we are acquiring 3 million cells to detect 100 rare cells, how do we thoroughly explore the rest of the sample to avoid wasting useful data?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"/>
          <p:cNvSpPr/>
          <p:nvPr/>
        </p:nvSpPr>
        <p:spPr>
          <a:xfrm>
            <a:off x="5486400" y="3585600"/>
            <a:ext cx="681840" cy="681840"/>
          </a:xfrm>
          <a:prstGeom prst="rect">
            <a:avLst/>
          </a:prstGeom>
          <a:solidFill>
            <a:srgbClr val="ffffff"/>
          </a:solidFill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58" name="" descr=""/>
          <p:cNvPicPr/>
          <p:nvPr/>
        </p:nvPicPr>
        <p:blipFill>
          <a:blip r:embed="rId3"/>
          <a:stretch/>
        </p:blipFill>
        <p:spPr>
          <a:xfrm>
            <a:off x="651960" y="3357000"/>
            <a:ext cx="2774520" cy="2740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9" name="" descr=""/>
          <p:cNvPicPr/>
          <p:nvPr/>
        </p:nvPicPr>
        <p:blipFill>
          <a:blip r:embed="rId4"/>
          <a:stretch/>
        </p:blipFill>
        <p:spPr>
          <a:xfrm>
            <a:off x="457200" y="6172200"/>
            <a:ext cx="1367640" cy="356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"/>
          <p:cNvSpPr/>
          <p:nvPr/>
        </p:nvSpPr>
        <p:spPr>
          <a:xfrm>
            <a:off x="4343400" y="3429000"/>
            <a:ext cx="3426840" cy="683640"/>
          </a:xfrm>
          <a:prstGeom prst="rect">
            <a:avLst/>
          </a:prstGeom>
          <a:solidFill>
            <a:srgbClr val="ffbf00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61" name="Picture 79" descr=""/>
          <p:cNvPicPr/>
          <p:nvPr/>
        </p:nvPicPr>
        <p:blipFill>
          <a:blip r:embed="rId1"/>
          <a:stretch/>
        </p:blipFill>
        <p:spPr>
          <a:xfrm>
            <a:off x="10435680" y="6172560"/>
            <a:ext cx="1139040" cy="39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2" name=""/>
          <p:cNvSpPr/>
          <p:nvPr/>
        </p:nvSpPr>
        <p:spPr>
          <a:xfrm>
            <a:off x="0" y="41040"/>
            <a:ext cx="121132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Building open-source tool-sets to address SFC’s quirks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3" name="" descr=""/>
          <p:cNvPicPr/>
          <p:nvPr/>
        </p:nvPicPr>
        <p:blipFill>
          <a:blip r:embed="rId2"/>
          <a:stretch/>
        </p:blipFill>
        <p:spPr>
          <a:xfrm>
            <a:off x="457200" y="6172200"/>
            <a:ext cx="1367640" cy="35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4" name="" descr=""/>
          <p:cNvPicPr/>
          <p:nvPr/>
        </p:nvPicPr>
        <p:blipFill>
          <a:blip r:embed="rId3"/>
          <a:stretch/>
        </p:blipFill>
        <p:spPr>
          <a:xfrm>
            <a:off x="1371600" y="1371240"/>
            <a:ext cx="2107080" cy="182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5" name="" descr=""/>
          <p:cNvPicPr/>
          <p:nvPr/>
        </p:nvPicPr>
        <p:blipFill>
          <a:blip r:embed="rId4"/>
          <a:stretch/>
        </p:blipFill>
        <p:spPr>
          <a:xfrm>
            <a:off x="5029200" y="1271880"/>
            <a:ext cx="2277000" cy="197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6" name=""/>
          <p:cNvSpPr/>
          <p:nvPr/>
        </p:nvSpPr>
        <p:spPr>
          <a:xfrm>
            <a:off x="687600" y="3476520"/>
            <a:ext cx="3425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Spectral Signature Characterization and Isolation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"/>
          <p:cNvSpPr/>
          <p:nvPr/>
        </p:nvSpPr>
        <p:spPr>
          <a:xfrm>
            <a:off x="8208000" y="3428640"/>
            <a:ext cx="3425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Automated Instrument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Quality-Control Dashboards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"/>
          <p:cNvSpPr/>
          <p:nvPr/>
        </p:nvSpPr>
        <p:spPr>
          <a:xfrm>
            <a:off x="4343400" y="3475800"/>
            <a:ext cx="3425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Incorporation of manually-annotated gating information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9" name="" descr=""/>
          <p:cNvPicPr/>
          <p:nvPr/>
        </p:nvPicPr>
        <p:blipFill>
          <a:blip r:embed="rId5"/>
          <a:stretch/>
        </p:blipFill>
        <p:spPr>
          <a:xfrm>
            <a:off x="9027720" y="1143000"/>
            <a:ext cx="1919880" cy="221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0" name=""/>
          <p:cNvSpPr/>
          <p:nvPr/>
        </p:nvSpPr>
        <p:spPr>
          <a:xfrm>
            <a:off x="8206200" y="3428640"/>
            <a:ext cx="3426840" cy="683640"/>
          </a:xfrm>
          <a:prstGeom prst="rect">
            <a:avLst/>
          </a:prstGeom>
          <a:solidFill>
            <a:srgbClr val="729fcf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71" name=""/>
          <p:cNvSpPr/>
          <p:nvPr/>
        </p:nvSpPr>
        <p:spPr>
          <a:xfrm>
            <a:off x="685800" y="3429000"/>
            <a:ext cx="3426840" cy="683640"/>
          </a:xfrm>
          <a:prstGeom prst="rect">
            <a:avLst/>
          </a:prstGeom>
          <a:solidFill>
            <a:srgbClr val="a1467e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72" name="" descr=""/>
          <p:cNvPicPr/>
          <p:nvPr/>
        </p:nvPicPr>
        <p:blipFill>
          <a:blip r:embed="rId6"/>
          <a:stretch/>
        </p:blipFill>
        <p:spPr>
          <a:xfrm>
            <a:off x="6172200" y="4710600"/>
            <a:ext cx="2188080" cy="145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3" name=""/>
          <p:cNvSpPr/>
          <p:nvPr/>
        </p:nvSpPr>
        <p:spPr>
          <a:xfrm>
            <a:off x="6172200" y="5943600"/>
            <a:ext cx="2512440" cy="683640"/>
          </a:xfrm>
          <a:prstGeom prst="rect">
            <a:avLst/>
          </a:prstGeom>
          <a:solidFill>
            <a:srgbClr val="ff7b59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74" name="Picture 80" descr=""/>
          <p:cNvPicPr/>
          <p:nvPr/>
        </p:nvPicPr>
        <p:blipFill>
          <a:blip r:embed="rId7"/>
          <a:stretch/>
        </p:blipFill>
        <p:spPr>
          <a:xfrm>
            <a:off x="3429000" y="4898160"/>
            <a:ext cx="2283840" cy="172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5" name=""/>
          <p:cNvSpPr/>
          <p:nvPr/>
        </p:nvSpPr>
        <p:spPr>
          <a:xfrm>
            <a:off x="6930000" y="6100200"/>
            <a:ext cx="9612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Rust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Picture 3" descr=""/>
          <p:cNvPicPr/>
          <p:nvPr/>
        </p:nvPicPr>
        <p:blipFill>
          <a:blip r:embed="rId1"/>
          <a:stretch/>
        </p:blipFill>
        <p:spPr>
          <a:xfrm>
            <a:off x="1633320" y="1017360"/>
            <a:ext cx="5833440" cy="463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7" name=""/>
          <p:cNvSpPr/>
          <p:nvPr/>
        </p:nvSpPr>
        <p:spPr>
          <a:xfrm>
            <a:off x="7503480" y="1130400"/>
            <a:ext cx="4382640" cy="456120"/>
          </a:xfrm>
          <a:prstGeom prst="rect">
            <a:avLst/>
          </a:prstGeom>
          <a:solidFill>
            <a:srgbClr val="729fcf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78" name=""/>
          <p:cNvSpPr/>
          <p:nvPr/>
        </p:nvSpPr>
        <p:spPr>
          <a:xfrm>
            <a:off x="7507800" y="1780200"/>
            <a:ext cx="4378320" cy="784800"/>
          </a:xfrm>
          <a:prstGeom prst="rect">
            <a:avLst/>
          </a:prstGeom>
          <a:solidFill>
            <a:srgbClr val="afd095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"/>
          <p:cNvSpPr/>
          <p:nvPr/>
        </p:nvSpPr>
        <p:spPr>
          <a:xfrm>
            <a:off x="7543800" y="2639160"/>
            <a:ext cx="4342320" cy="784800"/>
          </a:xfrm>
          <a:prstGeom prst="rect">
            <a:avLst/>
          </a:prstGeom>
          <a:solidFill>
            <a:srgbClr val="e8a202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7543800" y="3573000"/>
            <a:ext cx="4342320" cy="1141920"/>
          </a:xfrm>
          <a:prstGeom prst="rect">
            <a:avLst/>
          </a:prstGeom>
          <a:solidFill>
            <a:srgbClr val="a7074b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"/>
          <p:cNvSpPr/>
          <p:nvPr/>
        </p:nvSpPr>
        <p:spPr>
          <a:xfrm>
            <a:off x="7543800" y="4860000"/>
            <a:ext cx="4342320" cy="769320"/>
          </a:xfrm>
          <a:prstGeom prst="rect">
            <a:avLst/>
          </a:prstGeom>
          <a:solidFill>
            <a:srgbClr val="f7d1d5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560" cy="638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Previously looked at unconventional T cells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Box 5"/>
          <p:cNvSpPr/>
          <p:nvPr/>
        </p:nvSpPr>
        <p:spPr>
          <a:xfrm>
            <a:off x="7457760" y="1780200"/>
            <a:ext cx="446436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MT Extra" charset="2"/>
              <a:buChar char="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Shifting from 50%-50% FlowJo – R to increasingly more 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4" name="Graphic 7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8960" y="2425680"/>
            <a:ext cx="1517760" cy="151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5" name="TextBox 9"/>
          <p:cNvSpPr/>
          <p:nvPr/>
        </p:nvSpPr>
        <p:spPr>
          <a:xfrm>
            <a:off x="241920" y="4029840"/>
            <a:ext cx="127728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Paper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6" name="Picture 10" descr=""/>
          <p:cNvPicPr/>
          <p:nvPr/>
        </p:nvPicPr>
        <p:blipFill>
          <a:blip r:embed="rId4"/>
          <a:stretch/>
        </p:blipFill>
        <p:spPr>
          <a:xfrm>
            <a:off x="10435680" y="6172200"/>
            <a:ext cx="114156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7" name="TextBox 16"/>
          <p:cNvSpPr/>
          <p:nvPr/>
        </p:nvSpPr>
        <p:spPr>
          <a:xfrm>
            <a:off x="7457760" y="3162600"/>
            <a:ext cx="446436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Building around reproducibility from the start (not as an after thought)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17"/>
          <p:cNvSpPr/>
          <p:nvPr/>
        </p:nvSpPr>
        <p:spPr>
          <a:xfrm>
            <a:off x="7484400" y="4847400"/>
            <a:ext cx="4706640" cy="10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MT Extra" charset="2"/>
              <a:buChar char="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Improved Bioconductor interoperability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Box 18"/>
          <p:cNvSpPr/>
          <p:nvPr/>
        </p:nvSpPr>
        <p:spPr>
          <a:xfrm>
            <a:off x="7474680" y="1096920"/>
            <a:ext cx="446436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Main differences this time around: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Box 20"/>
          <p:cNvSpPr/>
          <p:nvPr/>
        </p:nvSpPr>
        <p:spPr>
          <a:xfrm>
            <a:off x="7457760" y="2237400"/>
            <a:ext cx="44643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Targeted re-writes in Rust to speed up original R code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1" name="" descr=""/>
          <p:cNvPicPr/>
          <p:nvPr/>
        </p:nvPicPr>
        <p:blipFill>
          <a:blip r:embed="rId5"/>
          <a:stretch/>
        </p:blipFill>
        <p:spPr>
          <a:xfrm>
            <a:off x="231120" y="6281280"/>
            <a:ext cx="1366560" cy="35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08960" cy="6346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Semi-supervised Pipeline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3" name="Picture 19" descr=""/>
          <p:cNvPicPr/>
          <p:nvPr/>
        </p:nvPicPr>
        <p:blipFill>
          <a:blip r:embed="rId1"/>
          <a:stretch/>
        </p:blipFill>
        <p:spPr>
          <a:xfrm>
            <a:off x="2061000" y="491400"/>
            <a:ext cx="8265240" cy="5784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4" name="Picture 44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37960" cy="39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5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6560" cy="35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Rectangle 1"/>
          <p:cNvSpPr/>
          <p:nvPr/>
        </p:nvSpPr>
        <p:spPr>
          <a:xfrm>
            <a:off x="2548800" y="697320"/>
            <a:ext cx="5119200" cy="54680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97" name="Rectangle 22"/>
          <p:cNvSpPr/>
          <p:nvPr/>
        </p:nvSpPr>
        <p:spPr>
          <a:xfrm>
            <a:off x="2668680" y="1095120"/>
            <a:ext cx="4559760" cy="3198960"/>
          </a:xfrm>
          <a:prstGeom prst="rect">
            <a:avLst/>
          </a:prstGeom>
          <a:solidFill>
            <a:schemeClr val="bg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98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560" cy="638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Pipeline: Acquisition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9" name="Picture 2" descr=""/>
          <p:cNvPicPr/>
          <p:nvPr/>
        </p:nvPicPr>
        <p:blipFill>
          <a:blip r:embed="rId1"/>
          <a:srcRect l="0" t="0" r="68257" b="0"/>
          <a:stretch/>
        </p:blipFill>
        <p:spPr>
          <a:xfrm>
            <a:off x="-99000" y="491400"/>
            <a:ext cx="2623680" cy="578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0" name="Rectangle 50"/>
          <p:cNvSpPr/>
          <p:nvPr/>
        </p:nvSpPr>
        <p:spPr>
          <a:xfrm>
            <a:off x="2645280" y="1318320"/>
            <a:ext cx="4615200" cy="34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Acquired day of staining on a 5-Laser Cytek Aurora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Instrument flushed with 10% Contrad and Water for 20 minutes pre-use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Instrument passed by both the UMGCCC FCSR and Cytek’s QC criteria immediately before acquisition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Box 3"/>
          <p:cNvSpPr/>
          <p:nvPr/>
        </p:nvSpPr>
        <p:spPr>
          <a:xfrm>
            <a:off x="7428600" y="2621880"/>
            <a:ext cx="2500560" cy="92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UMGCCC FCSR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InstrumentQC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Dashboard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Box 11"/>
          <p:cNvSpPr/>
          <p:nvPr/>
        </p:nvSpPr>
        <p:spPr>
          <a:xfrm>
            <a:off x="9473760" y="2621880"/>
            <a:ext cx="2500560" cy="10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Plots for our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5L Aurora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Box 12"/>
          <p:cNvSpPr/>
          <p:nvPr/>
        </p:nvSpPr>
        <p:spPr>
          <a:xfrm>
            <a:off x="9487800" y="5092200"/>
            <a:ext cx="2500560" cy="70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Dashboard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How-To-Set-Up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Box 13"/>
          <p:cNvSpPr/>
          <p:nvPr/>
        </p:nvSpPr>
        <p:spPr>
          <a:xfrm>
            <a:off x="7524360" y="5085000"/>
            <a:ext cx="2500560" cy="70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Historical Data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5L Aurora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5" name="Graphic 15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037720" y="3212280"/>
            <a:ext cx="1847160" cy="184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6" name="Graphic 17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005120" y="858600"/>
            <a:ext cx="1824120" cy="1824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7" name="Graphic 19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7930080" y="851760"/>
            <a:ext cx="1836720" cy="183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8" name="Graphic 21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10015560" y="3288240"/>
            <a:ext cx="1846080" cy="184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9" name="Arrow: Down 23"/>
          <p:cNvSpPr/>
          <p:nvPr/>
        </p:nvSpPr>
        <p:spPr>
          <a:xfrm rot="16200000">
            <a:off x="207000" y="984960"/>
            <a:ext cx="519480" cy="6789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10" name="Picture 24" descr=""/>
          <p:cNvPicPr/>
          <p:nvPr/>
        </p:nvPicPr>
        <p:blipFill>
          <a:blip r:embed="rId10"/>
          <a:stretch/>
        </p:blipFill>
        <p:spPr>
          <a:xfrm>
            <a:off x="10435680" y="6172200"/>
            <a:ext cx="1141560" cy="39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1" name="" descr=""/>
          <p:cNvPicPr/>
          <p:nvPr/>
        </p:nvPicPr>
        <p:blipFill>
          <a:blip r:embed="rId11"/>
          <a:stretch/>
        </p:blipFill>
        <p:spPr>
          <a:xfrm>
            <a:off x="231120" y="6281280"/>
            <a:ext cx="1366560" cy="35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"/>
          <p:cNvSpPr/>
          <p:nvPr/>
        </p:nvSpPr>
        <p:spPr>
          <a:xfrm>
            <a:off x="5787000" y="3558600"/>
            <a:ext cx="4727880" cy="784800"/>
          </a:xfrm>
          <a:prstGeom prst="rect">
            <a:avLst/>
          </a:prstGeom>
          <a:solidFill>
            <a:srgbClr val="ffbf00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PlaceHolder 1"/>
          <p:cNvSpPr>
            <a:spLocks noGrp="1"/>
          </p:cNvSpPr>
          <p:nvPr>
            <p:ph type="title"/>
          </p:nvPr>
        </p:nvSpPr>
        <p:spPr>
          <a:xfrm>
            <a:off x="838080" y="46080"/>
            <a:ext cx="10512360" cy="6958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Automated Daily Processing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4" name="Picture 64" descr=""/>
          <p:cNvPicPr/>
          <p:nvPr/>
        </p:nvPicPr>
        <p:blipFill>
          <a:blip r:embed="rId1"/>
          <a:stretch/>
        </p:blipFill>
        <p:spPr>
          <a:xfrm>
            <a:off x="10287360" y="6096600"/>
            <a:ext cx="1518480" cy="532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5" name="Picture 65" descr=""/>
          <p:cNvPicPr/>
          <p:nvPr/>
        </p:nvPicPr>
        <p:blipFill>
          <a:blip r:embed="rId2"/>
          <a:stretch/>
        </p:blipFill>
        <p:spPr>
          <a:xfrm>
            <a:off x="1010520" y="952920"/>
            <a:ext cx="4527720" cy="476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6" name="Rectangle 66"/>
          <p:cNvSpPr/>
          <p:nvPr/>
        </p:nvSpPr>
        <p:spPr>
          <a:xfrm>
            <a:off x="5730480" y="2142360"/>
            <a:ext cx="547020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Behind-the-scenes: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Using R (and increasingly Rust) to process the .fcs files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Rectangle 67"/>
          <p:cNvSpPr/>
          <p:nvPr/>
        </p:nvSpPr>
        <p:spPr>
          <a:xfrm>
            <a:off x="5751000" y="4163760"/>
            <a:ext cx="499248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Our Quarto Website gets updated twice daily via a GitHub action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Rectangle 68"/>
          <p:cNvSpPr/>
          <p:nvPr/>
        </p:nvSpPr>
        <p:spPr>
          <a:xfrm>
            <a:off x="5751000" y="3177360"/>
            <a:ext cx="547020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Automated transfer to GitHub via Windows Task Scheduler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"/>
          <p:cNvSpPr/>
          <p:nvPr/>
        </p:nvSpPr>
        <p:spPr>
          <a:xfrm>
            <a:off x="5787000" y="4601880"/>
            <a:ext cx="4727880" cy="784800"/>
          </a:xfrm>
          <a:prstGeom prst="rect">
            <a:avLst/>
          </a:prstGeom>
          <a:solidFill>
            <a:srgbClr val="e0c2cd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"/>
          <p:cNvSpPr/>
          <p:nvPr/>
        </p:nvSpPr>
        <p:spPr>
          <a:xfrm>
            <a:off x="5751000" y="2572200"/>
            <a:ext cx="4763880" cy="784800"/>
          </a:xfrm>
          <a:prstGeom prst="rect">
            <a:avLst/>
          </a:prstGeom>
          <a:solidFill>
            <a:srgbClr val="dee6ef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1" name="Picture 71" descr=""/>
          <p:cNvPicPr/>
          <p:nvPr/>
        </p:nvPicPr>
        <p:blipFill>
          <a:blip r:embed="rId3"/>
          <a:stretch/>
        </p:blipFill>
        <p:spPr>
          <a:xfrm>
            <a:off x="9108000" y="812520"/>
            <a:ext cx="1368000" cy="1580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title"/>
          </p:nvPr>
        </p:nvSpPr>
        <p:spPr>
          <a:xfrm>
            <a:off x="838080" y="46080"/>
            <a:ext cx="10512360" cy="6958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Instrument Quality Control Dashboard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3" name="Picture 66" descr=""/>
          <p:cNvPicPr/>
          <p:nvPr/>
        </p:nvPicPr>
        <p:blipFill>
          <a:blip r:embed="rId1"/>
          <a:stretch/>
        </p:blipFill>
        <p:spPr>
          <a:xfrm>
            <a:off x="10287360" y="6096600"/>
            <a:ext cx="1518480" cy="532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4" name="Picture 67" descr=""/>
          <p:cNvPicPr/>
          <p:nvPr/>
        </p:nvPicPr>
        <p:blipFill>
          <a:blip r:embed="rId2"/>
          <a:stretch/>
        </p:blipFill>
        <p:spPr>
          <a:xfrm>
            <a:off x="2069640" y="1093320"/>
            <a:ext cx="9748800" cy="444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5" name="Graphic 1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215640" y="1154520"/>
            <a:ext cx="1646640" cy="1690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6" name="PlaceHolder 2"/>
          <p:cNvSpPr>
            <a:spLocks noGrp="1"/>
          </p:cNvSpPr>
          <p:nvPr>
            <p:ph/>
          </p:nvPr>
        </p:nvSpPr>
        <p:spPr>
          <a:xfrm>
            <a:off x="-148680" y="2971800"/>
            <a:ext cx="1953360" cy="5018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t" anchorCtr="1">
            <a:normAutofit/>
          </a:bodyPr>
          <a:p>
            <a:pPr marL="432000" indent="0" defTabSz="914400">
              <a:lnSpc>
                <a:spcPts val="72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Dashboard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/>
          </p:nvPr>
        </p:nvSpPr>
        <p:spPr>
          <a:xfrm>
            <a:off x="-148680" y="5227200"/>
            <a:ext cx="1953360" cy="5018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t" anchorCtr="1">
            <a:normAutofit/>
          </a:bodyPr>
          <a:p>
            <a:pPr marL="432000" indent="0" defTabSz="914400">
              <a:lnSpc>
                <a:spcPts val="72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How-To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8" name="Picture 68" descr=""/>
          <p:cNvPicPr/>
          <p:nvPr/>
        </p:nvPicPr>
        <p:blipFill>
          <a:blip r:embed="rId5"/>
          <a:srcRect l="3481" t="5989" r="0" b="0"/>
          <a:stretch/>
        </p:blipFill>
        <p:spPr>
          <a:xfrm>
            <a:off x="274320" y="3545280"/>
            <a:ext cx="1664280" cy="159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838080" y="46080"/>
            <a:ext cx="10512360" cy="6958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Instrument Quality Control Dashboard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0" name="Picture 69" descr=""/>
          <p:cNvPicPr/>
          <p:nvPr/>
        </p:nvPicPr>
        <p:blipFill>
          <a:blip r:embed="rId1"/>
          <a:stretch/>
        </p:blipFill>
        <p:spPr>
          <a:xfrm>
            <a:off x="10058760" y="6153840"/>
            <a:ext cx="1518480" cy="532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1" name="Picture 70" descr=""/>
          <p:cNvPicPr/>
          <p:nvPr/>
        </p:nvPicPr>
        <p:blipFill>
          <a:blip r:embed="rId2"/>
          <a:stretch/>
        </p:blipFill>
        <p:spPr>
          <a:xfrm>
            <a:off x="582120" y="726480"/>
            <a:ext cx="11026800" cy="5175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560" cy="638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Pipeline: Evaluating Unmixing Controls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3" name="Picture 2" descr=""/>
          <p:cNvPicPr/>
          <p:nvPr/>
        </p:nvPicPr>
        <p:blipFill>
          <a:blip r:embed="rId1"/>
          <a:srcRect l="0" t="0" r="68257" b="0"/>
          <a:stretch/>
        </p:blipFill>
        <p:spPr>
          <a:xfrm>
            <a:off x="-99000" y="491400"/>
            <a:ext cx="2623680" cy="578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4" name="Rectangle 1"/>
          <p:cNvSpPr/>
          <p:nvPr/>
        </p:nvSpPr>
        <p:spPr>
          <a:xfrm>
            <a:off x="2548800" y="697320"/>
            <a:ext cx="5119200" cy="54622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35" name="TextBox 3"/>
          <p:cNvSpPr/>
          <p:nvPr/>
        </p:nvSpPr>
        <p:spPr>
          <a:xfrm>
            <a:off x="7609680" y="4263120"/>
            <a:ext cx="210456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Luciernaga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Box 4"/>
          <p:cNvSpPr/>
          <p:nvPr/>
        </p:nvSpPr>
        <p:spPr>
          <a:xfrm>
            <a:off x="9716400" y="4267080"/>
            <a:ext cx="210456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Luciernaga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Vignette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7" name="Graphic 8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940880" y="2308680"/>
            <a:ext cx="1868400" cy="1868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8" name="Graphic 10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041840" y="2368440"/>
            <a:ext cx="1829880" cy="182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9" name="Rectangle 5"/>
          <p:cNvSpPr/>
          <p:nvPr/>
        </p:nvSpPr>
        <p:spPr>
          <a:xfrm>
            <a:off x="2658240" y="818640"/>
            <a:ext cx="4655520" cy="4815000"/>
          </a:xfrm>
          <a:prstGeom prst="rect">
            <a:avLst/>
          </a:prstGeom>
          <a:solidFill>
            <a:schemeClr val="bg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40" name="Rectangle 6"/>
          <p:cNvSpPr/>
          <p:nvPr/>
        </p:nvSpPr>
        <p:spPr>
          <a:xfrm>
            <a:off x="2700720" y="1041840"/>
            <a:ext cx="4506840" cy="447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New unmixing controls acquired with each experiment.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Extra specimen cells acquired as additional unstained controls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Unmixing Controls are screened for suitability for unmixing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Single-colors: Tandem degradation, and autofluorescence contamination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Unstained(s): Presence of multiple-autofluorescences in lymphocyte gate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Flagged unmixing controls are replaced with equivalents from adjacent experimental date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Arrow: Down 7"/>
          <p:cNvSpPr/>
          <p:nvPr/>
        </p:nvSpPr>
        <p:spPr>
          <a:xfrm rot="16200000">
            <a:off x="217800" y="2048040"/>
            <a:ext cx="519480" cy="6789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42" name="Picture 9" descr=""/>
          <p:cNvPicPr/>
          <p:nvPr/>
        </p:nvPicPr>
        <p:blipFill>
          <a:blip r:embed="rId6"/>
          <a:stretch/>
        </p:blipFill>
        <p:spPr>
          <a:xfrm>
            <a:off x="10435680" y="6172200"/>
            <a:ext cx="1141560" cy="39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3" name="" descr=""/>
          <p:cNvPicPr/>
          <p:nvPr/>
        </p:nvPicPr>
        <p:blipFill>
          <a:blip r:embed="rId7"/>
          <a:stretch/>
        </p:blipFill>
        <p:spPr>
          <a:xfrm>
            <a:off x="231120" y="6281280"/>
            <a:ext cx="1366560" cy="35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Picture 4" descr=""/>
          <p:cNvPicPr/>
          <p:nvPr/>
        </p:nvPicPr>
        <p:blipFill>
          <a:blip r:embed="rId1"/>
          <a:srcRect l="28727" t="0" r="0" b="0"/>
          <a:stretch/>
        </p:blipFill>
        <p:spPr>
          <a:xfrm>
            <a:off x="2721960" y="0"/>
            <a:ext cx="6516000" cy="639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5" name="PlaceHolder 1"/>
          <p:cNvSpPr>
            <a:spLocks noGrp="1"/>
          </p:cNvSpPr>
          <p:nvPr>
            <p:ph type="title"/>
          </p:nvPr>
        </p:nvSpPr>
        <p:spPr>
          <a:xfrm>
            <a:off x="0" y="-61920"/>
            <a:ext cx="12112560" cy="638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Luciernaga: Individual Cell Normalized Signatures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6" name="Picture 5" descr=""/>
          <p:cNvPicPr/>
          <p:nvPr/>
        </p:nvPicPr>
        <p:blipFill>
          <a:blip r:embed="rId2"/>
          <a:srcRect l="0" t="29511" r="72127" b="28628"/>
          <a:stretch/>
        </p:blipFill>
        <p:spPr>
          <a:xfrm>
            <a:off x="0" y="286920"/>
            <a:ext cx="2547360" cy="267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7" name="TextBox 6"/>
          <p:cNvSpPr/>
          <p:nvPr/>
        </p:nvSpPr>
        <p:spPr>
          <a:xfrm>
            <a:off x="127440" y="5510160"/>
            <a:ext cx="210456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Code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8" name="Graphic 8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46920" y="3807720"/>
            <a:ext cx="1623960" cy="1623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9" name="Picture 9" descr=""/>
          <p:cNvPicPr/>
          <p:nvPr/>
        </p:nvPicPr>
        <p:blipFill>
          <a:blip r:embed="rId5"/>
          <a:stretch/>
        </p:blipFill>
        <p:spPr>
          <a:xfrm>
            <a:off x="10435680" y="6172200"/>
            <a:ext cx="1141560" cy="39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0" name="" descr=""/>
          <p:cNvPicPr/>
          <p:nvPr/>
        </p:nvPicPr>
        <p:blipFill>
          <a:blip r:embed="rId6"/>
          <a:stretch/>
        </p:blipFill>
        <p:spPr>
          <a:xfrm>
            <a:off x="231120" y="6281280"/>
            <a:ext cx="1366560" cy="35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title"/>
          </p:nvPr>
        </p:nvSpPr>
        <p:spPr>
          <a:xfrm>
            <a:off x="0" y="-61920"/>
            <a:ext cx="12112560" cy="638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Automated tools for screening unmixing controls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2" name="Picture 61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41560" cy="39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3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6560" cy="35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4" name=""/>
          <p:cNvSpPr/>
          <p:nvPr/>
        </p:nvSpPr>
        <p:spPr>
          <a:xfrm>
            <a:off x="6487920" y="2309040"/>
            <a:ext cx="4543560" cy="2016360"/>
          </a:xfrm>
          <a:prstGeom prst="rect">
            <a:avLst/>
          </a:prstGeom>
          <a:solidFill>
            <a:srgbClr val="afd095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55" name="" descr=""/>
          <p:cNvPicPr/>
          <p:nvPr/>
        </p:nvPicPr>
        <p:blipFill>
          <a:blip r:embed="rId3"/>
          <a:srcRect l="0" t="0" r="15005" b="0"/>
          <a:stretch/>
        </p:blipFill>
        <p:spPr>
          <a:xfrm>
            <a:off x="7459200" y="2365560"/>
            <a:ext cx="2774520" cy="154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6" name=""/>
          <p:cNvSpPr/>
          <p:nvPr/>
        </p:nvSpPr>
        <p:spPr>
          <a:xfrm>
            <a:off x="6993360" y="3948840"/>
            <a:ext cx="3533040" cy="333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Autofluorescence Isolation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"/>
          <p:cNvSpPr/>
          <p:nvPr/>
        </p:nvSpPr>
        <p:spPr>
          <a:xfrm>
            <a:off x="928440" y="3677040"/>
            <a:ext cx="5049000" cy="2016360"/>
          </a:xfrm>
          <a:prstGeom prst="rect">
            <a:avLst/>
          </a:prstGeom>
          <a:solidFill>
            <a:srgbClr val="729fcf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58" name="" descr=""/>
          <p:cNvPicPr/>
          <p:nvPr/>
        </p:nvPicPr>
        <p:blipFill>
          <a:blip r:embed="rId4"/>
          <a:srcRect l="36749" t="50780" r="-263" b="0"/>
          <a:stretch/>
        </p:blipFill>
        <p:spPr>
          <a:xfrm>
            <a:off x="1061640" y="3804120"/>
            <a:ext cx="4796280" cy="14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9" name=""/>
          <p:cNvSpPr/>
          <p:nvPr/>
        </p:nvSpPr>
        <p:spPr>
          <a:xfrm>
            <a:off x="1686600" y="5356800"/>
            <a:ext cx="3532680" cy="333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Residual Autofluorescence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"/>
          <p:cNvSpPr/>
          <p:nvPr/>
        </p:nvSpPr>
        <p:spPr>
          <a:xfrm>
            <a:off x="914400" y="1143000"/>
            <a:ext cx="5063040" cy="2275920"/>
          </a:xfrm>
          <a:prstGeom prst="rect">
            <a:avLst/>
          </a:prstGeom>
          <a:solidFill>
            <a:srgbClr val="ffd7d7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grpSp>
        <p:nvGrpSpPr>
          <p:cNvPr id="461" name=""/>
          <p:cNvGrpSpPr/>
          <p:nvPr/>
        </p:nvGrpSpPr>
        <p:grpSpPr>
          <a:xfrm>
            <a:off x="1686600" y="1233360"/>
            <a:ext cx="3944880" cy="1782360"/>
            <a:chOff x="1686600" y="1233360"/>
            <a:chExt cx="3944880" cy="1782360"/>
          </a:xfrm>
        </p:grpSpPr>
        <p:sp>
          <p:nvSpPr>
            <p:cNvPr id="462" name="Arrow: Right 2"/>
            <p:cNvSpPr/>
            <p:nvPr/>
          </p:nvSpPr>
          <p:spPr>
            <a:xfrm rot="10800000">
              <a:off x="4870440" y="1356480"/>
              <a:ext cx="416520" cy="21996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d81f37"/>
            </a:solidFill>
            <a:ln w="12600">
              <a:solidFill>
                <a:srgbClr val="5e0d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endParaRPr>
            </a:p>
          </p:txBody>
        </p:sp>
        <p:sp>
          <p:nvSpPr>
            <p:cNvPr id="463" name="TextBox 4"/>
            <p:cNvSpPr/>
            <p:nvPr/>
          </p:nvSpPr>
          <p:spPr>
            <a:xfrm>
              <a:off x="4759200" y="1505520"/>
              <a:ext cx="872280" cy="54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APC-Fire 810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464" name="Picture 4" descr="A graph of a number of data&#10;&#10;AI-generated content may be incorrect."/>
            <p:cNvPicPr/>
            <p:nvPr/>
          </p:nvPicPr>
          <p:blipFill>
            <a:blip r:embed="rId5"/>
            <a:stretch/>
          </p:blipFill>
          <p:spPr>
            <a:xfrm>
              <a:off x="1686600" y="1233360"/>
              <a:ext cx="3173400" cy="1782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65" name="TextBox 3"/>
            <p:cNvSpPr/>
            <p:nvPr/>
          </p:nvSpPr>
          <p:spPr>
            <a:xfrm>
              <a:off x="3405960" y="1486440"/>
              <a:ext cx="626400" cy="31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APC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6" name="Arrow: Right 1"/>
            <p:cNvSpPr/>
            <p:nvPr/>
          </p:nvSpPr>
          <p:spPr>
            <a:xfrm>
              <a:off x="4076640" y="1538280"/>
              <a:ext cx="218520" cy="2196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d81f37"/>
            </a:solidFill>
            <a:ln w="12600">
              <a:solidFill>
                <a:srgbClr val="5e0d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endParaRPr>
            </a:p>
          </p:txBody>
        </p:sp>
      </p:grpSp>
      <p:sp>
        <p:nvSpPr>
          <p:cNvPr id="467" name=""/>
          <p:cNvSpPr/>
          <p:nvPr/>
        </p:nvSpPr>
        <p:spPr>
          <a:xfrm>
            <a:off x="1939320" y="3028680"/>
            <a:ext cx="2774160" cy="333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Tandem Degradation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"/>
          <p:cNvSpPr/>
          <p:nvPr/>
        </p:nvSpPr>
        <p:spPr>
          <a:xfrm>
            <a:off x="516600" y="3854880"/>
            <a:ext cx="6170040" cy="716760"/>
          </a:xfrm>
          <a:prstGeom prst="rect">
            <a:avLst/>
          </a:prstGeom>
          <a:solidFill>
            <a:srgbClr val="729fcf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69" name=""/>
          <p:cNvSpPr/>
          <p:nvPr/>
        </p:nvSpPr>
        <p:spPr>
          <a:xfrm>
            <a:off x="509400" y="2660400"/>
            <a:ext cx="6177240" cy="1022040"/>
          </a:xfrm>
          <a:prstGeom prst="rect">
            <a:avLst/>
          </a:prstGeom>
          <a:solidFill>
            <a:srgbClr val="ff6d6d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70" name="" descr=""/>
          <p:cNvPicPr/>
          <p:nvPr/>
        </p:nvPicPr>
        <p:blipFill>
          <a:blip r:embed="rId1"/>
          <a:stretch/>
        </p:blipFill>
        <p:spPr>
          <a:xfrm>
            <a:off x="7110000" y="1483920"/>
            <a:ext cx="4645800" cy="296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1" name=""/>
          <p:cNvSpPr/>
          <p:nvPr/>
        </p:nvSpPr>
        <p:spPr>
          <a:xfrm>
            <a:off x="277200" y="961920"/>
            <a:ext cx="5589360" cy="63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72" name=""/>
          <p:cNvSpPr/>
          <p:nvPr/>
        </p:nvSpPr>
        <p:spPr>
          <a:xfrm>
            <a:off x="468000" y="2588400"/>
            <a:ext cx="643464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When the </a:t>
            </a:r>
            <a:r>
              <a:rPr b="0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fluorophore degrades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, noticeable </a:t>
            </a:r>
            <a:r>
              <a:rPr b="1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increase in variant signatures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, making up substantial proportion of all cells in the unmixing control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"/>
          <p:cNvSpPr/>
          <p:nvPr/>
        </p:nvSpPr>
        <p:spPr>
          <a:xfrm>
            <a:off x="480600" y="3813840"/>
            <a:ext cx="63986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Automated screening all acquired unmixing controls from campus users during off-hours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"/>
          <p:cNvSpPr/>
          <p:nvPr/>
        </p:nvSpPr>
        <p:spPr>
          <a:xfrm>
            <a:off x="0" y="47520"/>
            <a:ext cx="12342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Identifying degrading fluorophores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5" name="Picture 74" descr=""/>
          <p:cNvPicPr/>
          <p:nvPr/>
        </p:nvPicPr>
        <p:blipFill>
          <a:blip r:embed="rId2"/>
          <a:stretch/>
        </p:blipFill>
        <p:spPr>
          <a:xfrm>
            <a:off x="10436040" y="6172560"/>
            <a:ext cx="1137960" cy="39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6" name="" descr=""/>
          <p:cNvPicPr/>
          <p:nvPr/>
        </p:nvPicPr>
        <p:blipFill>
          <a:blip r:embed="rId3"/>
          <a:stretch/>
        </p:blipFill>
        <p:spPr>
          <a:xfrm>
            <a:off x="457920" y="6172920"/>
            <a:ext cx="1366560" cy="35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7" name=""/>
          <p:cNvSpPr/>
          <p:nvPr/>
        </p:nvSpPr>
        <p:spPr>
          <a:xfrm>
            <a:off x="516600" y="1444320"/>
            <a:ext cx="6169320" cy="1058760"/>
          </a:xfrm>
          <a:prstGeom prst="rect">
            <a:avLst/>
          </a:prstGeom>
          <a:solidFill>
            <a:srgbClr val="00a933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78" name=""/>
          <p:cNvSpPr/>
          <p:nvPr/>
        </p:nvSpPr>
        <p:spPr>
          <a:xfrm>
            <a:off x="473400" y="1408320"/>
            <a:ext cx="617724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Fluorophores in </a:t>
            </a:r>
            <a:r>
              <a:rPr b="0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good shape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→ </a:t>
            </a:r>
            <a:r>
              <a:rPr b="1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one predominant normalized signature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within the unmixing control raw .fcs file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"/>
          <p:cNvSpPr/>
          <p:nvPr/>
        </p:nvSpPr>
        <p:spPr>
          <a:xfrm>
            <a:off x="5257800" y="2861640"/>
            <a:ext cx="5940720" cy="987120"/>
          </a:xfrm>
          <a:prstGeom prst="rect">
            <a:avLst/>
          </a:prstGeom>
          <a:solidFill>
            <a:srgbClr val="ff3838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80" name=""/>
          <p:cNvSpPr/>
          <p:nvPr/>
        </p:nvSpPr>
        <p:spPr>
          <a:xfrm>
            <a:off x="5255280" y="4057920"/>
            <a:ext cx="5953320" cy="1090800"/>
          </a:xfrm>
          <a:prstGeom prst="rect">
            <a:avLst/>
          </a:prstGeom>
          <a:solidFill>
            <a:srgbClr val="ff972f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81" name=""/>
          <p:cNvSpPr/>
          <p:nvPr/>
        </p:nvSpPr>
        <p:spPr>
          <a:xfrm>
            <a:off x="5258520" y="1494720"/>
            <a:ext cx="5940720" cy="1138320"/>
          </a:xfrm>
          <a:prstGeom prst="rect">
            <a:avLst/>
          </a:prstGeom>
          <a:solidFill>
            <a:srgbClr val="729fcf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82" name="" descr=""/>
          <p:cNvPicPr/>
          <p:nvPr/>
        </p:nvPicPr>
        <p:blipFill>
          <a:blip r:embed="rId1"/>
          <a:stretch/>
        </p:blipFill>
        <p:spPr>
          <a:xfrm>
            <a:off x="2476440" y="3654720"/>
            <a:ext cx="2254320" cy="202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3" name="" descr=""/>
          <p:cNvPicPr/>
          <p:nvPr/>
        </p:nvPicPr>
        <p:blipFill>
          <a:blip r:embed="rId2"/>
          <a:stretch/>
        </p:blipFill>
        <p:spPr>
          <a:xfrm>
            <a:off x="318600" y="3675240"/>
            <a:ext cx="2049840" cy="19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4" name=""/>
          <p:cNvSpPr/>
          <p:nvPr/>
        </p:nvSpPr>
        <p:spPr>
          <a:xfrm>
            <a:off x="5259240" y="1539000"/>
            <a:ext cx="616860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This approach also works to isolate variant autofluorescence signatures from unstained controls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"/>
          <p:cNvSpPr/>
          <p:nvPr/>
        </p:nvSpPr>
        <p:spPr>
          <a:xfrm>
            <a:off x="5221800" y="3987360"/>
            <a:ext cx="595080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Return directly as an .fcs file containing just cells with same signature for use as an autofluorescent tag in SpectroFlo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"/>
          <p:cNvSpPr/>
          <p:nvPr/>
        </p:nvSpPr>
        <p:spPr>
          <a:xfrm>
            <a:off x="5257800" y="2791080"/>
            <a:ext cx="594072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Unlike other approaches, the isolated cells share normalized signatures, only differing in terms of brightness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"/>
          <p:cNvSpPr/>
          <p:nvPr/>
        </p:nvSpPr>
        <p:spPr>
          <a:xfrm>
            <a:off x="0" y="46800"/>
            <a:ext cx="12189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Isolating additional autofluorescence signatures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8" name="Picture 75" descr=""/>
          <p:cNvPicPr/>
          <p:nvPr/>
        </p:nvPicPr>
        <p:blipFill>
          <a:blip r:embed="rId3"/>
          <a:stretch/>
        </p:blipFill>
        <p:spPr>
          <a:xfrm>
            <a:off x="10436040" y="6172560"/>
            <a:ext cx="1137960" cy="39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9" name="" descr=""/>
          <p:cNvPicPr/>
          <p:nvPr/>
        </p:nvPicPr>
        <p:blipFill>
          <a:blip r:embed="rId4"/>
          <a:stretch/>
        </p:blipFill>
        <p:spPr>
          <a:xfrm>
            <a:off x="457920" y="6172920"/>
            <a:ext cx="1366560" cy="354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0" name="" descr=""/>
          <p:cNvPicPr/>
          <p:nvPr/>
        </p:nvPicPr>
        <p:blipFill>
          <a:blip r:embed="rId5"/>
          <a:stretch/>
        </p:blipFill>
        <p:spPr>
          <a:xfrm>
            <a:off x="409320" y="914400"/>
            <a:ext cx="4250520" cy="2631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"/>
          <p:cNvSpPr/>
          <p:nvPr/>
        </p:nvSpPr>
        <p:spPr>
          <a:xfrm>
            <a:off x="217800" y="2178000"/>
            <a:ext cx="4353120" cy="1729080"/>
          </a:xfrm>
          <a:prstGeom prst="rect">
            <a:avLst/>
          </a:prstGeom>
          <a:solidFill>
            <a:srgbClr val="afd095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92" name=""/>
          <p:cNvSpPr/>
          <p:nvPr/>
        </p:nvSpPr>
        <p:spPr>
          <a:xfrm>
            <a:off x="251280" y="4057920"/>
            <a:ext cx="4319640" cy="1656000"/>
          </a:xfrm>
          <a:prstGeom prst="rect">
            <a:avLst/>
          </a:prstGeom>
          <a:solidFill>
            <a:srgbClr val="ff972f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93" name=""/>
          <p:cNvSpPr/>
          <p:nvPr/>
        </p:nvSpPr>
        <p:spPr>
          <a:xfrm>
            <a:off x="228600" y="1494720"/>
            <a:ext cx="4316400" cy="561600"/>
          </a:xfrm>
          <a:prstGeom prst="rect">
            <a:avLst/>
          </a:prstGeom>
          <a:solidFill>
            <a:srgbClr val="729fcf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94" name=""/>
          <p:cNvSpPr/>
          <p:nvPr/>
        </p:nvSpPr>
        <p:spPr>
          <a:xfrm>
            <a:off x="255240" y="1539000"/>
            <a:ext cx="4315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“As bright or brighter”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"/>
          <p:cNvSpPr/>
          <p:nvPr/>
        </p:nvSpPr>
        <p:spPr>
          <a:xfrm>
            <a:off x="217800" y="3987360"/>
            <a:ext cx="4353120" cy="17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Identifying and </a:t>
            </a:r>
            <a:r>
              <a:rPr b="1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switching these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dim cell single-color controls to </a:t>
            </a:r>
            <a:r>
              <a:rPr b="1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bead single-color controls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significantly improved unmixing for our panels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"/>
          <p:cNvSpPr/>
          <p:nvPr/>
        </p:nvSpPr>
        <p:spPr>
          <a:xfrm>
            <a:off x="181800" y="2142000"/>
            <a:ext cx="4389120" cy="17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Dim antigen-fluorophore</a:t>
            </a:r>
            <a:r>
              <a:rPr b="1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combinations acquired as </a:t>
            </a:r>
            <a:r>
              <a:rPr b="1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cell single-color controls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often have </a:t>
            </a:r>
            <a:r>
              <a:rPr b="0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residual autofluorescence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contribution to their signature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"/>
          <p:cNvSpPr/>
          <p:nvPr/>
        </p:nvSpPr>
        <p:spPr>
          <a:xfrm>
            <a:off x="0" y="46800"/>
            <a:ext cx="12189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Residual autofluorescence in dim cell single-color controls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8" name="" descr=""/>
          <p:cNvPicPr/>
          <p:nvPr/>
        </p:nvPicPr>
        <p:blipFill>
          <a:blip r:embed="rId1"/>
          <a:stretch/>
        </p:blipFill>
        <p:spPr>
          <a:xfrm>
            <a:off x="457920" y="6172920"/>
            <a:ext cx="1366560" cy="3549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99" name=""/>
          <p:cNvGrpSpPr/>
          <p:nvPr/>
        </p:nvGrpSpPr>
        <p:grpSpPr>
          <a:xfrm>
            <a:off x="4800600" y="1092600"/>
            <a:ext cx="6628320" cy="2106720"/>
            <a:chOff x="4800600" y="1092600"/>
            <a:chExt cx="6628320" cy="2106720"/>
          </a:xfrm>
        </p:grpSpPr>
        <p:pic>
          <p:nvPicPr>
            <p:cNvPr id="500" name="" descr=""/>
            <p:cNvPicPr/>
            <p:nvPr/>
          </p:nvPicPr>
          <p:blipFill>
            <a:blip r:embed="rId2"/>
            <a:srcRect l="0" t="47914" r="29412" b="0"/>
            <a:stretch/>
          </p:blipFill>
          <p:spPr>
            <a:xfrm>
              <a:off x="4800600" y="1100160"/>
              <a:ext cx="6628320" cy="2099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01" name=""/>
            <p:cNvSpPr/>
            <p:nvPr/>
          </p:nvSpPr>
          <p:spPr>
            <a:xfrm>
              <a:off x="5064120" y="1103040"/>
              <a:ext cx="3310560" cy="192600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02" name=""/>
            <p:cNvSpPr/>
            <p:nvPr/>
          </p:nvSpPr>
          <p:spPr>
            <a:xfrm>
              <a:off x="8028000" y="1092600"/>
              <a:ext cx="3310560" cy="192240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pic>
        <p:nvPicPr>
          <p:cNvPr id="503" name="Picture 87" descr="A group of images of a square&#10;&#10;AI-generated content may be incorrect."/>
          <p:cNvPicPr/>
          <p:nvPr/>
        </p:nvPicPr>
        <p:blipFill>
          <a:blip r:embed="rId3"/>
          <a:srcRect l="0" t="67042" r="0" b="0"/>
          <a:stretch/>
        </p:blipFill>
        <p:spPr>
          <a:xfrm>
            <a:off x="5029200" y="3373200"/>
            <a:ext cx="6063120" cy="256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4" name="TextBox 21"/>
          <p:cNvSpPr/>
          <p:nvPr/>
        </p:nvSpPr>
        <p:spPr>
          <a:xfrm>
            <a:off x="5221800" y="5943600"/>
            <a:ext cx="3199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Signature with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residual AF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Box 22"/>
          <p:cNvSpPr/>
          <p:nvPr/>
        </p:nvSpPr>
        <p:spPr>
          <a:xfrm>
            <a:off x="8001000" y="5991120"/>
            <a:ext cx="3199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Signature without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residual AF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"/>
          <p:cNvSpPr/>
          <p:nvPr/>
        </p:nvSpPr>
        <p:spPr>
          <a:xfrm rot="7421400">
            <a:off x="9689760" y="1180800"/>
            <a:ext cx="456120" cy="45612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6d6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560" cy="638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Pipeline: Unmixing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8" name="Picture 2" descr=""/>
          <p:cNvPicPr/>
          <p:nvPr/>
        </p:nvPicPr>
        <p:blipFill>
          <a:blip r:embed="rId1"/>
          <a:srcRect l="0" t="0" r="68257" b="0"/>
          <a:stretch/>
        </p:blipFill>
        <p:spPr>
          <a:xfrm>
            <a:off x="-99000" y="491400"/>
            <a:ext cx="2623680" cy="578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9" name="Rectangle 1"/>
          <p:cNvSpPr/>
          <p:nvPr/>
        </p:nvSpPr>
        <p:spPr>
          <a:xfrm>
            <a:off x="2548800" y="697320"/>
            <a:ext cx="5119200" cy="54622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10" name="TextBox 5"/>
          <p:cNvSpPr/>
          <p:nvPr/>
        </p:nvSpPr>
        <p:spPr>
          <a:xfrm>
            <a:off x="7609680" y="3040560"/>
            <a:ext cx="210456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TRU-OLS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Box 8"/>
          <p:cNvSpPr/>
          <p:nvPr/>
        </p:nvSpPr>
        <p:spPr>
          <a:xfrm>
            <a:off x="9716400" y="3044160"/>
            <a:ext cx="210456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TRU-OLS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Walkthrough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Box 11"/>
          <p:cNvSpPr/>
          <p:nvPr/>
        </p:nvSpPr>
        <p:spPr>
          <a:xfrm>
            <a:off x="7682040" y="5604480"/>
            <a:ext cx="210456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AutoSpectral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Box 14"/>
          <p:cNvSpPr/>
          <p:nvPr/>
        </p:nvSpPr>
        <p:spPr>
          <a:xfrm>
            <a:off x="9773640" y="5547240"/>
            <a:ext cx="210456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AutoSpectral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Walk-through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4" name="Graphic 16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073360" y="3657600"/>
            <a:ext cx="1846440" cy="18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5" name="Graphic 18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004960" y="1074600"/>
            <a:ext cx="1861560" cy="1861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6" name="Graphic 22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10035720" y="1074600"/>
            <a:ext cx="1877040" cy="18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7" name="Graphic 24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10073520" y="3634920"/>
            <a:ext cx="1850400" cy="1850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8" name="Arrow: Down 25"/>
          <p:cNvSpPr/>
          <p:nvPr/>
        </p:nvSpPr>
        <p:spPr>
          <a:xfrm rot="16200000">
            <a:off x="185760" y="3090240"/>
            <a:ext cx="519480" cy="6789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19" name="Rectangle 26"/>
          <p:cNvSpPr/>
          <p:nvPr/>
        </p:nvSpPr>
        <p:spPr>
          <a:xfrm>
            <a:off x="2689920" y="1850040"/>
            <a:ext cx="4655520" cy="3103200"/>
          </a:xfrm>
          <a:prstGeom prst="rect">
            <a:avLst/>
          </a:prstGeom>
          <a:solidFill>
            <a:schemeClr val="bg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20" name="Rectangle 27"/>
          <p:cNvSpPr/>
          <p:nvPr/>
        </p:nvSpPr>
        <p:spPr>
          <a:xfrm>
            <a:off x="2743200" y="2020320"/>
            <a:ext cx="4506840" cy="28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Unmixing Method Agnostic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Unmixing in SpectroFlo (with modified single-color and unstained inputs via Luciernaga)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Unmixing in 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- OLS (Luciernaga using Rust)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- TRU-OLS (via Julia wrapper)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- AutoSpectral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1" name="Picture 28" descr=""/>
          <p:cNvPicPr/>
          <p:nvPr/>
        </p:nvPicPr>
        <p:blipFill>
          <a:blip r:embed="rId10"/>
          <a:stretch/>
        </p:blipFill>
        <p:spPr>
          <a:xfrm>
            <a:off x="10435680" y="6172200"/>
            <a:ext cx="1141560" cy="39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2" name="" descr=""/>
          <p:cNvPicPr/>
          <p:nvPr/>
        </p:nvPicPr>
        <p:blipFill>
          <a:blip r:embed="rId11"/>
          <a:stretch/>
        </p:blipFill>
        <p:spPr>
          <a:xfrm>
            <a:off x="231120" y="6281280"/>
            <a:ext cx="1366560" cy="35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raphic 13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0323720" y="2697480"/>
            <a:ext cx="1475280" cy="147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4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560" cy="638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Pipeline: File Checks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5" name="Picture 2" descr=""/>
          <p:cNvPicPr/>
          <p:nvPr/>
        </p:nvPicPr>
        <p:blipFill>
          <a:blip r:embed="rId3"/>
          <a:srcRect l="0" t="0" r="68257" b="0"/>
          <a:stretch/>
        </p:blipFill>
        <p:spPr>
          <a:xfrm>
            <a:off x="-99000" y="491400"/>
            <a:ext cx="2623680" cy="578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Rectangle 1"/>
          <p:cNvSpPr/>
          <p:nvPr/>
        </p:nvSpPr>
        <p:spPr>
          <a:xfrm>
            <a:off x="2548800" y="697320"/>
            <a:ext cx="5119200" cy="54622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27" name="TextBox 5"/>
          <p:cNvSpPr/>
          <p:nvPr/>
        </p:nvSpPr>
        <p:spPr>
          <a:xfrm>
            <a:off x="7930800" y="2229120"/>
            <a:ext cx="169200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PeacoQC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Box 8"/>
          <p:cNvSpPr/>
          <p:nvPr/>
        </p:nvSpPr>
        <p:spPr>
          <a:xfrm>
            <a:off x="9994320" y="1983600"/>
            <a:ext cx="1692000" cy="70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ct val="10000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PeacoQC Vignette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Box 11"/>
          <p:cNvSpPr/>
          <p:nvPr/>
        </p:nvSpPr>
        <p:spPr>
          <a:xfrm>
            <a:off x="8019000" y="4299480"/>
            <a:ext cx="169200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FlowAI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Box 14"/>
          <p:cNvSpPr/>
          <p:nvPr/>
        </p:nvSpPr>
        <p:spPr>
          <a:xfrm>
            <a:off x="10008000" y="4339440"/>
            <a:ext cx="169200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FlowAI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Vignette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1" name="Graphic 4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213400" y="571320"/>
            <a:ext cx="1512000" cy="1512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2" name="Graphic 7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10321560" y="564480"/>
            <a:ext cx="1484280" cy="1484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3" name="Graphic 10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8241120" y="2695320"/>
            <a:ext cx="1465920" cy="146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4" name="Graphic 17" descr="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8296920" y="4601160"/>
            <a:ext cx="1475280" cy="147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5" name="TextBox 19"/>
          <p:cNvSpPr/>
          <p:nvPr/>
        </p:nvSpPr>
        <p:spPr>
          <a:xfrm>
            <a:off x="7994880" y="5928480"/>
            <a:ext cx="1692000" cy="70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ct val="10000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PeacoQC in Rust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Arrow: Down 20"/>
          <p:cNvSpPr/>
          <p:nvPr/>
        </p:nvSpPr>
        <p:spPr>
          <a:xfrm rot="16200000">
            <a:off x="175320" y="4249080"/>
            <a:ext cx="519480" cy="6789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37" name="Rectangle 21"/>
          <p:cNvSpPr/>
          <p:nvPr/>
        </p:nvSpPr>
        <p:spPr>
          <a:xfrm>
            <a:off x="2775240" y="3987360"/>
            <a:ext cx="4655520" cy="1795320"/>
          </a:xfrm>
          <a:prstGeom prst="rect">
            <a:avLst/>
          </a:prstGeom>
          <a:solidFill>
            <a:schemeClr val="bg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38" name="Rectangle 23"/>
          <p:cNvSpPr/>
          <p:nvPr/>
        </p:nvSpPr>
        <p:spPr>
          <a:xfrm>
            <a:off x="2828160" y="3880800"/>
            <a:ext cx="4506840" cy="17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Checking for fluidic or laser-related issues in the unmixed files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R: PeacoQC or FlowAI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Rust: PeacoQC (thanks James!)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9" name="Picture 25" descr=""/>
          <p:cNvPicPr/>
          <p:nvPr/>
        </p:nvPicPr>
        <p:blipFill>
          <a:blip r:embed="rId12"/>
          <a:stretch/>
        </p:blipFill>
        <p:spPr>
          <a:xfrm>
            <a:off x="10435680" y="6172200"/>
            <a:ext cx="1141560" cy="39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0" name="" descr=""/>
          <p:cNvPicPr/>
          <p:nvPr/>
        </p:nvPicPr>
        <p:blipFill>
          <a:blip r:embed="rId13"/>
          <a:stretch/>
        </p:blipFill>
        <p:spPr>
          <a:xfrm>
            <a:off x="231120" y="6281280"/>
            <a:ext cx="1366560" cy="35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560" cy="638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Pipeline: Manual and Automated Gating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2" name="Picture 2" descr=""/>
          <p:cNvPicPr/>
          <p:nvPr/>
        </p:nvPicPr>
        <p:blipFill>
          <a:blip r:embed="rId1"/>
          <a:srcRect l="0" t="0" r="48220" b="0"/>
          <a:stretch/>
        </p:blipFill>
        <p:spPr>
          <a:xfrm>
            <a:off x="-99000" y="491400"/>
            <a:ext cx="4281120" cy="578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3" name="Rectangle 1"/>
          <p:cNvSpPr/>
          <p:nvPr/>
        </p:nvSpPr>
        <p:spPr>
          <a:xfrm>
            <a:off x="4103280" y="697320"/>
            <a:ext cx="3564720" cy="54622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44" name="TextBox 3"/>
          <p:cNvSpPr/>
          <p:nvPr/>
        </p:nvSpPr>
        <p:spPr>
          <a:xfrm>
            <a:off x="7826760" y="2091600"/>
            <a:ext cx="210456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flowGate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Box 4"/>
          <p:cNvSpPr/>
          <p:nvPr/>
        </p:nvSpPr>
        <p:spPr>
          <a:xfrm>
            <a:off x="9785160" y="2084040"/>
            <a:ext cx="210456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flowGate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Walkthrough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Box 5"/>
          <p:cNvSpPr/>
          <p:nvPr/>
        </p:nvSpPr>
        <p:spPr>
          <a:xfrm>
            <a:off x="7841880" y="4038480"/>
            <a:ext cx="210456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openCyto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Box 6"/>
          <p:cNvSpPr/>
          <p:nvPr/>
        </p:nvSpPr>
        <p:spPr>
          <a:xfrm>
            <a:off x="9727920" y="4038480"/>
            <a:ext cx="210456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openCyto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Walk-through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Box 7"/>
          <p:cNvSpPr/>
          <p:nvPr/>
        </p:nvSpPr>
        <p:spPr>
          <a:xfrm>
            <a:off x="7868520" y="5939640"/>
            <a:ext cx="210456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flowMagic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Box 8"/>
          <p:cNvSpPr/>
          <p:nvPr/>
        </p:nvSpPr>
        <p:spPr>
          <a:xfrm>
            <a:off x="9697320" y="5761440"/>
            <a:ext cx="2104560" cy="70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ct val="10000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flowMagic Manual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0" name="Graphic 10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416440" y="617400"/>
            <a:ext cx="1393200" cy="139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1" name="Graphic 12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276560" y="626040"/>
            <a:ext cx="1384200" cy="1384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2" name="Graphic 14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402040" y="2558880"/>
            <a:ext cx="1396080" cy="139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3" name="Graphic 16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10303920" y="2520000"/>
            <a:ext cx="1448640" cy="144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4" name="Graphic 18" descr="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8427600" y="4415400"/>
            <a:ext cx="1404720" cy="1404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5" name="Graphic 22" descr=""/>
          <p:cNvPicPr/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10285560" y="4452480"/>
            <a:ext cx="1375560" cy="137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6" name="Rectangle 23"/>
          <p:cNvSpPr/>
          <p:nvPr/>
        </p:nvSpPr>
        <p:spPr>
          <a:xfrm>
            <a:off x="4231800" y="2860200"/>
            <a:ext cx="3241440" cy="3198960"/>
          </a:xfrm>
          <a:prstGeom prst="rect">
            <a:avLst/>
          </a:prstGeom>
          <a:solidFill>
            <a:schemeClr val="bg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57" name="Rectangle 24"/>
          <p:cNvSpPr/>
          <p:nvPr/>
        </p:nvSpPr>
        <p:spPr>
          <a:xfrm>
            <a:off x="4165920" y="2926080"/>
            <a:ext cx="3392640" cy="316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Doublets, Debris, Dead cell cleanup (in R or FlowJo)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Automated Gating for major cell subsets (openCyto or flowMagic)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All automated gate placements visualized via export to a .pdf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Arrow: Down 25"/>
          <p:cNvSpPr/>
          <p:nvPr/>
        </p:nvSpPr>
        <p:spPr>
          <a:xfrm rot="5400000">
            <a:off x="4025880" y="919440"/>
            <a:ext cx="519480" cy="6789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59" name="Arrow: Down 27"/>
          <p:cNvSpPr/>
          <p:nvPr/>
        </p:nvSpPr>
        <p:spPr>
          <a:xfrm rot="5400000">
            <a:off x="4018680" y="1975680"/>
            <a:ext cx="519480" cy="6789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60" name="Picture 28" descr=""/>
          <p:cNvPicPr/>
          <p:nvPr/>
        </p:nvPicPr>
        <p:blipFill>
          <a:blip r:embed="rId14"/>
          <a:stretch/>
        </p:blipFill>
        <p:spPr>
          <a:xfrm>
            <a:off x="10435680" y="6172200"/>
            <a:ext cx="1141560" cy="39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1" name="" descr=""/>
          <p:cNvPicPr/>
          <p:nvPr/>
        </p:nvPicPr>
        <p:blipFill>
          <a:blip r:embed="rId15"/>
          <a:stretch/>
        </p:blipFill>
        <p:spPr>
          <a:xfrm>
            <a:off x="231120" y="6281280"/>
            <a:ext cx="1366560" cy="35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560" cy="638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Pipeline: Save to FlowJo v10 .wsp 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3" name="Picture 2" descr=""/>
          <p:cNvPicPr/>
          <p:nvPr/>
        </p:nvPicPr>
        <p:blipFill>
          <a:blip r:embed="rId1"/>
          <a:srcRect l="0" t="0" r="48220" b="0"/>
          <a:stretch/>
        </p:blipFill>
        <p:spPr>
          <a:xfrm>
            <a:off x="-99000" y="491400"/>
            <a:ext cx="4281120" cy="578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4" name="Rectangle 1"/>
          <p:cNvSpPr/>
          <p:nvPr/>
        </p:nvSpPr>
        <p:spPr>
          <a:xfrm>
            <a:off x="4103280" y="697320"/>
            <a:ext cx="3564720" cy="54622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65" name="TextBox 3"/>
          <p:cNvSpPr/>
          <p:nvPr/>
        </p:nvSpPr>
        <p:spPr>
          <a:xfrm>
            <a:off x="7826760" y="2091600"/>
            <a:ext cx="220752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flowWorkspace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Box 4"/>
          <p:cNvSpPr/>
          <p:nvPr/>
        </p:nvSpPr>
        <p:spPr>
          <a:xfrm>
            <a:off x="9785160" y="2084040"/>
            <a:ext cx="210456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CytoML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Box 5"/>
          <p:cNvSpPr/>
          <p:nvPr/>
        </p:nvSpPr>
        <p:spPr>
          <a:xfrm>
            <a:off x="7841880" y="4038480"/>
            <a:ext cx="210456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FlowJo to 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Box 6"/>
          <p:cNvSpPr/>
          <p:nvPr/>
        </p:nvSpPr>
        <p:spPr>
          <a:xfrm>
            <a:off x="9727920" y="4038480"/>
            <a:ext cx="210456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 to FlowJo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Box 7"/>
          <p:cNvSpPr/>
          <p:nvPr/>
        </p:nvSpPr>
        <p:spPr>
          <a:xfrm>
            <a:off x="7779960" y="5997600"/>
            <a:ext cx="246276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Data for Statistics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Walkthrough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0" name="Graphic 1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481240" y="709560"/>
            <a:ext cx="1315800" cy="1315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1" name="Graphic 15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393200" y="663120"/>
            <a:ext cx="1312920" cy="131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2" name="Graphic 19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503920" y="2584080"/>
            <a:ext cx="1315800" cy="1315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3" name="Graphic 21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10310040" y="2584080"/>
            <a:ext cx="1315800" cy="1315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4" name="Graphic 24" descr="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8488800" y="4572000"/>
            <a:ext cx="1340280" cy="134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5" name="Rectangle 25"/>
          <p:cNvSpPr/>
          <p:nvPr/>
        </p:nvSpPr>
        <p:spPr>
          <a:xfrm>
            <a:off x="4178520" y="890640"/>
            <a:ext cx="3383280" cy="2380680"/>
          </a:xfrm>
          <a:prstGeom prst="rect">
            <a:avLst/>
          </a:prstGeom>
          <a:solidFill>
            <a:schemeClr val="bg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76" name="Rectangle 26"/>
          <p:cNvSpPr/>
          <p:nvPr/>
        </p:nvSpPr>
        <p:spPr>
          <a:xfrm>
            <a:off x="4155120" y="1041840"/>
            <a:ext cx="3424320" cy="255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Everything is saved to a FlowJo v10 .wsp, via CytoML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Any automated gates that need adjustment get corrected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Arrow: Down 27"/>
          <p:cNvSpPr/>
          <p:nvPr/>
        </p:nvSpPr>
        <p:spPr>
          <a:xfrm rot="5400000">
            <a:off x="4103640" y="3230280"/>
            <a:ext cx="519480" cy="6789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78" name="Rectangle 28"/>
          <p:cNvSpPr/>
          <p:nvPr/>
        </p:nvSpPr>
        <p:spPr>
          <a:xfrm>
            <a:off x="4160880" y="4051080"/>
            <a:ext cx="3383280" cy="891720"/>
          </a:xfrm>
          <a:prstGeom prst="rect">
            <a:avLst/>
          </a:prstGeom>
          <a:solidFill>
            <a:schemeClr val="bg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79" name="Rectangle 29"/>
          <p:cNvSpPr/>
          <p:nvPr/>
        </p:nvSpPr>
        <p:spPr>
          <a:xfrm>
            <a:off x="4137480" y="4128840"/>
            <a:ext cx="3424320" cy="101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Major cell subset statistics exported and analyzed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Arrow: Down 30"/>
          <p:cNvSpPr/>
          <p:nvPr/>
        </p:nvSpPr>
        <p:spPr>
          <a:xfrm rot="5400000">
            <a:off x="4086000" y="4871160"/>
            <a:ext cx="519480" cy="6789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81" name="Picture 31" descr=""/>
          <p:cNvPicPr/>
          <p:nvPr/>
        </p:nvPicPr>
        <p:blipFill>
          <a:blip r:embed="rId12"/>
          <a:stretch/>
        </p:blipFill>
        <p:spPr>
          <a:xfrm>
            <a:off x="10435680" y="6172200"/>
            <a:ext cx="1141560" cy="39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2" name="" descr=""/>
          <p:cNvPicPr/>
          <p:nvPr/>
        </p:nvPicPr>
        <p:blipFill>
          <a:blip r:embed="rId13"/>
          <a:stretch/>
        </p:blipFill>
        <p:spPr>
          <a:xfrm>
            <a:off x="231120" y="6281280"/>
            <a:ext cx="1366560" cy="35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560" cy="638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Pipeline: Iterating through cell subsets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4" name="Picture 2" descr=""/>
          <p:cNvPicPr/>
          <p:nvPr/>
        </p:nvPicPr>
        <p:blipFill>
          <a:blip r:embed="rId1"/>
          <a:srcRect l="0" t="0" r="6365" b="1419"/>
          <a:stretch/>
        </p:blipFill>
        <p:spPr>
          <a:xfrm>
            <a:off x="-99000" y="491400"/>
            <a:ext cx="7742520" cy="570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5" name="Rectangle 1"/>
          <p:cNvSpPr/>
          <p:nvPr/>
        </p:nvSpPr>
        <p:spPr>
          <a:xfrm>
            <a:off x="5911560" y="697320"/>
            <a:ext cx="2337840" cy="50108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86" name="TextBox 3"/>
          <p:cNvSpPr/>
          <p:nvPr/>
        </p:nvSpPr>
        <p:spPr>
          <a:xfrm>
            <a:off x="10053000" y="2738880"/>
            <a:ext cx="197100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GatingSets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Walkthrough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Box 4"/>
          <p:cNvSpPr/>
          <p:nvPr/>
        </p:nvSpPr>
        <p:spPr>
          <a:xfrm>
            <a:off x="10121400" y="5346360"/>
            <a:ext cx="197100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Coereba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Vignette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TextBox 9"/>
          <p:cNvSpPr/>
          <p:nvPr/>
        </p:nvSpPr>
        <p:spPr>
          <a:xfrm>
            <a:off x="8113680" y="2738880"/>
            <a:ext cx="204984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Subset Export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Walkthrough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TextBox 10"/>
          <p:cNvSpPr/>
          <p:nvPr/>
        </p:nvSpPr>
        <p:spPr>
          <a:xfrm>
            <a:off x="8136360" y="5343120"/>
            <a:ext cx="197100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Coereba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0" name="Graphic 12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357400" y="3582360"/>
            <a:ext cx="1821960" cy="1628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1" name="Graphic 14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372320" y="3570480"/>
            <a:ext cx="1818360" cy="162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2" name="Graphic 16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322120" y="914400"/>
            <a:ext cx="1882800" cy="1682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3" name="Graphic 18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10264680" y="929160"/>
            <a:ext cx="1810800" cy="161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4" name="Arrow: Down 19"/>
          <p:cNvSpPr/>
          <p:nvPr/>
        </p:nvSpPr>
        <p:spPr>
          <a:xfrm rot="5400000">
            <a:off x="5964480" y="1646280"/>
            <a:ext cx="519480" cy="6789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95" name="Rectangle 20"/>
          <p:cNvSpPr/>
          <p:nvPr/>
        </p:nvSpPr>
        <p:spPr>
          <a:xfrm>
            <a:off x="6119640" y="2360520"/>
            <a:ext cx="2058840" cy="2667600"/>
          </a:xfrm>
          <a:prstGeom prst="rect">
            <a:avLst/>
          </a:prstGeom>
          <a:solidFill>
            <a:schemeClr val="bg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96" name="Rectangle 21"/>
          <p:cNvSpPr/>
          <p:nvPr/>
        </p:nvSpPr>
        <p:spPr>
          <a:xfrm>
            <a:off x="6095880" y="2445480"/>
            <a:ext cx="2082600" cy="28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Cell subset of interest exported out as own .fcs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All cell subset .fcs files brought into 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7" name="Picture 22" descr=""/>
          <p:cNvPicPr/>
          <p:nvPr/>
        </p:nvPicPr>
        <p:blipFill>
          <a:blip r:embed="rId10"/>
          <a:stretch/>
        </p:blipFill>
        <p:spPr>
          <a:xfrm>
            <a:off x="10435680" y="6172200"/>
            <a:ext cx="1141560" cy="39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8" name="" descr=""/>
          <p:cNvPicPr/>
          <p:nvPr/>
        </p:nvPicPr>
        <p:blipFill>
          <a:blip r:embed="rId11"/>
          <a:stretch/>
        </p:blipFill>
        <p:spPr>
          <a:xfrm>
            <a:off x="231120" y="6281280"/>
            <a:ext cx="1366560" cy="35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560" cy="638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Pipeline: Coereba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0" name="Picture 2" descr=""/>
          <p:cNvPicPr/>
          <p:nvPr/>
        </p:nvPicPr>
        <p:blipFill>
          <a:blip r:embed="rId1"/>
          <a:srcRect l="0" t="0" r="6365" b="1419"/>
          <a:stretch/>
        </p:blipFill>
        <p:spPr>
          <a:xfrm>
            <a:off x="-99000" y="491400"/>
            <a:ext cx="7742520" cy="570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1" name="Rectangle 1"/>
          <p:cNvSpPr/>
          <p:nvPr/>
        </p:nvSpPr>
        <p:spPr>
          <a:xfrm>
            <a:off x="5911560" y="697320"/>
            <a:ext cx="2337840" cy="50108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02" name="TextBox 3"/>
          <p:cNvSpPr/>
          <p:nvPr/>
        </p:nvSpPr>
        <p:spPr>
          <a:xfrm>
            <a:off x="10053000" y="2738880"/>
            <a:ext cx="197100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GatingSets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Walkthrough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TextBox 4"/>
          <p:cNvSpPr/>
          <p:nvPr/>
        </p:nvSpPr>
        <p:spPr>
          <a:xfrm>
            <a:off x="10121400" y="5346360"/>
            <a:ext cx="197100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Coereba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Vignette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TextBox 9"/>
          <p:cNvSpPr/>
          <p:nvPr/>
        </p:nvSpPr>
        <p:spPr>
          <a:xfrm>
            <a:off x="8113680" y="2738880"/>
            <a:ext cx="204984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Subset Export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Walkthrough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Box 10"/>
          <p:cNvSpPr/>
          <p:nvPr/>
        </p:nvSpPr>
        <p:spPr>
          <a:xfrm>
            <a:off x="8136360" y="5343120"/>
            <a:ext cx="197100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Coereba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6" name="Graphic 12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357400" y="3582360"/>
            <a:ext cx="1821960" cy="1628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7" name="Graphic 14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372320" y="3570480"/>
            <a:ext cx="1818360" cy="162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8" name="Graphic 16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322120" y="914400"/>
            <a:ext cx="1882800" cy="1682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9" name="Graphic 18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10264680" y="929160"/>
            <a:ext cx="1810800" cy="161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0" name="Arrow: Down 19"/>
          <p:cNvSpPr/>
          <p:nvPr/>
        </p:nvSpPr>
        <p:spPr>
          <a:xfrm rot="5400000">
            <a:off x="6177240" y="3251520"/>
            <a:ext cx="519480" cy="6789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11" name="Rectangle 21"/>
          <p:cNvSpPr/>
          <p:nvPr/>
        </p:nvSpPr>
        <p:spPr>
          <a:xfrm>
            <a:off x="5989680" y="875880"/>
            <a:ext cx="2082600" cy="70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Rectangle 8"/>
          <p:cNvSpPr/>
          <p:nvPr/>
        </p:nvSpPr>
        <p:spPr>
          <a:xfrm>
            <a:off x="6095880" y="2828160"/>
            <a:ext cx="1866240" cy="423720"/>
          </a:xfrm>
          <a:prstGeom prst="rect">
            <a:avLst/>
          </a:prstGeom>
          <a:solidFill>
            <a:schemeClr val="bg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13" name="TextBox 6"/>
          <p:cNvSpPr/>
          <p:nvPr/>
        </p:nvSpPr>
        <p:spPr>
          <a:xfrm>
            <a:off x="6095880" y="2845440"/>
            <a:ext cx="183456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Coereba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4" name="Picture 11" descr=""/>
          <p:cNvPicPr/>
          <p:nvPr/>
        </p:nvPicPr>
        <p:blipFill>
          <a:blip r:embed="rId10"/>
          <a:stretch/>
        </p:blipFill>
        <p:spPr>
          <a:xfrm>
            <a:off x="10435680" y="6172200"/>
            <a:ext cx="1141560" cy="39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5" name="" descr=""/>
          <p:cNvPicPr/>
          <p:nvPr/>
        </p:nvPicPr>
        <p:blipFill>
          <a:blip r:embed="rId11"/>
          <a:stretch/>
        </p:blipFill>
        <p:spPr>
          <a:xfrm>
            <a:off x="231120" y="6281280"/>
            <a:ext cx="1366560" cy="35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560" cy="638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Coereba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7" name="Picture 4" descr=""/>
          <p:cNvPicPr/>
          <p:nvPr/>
        </p:nvPicPr>
        <p:blipFill>
          <a:blip r:embed="rId1"/>
          <a:srcRect l="28389" t="0" r="0" b="0"/>
          <a:stretch/>
        </p:blipFill>
        <p:spPr>
          <a:xfrm>
            <a:off x="3166200" y="293040"/>
            <a:ext cx="6562800" cy="641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8" name="Picture 5" descr=""/>
          <p:cNvPicPr/>
          <p:nvPr/>
        </p:nvPicPr>
        <p:blipFill>
          <a:blip r:embed="rId2"/>
          <a:srcRect l="0" t="26724" r="72153" b="28563"/>
          <a:stretch/>
        </p:blipFill>
        <p:spPr>
          <a:xfrm>
            <a:off x="373320" y="777240"/>
            <a:ext cx="2551320" cy="286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9" name="TextBox 8"/>
          <p:cNvSpPr/>
          <p:nvPr/>
        </p:nvSpPr>
        <p:spPr>
          <a:xfrm>
            <a:off x="499680" y="5584680"/>
            <a:ext cx="210456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Code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0" name="Graphic 9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60760" y="3645360"/>
            <a:ext cx="1831320" cy="183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1" name="Picture 10" descr=""/>
          <p:cNvPicPr/>
          <p:nvPr/>
        </p:nvPicPr>
        <p:blipFill>
          <a:blip r:embed="rId5"/>
          <a:stretch/>
        </p:blipFill>
        <p:spPr>
          <a:xfrm>
            <a:off x="10435680" y="6172200"/>
            <a:ext cx="1141560" cy="39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2" name="" descr=""/>
          <p:cNvPicPr/>
          <p:nvPr/>
        </p:nvPicPr>
        <p:blipFill>
          <a:blip r:embed="rId6"/>
          <a:stretch/>
        </p:blipFill>
        <p:spPr>
          <a:xfrm>
            <a:off x="231120" y="6281280"/>
            <a:ext cx="1366560" cy="35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560" cy="638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Grouping cells that share every marker 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4" name="Picture 5" descr=""/>
          <p:cNvPicPr/>
          <p:nvPr/>
        </p:nvPicPr>
        <p:blipFill>
          <a:blip r:embed="rId1"/>
          <a:srcRect l="0" t="26726" r="72154" b="28564"/>
          <a:stretch/>
        </p:blipFill>
        <p:spPr>
          <a:xfrm>
            <a:off x="0" y="-132840"/>
            <a:ext cx="1582920" cy="177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5" name="Picture 2" descr=""/>
          <p:cNvPicPr/>
          <p:nvPr/>
        </p:nvPicPr>
        <p:blipFill>
          <a:blip r:embed="rId2"/>
          <a:stretch/>
        </p:blipFill>
        <p:spPr>
          <a:xfrm>
            <a:off x="1523880" y="1185480"/>
            <a:ext cx="9142560" cy="639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6" name="Arrow: Down 3"/>
          <p:cNvSpPr/>
          <p:nvPr/>
        </p:nvSpPr>
        <p:spPr>
          <a:xfrm>
            <a:off x="7251480" y="829440"/>
            <a:ext cx="519480" cy="7534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627" name="Picture 6" descr=""/>
          <p:cNvPicPr/>
          <p:nvPr/>
        </p:nvPicPr>
        <p:blipFill>
          <a:blip r:embed="rId3"/>
          <a:stretch/>
        </p:blipFill>
        <p:spPr>
          <a:xfrm>
            <a:off x="10435680" y="6172200"/>
            <a:ext cx="1141560" cy="39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8" name="" descr=""/>
          <p:cNvPicPr/>
          <p:nvPr/>
        </p:nvPicPr>
        <p:blipFill>
          <a:blip r:embed="rId4"/>
          <a:stretch/>
        </p:blipFill>
        <p:spPr>
          <a:xfrm>
            <a:off x="231120" y="6281280"/>
            <a:ext cx="1366560" cy="35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560" cy="638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Initial automated gate, with ability to adjust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0" name="Picture 5" descr=""/>
          <p:cNvPicPr/>
          <p:nvPr/>
        </p:nvPicPr>
        <p:blipFill>
          <a:blip r:embed="rId1"/>
          <a:srcRect l="0" t="26726" r="72154" b="28564"/>
          <a:stretch/>
        </p:blipFill>
        <p:spPr>
          <a:xfrm>
            <a:off x="0" y="-132840"/>
            <a:ext cx="1582920" cy="177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1" name="Picture 8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41560" cy="39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2" name="Picture 2" descr=""/>
          <p:cNvPicPr/>
          <p:nvPr/>
        </p:nvPicPr>
        <p:blipFill>
          <a:blip r:embed="rId3"/>
          <a:srcRect l="0" t="0" r="50000" b="26630"/>
          <a:stretch/>
        </p:blipFill>
        <p:spPr>
          <a:xfrm>
            <a:off x="1844640" y="1020240"/>
            <a:ext cx="4249800" cy="445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3" name="TextBox 3"/>
          <p:cNvSpPr/>
          <p:nvPr/>
        </p:nvSpPr>
        <p:spPr>
          <a:xfrm>
            <a:off x="6531840" y="1122480"/>
            <a:ext cx="4449960" cy="37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Initial gates for designated markers calculated via openCyto (mindensity)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Ability to update gate_range constraints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Launch a Shiny app and designate interactively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"/>
          <p:cNvSpPr/>
          <p:nvPr/>
        </p:nvSpPr>
        <p:spPr>
          <a:xfrm>
            <a:off x="6557400" y="1407600"/>
            <a:ext cx="3957120" cy="1370520"/>
          </a:xfrm>
          <a:prstGeom prst="rect">
            <a:avLst/>
          </a:prstGeom>
          <a:solidFill>
            <a:srgbClr val="f7d1d5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"/>
          <p:cNvSpPr/>
          <p:nvPr/>
        </p:nvSpPr>
        <p:spPr>
          <a:xfrm>
            <a:off x="6557400" y="3999600"/>
            <a:ext cx="3957120" cy="943200"/>
          </a:xfrm>
          <a:prstGeom prst="rect">
            <a:avLst/>
          </a:prstGeom>
          <a:solidFill>
            <a:srgbClr val="b4c7dc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"/>
          <p:cNvSpPr/>
          <p:nvPr/>
        </p:nvSpPr>
        <p:spPr>
          <a:xfrm>
            <a:off x="6531840" y="2905920"/>
            <a:ext cx="3957120" cy="943200"/>
          </a:xfrm>
          <a:prstGeom prst="rect">
            <a:avLst/>
          </a:prstGeom>
          <a:solidFill>
            <a:srgbClr val="ff972f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7" name="" descr=""/>
          <p:cNvPicPr/>
          <p:nvPr/>
        </p:nvPicPr>
        <p:blipFill>
          <a:blip r:embed="rId4"/>
          <a:stretch/>
        </p:blipFill>
        <p:spPr>
          <a:xfrm>
            <a:off x="231120" y="6281280"/>
            <a:ext cx="1366560" cy="35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560" cy="638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CoerebaID column gets added to the .fcs file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9" name="Picture 5" descr=""/>
          <p:cNvPicPr/>
          <p:nvPr/>
        </p:nvPicPr>
        <p:blipFill>
          <a:blip r:embed="rId1"/>
          <a:srcRect l="0" t="26726" r="72154" b="28564"/>
          <a:stretch/>
        </p:blipFill>
        <p:spPr>
          <a:xfrm>
            <a:off x="0" y="-132840"/>
            <a:ext cx="1582920" cy="177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0" name="Picture 4" descr=""/>
          <p:cNvPicPr/>
          <p:nvPr/>
        </p:nvPicPr>
        <p:blipFill>
          <a:blip r:embed="rId2"/>
          <a:stretch/>
        </p:blipFill>
        <p:spPr>
          <a:xfrm>
            <a:off x="7691040" y="776880"/>
            <a:ext cx="7576200" cy="5302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1" name="Picture 7" descr=""/>
          <p:cNvPicPr/>
          <p:nvPr/>
        </p:nvPicPr>
        <p:blipFill>
          <a:blip r:embed="rId3"/>
          <a:srcRect l="0" t="0" r="0" b="54009"/>
          <a:stretch/>
        </p:blipFill>
        <p:spPr>
          <a:xfrm>
            <a:off x="-219600" y="2347920"/>
            <a:ext cx="7831080" cy="2520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2" name="Picture 8" descr=""/>
          <p:cNvPicPr/>
          <p:nvPr/>
        </p:nvPicPr>
        <p:blipFill>
          <a:blip r:embed="rId4"/>
          <a:stretch/>
        </p:blipFill>
        <p:spPr>
          <a:xfrm>
            <a:off x="10435680" y="6172200"/>
            <a:ext cx="1141560" cy="39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3" name="" descr=""/>
          <p:cNvPicPr/>
          <p:nvPr/>
        </p:nvPicPr>
        <p:blipFill>
          <a:blip r:embed="rId5"/>
          <a:stretch/>
        </p:blipFill>
        <p:spPr>
          <a:xfrm>
            <a:off x="231120" y="6281280"/>
            <a:ext cx="1366560" cy="35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560" cy="638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Pipeline: Summarized Experiment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5" name="Picture 2" descr=""/>
          <p:cNvPicPr/>
          <p:nvPr/>
        </p:nvPicPr>
        <p:blipFill>
          <a:blip r:embed="rId1"/>
          <a:srcRect l="0" t="0" r="27212" b="0"/>
          <a:stretch/>
        </p:blipFill>
        <p:spPr>
          <a:xfrm>
            <a:off x="-99000" y="491400"/>
            <a:ext cx="6018480" cy="578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6" name="Rectangle 1"/>
          <p:cNvSpPr/>
          <p:nvPr/>
        </p:nvSpPr>
        <p:spPr>
          <a:xfrm>
            <a:off x="5897880" y="733680"/>
            <a:ext cx="2670480" cy="54255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47" name="Arrow: Down 3"/>
          <p:cNvSpPr/>
          <p:nvPr/>
        </p:nvSpPr>
        <p:spPr>
          <a:xfrm rot="5400000">
            <a:off x="6106320" y="4750920"/>
            <a:ext cx="519480" cy="6789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48" name="Rectangle 4"/>
          <p:cNvSpPr/>
          <p:nvPr/>
        </p:nvSpPr>
        <p:spPr>
          <a:xfrm>
            <a:off x="5960160" y="2318040"/>
            <a:ext cx="2491560" cy="2390760"/>
          </a:xfrm>
          <a:prstGeom prst="rect">
            <a:avLst/>
          </a:prstGeom>
          <a:solidFill>
            <a:schemeClr val="bg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49" name="Rectangle 5"/>
          <p:cNvSpPr/>
          <p:nvPr/>
        </p:nvSpPr>
        <p:spPr>
          <a:xfrm>
            <a:off x="5978880" y="2509200"/>
            <a:ext cx="2451240" cy="224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Data stored in a Summarized Experiment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Interoperability with Bioconductor statistics packages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0" name="Picture 6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41560" cy="39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1" name="" descr=""/>
          <p:cNvPicPr/>
          <p:nvPr/>
        </p:nvPicPr>
        <p:blipFill>
          <a:blip r:embed="rId3"/>
          <a:stretch/>
        </p:blipFill>
        <p:spPr>
          <a:xfrm>
            <a:off x="231120" y="6281280"/>
            <a:ext cx="1366560" cy="35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560" cy="638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Summarized Experiment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Rectangle 50"/>
          <p:cNvSpPr/>
          <p:nvPr/>
        </p:nvSpPr>
        <p:spPr>
          <a:xfrm>
            <a:off x="7864560" y="1079280"/>
            <a:ext cx="3873240" cy="452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Permits rapid re-aggregation of the terminal nodes for re-evaluation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Ties in with downstream Bioconductor statistics packages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Portable. Don’t like how we aggregated groups of cells? File is small enough to store in the same data repository as .fcs files for subsequent re-analysis.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Filterable by metadata or node.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- Nodes only in HEU-hi?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- Nodes unique to one individual?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4" name="Picture 2" descr=""/>
          <p:cNvPicPr/>
          <p:nvPr/>
        </p:nvPicPr>
        <p:blipFill>
          <a:blip r:embed="rId1"/>
          <a:stretch/>
        </p:blipFill>
        <p:spPr>
          <a:xfrm>
            <a:off x="718560" y="705240"/>
            <a:ext cx="7187040" cy="560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5" name="Picture 3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4156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6" name=""/>
          <p:cNvSpPr/>
          <p:nvPr/>
        </p:nvSpPr>
        <p:spPr>
          <a:xfrm>
            <a:off x="7864560" y="1079280"/>
            <a:ext cx="3792960" cy="977040"/>
          </a:xfrm>
          <a:prstGeom prst="rect">
            <a:avLst/>
          </a:prstGeom>
          <a:solidFill>
            <a:srgbClr val="ff4000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7" name=""/>
          <p:cNvSpPr/>
          <p:nvPr/>
        </p:nvSpPr>
        <p:spPr>
          <a:xfrm>
            <a:off x="7864560" y="2186280"/>
            <a:ext cx="3792960" cy="748440"/>
          </a:xfrm>
          <a:prstGeom prst="rect">
            <a:avLst/>
          </a:prstGeom>
          <a:solidFill>
            <a:srgbClr val="ffb66c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"/>
          <p:cNvSpPr/>
          <p:nvPr/>
        </p:nvSpPr>
        <p:spPr>
          <a:xfrm>
            <a:off x="7864560" y="3007800"/>
            <a:ext cx="3792960" cy="1442520"/>
          </a:xfrm>
          <a:prstGeom prst="rect">
            <a:avLst/>
          </a:prstGeom>
          <a:solidFill>
            <a:srgbClr val="b4c7dc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"/>
          <p:cNvSpPr/>
          <p:nvPr/>
        </p:nvSpPr>
        <p:spPr>
          <a:xfrm>
            <a:off x="7864560" y="4572000"/>
            <a:ext cx="3792960" cy="1028880"/>
          </a:xfrm>
          <a:prstGeom prst="rect">
            <a:avLst/>
          </a:prstGeom>
          <a:solidFill>
            <a:srgbClr val="afd095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0" name="" descr=""/>
          <p:cNvPicPr/>
          <p:nvPr/>
        </p:nvPicPr>
        <p:blipFill>
          <a:blip r:embed="rId3"/>
          <a:stretch/>
        </p:blipFill>
        <p:spPr>
          <a:xfrm>
            <a:off x="231120" y="6281280"/>
            <a:ext cx="1366560" cy="35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PlaceHolder 1"/>
          <p:cNvSpPr>
            <a:spLocks noGrp="1"/>
          </p:cNvSpPr>
          <p:nvPr>
            <p:ph type="title"/>
          </p:nvPr>
        </p:nvSpPr>
        <p:spPr>
          <a:xfrm>
            <a:off x="1063080" y="0"/>
            <a:ext cx="10512000" cy="6951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Retrieval of marker expressions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2" name="Picture 151" descr=""/>
          <p:cNvPicPr/>
          <p:nvPr/>
        </p:nvPicPr>
        <p:blipFill>
          <a:blip r:embed="rId1"/>
          <a:stretch/>
        </p:blipFill>
        <p:spPr>
          <a:xfrm>
            <a:off x="72000" y="108000"/>
            <a:ext cx="1844280" cy="159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3" name="Graphic 152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515600" y="0"/>
            <a:ext cx="1596600" cy="159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4" name="Picture 2" descr=""/>
          <p:cNvPicPr/>
          <p:nvPr/>
        </p:nvPicPr>
        <p:blipFill>
          <a:blip r:embed="rId4"/>
          <a:stretch/>
        </p:blipFill>
        <p:spPr>
          <a:xfrm>
            <a:off x="1863720" y="1362240"/>
            <a:ext cx="8463240" cy="4579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5" name="" descr=""/>
          <p:cNvPicPr/>
          <p:nvPr/>
        </p:nvPicPr>
        <p:blipFill>
          <a:blip r:embed="rId5"/>
          <a:stretch/>
        </p:blipFill>
        <p:spPr>
          <a:xfrm>
            <a:off x="231120" y="6281280"/>
            <a:ext cx="1366560" cy="354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6" name="Picture 60" descr=""/>
          <p:cNvPicPr/>
          <p:nvPr/>
        </p:nvPicPr>
        <p:blipFill>
          <a:blip r:embed="rId6"/>
          <a:stretch/>
        </p:blipFill>
        <p:spPr>
          <a:xfrm>
            <a:off x="10435680" y="6172560"/>
            <a:ext cx="1141560" cy="399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560" cy="638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Pipeline: Normalization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8" name="Picture 2" descr=""/>
          <p:cNvPicPr/>
          <p:nvPr/>
        </p:nvPicPr>
        <p:blipFill>
          <a:blip r:embed="rId1"/>
          <a:stretch/>
        </p:blipFill>
        <p:spPr>
          <a:xfrm>
            <a:off x="-99000" y="491400"/>
            <a:ext cx="8268840" cy="578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9" name="TextBox 3"/>
          <p:cNvSpPr/>
          <p:nvPr/>
        </p:nvSpPr>
        <p:spPr>
          <a:xfrm>
            <a:off x="9582480" y="3025080"/>
            <a:ext cx="210456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CytoNorm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Vignettes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TextBox 4"/>
          <p:cNvSpPr/>
          <p:nvPr/>
        </p:nvSpPr>
        <p:spPr>
          <a:xfrm>
            <a:off x="9693720" y="5547240"/>
            <a:ext cx="210456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CyCombine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Vignettes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TextBox 9"/>
          <p:cNvSpPr/>
          <p:nvPr/>
        </p:nvSpPr>
        <p:spPr>
          <a:xfrm>
            <a:off x="7718760" y="3014280"/>
            <a:ext cx="210456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CytoNorm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TextBox 10"/>
          <p:cNvSpPr/>
          <p:nvPr/>
        </p:nvSpPr>
        <p:spPr>
          <a:xfrm>
            <a:off x="7696440" y="5539320"/>
            <a:ext cx="210456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CyCombine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3" name="Graphic 12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040600" y="3577680"/>
            <a:ext cx="1885680" cy="188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4" name="Graphic 14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050120" y="3641760"/>
            <a:ext cx="1832760" cy="1832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5" name="Graphic 16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100360" y="1054080"/>
            <a:ext cx="1804680" cy="1804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6" name="Graphic 18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9972720" y="1065960"/>
            <a:ext cx="1824840" cy="182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7" name="Arrow: Down 19"/>
          <p:cNvSpPr/>
          <p:nvPr/>
        </p:nvSpPr>
        <p:spPr>
          <a:xfrm rot="5400000">
            <a:off x="7328880" y="923040"/>
            <a:ext cx="519480" cy="6789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678" name="Picture 20" descr=""/>
          <p:cNvPicPr/>
          <p:nvPr/>
        </p:nvPicPr>
        <p:blipFill>
          <a:blip r:embed="rId10"/>
          <a:stretch/>
        </p:blipFill>
        <p:spPr>
          <a:xfrm>
            <a:off x="10435680" y="6172200"/>
            <a:ext cx="1141560" cy="39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9" name="" descr=""/>
          <p:cNvPicPr/>
          <p:nvPr/>
        </p:nvPicPr>
        <p:blipFill>
          <a:blip r:embed="rId11"/>
          <a:stretch/>
        </p:blipFill>
        <p:spPr>
          <a:xfrm>
            <a:off x="231120" y="6281280"/>
            <a:ext cx="1366560" cy="35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560" cy="638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Pipeline: Clustering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1" name="Picture 2" descr=""/>
          <p:cNvPicPr/>
          <p:nvPr/>
        </p:nvPicPr>
        <p:blipFill>
          <a:blip r:embed="rId1"/>
          <a:stretch/>
        </p:blipFill>
        <p:spPr>
          <a:xfrm>
            <a:off x="-99000" y="491400"/>
            <a:ext cx="8268840" cy="578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2" name="TextBox 3"/>
          <p:cNvSpPr/>
          <p:nvPr/>
        </p:nvSpPr>
        <p:spPr>
          <a:xfrm>
            <a:off x="9624960" y="2940120"/>
            <a:ext cx="210456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FlowSOM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Vignettes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TextBox 9"/>
          <p:cNvSpPr/>
          <p:nvPr/>
        </p:nvSpPr>
        <p:spPr>
          <a:xfrm>
            <a:off x="7707960" y="2940120"/>
            <a:ext cx="210456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FlowSOM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4" name="Graphic 5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025840" y="947520"/>
            <a:ext cx="1804680" cy="1804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5" name="Graphic 7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929160" y="937080"/>
            <a:ext cx="1847160" cy="184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6" name="Arrow: Down 8"/>
          <p:cNvSpPr/>
          <p:nvPr/>
        </p:nvSpPr>
        <p:spPr>
          <a:xfrm rot="5400000">
            <a:off x="7233120" y="2028960"/>
            <a:ext cx="519480" cy="6789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687" name="Picture 11" descr=""/>
          <p:cNvPicPr/>
          <p:nvPr/>
        </p:nvPicPr>
        <p:blipFill>
          <a:blip r:embed="rId6"/>
          <a:stretch/>
        </p:blipFill>
        <p:spPr>
          <a:xfrm>
            <a:off x="10435680" y="6172200"/>
            <a:ext cx="1141560" cy="39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8" name="" descr=""/>
          <p:cNvPicPr/>
          <p:nvPr/>
        </p:nvPicPr>
        <p:blipFill>
          <a:blip r:embed="rId7"/>
          <a:stretch/>
        </p:blipFill>
        <p:spPr>
          <a:xfrm>
            <a:off x="230760" y="6280920"/>
            <a:ext cx="1366560" cy="35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560" cy="638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Pipeline: Dimensionality Visualization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0" name="Picture 2" descr=""/>
          <p:cNvPicPr/>
          <p:nvPr/>
        </p:nvPicPr>
        <p:blipFill>
          <a:blip r:embed="rId1"/>
          <a:stretch/>
        </p:blipFill>
        <p:spPr>
          <a:xfrm>
            <a:off x="-99000" y="491400"/>
            <a:ext cx="8268840" cy="578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1" name="TextBox 3"/>
          <p:cNvSpPr/>
          <p:nvPr/>
        </p:nvSpPr>
        <p:spPr>
          <a:xfrm>
            <a:off x="9624960" y="2940120"/>
            <a:ext cx="210456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UMAP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Wrapper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TextBox 9"/>
          <p:cNvSpPr/>
          <p:nvPr/>
        </p:nvSpPr>
        <p:spPr>
          <a:xfrm>
            <a:off x="7707960" y="2940120"/>
            <a:ext cx="210456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UMAP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TextBox 1"/>
          <p:cNvSpPr/>
          <p:nvPr/>
        </p:nvSpPr>
        <p:spPr>
          <a:xfrm>
            <a:off x="9660600" y="5346360"/>
            <a:ext cx="210456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PaCMAP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Wrapper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TextBox 4"/>
          <p:cNvSpPr/>
          <p:nvPr/>
        </p:nvSpPr>
        <p:spPr>
          <a:xfrm>
            <a:off x="7860240" y="5420880"/>
            <a:ext cx="210456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PaCMAP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5" name="Graphic 8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025840" y="1011600"/>
            <a:ext cx="1815480" cy="1815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6" name="Graphic 11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121600" y="3429000"/>
            <a:ext cx="1794240" cy="1794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7" name="Graphic 13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9956880" y="1028520"/>
            <a:ext cx="1787400" cy="1787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8" name="Graphic 14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10002960" y="3429000"/>
            <a:ext cx="1787400" cy="178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9" name="Arrow: Down 15"/>
          <p:cNvSpPr/>
          <p:nvPr/>
        </p:nvSpPr>
        <p:spPr>
          <a:xfrm rot="5400000">
            <a:off x="7211880" y="3088440"/>
            <a:ext cx="519480" cy="6789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700" name="Picture 16" descr=""/>
          <p:cNvPicPr/>
          <p:nvPr/>
        </p:nvPicPr>
        <p:blipFill>
          <a:blip r:embed="rId10"/>
          <a:stretch/>
        </p:blipFill>
        <p:spPr>
          <a:xfrm>
            <a:off x="10435680" y="6172200"/>
            <a:ext cx="1141560" cy="39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1" name="" descr=""/>
          <p:cNvPicPr/>
          <p:nvPr/>
        </p:nvPicPr>
        <p:blipFill>
          <a:blip r:embed="rId11"/>
          <a:stretch/>
        </p:blipFill>
        <p:spPr>
          <a:xfrm>
            <a:off x="230760" y="6172920"/>
            <a:ext cx="1366560" cy="35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560" cy="638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fontScale="92500"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Ability to contrast unsupervised methods vs. “manual” ground-truth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3" name="Picture 41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41560" cy="39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4" name="" descr=""/>
          <p:cNvPicPr/>
          <p:nvPr/>
        </p:nvPicPr>
        <p:blipFill>
          <a:blip r:embed="rId2"/>
          <a:stretch/>
        </p:blipFill>
        <p:spPr>
          <a:xfrm>
            <a:off x="914400" y="1504080"/>
            <a:ext cx="10283400" cy="4207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5" name="" descr=""/>
          <p:cNvPicPr/>
          <p:nvPr/>
        </p:nvPicPr>
        <p:blipFill>
          <a:blip r:embed="rId3"/>
          <a:stretch/>
        </p:blipFill>
        <p:spPr>
          <a:xfrm>
            <a:off x="457560" y="6172560"/>
            <a:ext cx="1366560" cy="35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560" cy="638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Retrieving and re-enumerating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7" name="Picture 13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41560" cy="39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8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6560" cy="354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9" name="" descr=""/>
          <p:cNvPicPr/>
          <p:nvPr/>
        </p:nvPicPr>
        <p:blipFill>
          <a:blip r:embed="rId3"/>
          <a:srcRect l="0" t="0" r="75396" b="50082"/>
          <a:stretch/>
        </p:blipFill>
        <p:spPr>
          <a:xfrm>
            <a:off x="685800" y="1438200"/>
            <a:ext cx="2615760" cy="2242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0" name="" descr=""/>
          <p:cNvPicPr/>
          <p:nvPr/>
        </p:nvPicPr>
        <p:blipFill>
          <a:blip r:embed="rId4"/>
          <a:srcRect l="0" t="0" r="0" b="46265"/>
          <a:stretch/>
        </p:blipFill>
        <p:spPr>
          <a:xfrm>
            <a:off x="3568680" y="2062800"/>
            <a:ext cx="3880080" cy="1879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1" name="" descr=""/>
          <p:cNvPicPr/>
          <p:nvPr/>
        </p:nvPicPr>
        <p:blipFill>
          <a:blip r:embed="rId5"/>
          <a:srcRect l="28789" t="0" r="0" b="79839"/>
          <a:stretch/>
        </p:blipFill>
        <p:spPr>
          <a:xfrm>
            <a:off x="5927760" y="4227480"/>
            <a:ext cx="5498640" cy="16027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12" name=""/>
          <p:cNvGrpSpPr/>
          <p:nvPr/>
        </p:nvGrpSpPr>
        <p:grpSpPr>
          <a:xfrm>
            <a:off x="1307160" y="3902760"/>
            <a:ext cx="1732320" cy="590040"/>
            <a:chOff x="1307160" y="3902760"/>
            <a:chExt cx="1732320" cy="590040"/>
          </a:xfrm>
        </p:grpSpPr>
        <p:sp>
          <p:nvSpPr>
            <p:cNvPr id="713" name=""/>
            <p:cNvSpPr/>
            <p:nvPr/>
          </p:nvSpPr>
          <p:spPr>
            <a:xfrm>
              <a:off x="1307160" y="3902760"/>
              <a:ext cx="1526040" cy="590040"/>
            </a:xfrm>
            <a:prstGeom prst="rect">
              <a:avLst/>
            </a:prstGeom>
            <a:solidFill>
              <a:srgbClr val="afd095">
                <a:alpha val="50000"/>
              </a:srgbClr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14" name=""/>
            <p:cNvSpPr/>
            <p:nvPr/>
          </p:nvSpPr>
          <p:spPr>
            <a:xfrm>
              <a:off x="1491480" y="3956760"/>
              <a:ext cx="15480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1) Gate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15" name=""/>
          <p:cNvSpPr/>
          <p:nvPr/>
        </p:nvSpPr>
        <p:spPr>
          <a:xfrm>
            <a:off x="4051800" y="1319040"/>
            <a:ext cx="3155400" cy="740160"/>
          </a:xfrm>
          <a:prstGeom prst="rect">
            <a:avLst/>
          </a:prstGeom>
          <a:solidFill>
            <a:srgbClr val="afd095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16" name=""/>
          <p:cNvSpPr/>
          <p:nvPr/>
        </p:nvSpPr>
        <p:spPr>
          <a:xfrm>
            <a:off x="7963200" y="3495960"/>
            <a:ext cx="2414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3) Re-enumerate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and plot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"/>
          <p:cNvSpPr/>
          <p:nvPr/>
        </p:nvSpPr>
        <p:spPr>
          <a:xfrm>
            <a:off x="3283920" y="1522080"/>
            <a:ext cx="547920" cy="642240"/>
          </a:xfrm>
          <a:prstGeom prst="line">
            <a:avLst/>
          </a:prstGeom>
          <a:ln w="91440">
            <a:solidFill>
              <a:srgbClr val="2a60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35720" rIns="135720" tIns="90720" bIns="907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18" name=""/>
          <p:cNvSpPr/>
          <p:nvPr/>
        </p:nvSpPr>
        <p:spPr>
          <a:xfrm>
            <a:off x="6994800" y="3729240"/>
            <a:ext cx="565200" cy="626400"/>
          </a:xfrm>
          <a:prstGeom prst="line">
            <a:avLst/>
          </a:prstGeom>
          <a:ln w="91440">
            <a:solidFill>
              <a:srgbClr val="2a60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35720" rIns="135720" tIns="90720" bIns="907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19" name=""/>
          <p:cNvSpPr/>
          <p:nvPr/>
        </p:nvSpPr>
        <p:spPr>
          <a:xfrm>
            <a:off x="4203360" y="1387080"/>
            <a:ext cx="32007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2) Retrieve manual-annotated gates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"/>
          <p:cNvSpPr/>
          <p:nvPr/>
        </p:nvSpPr>
        <p:spPr>
          <a:xfrm>
            <a:off x="7766640" y="3428640"/>
            <a:ext cx="2588760" cy="740160"/>
          </a:xfrm>
          <a:prstGeom prst="rect">
            <a:avLst/>
          </a:prstGeom>
          <a:solidFill>
            <a:srgbClr val="afd095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040" cy="7380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Retrieve manual annotated gating information following unsupervised steps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22" name="Group 144"/>
          <p:cNvGrpSpPr/>
          <p:nvPr/>
        </p:nvGrpSpPr>
        <p:grpSpPr>
          <a:xfrm>
            <a:off x="1035000" y="1090440"/>
            <a:ext cx="9787680" cy="4675680"/>
            <a:chOff x="1035000" y="1090440"/>
            <a:chExt cx="9787680" cy="4675680"/>
          </a:xfrm>
        </p:grpSpPr>
        <p:pic>
          <p:nvPicPr>
            <p:cNvPr id="723" name="Picture 145" descr=""/>
            <p:cNvPicPr/>
            <p:nvPr/>
          </p:nvPicPr>
          <p:blipFill>
            <a:blip r:embed="rId1"/>
            <a:stretch/>
          </p:blipFill>
          <p:spPr>
            <a:xfrm>
              <a:off x="3891960" y="3265560"/>
              <a:ext cx="6930000" cy="250056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724" name="Group 146"/>
            <p:cNvGrpSpPr/>
            <p:nvPr/>
          </p:nvGrpSpPr>
          <p:grpSpPr>
            <a:xfrm>
              <a:off x="3314880" y="1090440"/>
              <a:ext cx="7507800" cy="2188080"/>
              <a:chOff x="3314880" y="1090440"/>
              <a:chExt cx="7507800" cy="2188080"/>
            </a:xfrm>
          </p:grpSpPr>
          <p:pic>
            <p:nvPicPr>
              <p:cNvPr id="725" name="Picture 147" descr=""/>
              <p:cNvPicPr/>
              <p:nvPr/>
            </p:nvPicPr>
            <p:blipFill>
              <a:blip r:embed="rId2"/>
              <a:srcRect l="0" t="44464" r="9095" b="0"/>
              <a:stretch/>
            </p:blipFill>
            <p:spPr>
              <a:xfrm>
                <a:off x="3893040" y="1217880"/>
                <a:ext cx="6929640" cy="20606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726" name="Rectangle 148"/>
              <p:cNvSpPr/>
              <p:nvPr/>
            </p:nvSpPr>
            <p:spPr>
              <a:xfrm>
                <a:off x="3314880" y="1090440"/>
                <a:ext cx="7507800" cy="339840"/>
              </a:xfrm>
              <a:prstGeom prst="rect">
                <a:avLst/>
              </a:prstGeom>
              <a:solidFill>
                <a:srgbClr val="ffffff"/>
              </a:solidFill>
              <a:ln w="0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endParaRPr>
              </a:p>
            </p:txBody>
          </p:sp>
        </p:grpSp>
        <p:pic>
          <p:nvPicPr>
            <p:cNvPr id="727" name="Picture 149" descr=""/>
            <p:cNvPicPr/>
            <p:nvPr/>
          </p:nvPicPr>
          <p:blipFill>
            <a:blip r:embed="rId3"/>
            <a:stretch/>
          </p:blipFill>
          <p:spPr>
            <a:xfrm>
              <a:off x="1035000" y="1386360"/>
              <a:ext cx="2564280" cy="437976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728" name="" descr=""/>
          <p:cNvPicPr/>
          <p:nvPr/>
        </p:nvPicPr>
        <p:blipFill>
          <a:blip r:embed="rId4"/>
          <a:stretch/>
        </p:blipFill>
        <p:spPr>
          <a:xfrm>
            <a:off x="230760" y="6172920"/>
            <a:ext cx="1366560" cy="354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9" name="Picture 63" descr=""/>
          <p:cNvPicPr/>
          <p:nvPr/>
        </p:nvPicPr>
        <p:blipFill>
          <a:blip r:embed="rId5"/>
          <a:stretch/>
        </p:blipFill>
        <p:spPr>
          <a:xfrm>
            <a:off x="10435680" y="6172560"/>
            <a:ext cx="1141560" cy="399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TextBox 5"/>
          <p:cNvSpPr/>
          <p:nvPr/>
        </p:nvSpPr>
        <p:spPr>
          <a:xfrm>
            <a:off x="7269840" y="1225800"/>
            <a:ext cx="4732560" cy="56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Fun off-label uses thus far: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Contrasting where “manually-gated” cells end up vs. our unsupervised methods (normalization, clustering, etc.)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Added benefit of looking-at-the-forest: Easy to identify badly cryopreserved specimens where cell populations were lost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560" cy="638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Functional and Iterative: plenty for everyone to dislike 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Wingdings"/>
                <a:ea typeface="DejaVu Sans"/>
              </a:rPr>
              <a:t>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2" name="Picture 2" descr=""/>
          <p:cNvPicPr/>
          <p:nvPr/>
        </p:nvPicPr>
        <p:blipFill>
          <a:blip r:embed="rId1"/>
          <a:stretch/>
        </p:blipFill>
        <p:spPr>
          <a:xfrm>
            <a:off x="479160" y="1063080"/>
            <a:ext cx="6454080" cy="451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3" name="Picture 3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4156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4" name=""/>
          <p:cNvSpPr/>
          <p:nvPr/>
        </p:nvSpPr>
        <p:spPr>
          <a:xfrm>
            <a:off x="7315200" y="1297800"/>
            <a:ext cx="4342320" cy="373320"/>
          </a:xfrm>
          <a:prstGeom prst="rect">
            <a:avLst/>
          </a:prstGeom>
          <a:solidFill>
            <a:srgbClr val="ff8000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"/>
          <p:cNvSpPr/>
          <p:nvPr/>
        </p:nvSpPr>
        <p:spPr>
          <a:xfrm>
            <a:off x="7315200" y="1949400"/>
            <a:ext cx="4342320" cy="1599120"/>
          </a:xfrm>
          <a:prstGeom prst="rect">
            <a:avLst/>
          </a:prstGeom>
          <a:solidFill>
            <a:srgbClr val="b4c7dc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"/>
          <p:cNvSpPr/>
          <p:nvPr/>
        </p:nvSpPr>
        <p:spPr>
          <a:xfrm>
            <a:off x="7315200" y="3765600"/>
            <a:ext cx="4342320" cy="1599120"/>
          </a:xfrm>
          <a:prstGeom prst="rect">
            <a:avLst/>
          </a:prstGeom>
          <a:solidFill>
            <a:srgbClr val="dde8cb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7" name="" descr=""/>
          <p:cNvPicPr/>
          <p:nvPr/>
        </p:nvPicPr>
        <p:blipFill>
          <a:blip r:embed="rId3"/>
          <a:stretch/>
        </p:blipFill>
        <p:spPr>
          <a:xfrm>
            <a:off x="230760" y="6172920"/>
            <a:ext cx="1366560" cy="35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560" cy="638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Are our high-dimensional analysis problems fixed?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9" name="Picture 62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41560" cy="39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0" name="Picture 48" descr=""/>
          <p:cNvPicPr/>
          <p:nvPr/>
        </p:nvPicPr>
        <p:blipFill>
          <a:blip r:embed="rId2"/>
          <a:srcRect l="19533" t="32525" r="20348" b="27776"/>
          <a:stretch/>
        </p:blipFill>
        <p:spPr>
          <a:xfrm>
            <a:off x="1098360" y="1371960"/>
            <a:ext cx="10328400" cy="383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1" name="" descr=""/>
          <p:cNvPicPr/>
          <p:nvPr/>
        </p:nvPicPr>
        <p:blipFill>
          <a:blip r:embed="rId3"/>
          <a:stretch/>
        </p:blipFill>
        <p:spPr>
          <a:xfrm>
            <a:off x="230400" y="6172560"/>
            <a:ext cx="1366560" cy="35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08960" cy="6346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Semi-supervised Pipeline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3" name="Picture 45" descr=""/>
          <p:cNvPicPr/>
          <p:nvPr/>
        </p:nvPicPr>
        <p:blipFill>
          <a:blip r:embed="rId1"/>
          <a:stretch/>
        </p:blipFill>
        <p:spPr>
          <a:xfrm>
            <a:off x="2061000" y="491400"/>
            <a:ext cx="8265240" cy="5784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4" name="Picture 47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37960" cy="39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5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6560" cy="35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3840" cy="13168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What good is any tool if the community is not able to use it?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7" name="Picture 50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520" cy="39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8" name="" descr=""/>
          <p:cNvPicPr/>
          <p:nvPr/>
        </p:nvPicPr>
        <p:blipFill>
          <a:blip r:embed="rId2"/>
          <a:stretch/>
        </p:blipFill>
        <p:spPr>
          <a:xfrm>
            <a:off x="457200" y="6172200"/>
            <a:ext cx="1366560" cy="3549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49" name=""/>
          <p:cNvGrpSpPr/>
          <p:nvPr/>
        </p:nvGrpSpPr>
        <p:grpSpPr>
          <a:xfrm>
            <a:off x="5486400" y="1150920"/>
            <a:ext cx="6255000" cy="4338000"/>
            <a:chOff x="5486400" y="1150920"/>
            <a:chExt cx="6255000" cy="4338000"/>
          </a:xfrm>
        </p:grpSpPr>
        <p:pic>
          <p:nvPicPr>
            <p:cNvPr id="750" name="" descr=""/>
            <p:cNvPicPr/>
            <p:nvPr/>
          </p:nvPicPr>
          <p:blipFill>
            <a:blip r:embed="rId3"/>
            <a:stretch/>
          </p:blipFill>
          <p:spPr>
            <a:xfrm>
              <a:off x="5486400" y="1150920"/>
              <a:ext cx="6255000" cy="4338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51" name="" descr=""/>
            <p:cNvPicPr/>
            <p:nvPr/>
          </p:nvPicPr>
          <p:blipFill>
            <a:blip r:embed="rId4"/>
            <a:stretch/>
          </p:blipFill>
          <p:spPr>
            <a:xfrm>
              <a:off x="8780760" y="1379520"/>
              <a:ext cx="2341080" cy="25696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52" name=""/>
          <p:cNvSpPr/>
          <p:nvPr/>
        </p:nvSpPr>
        <p:spPr>
          <a:xfrm>
            <a:off x="444600" y="1150920"/>
            <a:ext cx="4566600" cy="456300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53" name="Rectangle 9"/>
          <p:cNvSpPr/>
          <p:nvPr/>
        </p:nvSpPr>
        <p:spPr>
          <a:xfrm>
            <a:off x="415440" y="1186920"/>
            <a:ext cx="4612680" cy="44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Few resources to learn Cytometry in R to begin with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Those that exist aimed at those with intermediate-advanced R skills, not beginners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Know-how concentrated at a few institutions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Most self-learning attempts end in frustration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3840" cy="13168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Cytometry in R: A free weekly course for flow cytometrist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with no-to-little coding experience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5" name="Picture 51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520" cy="39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6" name="" descr=""/>
          <p:cNvPicPr/>
          <p:nvPr/>
        </p:nvPicPr>
        <p:blipFill>
          <a:blip r:embed="rId2"/>
          <a:stretch/>
        </p:blipFill>
        <p:spPr>
          <a:xfrm>
            <a:off x="3500640" y="1081800"/>
            <a:ext cx="6820200" cy="151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7" name="" descr=""/>
          <p:cNvPicPr/>
          <p:nvPr/>
        </p:nvPicPr>
        <p:blipFill>
          <a:blip r:embed="rId3"/>
          <a:stretch/>
        </p:blipFill>
        <p:spPr>
          <a:xfrm>
            <a:off x="3483720" y="2774160"/>
            <a:ext cx="6837120" cy="401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8" name="Picture 52" descr=""/>
          <p:cNvPicPr/>
          <p:nvPr/>
        </p:nvPicPr>
        <p:blipFill>
          <a:blip r:embed="rId4"/>
          <a:stretch/>
        </p:blipFill>
        <p:spPr>
          <a:xfrm>
            <a:off x="757800" y="1094760"/>
            <a:ext cx="1972440" cy="1453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9" name="Graphic 2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64800" y="3429000"/>
            <a:ext cx="1355040" cy="119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0" name="PlaceHolder 27"/>
          <p:cNvSpPr/>
          <p:nvPr/>
        </p:nvSpPr>
        <p:spPr>
          <a:xfrm>
            <a:off x="613800" y="4836600"/>
            <a:ext cx="1549440" cy="104652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rm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Website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1" name="" descr=""/>
          <p:cNvPicPr/>
          <p:nvPr/>
        </p:nvPicPr>
        <p:blipFill>
          <a:blip r:embed="rId7"/>
          <a:stretch/>
        </p:blipFill>
        <p:spPr>
          <a:xfrm>
            <a:off x="457200" y="6172200"/>
            <a:ext cx="1366560" cy="35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"/>
          <p:cNvSpPr/>
          <p:nvPr/>
        </p:nvSpPr>
        <p:spPr>
          <a:xfrm>
            <a:off x="2569320" y="4523400"/>
            <a:ext cx="6624000" cy="159480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63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3840" cy="13168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Half-way through this passion project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Rectangle 10"/>
          <p:cNvSpPr/>
          <p:nvPr/>
        </p:nvSpPr>
        <p:spPr>
          <a:xfrm>
            <a:off x="2569320" y="4523400"/>
            <a:ext cx="702540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Wrapping up Cytometry Core module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Gathering steam to start on the Unsupervised Analysis section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5" name="Picture 53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520" cy="39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6" name="" descr=""/>
          <p:cNvPicPr/>
          <p:nvPr/>
        </p:nvPicPr>
        <p:blipFill>
          <a:blip r:embed="rId2"/>
          <a:stretch/>
        </p:blipFill>
        <p:spPr>
          <a:xfrm>
            <a:off x="228600" y="914400"/>
            <a:ext cx="11655000" cy="3442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7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6560" cy="35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8" name=""/>
          <p:cNvSpPr/>
          <p:nvPr/>
        </p:nvSpPr>
        <p:spPr>
          <a:xfrm rot="19411800">
            <a:off x="10550520" y="793440"/>
            <a:ext cx="456120" cy="9133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983b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"/>
          <p:cNvSpPr/>
          <p:nvPr/>
        </p:nvSpPr>
        <p:spPr>
          <a:xfrm>
            <a:off x="349200" y="4885200"/>
            <a:ext cx="2164320" cy="60012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70" name=""/>
          <p:cNvSpPr/>
          <p:nvPr/>
        </p:nvSpPr>
        <p:spPr>
          <a:xfrm>
            <a:off x="10395000" y="2685600"/>
            <a:ext cx="1366200" cy="68040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71" name=""/>
          <p:cNvSpPr/>
          <p:nvPr/>
        </p:nvSpPr>
        <p:spPr>
          <a:xfrm>
            <a:off x="8458200" y="2649600"/>
            <a:ext cx="1366200" cy="68040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72" name=""/>
          <p:cNvSpPr/>
          <p:nvPr/>
        </p:nvSpPr>
        <p:spPr>
          <a:xfrm>
            <a:off x="4102200" y="3828600"/>
            <a:ext cx="3897720" cy="211392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73" name=""/>
          <p:cNvSpPr/>
          <p:nvPr/>
        </p:nvSpPr>
        <p:spPr>
          <a:xfrm>
            <a:off x="349200" y="3803400"/>
            <a:ext cx="2161800" cy="91080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74" name=""/>
          <p:cNvSpPr/>
          <p:nvPr/>
        </p:nvSpPr>
        <p:spPr>
          <a:xfrm>
            <a:off x="349200" y="1204200"/>
            <a:ext cx="3423600" cy="68220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75" name=""/>
          <p:cNvSpPr/>
          <p:nvPr/>
        </p:nvSpPr>
        <p:spPr>
          <a:xfrm>
            <a:off x="338400" y="2118600"/>
            <a:ext cx="3423600" cy="159480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76" name="PlaceHolder 1"/>
          <p:cNvSpPr>
            <a:spLocks noGrp="1"/>
          </p:cNvSpPr>
          <p:nvPr>
            <p:ph type="title"/>
          </p:nvPr>
        </p:nvSpPr>
        <p:spPr>
          <a:xfrm>
            <a:off x="3886200" y="46080"/>
            <a:ext cx="4563360" cy="13168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Acknowledgments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7" name="Picture 54" descr=""/>
          <p:cNvPicPr/>
          <p:nvPr/>
        </p:nvPicPr>
        <p:blipFill>
          <a:blip r:embed="rId1"/>
          <a:stretch/>
        </p:blipFill>
        <p:spPr>
          <a:xfrm>
            <a:off x="9290520" y="3601800"/>
            <a:ext cx="2362680" cy="42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8" name="Picture 55" descr=""/>
          <p:cNvPicPr/>
          <p:nvPr/>
        </p:nvPicPr>
        <p:blipFill>
          <a:blip r:embed="rId2"/>
          <a:stretch/>
        </p:blipFill>
        <p:spPr>
          <a:xfrm>
            <a:off x="9673200" y="4028400"/>
            <a:ext cx="1981440" cy="39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9" name="Content Placeholder 1"/>
          <p:cNvSpPr/>
          <p:nvPr/>
        </p:nvSpPr>
        <p:spPr>
          <a:xfrm>
            <a:off x="228600" y="3803400"/>
            <a:ext cx="3971160" cy="182016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108000" defTabSz="914400">
              <a:lnSpc>
                <a:spcPct val="100000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Dr. Cristiana Cairo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Dr. Kirsten E. Lyke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Dr. Xiaoxuan Fan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TextBox 23"/>
          <p:cNvSpPr/>
          <p:nvPr/>
        </p:nvSpPr>
        <p:spPr>
          <a:xfrm>
            <a:off x="255240" y="1215000"/>
            <a:ext cx="33987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08000" defTabSz="914400">
              <a:lnSpc>
                <a:spcPct val="100000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All mothers and their infants, and their communities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TextBox 24"/>
          <p:cNvSpPr/>
          <p:nvPr/>
        </p:nvSpPr>
        <p:spPr>
          <a:xfrm>
            <a:off x="302400" y="2203200"/>
            <a:ext cx="339876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08000" defTabSz="914400">
              <a:lnSpc>
                <a:spcPct val="100000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All the open-source contributors, developers, and maintainers, that collectively made the tool sets without which all of this would not be feasible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Content Placeholder 3"/>
          <p:cNvSpPr/>
          <p:nvPr/>
        </p:nvSpPr>
        <p:spPr>
          <a:xfrm>
            <a:off x="9829800" y="1486800"/>
            <a:ext cx="3971160" cy="182016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108000" defTabSz="914400">
              <a:lnSpc>
                <a:spcPct val="10000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algn="r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algn="r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algn="r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TextBox 25"/>
          <p:cNvSpPr/>
          <p:nvPr/>
        </p:nvSpPr>
        <p:spPr>
          <a:xfrm>
            <a:off x="8001000" y="2846880"/>
            <a:ext cx="225576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marL="108000" algn="ctr" defTabSz="914400">
              <a:lnSpc>
                <a:spcPts val="575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Cytometry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algn="ctr" defTabSz="914400">
              <a:lnSpc>
                <a:spcPts val="575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Discord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TextBox 26"/>
          <p:cNvSpPr/>
          <p:nvPr/>
        </p:nvSpPr>
        <p:spPr>
          <a:xfrm>
            <a:off x="10287000" y="2895120"/>
            <a:ext cx="1569960" cy="41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 defTabSz="914400">
              <a:lnSpc>
                <a:spcPts val="575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Bioconductor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575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Zulip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5" name="Picture 56" descr=""/>
          <p:cNvPicPr/>
          <p:nvPr/>
        </p:nvPicPr>
        <p:blipFill>
          <a:blip r:embed="rId3"/>
          <a:stretch/>
        </p:blipFill>
        <p:spPr>
          <a:xfrm>
            <a:off x="9144000" y="5715000"/>
            <a:ext cx="2742120" cy="107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6" name="Graphic 6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218880" y="5771520"/>
            <a:ext cx="3437640" cy="89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7" name="TextBox 27"/>
          <p:cNvSpPr/>
          <p:nvPr/>
        </p:nvSpPr>
        <p:spPr>
          <a:xfrm>
            <a:off x="228600" y="5065200"/>
            <a:ext cx="34999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7080" bIns="37080" anchor="t">
            <a:spAutoFit/>
          </a:bodyPr>
          <a:p>
            <a:pPr marL="108000" defTabSz="914400">
              <a:lnSpc>
                <a:spcPts val="575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Dr. Daniela Franco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575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Dr. Natarajan Ayithan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8" name="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350200" y="1036800"/>
            <a:ext cx="1594800" cy="159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9" name="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10251000" y="1062000"/>
            <a:ext cx="1594800" cy="159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0" name="Picture 57" descr="A picture containing text, person, indoor, working&#10;&#10;Description automatically generated"/>
          <p:cNvPicPr/>
          <p:nvPr/>
        </p:nvPicPr>
        <p:blipFill>
          <a:blip r:embed="rId10"/>
          <a:stretch/>
        </p:blipFill>
        <p:spPr>
          <a:xfrm>
            <a:off x="4305240" y="1234080"/>
            <a:ext cx="3578040" cy="242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1" name="Picture 58" descr=""/>
          <p:cNvPicPr/>
          <p:nvPr/>
        </p:nvPicPr>
        <p:blipFill>
          <a:blip r:embed="rId11"/>
          <a:stretch/>
        </p:blipFill>
        <p:spPr>
          <a:xfrm>
            <a:off x="156600" y="122400"/>
            <a:ext cx="3578040" cy="93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2" name="Picture 59" descr=""/>
          <p:cNvPicPr/>
          <p:nvPr/>
        </p:nvPicPr>
        <p:blipFill>
          <a:blip r:embed="rId12"/>
          <a:stretch/>
        </p:blipFill>
        <p:spPr>
          <a:xfrm>
            <a:off x="9493200" y="109080"/>
            <a:ext cx="2513520" cy="94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3" name="Rectangle 14"/>
          <p:cNvSpPr/>
          <p:nvPr/>
        </p:nvSpPr>
        <p:spPr>
          <a:xfrm>
            <a:off x="4138200" y="3850200"/>
            <a:ext cx="3741120" cy="20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U01 HD092309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This publication was supported by funds through Maryland Department of Health’s Cigarette Restitution Fund Program – CH- 649-CRF and the National Cancer Institute – Cancer Center Support Grant (CCSG) – P30CA134274.d Service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Rectangle 15"/>
          <p:cNvSpPr/>
          <p:nvPr/>
        </p:nvSpPr>
        <p:spPr>
          <a:xfrm>
            <a:off x="8602200" y="4417200"/>
            <a:ext cx="37411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www.linkedin.com/in/david-rach/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5" name="" descr=""/>
          <p:cNvPicPr/>
          <p:nvPr/>
        </p:nvPicPr>
        <p:blipFill>
          <a:blip r:embed="rId13"/>
          <a:stretch/>
        </p:blipFill>
        <p:spPr>
          <a:xfrm>
            <a:off x="8769600" y="4453200"/>
            <a:ext cx="401040" cy="352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6" name=""/>
          <p:cNvSpPr/>
          <p:nvPr/>
        </p:nvSpPr>
        <p:spPr>
          <a:xfrm>
            <a:off x="8686800" y="5065200"/>
            <a:ext cx="3091320" cy="42012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97" name=""/>
          <p:cNvSpPr/>
          <p:nvPr/>
        </p:nvSpPr>
        <p:spPr>
          <a:xfrm>
            <a:off x="8686800" y="5101200"/>
            <a:ext cx="30067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Want to collaborate? Reach out!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PlaceHolder 1"/>
          <p:cNvSpPr>
            <a:spLocks noGrp="1"/>
          </p:cNvSpPr>
          <p:nvPr>
            <p:ph type="title"/>
          </p:nvPr>
        </p:nvSpPr>
        <p:spPr>
          <a:xfrm>
            <a:off x="1143000" y="-182520"/>
            <a:ext cx="10054800" cy="13219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Questions?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Rectangle 192"/>
          <p:cNvSpPr/>
          <p:nvPr/>
        </p:nvSpPr>
        <p:spPr>
          <a:xfrm>
            <a:off x="457200" y="2683800"/>
            <a:ext cx="29682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UMGCCC FCSR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InstrumentQC dashboard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Rectangle 193"/>
          <p:cNvSpPr/>
          <p:nvPr/>
        </p:nvSpPr>
        <p:spPr>
          <a:xfrm>
            <a:off x="8915400" y="5149800"/>
            <a:ext cx="296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YouTube 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@CytometryInR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Rectangle 194"/>
          <p:cNvSpPr/>
          <p:nvPr/>
        </p:nvSpPr>
        <p:spPr>
          <a:xfrm>
            <a:off x="8915400" y="2683800"/>
            <a:ext cx="2968200" cy="6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Website - CytometryInR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Rectangle 195"/>
          <p:cNvSpPr/>
          <p:nvPr/>
        </p:nvSpPr>
        <p:spPr>
          <a:xfrm>
            <a:off x="4800600" y="2683800"/>
            <a:ext cx="296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Luciernaga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Rectangle 196"/>
          <p:cNvSpPr/>
          <p:nvPr/>
        </p:nvSpPr>
        <p:spPr>
          <a:xfrm>
            <a:off x="4800600" y="5149800"/>
            <a:ext cx="2968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Coereba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Rectangle 197"/>
          <p:cNvSpPr/>
          <p:nvPr/>
        </p:nvSpPr>
        <p:spPr>
          <a:xfrm>
            <a:off x="457200" y="4921200"/>
            <a:ext cx="29682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InstrumentQC How-To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5" name="Picture 198" descr=""/>
          <p:cNvPicPr/>
          <p:nvPr/>
        </p:nvPicPr>
        <p:blipFill>
          <a:blip r:embed="rId1"/>
          <a:stretch/>
        </p:blipFill>
        <p:spPr>
          <a:xfrm>
            <a:off x="7947000" y="3470400"/>
            <a:ext cx="2107800" cy="159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6" name="Picture 199" descr=""/>
          <p:cNvPicPr/>
          <p:nvPr/>
        </p:nvPicPr>
        <p:blipFill>
          <a:blip r:embed="rId2"/>
          <a:stretch/>
        </p:blipFill>
        <p:spPr>
          <a:xfrm>
            <a:off x="4095720" y="3488400"/>
            <a:ext cx="1844280" cy="159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7" name="Picture 200" descr=""/>
          <p:cNvPicPr/>
          <p:nvPr/>
        </p:nvPicPr>
        <p:blipFill>
          <a:blip r:embed="rId3"/>
          <a:stretch/>
        </p:blipFill>
        <p:spPr>
          <a:xfrm>
            <a:off x="457200" y="3565440"/>
            <a:ext cx="1368000" cy="1580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8" name="Picture 201" descr=""/>
          <p:cNvPicPr/>
          <p:nvPr/>
        </p:nvPicPr>
        <p:blipFill>
          <a:blip r:embed="rId4"/>
          <a:stretch/>
        </p:blipFill>
        <p:spPr>
          <a:xfrm>
            <a:off x="4132080" y="963000"/>
            <a:ext cx="1843920" cy="159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9" name="Picture 202" descr=""/>
          <p:cNvPicPr/>
          <p:nvPr/>
        </p:nvPicPr>
        <p:blipFill>
          <a:blip r:embed="rId5"/>
          <a:srcRect l="33723" t="6681" r="35970" b="0"/>
          <a:stretch/>
        </p:blipFill>
        <p:spPr>
          <a:xfrm rot="24000">
            <a:off x="89280" y="1086480"/>
            <a:ext cx="1955160" cy="158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0" name="Picture 203" descr=""/>
          <p:cNvPicPr/>
          <p:nvPr/>
        </p:nvPicPr>
        <p:blipFill>
          <a:blip r:embed="rId6"/>
          <a:stretch/>
        </p:blipFill>
        <p:spPr>
          <a:xfrm>
            <a:off x="7947000" y="855000"/>
            <a:ext cx="2107800" cy="159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1" name="Graphic 204" descr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6064200" y="3321000"/>
            <a:ext cx="1825200" cy="1825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2" name="Graphic 205" descr="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10058400" y="3321000"/>
            <a:ext cx="1825200" cy="1825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3" name="Graphic 206" descr="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6064200" y="819000"/>
            <a:ext cx="1825200" cy="1825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4" name="Graphic 207" descr=""/>
          <p:cNvPicPr/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>
            <a:off x="2021400" y="855000"/>
            <a:ext cx="1825200" cy="1825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5" name="Graphic 208" descr=""/>
          <p:cNvPicPr/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/>
        </p:blipFill>
        <p:spPr>
          <a:xfrm>
            <a:off x="2057400" y="3429000"/>
            <a:ext cx="1689480" cy="168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6" name="Graphic 209" descr=""/>
          <p:cNvPicPr/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>
            <a:off x="10058400" y="855000"/>
            <a:ext cx="1825200" cy="1825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7" name="" descr=""/>
          <p:cNvPicPr/>
          <p:nvPr/>
        </p:nvPicPr>
        <p:blipFill>
          <a:blip r:embed="rId19"/>
          <a:stretch/>
        </p:blipFill>
        <p:spPr>
          <a:xfrm>
            <a:off x="230760" y="6172920"/>
            <a:ext cx="1366560" cy="354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8" name="Picture 49" descr=""/>
          <p:cNvPicPr/>
          <p:nvPr/>
        </p:nvPicPr>
        <p:blipFill>
          <a:blip r:embed="rId20"/>
          <a:stretch/>
        </p:blipFill>
        <p:spPr>
          <a:xfrm>
            <a:off x="10435680" y="6172560"/>
            <a:ext cx="1136520" cy="394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609</TotalTime>
  <Application>LibreOffice/25.2.3.2$Linux_X86_64 LibreOffice_project/520$Build-2</Application>
  <AppVersion>15.0000</AppVersion>
  <Words>1146</Words>
  <Paragraphs>268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2025-07-21T11:58:18Z</dcterms:created>
  <dc:creator>Thomas Evans</dc:creator>
  <dc:description/>
  <dc:language>en-US</dc:language>
  <cp:lastModifiedBy/>
  <dcterms:modified xsi:type="dcterms:W3CDTF">2026-10-21T16:44:41Z</dcterms:modified>
  <cp:revision>64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0x010100804A9A38EF1C6344A4E9D5FEC9AF05B5</vt:lpwstr>
  </property>
  <property fmtid="{D5CDD505-2E9C-101B-9397-08002B2CF9AE}" pid="3" name="Notes">
    <vt:i4>3</vt:i4>
  </property>
  <property fmtid="{D5CDD505-2E9C-101B-9397-08002B2CF9AE}" pid="4" name="PresentationFormat">
    <vt:lpwstr>Widescreen</vt:lpwstr>
  </property>
  <property fmtid="{D5CDD505-2E9C-101B-9397-08002B2CF9AE}" pid="5" name="Slides">
    <vt:i4>39</vt:i4>
  </property>
  <property fmtid="{D5CDD505-2E9C-101B-9397-08002B2CF9AE}" pid="6" name="_dlc_DocIdItemGuid">
    <vt:lpwstr>4d3e5825-e8bc-4995-b9ad-4f8ee15e5c87</vt:lpwstr>
  </property>
</Properties>
</file>