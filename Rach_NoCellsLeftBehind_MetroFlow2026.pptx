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16.xml" ContentType="application/vnd.openxmlformats-officedocument.theme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8.png" ContentType="image/png"/>
  <Override PartName="/ppt/media/image57.png" ContentType="image/png"/>
  <Override PartName="/ppt/media/image56.png" ContentType="image/png"/>
  <Override PartName="/ppt/media/image55.png" ContentType="image/png"/>
  <Override PartName="/ppt/media/image54.png" ContentType="image/png"/>
  <Override PartName="/ppt/media/image52.png" ContentType="image/png"/>
  <Override PartName="/ppt/media/image51.png" ContentType="image/png"/>
  <Override PartName="/ppt/media/image50.svg" ContentType="image/svg"/>
  <Override PartName="/ppt/media/image49.png" ContentType="image/png"/>
  <Override PartName="/ppt/media/image46.png" ContentType="image/png"/>
  <Override PartName="/ppt/media/image45.png" ContentType="image/png"/>
  <Override PartName="/ppt/media/image89.svg" ContentType="image/svg"/>
  <Override PartName="/ppt/media/image44.png" ContentType="image/png"/>
  <Override PartName="/ppt/media/image43.png" ContentType="image/png"/>
  <Override PartName="/ppt/media/image87.svg" ContentType="image/svg"/>
  <Override PartName="/ppt/media/image47.jpeg" ContentType="image/jpeg"/>
  <Override PartName="/ppt/media/image42.png" ContentType="image/png"/>
  <Override PartName="/ppt/media/image41.png" ContentType="image/png"/>
  <Override PartName="/ppt/media/image85.svg" ContentType="image/svg"/>
  <Override PartName="/ppt/media/image53.png" ContentType="image/png"/>
  <Override PartName="/ppt/media/image40.svg" ContentType="image/svg"/>
  <Override PartName="/ppt/media/image35.jpeg" ContentType="image/jpeg"/>
  <Override PartName="/ppt/media/image65.png" ContentType="image/png"/>
  <Override PartName="/ppt/media/image32.png" ContentType="image/png"/>
  <Override PartName="/ppt/media/image76.svg" ContentType="image/svg"/>
  <Override PartName="/ppt/media/image31.png" ContentType="image/png"/>
  <Override PartName="/ppt/media/image30.png" ContentType="image/png"/>
  <Override PartName="/ppt/media/image12.jpeg" ContentType="image/jpeg"/>
  <Override PartName="/ppt/media/image18.png" ContentType="image/png"/>
  <Override PartName="/ppt/media/image83.png" ContentType="image/png"/>
  <Override PartName="/ppt/media/image17.png" ContentType="image/png"/>
  <Override PartName="/ppt/media/image8.png" ContentType="image/png"/>
  <Override PartName="/ppt/media/image82.png" ContentType="image/png"/>
  <Override PartName="/ppt/media/image34.png" ContentType="image/png"/>
  <Override PartName="/ppt/media/image78.svg" ContentType="image/svg"/>
  <Override PartName="/ppt/media/image2.png" ContentType="image/png"/>
  <Override PartName="/ppt/media/image11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81.png" ContentType="image/png"/>
  <Override PartName="/ppt/media/image71.png" ContentType="image/png"/>
  <Override PartName="/ppt/media/image67.png" ContentType="image/png"/>
  <Override PartName="/ppt/media/image68.png" ContentType="image/png"/>
  <Override PartName="/ppt/media/image70.png" ContentType="image/png"/>
  <Override PartName="/ppt/media/image69.png" ContentType="image/png"/>
  <Override PartName="/ppt/media/image72.png" ContentType="image/png"/>
  <Override PartName="/ppt/media/image28.png" ContentType="image/png"/>
  <Override PartName="/ppt/media/image13.jpeg" ContentType="image/jpeg"/>
  <Override PartName="/ppt/media/image73.png" ContentType="image/png"/>
  <Override PartName="/ppt/media/image79.jpeg" ContentType="image/jpeg"/>
  <Override PartName="/ppt/media/image74.png" ContentType="image/png"/>
  <Override PartName="/ppt/media/image29.png" ContentType="image/png"/>
  <Override PartName="/ppt/media/image94.png" ContentType="image/png"/>
  <Override PartName="/ppt/media/image100.svg" ContentType="image/svg"/>
  <Override PartName="/ppt/media/image77.png" ContentType="image/png"/>
  <Override PartName="/ppt/media/image64.png" ContentType="image/png"/>
  <Override PartName="/ppt/media/image99.png" ContentType="image/png"/>
  <Override PartName="/ppt/media/image62.png" ContentType="image/png"/>
  <Override PartName="/ppt/media/image75.png" ContentType="image/png"/>
  <Override PartName="/ppt/media/image63.png" ContentType="image/png"/>
  <Override PartName="/ppt/media/image98.png" ContentType="image/png"/>
  <Override PartName="/ppt/media/image61.png" ContentType="image/png"/>
  <Override PartName="/ppt/media/image86.png" ContentType="image/png"/>
  <Override PartName="/ppt/media/image97.png" ContentType="image/png"/>
  <Override PartName="/ppt/media/image60.png" ContentType="image/png"/>
  <Override PartName="/ppt/media/image96.png" ContentType="image/png"/>
  <Override PartName="/ppt/media/image95.png" ContentType="image/png"/>
  <Override PartName="/ppt/media/image91.svg" ContentType="image/svg"/>
  <Override PartName="/ppt/media/image88.png" ContentType="image/png"/>
  <Override PartName="/ppt/media/image93.svg" ContentType="image/svg"/>
  <Override PartName="/ppt/media/image92.png" ContentType="image/png"/>
  <Override PartName="/ppt/media/image27.png" ContentType="image/png"/>
  <Override PartName="/ppt/media/image21.jpeg" ContentType="image/jpeg"/>
  <Override PartName="/ppt/media/image26.png" ContentType="image/png"/>
  <Override PartName="/ppt/media/image25.png" ContentType="image/png"/>
  <Override PartName="/ppt/media/image90.png" ContentType="image/png"/>
  <Override PartName="/ppt/media/image3.svg" ContentType="image/svg"/>
  <Override PartName="/ppt/media/image48.png" ContentType="image/png"/>
  <Override PartName="/ppt/media/image24.png" ContentType="image/png"/>
  <Override PartName="/ppt/media/image66.svg" ContentType="image/svg"/>
  <Override PartName="/ppt/media/image22.png" ContentType="image/png"/>
  <Override PartName="/ppt/media/image59.png" ContentType="image/png"/>
  <Override PartName="/ppt/media/image20.svg" ContentType="image/svg"/>
  <Override PartName="/ppt/media/image33.png" ContentType="image/png"/>
  <Override PartName="/ppt/media/image19.png" ContentType="image/png"/>
  <Override PartName="/ppt/media/image84.png" ContentType="image/png"/>
  <Override PartName="/ppt/media/image23.png" ContentType="image/png"/>
  <Override PartName="/ppt/media/image15.png" ContentType="image/png"/>
  <Override PartName="/ppt/media/image80.png" ContentType="image/png"/>
  <Override PartName="/ppt/media/image6.png" ContentType="image/png"/>
  <Override PartName="/ppt/media/image38.png" ContentType="image/png"/>
  <Override PartName="/ppt/media/image14.jpeg" ContentType="image/jpeg"/>
  <Override PartName="/ppt/media/image1.png" ContentType="image/png"/>
  <Override PartName="/ppt/media/image10.png" ContentType="image/png"/>
  <Override PartName="/ppt/media/image5.png" ContentType="image/png"/>
  <Override PartName="/ppt/media/image37.png" ContentType="image/png"/>
  <Override PartName="/ppt/media/image4.png" ContentType="image/png"/>
  <Override PartName="/ppt/media/image9.jpeg" ContentType="image/jpeg"/>
  <Override PartName="/ppt/media/image36.png" ContentType="image/pn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73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72.xml" ContentType="application/vnd.openxmlformats-officedocument.presentationml.slide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40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73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72.xml.rels" ContentType="application/vnd.openxmlformats-package.relationships+xml"/>
  <Override PartName="/ppt/slides/_rels/slide71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6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Slides/_rels/notesSlide68.xml.rels" ContentType="application/vnd.openxmlformats-package.relationships+xml"/>
  <Override PartName="/ppt/notesSlides/notesSlide6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4" r:id="rId6"/>
    <p:sldMasterId id="2147483666" r:id="rId7"/>
    <p:sldMasterId id="2147483668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  <p:sldId id="327" r:id="rId81"/>
    <p:sldId id="328" r:id="rId8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3.xml"/><Relationship Id="rId7" Type="http://schemas.openxmlformats.org/officeDocument/2006/relationships/slideMaster" Target="slideMasters/slideMaster14.xml"/><Relationship Id="rId8" Type="http://schemas.openxmlformats.org/officeDocument/2006/relationships/slideMaster" Target="slideMasters/slideMaster15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dt" idx="4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ftr" idx="4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sldNum" idx="4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BD889D-9987-457F-8EDF-B9CBAB75EC0A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4960" cy="338652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8920" cy="39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49"/>
          </p:nvPr>
        </p:nvSpPr>
        <p:spPr>
          <a:xfrm>
            <a:off x="4402080" y="9553680"/>
            <a:ext cx="3360960" cy="49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82D116-03C4-4159-A8B1-409C53ADB10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344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488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3440" y="160488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09607E-B1A2-42FC-941A-244D0F7C752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9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960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960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960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960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FAA714-2113-4CCF-B096-3224347417B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09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8360" cy="18921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E8FDC2-6001-4B82-97B6-B08596C2BF7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9120" cy="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B62D38-3013-416E-94CB-C0B77B4C456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8145BE-9108-4E86-8677-8E5708029E8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8F4220-E0FC-415D-A570-25A3C97F196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400" cy="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13B8E2-D271-4BAE-8CEF-B74730DD0DD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12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F11434-51EB-4DD0-AFC2-C108BF6A4CE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7E10E0-5C9A-4DC5-BAA8-426E3616A88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D7D27-3D84-4FEB-9FFC-2B309D6F79E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FFF84F-38B3-40CD-A151-E3D73660151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4AAA69-E1C2-4638-917F-C84A52D3D46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609480" y="-2269080"/>
            <a:ext cx="684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9E06190-03D3-4092-ACDB-BB3304439B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C899D3C-0862-4A42-8162-F36F1161E2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609480" y="-2269080"/>
            <a:ext cx="684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07F823B-246D-4C3E-8077-6495DF1E1D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3440" y="160452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524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3440" y="1605240"/>
            <a:ext cx="288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01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BFB244-154A-49A9-B7CC-9B710EBF389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8520" cy="360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  <p:sldLayoutId id="2147483662" r:id="rId5"/>
    <p:sldLayoutId id="2147483663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37"/>
          </p:nvPr>
        </p:nvSpPr>
        <p:spPr>
          <a:xfrm>
            <a:off x="3447360" y="5165280"/>
            <a:ext cx="318888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38"/>
          </p:nvPr>
        </p:nvSpPr>
        <p:spPr>
          <a:xfrm>
            <a:off x="722736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4E65BD-BA97-4C85-B1D8-254A543A93E7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dt" idx="39"/>
          </p:nvPr>
        </p:nvSpPr>
        <p:spPr>
          <a:xfrm>
            <a:off x="50400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68FEFF-8B17-4354-9CAF-3897F982C09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ftr" idx="43"/>
          </p:nvPr>
        </p:nvSpPr>
        <p:spPr>
          <a:xfrm>
            <a:off x="3447360" y="5165280"/>
            <a:ext cx="318996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44"/>
          </p:nvPr>
        </p:nvSpPr>
        <p:spPr>
          <a:xfrm>
            <a:off x="7227360" y="5165280"/>
            <a:ext cx="234324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202992-B077-4ABC-A297-53C70FE4145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45"/>
          </p:nvPr>
        </p:nvSpPr>
        <p:spPr>
          <a:xfrm>
            <a:off x="504000" y="5165280"/>
            <a:ext cx="234324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slideLayout" Target="../slideLayouts/slideLayout1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1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slideLayout" Target="../slideLayouts/slideLayout1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1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42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2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sv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57.png"/><Relationship Id="rId3" Type="http://schemas.openxmlformats.org/officeDocument/2006/relationships/image" Target="../media/image56.pn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image" Target="../media/image35.jpe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5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0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slideLayout" Target="../slideLayouts/slideLayout1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33.png"/><Relationship Id="rId5" Type="http://schemas.openxmlformats.org/officeDocument/2006/relationships/image" Target="../media/image65.png"/><Relationship Id="rId6" Type="http://schemas.openxmlformats.org/officeDocument/2006/relationships/image" Target="../media/image66.sv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2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8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9.png"/><Relationship Id="rId3" Type="http://schemas.openxmlformats.org/officeDocument/2006/relationships/slideLayout" Target="../slideLayouts/slideLayout12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0.png"/><Relationship Id="rId3" Type="http://schemas.openxmlformats.org/officeDocument/2006/relationships/slideLayout" Target="../slideLayouts/slideLayout12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1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2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2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73.png"/><Relationship Id="rId2" Type="http://schemas.openxmlformats.org/officeDocument/2006/relationships/image" Target="../media/image74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75.png"/><Relationship Id="rId7" Type="http://schemas.openxmlformats.org/officeDocument/2006/relationships/image" Target="../media/image76.svg"/><Relationship Id="rId8" Type="http://schemas.openxmlformats.org/officeDocument/2006/relationships/image" Target="../media/image77.png"/><Relationship Id="rId9" Type="http://schemas.openxmlformats.org/officeDocument/2006/relationships/image" Target="../media/image78.svg"/><Relationship Id="rId10" Type="http://schemas.openxmlformats.org/officeDocument/2006/relationships/image" Target="../media/image79.jpeg"/><Relationship Id="rId11" Type="http://schemas.openxmlformats.org/officeDocument/2006/relationships/image" Target="../media/image80.png"/><Relationship Id="rId12" Type="http://schemas.openxmlformats.org/officeDocument/2006/relationships/image" Target="../media/image81.png"/><Relationship Id="rId13" Type="http://schemas.openxmlformats.org/officeDocument/2006/relationships/image" Target="../media/image82.pn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29.png"/><Relationship Id="rId5" Type="http://schemas.openxmlformats.org/officeDocument/2006/relationships/image" Target="../media/image83.png"/><Relationship Id="rId6" Type="http://schemas.openxmlformats.org/officeDocument/2006/relationships/image" Target="../media/image33.png"/><Relationship Id="rId7" Type="http://schemas.openxmlformats.org/officeDocument/2006/relationships/image" Target="../media/image84.png"/><Relationship Id="rId8" Type="http://schemas.openxmlformats.org/officeDocument/2006/relationships/image" Target="../media/image85.svg"/><Relationship Id="rId9" Type="http://schemas.openxmlformats.org/officeDocument/2006/relationships/image" Target="../media/image86.png"/><Relationship Id="rId10" Type="http://schemas.openxmlformats.org/officeDocument/2006/relationships/image" Target="../media/image87.svg"/><Relationship Id="rId11" Type="http://schemas.openxmlformats.org/officeDocument/2006/relationships/image" Target="../media/image88.png"/><Relationship Id="rId12" Type="http://schemas.openxmlformats.org/officeDocument/2006/relationships/image" Target="../media/image89.svg"/><Relationship Id="rId13" Type="http://schemas.openxmlformats.org/officeDocument/2006/relationships/image" Target="../media/image90.png"/><Relationship Id="rId14" Type="http://schemas.openxmlformats.org/officeDocument/2006/relationships/image" Target="../media/image91.svg"/><Relationship Id="rId15" Type="http://schemas.openxmlformats.org/officeDocument/2006/relationships/image" Target="../media/image92.png"/><Relationship Id="rId16" Type="http://schemas.openxmlformats.org/officeDocument/2006/relationships/image" Target="../media/image93.svg"/><Relationship Id="rId17" Type="http://schemas.openxmlformats.org/officeDocument/2006/relationships/image" Target="../media/image65.png"/><Relationship Id="rId18" Type="http://schemas.openxmlformats.org/officeDocument/2006/relationships/image" Target="../media/image66.svg"/><Relationship Id="rId19" Type="http://schemas.openxmlformats.org/officeDocument/2006/relationships/image" Target="../media/image8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7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4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12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5.png"/><Relationship Id="rId3" Type="http://schemas.openxmlformats.org/officeDocument/2006/relationships/image" Target="../media/image90.png"/><Relationship Id="rId4" Type="http://schemas.openxmlformats.org/officeDocument/2006/relationships/image" Target="../media/image91.svg"/><Relationship Id="rId5" Type="http://schemas.openxmlformats.org/officeDocument/2006/relationships/image" Target="../media/image96.png"/><Relationship Id="rId6" Type="http://schemas.openxmlformats.org/officeDocument/2006/relationships/slideLayout" Target="../slideLayouts/slideLayout12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7.png"/><Relationship Id="rId3" Type="http://schemas.openxmlformats.org/officeDocument/2006/relationships/slideLayout" Target="../slideLayouts/slideLayout1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98.png"/><Relationship Id="rId2" Type="http://schemas.openxmlformats.org/officeDocument/2006/relationships/image" Target="../media/image99.png"/><Relationship Id="rId3" Type="http://schemas.openxmlformats.org/officeDocument/2006/relationships/image" Target="../media/image100.svg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10920" cy="1822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23,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Box 2"/>
          <p:cNvSpPr/>
          <p:nvPr/>
        </p:nvSpPr>
        <p:spPr>
          <a:xfrm>
            <a:off x="122760" y="6404400"/>
            <a:ext cx="2103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4000" cy="9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2480" cy="12524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4" name=""/>
          <p:cNvGrpSpPr/>
          <p:nvPr/>
        </p:nvGrpSpPr>
        <p:grpSpPr>
          <a:xfrm>
            <a:off x="759960" y="1407240"/>
            <a:ext cx="10053000" cy="2112120"/>
            <a:chOff x="759960" y="1407240"/>
            <a:chExt cx="10053000" cy="2112120"/>
          </a:xfrm>
        </p:grpSpPr>
        <p:grpSp>
          <p:nvGrpSpPr>
            <p:cNvPr id="125" name=""/>
            <p:cNvGrpSpPr/>
            <p:nvPr/>
          </p:nvGrpSpPr>
          <p:grpSpPr>
            <a:xfrm>
              <a:off x="759960" y="1407240"/>
              <a:ext cx="10053000" cy="2112120"/>
              <a:chOff x="759960" y="1407240"/>
              <a:chExt cx="10053000" cy="2112120"/>
            </a:xfrm>
          </p:grpSpPr>
          <p:pic>
            <p:nvPicPr>
              <p:cNvPr id="126" name="" descr=""/>
              <p:cNvPicPr/>
              <p:nvPr/>
            </p:nvPicPr>
            <p:blipFill>
              <a:blip r:embed="rId5"/>
              <a:srcRect l="0" t="44464" r="9095" b="0"/>
              <a:stretch/>
            </p:blipFill>
            <p:spPr>
              <a:xfrm>
                <a:off x="1534320" y="1530360"/>
                <a:ext cx="9278640" cy="19890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27" name=""/>
              <p:cNvSpPr/>
              <p:nvPr/>
            </p:nvSpPr>
            <p:spPr>
              <a:xfrm>
                <a:off x="759960" y="1407240"/>
                <a:ext cx="10053000" cy="32688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sp>
          <p:nvSpPr>
            <p:cNvPr id="128" name=""/>
            <p:cNvSpPr/>
            <p:nvPr/>
          </p:nvSpPr>
          <p:spPr>
            <a:xfrm>
              <a:off x="1035000" y="1828800"/>
              <a:ext cx="684720" cy="1370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9" name=""/>
          <p:cNvSpPr/>
          <p:nvPr/>
        </p:nvSpPr>
        <p:spPr>
          <a:xfrm>
            <a:off x="457200" y="3657600"/>
            <a:ext cx="11733840" cy="177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Towards ‘No Cell Left Behind’: open-source tool sets to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leverage Spectral Flow Cytometry’s full biological discovery potential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 descr=""/>
          <p:cNvPicPr/>
          <p:nvPr/>
        </p:nvPicPr>
        <p:blipFill>
          <a:blip r:embed="rId6"/>
          <a:stretch/>
        </p:blipFill>
        <p:spPr>
          <a:xfrm>
            <a:off x="577800" y="4800600"/>
            <a:ext cx="1548360" cy="150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686160" y="1052640"/>
            <a:ext cx="5252400" cy="145692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880" cy="633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5760" cy="444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686160" y="2660400"/>
            <a:ext cx="5252400" cy="15951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Rectangle 7"/>
          <p:cNvSpPr/>
          <p:nvPr/>
        </p:nvSpPr>
        <p:spPr>
          <a:xfrm>
            <a:off x="748800" y="1052640"/>
            <a:ext cx="518976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748800" y="2707200"/>
            <a:ext cx="518976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12"/>
          <p:cNvSpPr/>
          <p:nvPr/>
        </p:nvSpPr>
        <p:spPr>
          <a:xfrm>
            <a:off x="685800" y="4440600"/>
            <a:ext cx="51897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85800" y="4397760"/>
            <a:ext cx="5252760" cy="108360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6680" cy="376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/>
          <p:nvPr/>
        </p:nvSpPr>
        <p:spPr>
          <a:xfrm>
            <a:off x="6629400" y="1198800"/>
            <a:ext cx="5027040" cy="122904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"/>
          <p:cNvSpPr/>
          <p:nvPr/>
        </p:nvSpPr>
        <p:spPr>
          <a:xfrm>
            <a:off x="6629400" y="3837600"/>
            <a:ext cx="5024160" cy="83160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6629400" y="3895200"/>
            <a:ext cx="52527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6626520" y="2498400"/>
            <a:ext cx="5027040" cy="122904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"/>
          <p:cNvSpPr/>
          <p:nvPr/>
        </p:nvSpPr>
        <p:spPr>
          <a:xfrm>
            <a:off x="6629400" y="1234800"/>
            <a:ext cx="502416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carry out a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clinical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903960" y="3466080"/>
            <a:ext cx="5034960" cy="145224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1" name=""/>
          <p:cNvSpPr/>
          <p:nvPr/>
        </p:nvSpPr>
        <p:spPr>
          <a:xfrm>
            <a:off x="909360" y="1603080"/>
            <a:ext cx="5023080" cy="136656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3"/>
          <p:cNvSpPr/>
          <p:nvPr/>
        </p:nvSpPr>
        <p:spPr>
          <a:xfrm>
            <a:off x="909360" y="1603080"/>
            <a:ext cx="4869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13"/>
          <p:cNvSpPr/>
          <p:nvPr/>
        </p:nvSpPr>
        <p:spPr>
          <a:xfrm>
            <a:off x="970560" y="3514680"/>
            <a:ext cx="4968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1520" cy="410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5486400" y="4114800"/>
            <a:ext cx="5938920" cy="13669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920" cy="44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"/>
          <p:cNvSpPr/>
          <p:nvPr/>
        </p:nvSpPr>
        <p:spPr>
          <a:xfrm>
            <a:off x="5481720" y="1403640"/>
            <a:ext cx="5860800" cy="250128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Rectangle 16"/>
          <p:cNvSpPr/>
          <p:nvPr/>
        </p:nvSpPr>
        <p:spPr>
          <a:xfrm>
            <a:off x="5403600" y="3154680"/>
            <a:ext cx="5570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7"/>
          <p:cNvSpPr/>
          <p:nvPr/>
        </p:nvSpPr>
        <p:spPr>
          <a:xfrm>
            <a:off x="5482800" y="4114800"/>
            <a:ext cx="59666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Rectangle 18"/>
          <p:cNvSpPr/>
          <p:nvPr/>
        </p:nvSpPr>
        <p:spPr>
          <a:xfrm>
            <a:off x="5486400" y="4572000"/>
            <a:ext cx="593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Rectangle 19"/>
          <p:cNvSpPr/>
          <p:nvPr/>
        </p:nvSpPr>
        <p:spPr>
          <a:xfrm>
            <a:off x="5403600" y="1325880"/>
            <a:ext cx="57103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0"/>
          <p:cNvSpPr/>
          <p:nvPr/>
        </p:nvSpPr>
        <p:spPr>
          <a:xfrm>
            <a:off x="5403600" y="2240280"/>
            <a:ext cx="59389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31"/>
          <p:cNvSpPr/>
          <p:nvPr/>
        </p:nvSpPr>
        <p:spPr>
          <a:xfrm>
            <a:off x="5486400" y="5029200"/>
            <a:ext cx="61711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5481720" y="1403640"/>
            <a:ext cx="5860800" cy="250128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"/>
          <p:cNvSpPr/>
          <p:nvPr/>
        </p:nvSpPr>
        <p:spPr>
          <a:xfrm>
            <a:off x="5486400" y="4114800"/>
            <a:ext cx="5938920" cy="13669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0920" cy="44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Rectangle 2"/>
          <p:cNvSpPr/>
          <p:nvPr/>
        </p:nvSpPr>
        <p:spPr>
          <a:xfrm>
            <a:off x="5403600" y="3154680"/>
            <a:ext cx="5570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At the end, we will have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32"/>
          <p:cNvSpPr/>
          <p:nvPr/>
        </p:nvSpPr>
        <p:spPr>
          <a:xfrm>
            <a:off x="5482800" y="411480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33"/>
          <p:cNvSpPr/>
          <p:nvPr/>
        </p:nvSpPr>
        <p:spPr>
          <a:xfrm>
            <a:off x="5482800" y="45720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Rectangle 34"/>
          <p:cNvSpPr/>
          <p:nvPr/>
        </p:nvSpPr>
        <p:spPr>
          <a:xfrm>
            <a:off x="5403600" y="1325880"/>
            <a:ext cx="57103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35"/>
          <p:cNvSpPr/>
          <p:nvPr/>
        </p:nvSpPr>
        <p:spPr>
          <a:xfrm>
            <a:off x="5403600" y="2240280"/>
            <a:ext cx="59389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is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36"/>
          <p:cNvSpPr/>
          <p:nvPr/>
        </p:nvSpPr>
        <p:spPr>
          <a:xfrm>
            <a:off x="5486400" y="50292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>
            <a:off x="457200" y="2784600"/>
            <a:ext cx="5938920" cy="16009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200" cy="650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7"/>
          <p:cNvSpPr/>
          <p:nvPr/>
        </p:nvSpPr>
        <p:spPr>
          <a:xfrm>
            <a:off x="457200" y="2738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38"/>
          <p:cNvSpPr/>
          <p:nvPr/>
        </p:nvSpPr>
        <p:spPr>
          <a:xfrm>
            <a:off x="453600" y="19458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39"/>
          <p:cNvSpPr/>
          <p:nvPr/>
        </p:nvSpPr>
        <p:spPr>
          <a:xfrm>
            <a:off x="457200" y="3134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40"/>
          <p:cNvSpPr/>
          <p:nvPr/>
        </p:nvSpPr>
        <p:spPr>
          <a:xfrm>
            <a:off x="457200" y="3530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41"/>
          <p:cNvSpPr/>
          <p:nvPr/>
        </p:nvSpPr>
        <p:spPr>
          <a:xfrm>
            <a:off x="457200" y="396252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457200" y="1899000"/>
            <a:ext cx="5938920" cy="4525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000" cy="302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PlaceHolder 12"/>
          <p:cNvSpPr/>
          <p:nvPr/>
        </p:nvSpPr>
        <p:spPr>
          <a:xfrm>
            <a:off x="424800" y="808200"/>
            <a:ext cx="8913240" cy="1088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457200" y="2784600"/>
            <a:ext cx="5938920" cy="16009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200" cy="650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45"/>
          <p:cNvSpPr/>
          <p:nvPr/>
        </p:nvSpPr>
        <p:spPr>
          <a:xfrm>
            <a:off x="457200" y="2738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53"/>
          <p:cNvSpPr/>
          <p:nvPr/>
        </p:nvSpPr>
        <p:spPr>
          <a:xfrm>
            <a:off x="453600" y="19458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54"/>
          <p:cNvSpPr/>
          <p:nvPr/>
        </p:nvSpPr>
        <p:spPr>
          <a:xfrm>
            <a:off x="457200" y="3134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55"/>
          <p:cNvSpPr/>
          <p:nvPr/>
        </p:nvSpPr>
        <p:spPr>
          <a:xfrm>
            <a:off x="457200" y="3530520"/>
            <a:ext cx="5966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56"/>
          <p:cNvSpPr/>
          <p:nvPr/>
        </p:nvSpPr>
        <p:spPr>
          <a:xfrm>
            <a:off x="457200" y="396252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457200" y="1899000"/>
            <a:ext cx="5938920" cy="4525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000" cy="302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PlaceHolder 14"/>
          <p:cNvSpPr/>
          <p:nvPr/>
        </p:nvSpPr>
        <p:spPr>
          <a:xfrm>
            <a:off x="460800" y="808200"/>
            <a:ext cx="8913240" cy="1088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1910520" y="4601520"/>
            <a:ext cx="288792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>
            <a:off x="5490000" y="2056680"/>
            <a:ext cx="5935320" cy="11671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9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Rectangle 43"/>
          <p:cNvSpPr/>
          <p:nvPr/>
        </p:nvSpPr>
        <p:spPr>
          <a:xfrm>
            <a:off x="5486400" y="13716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44"/>
          <p:cNvSpPr/>
          <p:nvPr/>
        </p:nvSpPr>
        <p:spPr>
          <a:xfrm>
            <a:off x="5490000" y="204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5486400" y="1371600"/>
            <a:ext cx="5938920" cy="4525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3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1880" cy="265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Rectangle 46"/>
          <p:cNvSpPr/>
          <p:nvPr/>
        </p:nvSpPr>
        <p:spPr>
          <a:xfrm>
            <a:off x="5490000" y="240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47"/>
          <p:cNvSpPr/>
          <p:nvPr/>
        </p:nvSpPr>
        <p:spPr>
          <a:xfrm>
            <a:off x="5490000" y="2730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9"/>
          <p:cNvSpPr/>
          <p:nvPr/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040" cy="265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"/>
          <p:cNvSpPr/>
          <p:nvPr/>
        </p:nvSpPr>
        <p:spPr>
          <a:xfrm>
            <a:off x="5490000" y="3578760"/>
            <a:ext cx="5935320" cy="143496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"/>
          <p:cNvSpPr/>
          <p:nvPr/>
        </p:nvSpPr>
        <p:spPr>
          <a:xfrm>
            <a:off x="5490000" y="2056680"/>
            <a:ext cx="5935320" cy="11671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Rectangle 42"/>
          <p:cNvSpPr/>
          <p:nvPr/>
        </p:nvSpPr>
        <p:spPr>
          <a:xfrm>
            <a:off x="5486400" y="13716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48"/>
          <p:cNvSpPr/>
          <p:nvPr/>
        </p:nvSpPr>
        <p:spPr>
          <a:xfrm>
            <a:off x="5490000" y="204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49"/>
          <p:cNvSpPr/>
          <p:nvPr/>
        </p:nvSpPr>
        <p:spPr>
          <a:xfrm>
            <a:off x="5490000" y="3578760"/>
            <a:ext cx="593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5486400" y="1371600"/>
            <a:ext cx="5938920" cy="4525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7" name="Rectangle 51"/>
          <p:cNvSpPr/>
          <p:nvPr/>
        </p:nvSpPr>
        <p:spPr>
          <a:xfrm>
            <a:off x="5490000" y="240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52"/>
          <p:cNvSpPr/>
          <p:nvPr/>
        </p:nvSpPr>
        <p:spPr>
          <a:xfrm>
            <a:off x="5490000" y="2730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11"/>
          <p:cNvSpPr/>
          <p:nvPr/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040" cy="265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"/>
          <p:cNvSpPr/>
          <p:nvPr/>
        </p:nvSpPr>
        <p:spPr>
          <a:xfrm>
            <a:off x="5490000" y="3578760"/>
            <a:ext cx="5935320" cy="143496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3" name=""/>
          <p:cNvSpPr/>
          <p:nvPr/>
        </p:nvSpPr>
        <p:spPr>
          <a:xfrm>
            <a:off x="5490000" y="2056680"/>
            <a:ext cx="5935320" cy="116712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57"/>
          <p:cNvSpPr/>
          <p:nvPr/>
        </p:nvSpPr>
        <p:spPr>
          <a:xfrm>
            <a:off x="5486400" y="1371600"/>
            <a:ext cx="6171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58"/>
          <p:cNvSpPr/>
          <p:nvPr/>
        </p:nvSpPr>
        <p:spPr>
          <a:xfrm>
            <a:off x="5490000" y="204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59"/>
          <p:cNvSpPr/>
          <p:nvPr/>
        </p:nvSpPr>
        <p:spPr>
          <a:xfrm>
            <a:off x="5490000" y="3578760"/>
            <a:ext cx="593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5486400" y="1371600"/>
            <a:ext cx="5938920" cy="4525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Rectangle 60"/>
          <p:cNvSpPr/>
          <p:nvPr/>
        </p:nvSpPr>
        <p:spPr>
          <a:xfrm>
            <a:off x="5490000" y="2406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61"/>
          <p:cNvSpPr/>
          <p:nvPr/>
        </p:nvSpPr>
        <p:spPr>
          <a:xfrm>
            <a:off x="5490000" y="2730600"/>
            <a:ext cx="6167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16"/>
          <p:cNvSpPr/>
          <p:nvPr/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"/>
          <p:cNvSpPr/>
          <p:nvPr/>
        </p:nvSpPr>
        <p:spPr>
          <a:xfrm>
            <a:off x="6629400" y="5215320"/>
            <a:ext cx="3884040" cy="7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"/>
          <p:cNvGrpSpPr/>
          <p:nvPr/>
        </p:nvGrpSpPr>
        <p:grpSpPr>
          <a:xfrm>
            <a:off x="6858000" y="1371600"/>
            <a:ext cx="5025600" cy="4111200"/>
            <a:chOff x="6858000" y="1371600"/>
            <a:chExt cx="5025600" cy="4111200"/>
          </a:xfrm>
        </p:grpSpPr>
        <p:pic>
          <p:nvPicPr>
            <p:cNvPr id="246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4640" cy="3719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47" name=""/>
            <p:cNvSpPr/>
            <p:nvPr/>
          </p:nvSpPr>
          <p:spPr>
            <a:xfrm>
              <a:off x="6858000" y="2743200"/>
              <a:ext cx="569160" cy="15638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8" name=""/>
            <p:cNvSpPr/>
            <p:nvPr/>
          </p:nvSpPr>
          <p:spPr>
            <a:xfrm>
              <a:off x="7239600" y="1371600"/>
              <a:ext cx="569520" cy="97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9" name=""/>
            <p:cNvSpPr/>
            <p:nvPr/>
          </p:nvSpPr>
          <p:spPr>
            <a:xfrm>
              <a:off x="11314440" y="1567440"/>
              <a:ext cx="569160" cy="97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50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685800" y="1135800"/>
            <a:ext cx="5936400" cy="143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Rectangle 69"/>
          <p:cNvSpPr/>
          <p:nvPr/>
        </p:nvSpPr>
        <p:spPr>
          <a:xfrm>
            <a:off x="685800" y="114300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6880" cy="1088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70"/>
          <p:cNvSpPr/>
          <p:nvPr/>
        </p:nvSpPr>
        <p:spPr>
          <a:xfrm>
            <a:off x="685800" y="114300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71"/>
          <p:cNvSpPr/>
          <p:nvPr/>
        </p:nvSpPr>
        <p:spPr>
          <a:xfrm>
            <a:off x="685800" y="2871000"/>
            <a:ext cx="594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ectangle 72"/>
          <p:cNvSpPr/>
          <p:nvPr/>
        </p:nvSpPr>
        <p:spPr>
          <a:xfrm>
            <a:off x="685800" y="3501000"/>
            <a:ext cx="594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685800" y="4525200"/>
            <a:ext cx="5940000" cy="91080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8" name="Rectangle 73"/>
          <p:cNvSpPr/>
          <p:nvPr/>
        </p:nvSpPr>
        <p:spPr>
          <a:xfrm>
            <a:off x="685800" y="4644000"/>
            <a:ext cx="594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685800" y="2816640"/>
            <a:ext cx="5940000" cy="15357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2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"/>
          <p:cNvSpPr/>
          <p:nvPr/>
        </p:nvSpPr>
        <p:spPr>
          <a:xfrm flipH="1" flipV="1" rot="16074000">
            <a:off x="1856520" y="893520"/>
            <a:ext cx="452520" cy="49536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2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"/>
          <p:cNvSpPr/>
          <p:nvPr/>
        </p:nvSpPr>
        <p:spPr>
          <a:xfrm flipH="1" flipV="1" rot="16074000">
            <a:off x="9400320" y="893520"/>
            <a:ext cx="452520" cy="49536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"/>
          <p:cNvSpPr/>
          <p:nvPr/>
        </p:nvSpPr>
        <p:spPr>
          <a:xfrm>
            <a:off x="5486400" y="1155600"/>
            <a:ext cx="5940000" cy="13680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"/>
          <p:cNvSpPr/>
          <p:nvPr/>
        </p:nvSpPr>
        <p:spPr>
          <a:xfrm>
            <a:off x="5486400" y="2669040"/>
            <a:ext cx="5936400" cy="98964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3" name=""/>
          <p:cNvSpPr/>
          <p:nvPr/>
        </p:nvSpPr>
        <p:spPr>
          <a:xfrm>
            <a:off x="5486400" y="3810600"/>
            <a:ext cx="5936400" cy="13968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Picture 7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Rectangle 74"/>
          <p:cNvSpPr/>
          <p:nvPr/>
        </p:nvSpPr>
        <p:spPr>
          <a:xfrm>
            <a:off x="5486400" y="1143000"/>
            <a:ext cx="6172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Many of these software tools were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originally implemented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as R or Python packages, for use in analysis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 datasets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75"/>
          <p:cNvSpPr/>
          <p:nvPr/>
        </p:nvSpPr>
        <p:spPr>
          <a:xfrm>
            <a:off x="5486400" y="2669040"/>
            <a:ext cx="594000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similar number of markers,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 unmixing variation due to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6"/>
          <p:cNvSpPr/>
          <p:nvPr/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number of events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76"/>
          <p:cNvSpPr/>
          <p:nvPr/>
        </p:nvSpPr>
        <p:spPr>
          <a:xfrm>
            <a:off x="5486400" y="374868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substantially more markers, typically way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events.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No equivalent “negative” gate events for not expressed transcripts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ectangle 77"/>
          <p:cNvSpPr/>
          <p:nvPr/>
        </p:nvSpPr>
        <p:spPr>
          <a:xfrm>
            <a:off x="5486400" y="5332680"/>
            <a:ext cx="594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Down-sampling becomes often necessary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5486400" y="5332680"/>
            <a:ext cx="5940000" cy="60732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2" name="" descr=""/>
          <p:cNvPicPr/>
          <p:nvPr/>
        </p:nvPicPr>
        <p:blipFill>
          <a:blip r:embed="rId2"/>
          <a:stretch/>
        </p:blipFill>
        <p:spPr>
          <a:xfrm>
            <a:off x="381240" y="2057400"/>
            <a:ext cx="4872960" cy="2658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4960" cy="29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"/>
          <p:cNvSpPr/>
          <p:nvPr/>
        </p:nvSpPr>
        <p:spPr>
          <a:xfrm>
            <a:off x="230040" y="1229040"/>
            <a:ext cx="5481360" cy="136656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6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"/>
          <p:cNvSpPr/>
          <p:nvPr/>
        </p:nvSpPr>
        <p:spPr>
          <a:xfrm>
            <a:off x="101880" y="89280"/>
            <a:ext cx="1201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ctangle 78"/>
          <p:cNvSpPr/>
          <p:nvPr/>
        </p:nvSpPr>
        <p:spPr>
          <a:xfrm>
            <a:off x="228600" y="1192680"/>
            <a:ext cx="5486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228600" y="4343400"/>
            <a:ext cx="5481360" cy="136656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228600" y="2780640"/>
            <a:ext cx="5481360" cy="136656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"/>
          <p:cNvSpPr/>
          <p:nvPr/>
        </p:nvSpPr>
        <p:spPr>
          <a:xfrm>
            <a:off x="101880" y="89280"/>
            <a:ext cx="1201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5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90240" cy="464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9400" cy="113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7929000" y="2900880"/>
            <a:ext cx="4114800" cy="131436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8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"/>
          <p:cNvSpPr/>
          <p:nvPr/>
        </p:nvSpPr>
        <p:spPr>
          <a:xfrm>
            <a:off x="101880" y="89280"/>
            <a:ext cx="1201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79"/>
          <p:cNvSpPr/>
          <p:nvPr/>
        </p:nvSpPr>
        <p:spPr>
          <a:xfrm>
            <a:off x="7929000" y="2900880"/>
            <a:ext cx="41148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" descr=""/>
          <p:cNvPicPr/>
          <p:nvPr/>
        </p:nvPicPr>
        <p:blipFill>
          <a:blip r:embed="rId3"/>
          <a:srcRect l="0" t="0" r="0" b="9428"/>
          <a:stretch/>
        </p:blipFill>
        <p:spPr>
          <a:xfrm>
            <a:off x="228600" y="1371600"/>
            <a:ext cx="7543800" cy="388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Picture 9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1800" cy="585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97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Picture 98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7560" cy="356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0" name="Picture 100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Picture 10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24" name=""/>
          <p:cNvGrpSpPr/>
          <p:nvPr/>
        </p:nvGrpSpPr>
        <p:grpSpPr>
          <a:xfrm>
            <a:off x="914400" y="757800"/>
            <a:ext cx="2283840" cy="5640840"/>
            <a:chOff x="914400" y="757800"/>
            <a:chExt cx="2283840" cy="5640840"/>
          </a:xfrm>
        </p:grpSpPr>
        <p:pic>
          <p:nvPicPr>
            <p:cNvPr id="325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3840" cy="2572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6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7000" cy="307368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27" name="Picture 10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7440" cy="540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"/>
          <p:cNvSpPr/>
          <p:nvPr/>
        </p:nvSpPr>
        <p:spPr>
          <a:xfrm>
            <a:off x="6118920" y="3496680"/>
            <a:ext cx="5103360" cy="143496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0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7920" cy="60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82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8320" cy="548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Box 15"/>
          <p:cNvSpPr/>
          <p:nvPr/>
        </p:nvSpPr>
        <p:spPr>
          <a:xfrm>
            <a:off x="6095880" y="1191240"/>
            <a:ext cx="504432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My over-caffeinated at 3 AM thoughts: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8"/>
          <p:cNvSpPr/>
          <p:nvPr/>
        </p:nvSpPr>
        <p:spPr>
          <a:xfrm>
            <a:off x="6118920" y="3223800"/>
            <a:ext cx="50443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6095880" y="1847880"/>
            <a:ext cx="5103360" cy="143496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"/>
          <p:cNvSpPr/>
          <p:nvPr/>
        </p:nvSpPr>
        <p:spPr>
          <a:xfrm>
            <a:off x="4343400" y="3429000"/>
            <a:ext cx="3425760" cy="68256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8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"/>
          <p:cNvSpPr/>
          <p:nvPr/>
        </p:nvSpPr>
        <p:spPr>
          <a:xfrm>
            <a:off x="0" y="41040"/>
            <a:ext cx="12112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6000" cy="182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2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5920" cy="19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"/>
          <p:cNvSpPr/>
          <p:nvPr/>
        </p:nvSpPr>
        <p:spPr>
          <a:xfrm>
            <a:off x="687600" y="3476520"/>
            <a:ext cx="342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8208000" y="3428640"/>
            <a:ext cx="342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4343400" y="3475800"/>
            <a:ext cx="342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8800" cy="221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"/>
          <p:cNvSpPr/>
          <p:nvPr/>
        </p:nvSpPr>
        <p:spPr>
          <a:xfrm>
            <a:off x="8206200" y="3428640"/>
            <a:ext cx="3425760" cy="6825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"/>
          <p:cNvSpPr/>
          <p:nvPr/>
        </p:nvSpPr>
        <p:spPr>
          <a:xfrm>
            <a:off x="685800" y="3429000"/>
            <a:ext cx="3425760" cy="68256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9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7000" cy="145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"/>
          <p:cNvSpPr/>
          <p:nvPr/>
        </p:nvSpPr>
        <p:spPr>
          <a:xfrm>
            <a:off x="6172200" y="5943600"/>
            <a:ext cx="2511360" cy="68256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1" name="Picture 80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2760" cy="172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"/>
          <p:cNvSpPr/>
          <p:nvPr/>
        </p:nvSpPr>
        <p:spPr>
          <a:xfrm>
            <a:off x="6930000" y="6100200"/>
            <a:ext cx="960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Picture 172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48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"/>
          <p:cNvSpPr/>
          <p:nvPr/>
        </p:nvSpPr>
        <p:spPr>
          <a:xfrm>
            <a:off x="5486400" y="18288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5" name="Picture 78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"/>
          <p:cNvSpPr/>
          <p:nvPr/>
        </p:nvSpPr>
        <p:spPr>
          <a:xfrm>
            <a:off x="0" y="41040"/>
            <a:ext cx="12112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6402240" y="1457640"/>
            <a:ext cx="5024160" cy="132768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Rectangle 83"/>
          <p:cNvSpPr/>
          <p:nvPr/>
        </p:nvSpPr>
        <p:spPr>
          <a:xfrm>
            <a:off x="6402240" y="141840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6400800" y="3214440"/>
            <a:ext cx="5025600" cy="151056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0" name="Rectangle 84"/>
          <p:cNvSpPr/>
          <p:nvPr/>
        </p:nvSpPr>
        <p:spPr>
          <a:xfrm>
            <a:off x="6400800" y="3201480"/>
            <a:ext cx="50241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5486400" y="3585600"/>
            <a:ext cx="680760" cy="68076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2" name="" descr=""/>
          <p:cNvPicPr/>
          <p:nvPr/>
        </p:nvPicPr>
        <p:blipFill>
          <a:blip r:embed="rId3"/>
          <a:stretch/>
        </p:blipFill>
        <p:spPr>
          <a:xfrm>
            <a:off x="651960" y="3357000"/>
            <a:ext cx="2773440" cy="273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50800" cy="456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5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"/>
          <p:cNvSpPr/>
          <p:nvPr/>
        </p:nvSpPr>
        <p:spPr>
          <a:xfrm>
            <a:off x="1143000" y="4141440"/>
            <a:ext cx="118368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1143000" y="1525320"/>
            <a:ext cx="118368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0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PlaceHolder 4"/>
          <p:cNvSpPr/>
          <p:nvPr/>
        </p:nvSpPr>
        <p:spPr>
          <a:xfrm>
            <a:off x="231840" y="47880"/>
            <a:ext cx="12109320" cy="6350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7120" cy="479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"/>
          <p:cNvSpPr/>
          <p:nvPr/>
        </p:nvSpPr>
        <p:spPr>
          <a:xfrm>
            <a:off x="1600200" y="4239000"/>
            <a:ext cx="111204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1600200" y="1537560"/>
            <a:ext cx="111204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7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8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PlaceHolder 5"/>
          <p:cNvSpPr/>
          <p:nvPr/>
        </p:nvSpPr>
        <p:spPr>
          <a:xfrm>
            <a:off x="0" y="228600"/>
            <a:ext cx="12109320" cy="6350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>
            <a:off x="7317000" y="1144800"/>
            <a:ext cx="4566960" cy="136656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1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/>
          <p:nvPr/>
        </p:nvSpPr>
        <p:spPr>
          <a:xfrm>
            <a:off x="101880" y="89280"/>
            <a:ext cx="1201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How to identify problematic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3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"/>
          <p:cNvSpPr/>
          <p:nvPr/>
        </p:nvSpPr>
        <p:spPr>
          <a:xfrm>
            <a:off x="7399800" y="1143000"/>
            <a:ext cx="45687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7315200" y="2514600"/>
            <a:ext cx="45687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7387200" y="3922200"/>
            <a:ext cx="45687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7315200" y="2552400"/>
            <a:ext cx="4566960" cy="136656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8" name=""/>
          <p:cNvSpPr/>
          <p:nvPr/>
        </p:nvSpPr>
        <p:spPr>
          <a:xfrm>
            <a:off x="7281000" y="3994200"/>
            <a:ext cx="4566960" cy="136656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6588000" cy="320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960" cy="594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320" cy="635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200" cy="248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TextBox 7"/>
          <p:cNvSpPr/>
          <p:nvPr/>
        </p:nvSpPr>
        <p:spPr>
          <a:xfrm>
            <a:off x="1491480" y="5803560"/>
            <a:ext cx="19756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4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880" cy="150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"/>
          <p:cNvSpPr/>
          <p:nvPr/>
        </p:nvSpPr>
        <p:spPr>
          <a:xfrm>
            <a:off x="6028200" y="914400"/>
            <a:ext cx="4113000" cy="5484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960" cy="594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320" cy="635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200" cy="248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TextBox 11"/>
          <p:cNvSpPr/>
          <p:nvPr/>
        </p:nvSpPr>
        <p:spPr>
          <a:xfrm>
            <a:off x="1491480" y="5803560"/>
            <a:ext cx="19756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880" cy="150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3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"/>
          <p:cNvSpPr/>
          <p:nvPr/>
        </p:nvSpPr>
        <p:spPr>
          <a:xfrm>
            <a:off x="7979400" y="1143000"/>
            <a:ext cx="2075760" cy="52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3960" cy="594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320" cy="635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200" cy="248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12"/>
          <p:cNvSpPr/>
          <p:nvPr/>
        </p:nvSpPr>
        <p:spPr>
          <a:xfrm>
            <a:off x="1491480" y="5803560"/>
            <a:ext cx="19756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3880" cy="150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5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"/>
          <p:cNvSpPr/>
          <p:nvPr/>
        </p:nvSpPr>
        <p:spPr>
          <a:xfrm>
            <a:off x="6487920" y="2309040"/>
            <a:ext cx="4542480" cy="201528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7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3440" cy="154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"/>
          <p:cNvSpPr/>
          <p:nvPr/>
        </p:nvSpPr>
        <p:spPr>
          <a:xfrm>
            <a:off x="6993360" y="3948840"/>
            <a:ext cx="353196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928440" y="3677040"/>
            <a:ext cx="5047920" cy="201528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0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5200" cy="146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/>
          <p:nvPr/>
        </p:nvSpPr>
        <p:spPr>
          <a:xfrm>
            <a:off x="1686600" y="5356800"/>
            <a:ext cx="353160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914400" y="1143000"/>
            <a:ext cx="5061960" cy="227484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23" name=""/>
          <p:cNvGrpSpPr/>
          <p:nvPr/>
        </p:nvGrpSpPr>
        <p:grpSpPr>
          <a:xfrm>
            <a:off x="1686600" y="1233360"/>
            <a:ext cx="3943800" cy="1781280"/>
            <a:chOff x="1686600" y="1233360"/>
            <a:chExt cx="3943800" cy="1781280"/>
          </a:xfrm>
        </p:grpSpPr>
        <p:sp>
          <p:nvSpPr>
            <p:cNvPr id="424" name="Arrow: Right 2"/>
            <p:cNvSpPr/>
            <p:nvPr/>
          </p:nvSpPr>
          <p:spPr>
            <a:xfrm rot="10800000">
              <a:off x="4871520" y="1357560"/>
              <a:ext cx="415440" cy="21888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25" name="TextBox 4"/>
            <p:cNvSpPr/>
            <p:nvPr/>
          </p:nvSpPr>
          <p:spPr>
            <a:xfrm>
              <a:off x="4759200" y="1613520"/>
              <a:ext cx="87120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26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2320" cy="1781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7" name="TextBox 3"/>
            <p:cNvSpPr/>
            <p:nvPr/>
          </p:nvSpPr>
          <p:spPr>
            <a:xfrm>
              <a:off x="3405960" y="1486440"/>
              <a:ext cx="62532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Arrow: Right 1"/>
            <p:cNvSpPr/>
            <p:nvPr/>
          </p:nvSpPr>
          <p:spPr>
            <a:xfrm>
              <a:off x="4076640" y="1538280"/>
              <a:ext cx="217440" cy="2185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29" name=""/>
          <p:cNvSpPr/>
          <p:nvPr/>
        </p:nvSpPr>
        <p:spPr>
          <a:xfrm>
            <a:off x="1939320" y="3028680"/>
            <a:ext cx="27730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516600" y="3854880"/>
            <a:ext cx="6169320" cy="7160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1" name=""/>
          <p:cNvSpPr/>
          <p:nvPr/>
        </p:nvSpPr>
        <p:spPr>
          <a:xfrm>
            <a:off x="509400" y="2660400"/>
            <a:ext cx="6176520" cy="102132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5080" cy="296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"/>
          <p:cNvSpPr/>
          <p:nvPr/>
        </p:nvSpPr>
        <p:spPr>
          <a:xfrm>
            <a:off x="277200" y="961920"/>
            <a:ext cx="558864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468000" y="2588400"/>
            <a:ext cx="64339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480600" y="3813840"/>
            <a:ext cx="63979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47520"/>
            <a:ext cx="123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8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516600" y="1444320"/>
            <a:ext cx="6168600" cy="105804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473400" y="1408320"/>
            <a:ext cx="61765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"/>
          <p:cNvSpPr/>
          <p:nvPr/>
        </p:nvSpPr>
        <p:spPr>
          <a:xfrm>
            <a:off x="5257800" y="2861640"/>
            <a:ext cx="5940000" cy="98640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5255280" y="4057920"/>
            <a:ext cx="5952600" cy="109008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3" name=""/>
          <p:cNvSpPr/>
          <p:nvPr/>
        </p:nvSpPr>
        <p:spPr>
          <a:xfrm>
            <a:off x="5258520" y="1494720"/>
            <a:ext cx="5940000" cy="11376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4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3600" cy="201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5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9120" cy="199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5259240" y="1539000"/>
            <a:ext cx="61678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5221800" y="3987360"/>
            <a:ext cx="59500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5257800" y="2791080"/>
            <a:ext cx="59400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46800"/>
            <a:ext cx="1218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0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1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2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49800" cy="263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>
            <a:off x="217800" y="2178000"/>
            <a:ext cx="4352400" cy="172836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4" name=""/>
          <p:cNvSpPr/>
          <p:nvPr/>
        </p:nvSpPr>
        <p:spPr>
          <a:xfrm>
            <a:off x="251280" y="4057920"/>
            <a:ext cx="4318920" cy="165528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5" name=""/>
          <p:cNvSpPr/>
          <p:nvPr/>
        </p:nvSpPr>
        <p:spPr>
          <a:xfrm>
            <a:off x="228600" y="1494720"/>
            <a:ext cx="4315680" cy="5608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255240" y="1539000"/>
            <a:ext cx="43149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217800" y="3987360"/>
            <a:ext cx="435240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181800" y="2142000"/>
            <a:ext cx="438840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46800"/>
            <a:ext cx="121892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0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61" name=""/>
          <p:cNvGrpSpPr/>
          <p:nvPr/>
        </p:nvGrpSpPr>
        <p:grpSpPr>
          <a:xfrm>
            <a:off x="4800600" y="1092600"/>
            <a:ext cx="6627600" cy="2106000"/>
            <a:chOff x="4800600" y="1092600"/>
            <a:chExt cx="6627600" cy="2106000"/>
          </a:xfrm>
        </p:grpSpPr>
        <p:pic>
          <p:nvPicPr>
            <p:cNvPr id="462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7600" cy="20984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3" name=""/>
            <p:cNvSpPr/>
            <p:nvPr/>
          </p:nvSpPr>
          <p:spPr>
            <a:xfrm>
              <a:off x="5064120" y="1103040"/>
              <a:ext cx="3309840" cy="19188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64" name=""/>
            <p:cNvSpPr/>
            <p:nvPr/>
          </p:nvSpPr>
          <p:spPr>
            <a:xfrm>
              <a:off x="8028000" y="1092600"/>
              <a:ext cx="3309840" cy="19152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65" name="Picture 96" descr="A group of images of a square&#10;&#10;AI-generated content may be incorrect."/>
          <p:cNvPicPr/>
          <p:nvPr/>
        </p:nvPicPr>
        <p:blipFill>
          <a:blip r:embed="rId3"/>
          <a:srcRect l="0" t="67019" r="0" b="0"/>
          <a:stretch/>
        </p:blipFill>
        <p:spPr>
          <a:xfrm>
            <a:off x="5029200" y="3373200"/>
            <a:ext cx="6062400" cy="256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10"/>
          <p:cNvSpPr/>
          <p:nvPr/>
        </p:nvSpPr>
        <p:spPr>
          <a:xfrm>
            <a:off x="5221800" y="5943600"/>
            <a:ext cx="3198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13"/>
          <p:cNvSpPr/>
          <p:nvPr/>
        </p:nvSpPr>
        <p:spPr>
          <a:xfrm>
            <a:off x="8001000" y="5991120"/>
            <a:ext cx="3198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 rot="7421400">
            <a:off x="9690480" y="1180440"/>
            <a:ext cx="455400" cy="4554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Picture 1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240" cy="228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"/>
          <p:cNvSpPr/>
          <p:nvPr/>
        </p:nvSpPr>
        <p:spPr>
          <a:xfrm>
            <a:off x="5486400" y="18288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1" name="Picture 16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"/>
          <p:cNvSpPr/>
          <p:nvPr/>
        </p:nvSpPr>
        <p:spPr>
          <a:xfrm>
            <a:off x="0" y="41040"/>
            <a:ext cx="12112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6402240" y="1457640"/>
            <a:ext cx="5024520" cy="132804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Rectangle 66"/>
          <p:cNvSpPr/>
          <p:nvPr/>
        </p:nvSpPr>
        <p:spPr>
          <a:xfrm>
            <a:off x="6402240" y="141840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6400800" y="3214440"/>
            <a:ext cx="5025960" cy="151092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6" name="Rectangle 67"/>
          <p:cNvSpPr/>
          <p:nvPr/>
        </p:nvSpPr>
        <p:spPr>
          <a:xfrm>
            <a:off x="6400800" y="320148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5486400" y="35856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800" cy="273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1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Picture 20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Arrow: Down 3"/>
          <p:cNvSpPr/>
          <p:nvPr/>
        </p:nvSpPr>
        <p:spPr>
          <a:xfrm>
            <a:off x="7251480" y="829440"/>
            <a:ext cx="518400" cy="752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5" name="Picture 6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Picture 4" descr=""/>
          <p:cNvPicPr/>
          <p:nvPr/>
        </p:nvPicPr>
        <p:blipFill>
          <a:blip r:embed="rId1"/>
          <a:srcRect l="28389" t="0" r="46288" b="0"/>
          <a:stretch/>
        </p:blipFill>
        <p:spPr>
          <a:xfrm>
            <a:off x="3166200" y="293040"/>
            <a:ext cx="2319120" cy="641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240" cy="286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Box 8"/>
          <p:cNvSpPr/>
          <p:nvPr/>
        </p:nvSpPr>
        <p:spPr>
          <a:xfrm>
            <a:off x="499680" y="5584680"/>
            <a:ext cx="210348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1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240" cy="183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2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3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5" name="Picture 43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840" cy="177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Picture 10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7" name="Picture 105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8720" cy="445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Box 14"/>
          <p:cNvSpPr/>
          <p:nvPr/>
        </p:nvSpPr>
        <p:spPr>
          <a:xfrm>
            <a:off x="6531840" y="1122480"/>
            <a:ext cx="4448880" cy="37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6557400" y="1407600"/>
            <a:ext cx="3956040" cy="136944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6557400" y="3999600"/>
            <a:ext cx="3956040" cy="9421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6531840" y="2905920"/>
            <a:ext cx="3956040" cy="94212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Picture 6" descr=""/>
          <p:cNvPicPr/>
          <p:nvPr/>
        </p:nvPicPr>
        <p:blipFill>
          <a:blip r:embed="rId1"/>
          <a:srcRect l="28389" t="0" r="23840" b="0"/>
          <a:stretch/>
        </p:blipFill>
        <p:spPr>
          <a:xfrm>
            <a:off x="3166200" y="293040"/>
            <a:ext cx="4376520" cy="641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63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240" cy="286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TextBox 1"/>
          <p:cNvSpPr/>
          <p:nvPr/>
        </p:nvSpPr>
        <p:spPr>
          <a:xfrm>
            <a:off x="499680" y="5584680"/>
            <a:ext cx="2103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240" cy="183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Picture 85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Picture 8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1840" cy="177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Picture 106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5120" cy="530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Picture 10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30000" cy="251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4" name="Picture 10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5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Picture 86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1720" cy="641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Picture 87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240" cy="286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9" name="TextBox 6"/>
          <p:cNvSpPr/>
          <p:nvPr/>
        </p:nvSpPr>
        <p:spPr>
          <a:xfrm>
            <a:off x="499680" y="5584680"/>
            <a:ext cx="21034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240" cy="183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Picture 88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ectangle 50"/>
          <p:cNvSpPr/>
          <p:nvPr/>
        </p:nvSpPr>
        <p:spPr>
          <a:xfrm>
            <a:off x="7864560" y="1079280"/>
            <a:ext cx="3872160" cy="452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Picture 2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5960" cy="560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"/>
          <p:cNvSpPr/>
          <p:nvPr/>
        </p:nvSpPr>
        <p:spPr>
          <a:xfrm>
            <a:off x="7864560" y="1079280"/>
            <a:ext cx="3791880" cy="97596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7864560" y="2186280"/>
            <a:ext cx="3791880" cy="7473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7864560" y="3007800"/>
            <a:ext cx="3791880" cy="14414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7864560" y="4572000"/>
            <a:ext cx="3791880" cy="102780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"/>
          <p:cNvSpPr/>
          <p:nvPr/>
        </p:nvSpPr>
        <p:spPr>
          <a:xfrm>
            <a:off x="9817200" y="1335600"/>
            <a:ext cx="1841400" cy="41040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" descr=""/>
          <p:cNvPicPr/>
          <p:nvPr/>
        </p:nvPicPr>
        <p:blipFill>
          <a:blip r:embed="rId1"/>
          <a:stretch/>
        </p:blipFill>
        <p:spPr>
          <a:xfrm>
            <a:off x="228960" y="2532960"/>
            <a:ext cx="9372240" cy="1451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" descr=""/>
          <p:cNvPicPr/>
          <p:nvPr/>
        </p:nvPicPr>
        <p:blipFill>
          <a:blip r:embed="rId2"/>
          <a:stretch/>
        </p:blipFill>
        <p:spPr>
          <a:xfrm>
            <a:off x="228960" y="4147920"/>
            <a:ext cx="9372240" cy="1451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5" name="" descr=""/>
          <p:cNvPicPr/>
          <p:nvPr/>
        </p:nvPicPr>
        <p:blipFill>
          <a:blip r:embed="rId3"/>
          <a:stretch/>
        </p:blipFill>
        <p:spPr>
          <a:xfrm>
            <a:off x="228960" y="1053720"/>
            <a:ext cx="9372240" cy="145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Retrieve marker expression by individual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Picture 110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8" name=""/>
          <p:cNvSpPr/>
          <p:nvPr/>
        </p:nvSpPr>
        <p:spPr>
          <a:xfrm>
            <a:off x="9817200" y="2919600"/>
            <a:ext cx="1826640" cy="4104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9817200" y="4572000"/>
            <a:ext cx="1826640" cy="57780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Rectangle 5"/>
          <p:cNvSpPr/>
          <p:nvPr/>
        </p:nvSpPr>
        <p:spPr>
          <a:xfrm>
            <a:off x="9637200" y="1335600"/>
            <a:ext cx="22860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Rectangle 1"/>
          <p:cNvSpPr/>
          <p:nvPr/>
        </p:nvSpPr>
        <p:spPr>
          <a:xfrm>
            <a:off x="9637200" y="2919600"/>
            <a:ext cx="22860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9997200" y="4656600"/>
            <a:ext cx="161856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880" cy="633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5" name="Picture 8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160" cy="578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Picture 9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9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0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2320" cy="420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1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3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4" name="Picture 10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Picture 1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Picture 11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480" cy="63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Arrow: Down 2"/>
          <p:cNvSpPr/>
          <p:nvPr/>
        </p:nvSpPr>
        <p:spPr>
          <a:xfrm>
            <a:off x="7251480" y="829440"/>
            <a:ext cx="518400" cy="752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1" name="Picture 11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9320" cy="635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Rectangle 6"/>
          <p:cNvSpPr/>
          <p:nvPr/>
        </p:nvSpPr>
        <p:spPr>
          <a:xfrm>
            <a:off x="7864560" y="1079280"/>
            <a:ext cx="387000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Picture 119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3800" cy="560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6" name="Picture 12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8" name="Picture 1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Picture 1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2" name="Picture 114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3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5"/>
          <p:cNvSpPr/>
          <p:nvPr/>
        </p:nvSpPr>
        <p:spPr>
          <a:xfrm>
            <a:off x="7269840" y="1225800"/>
            <a:ext cx="4731480" cy="56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6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3000" cy="45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7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"/>
          <p:cNvSpPr/>
          <p:nvPr/>
        </p:nvSpPr>
        <p:spPr>
          <a:xfrm>
            <a:off x="7315200" y="1297800"/>
            <a:ext cx="4341240" cy="37224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7315200" y="1949400"/>
            <a:ext cx="4341240" cy="15980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7315200" y="3765600"/>
            <a:ext cx="4341240" cy="159804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1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Picture 13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240" cy="228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"/>
          <p:cNvSpPr/>
          <p:nvPr/>
        </p:nvSpPr>
        <p:spPr>
          <a:xfrm>
            <a:off x="5486400" y="18288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4" name="Picture 134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"/>
          <p:cNvSpPr/>
          <p:nvPr/>
        </p:nvSpPr>
        <p:spPr>
          <a:xfrm>
            <a:off x="0" y="41040"/>
            <a:ext cx="12112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6402240" y="1457640"/>
            <a:ext cx="5024520" cy="132804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7" name="Rectangle 20"/>
          <p:cNvSpPr/>
          <p:nvPr/>
        </p:nvSpPr>
        <p:spPr>
          <a:xfrm>
            <a:off x="6402240" y="141840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6400800" y="3214440"/>
            <a:ext cx="5025960" cy="151092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9" name="Rectangle 21"/>
          <p:cNvSpPr/>
          <p:nvPr/>
        </p:nvSpPr>
        <p:spPr>
          <a:xfrm>
            <a:off x="6400800" y="320148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5486400" y="35856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1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3800" cy="273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3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4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"/>
          <p:cNvSpPr/>
          <p:nvPr/>
        </p:nvSpPr>
        <p:spPr>
          <a:xfrm flipH="1" flipV="1">
            <a:off x="5558760" y="385776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6" name=""/>
          <p:cNvSpPr/>
          <p:nvPr/>
        </p:nvSpPr>
        <p:spPr>
          <a:xfrm flipV="1">
            <a:off x="5751000" y="34416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480" cy="637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 our high-dimensional analysis problems fixed?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480" cy="3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Picture 48" descr=""/>
          <p:cNvPicPr/>
          <p:nvPr/>
        </p:nvPicPr>
        <p:blipFill>
          <a:blip r:embed="rId2"/>
          <a:srcRect l="19528" t="32514" r="20343" b="27766"/>
          <a:stretch/>
        </p:blipFill>
        <p:spPr>
          <a:xfrm>
            <a:off x="1098360" y="1371960"/>
            <a:ext cx="10327320" cy="383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0" name="" descr=""/>
          <p:cNvPicPr/>
          <p:nvPr/>
        </p:nvPicPr>
        <p:blipFill>
          <a:blip r:embed="rId3"/>
          <a:stretch/>
        </p:blipFill>
        <p:spPr>
          <a:xfrm>
            <a:off x="230400" y="617256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7880" cy="633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160" cy="578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08" name=""/>
          <p:cNvGrpSpPr/>
          <p:nvPr/>
        </p:nvGrpSpPr>
        <p:grpSpPr>
          <a:xfrm>
            <a:off x="5486400" y="1150920"/>
            <a:ext cx="6253920" cy="4336920"/>
            <a:chOff x="5486400" y="1150920"/>
            <a:chExt cx="6253920" cy="4336920"/>
          </a:xfrm>
        </p:grpSpPr>
        <p:pic>
          <p:nvPicPr>
            <p:cNvPr id="609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3920" cy="4336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0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40000" cy="25686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11" name=""/>
          <p:cNvSpPr/>
          <p:nvPr/>
        </p:nvSpPr>
        <p:spPr>
          <a:xfrm>
            <a:off x="444600" y="1150920"/>
            <a:ext cx="4565520" cy="4561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2" name="Rectangle 9"/>
          <p:cNvSpPr/>
          <p:nvPr/>
        </p:nvSpPr>
        <p:spPr>
          <a:xfrm>
            <a:off x="415440" y="1186920"/>
            <a:ext cx="461160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4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5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9120" cy="151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6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6040" cy="401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7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1360" cy="145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8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3960" cy="11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PlaceHolder 27"/>
          <p:cNvSpPr/>
          <p:nvPr/>
        </p:nvSpPr>
        <p:spPr>
          <a:xfrm>
            <a:off x="613800" y="4836600"/>
            <a:ext cx="1548360" cy="10454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"/>
          <p:cNvSpPr/>
          <p:nvPr/>
        </p:nvSpPr>
        <p:spPr>
          <a:xfrm>
            <a:off x="6629400" y="1467000"/>
            <a:ext cx="4338720" cy="3786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22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9960" cy="552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Rectangle 23"/>
          <p:cNvSpPr/>
          <p:nvPr/>
        </p:nvSpPr>
        <p:spPr>
          <a:xfrm>
            <a:off x="6665400" y="1467000"/>
            <a:ext cx="459612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5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"/>
          <p:cNvSpPr/>
          <p:nvPr/>
        </p:nvSpPr>
        <p:spPr>
          <a:xfrm>
            <a:off x="252000" y="1238040"/>
            <a:ext cx="4651560" cy="4243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Rectangle 24"/>
          <p:cNvSpPr/>
          <p:nvPr/>
        </p:nvSpPr>
        <p:spPr>
          <a:xfrm>
            <a:off x="307440" y="1443600"/>
            <a:ext cx="459612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0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1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8560" cy="441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6773760" y="914400"/>
            <a:ext cx="4651560" cy="4795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Rectangle 25"/>
          <p:cNvSpPr/>
          <p:nvPr/>
        </p:nvSpPr>
        <p:spPr>
          <a:xfrm>
            <a:off x="6828480" y="1048680"/>
            <a:ext cx="459612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6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7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1880" cy="481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"/>
          <p:cNvSpPr/>
          <p:nvPr/>
        </p:nvSpPr>
        <p:spPr>
          <a:xfrm>
            <a:off x="685800" y="2561400"/>
            <a:ext cx="4651560" cy="1366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26"/>
          <p:cNvSpPr/>
          <p:nvPr/>
        </p:nvSpPr>
        <p:spPr>
          <a:xfrm>
            <a:off x="717480" y="2561400"/>
            <a:ext cx="45961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1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2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3800" cy="50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>
            <a:off x="2569320" y="4523400"/>
            <a:ext cx="6622920" cy="15937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Rectangle 4"/>
          <p:cNvSpPr/>
          <p:nvPr/>
        </p:nvSpPr>
        <p:spPr>
          <a:xfrm>
            <a:off x="2569320" y="4523400"/>
            <a:ext cx="70243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6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7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3920" cy="344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9" name=""/>
          <p:cNvSpPr/>
          <p:nvPr/>
        </p:nvSpPr>
        <p:spPr>
          <a:xfrm rot="19411800">
            <a:off x="10549440" y="793440"/>
            <a:ext cx="455040" cy="912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"/>
          <p:cNvSpPr/>
          <p:nvPr/>
        </p:nvSpPr>
        <p:spPr>
          <a:xfrm>
            <a:off x="5185800" y="3200400"/>
            <a:ext cx="6480360" cy="2512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5185800" y="1058400"/>
            <a:ext cx="6480360" cy="1934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200" cy="1317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Rectangle 22"/>
          <p:cNvSpPr/>
          <p:nvPr/>
        </p:nvSpPr>
        <p:spPr>
          <a:xfrm>
            <a:off x="5176440" y="3249000"/>
            <a:ext cx="6251760" cy="24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72 Bioconductor cytometry packages (+ 20? GitHub based packages)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Heavily under-utilized, some unmaintained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Evidence that “Build the `software tool` and they will come” approach doesn’t work in practice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4" name="Picture 13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5" name="" descr=""/>
          <p:cNvPicPr/>
          <p:nvPr/>
        </p:nvPicPr>
        <p:blipFill>
          <a:blip r:embed="rId2"/>
          <a:stretch/>
        </p:blipFill>
        <p:spPr>
          <a:xfrm>
            <a:off x="659880" y="909000"/>
            <a:ext cx="3907080" cy="491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7" name=""/>
          <p:cNvSpPr/>
          <p:nvPr/>
        </p:nvSpPr>
        <p:spPr>
          <a:xfrm>
            <a:off x="5185800" y="1136520"/>
            <a:ext cx="64357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Working towards formally submitting my R packages to Bioconductor this year (adding documentation, generalizing for different instrument manufacturers)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5185800" y="2286000"/>
            <a:ext cx="64357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Still learning better ways to parallelize and speed up the process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>
            <a:off x="349200" y="4885200"/>
            <a:ext cx="2163240" cy="599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0" name=""/>
          <p:cNvSpPr/>
          <p:nvPr/>
        </p:nvSpPr>
        <p:spPr>
          <a:xfrm>
            <a:off x="10395000" y="2685600"/>
            <a:ext cx="1365120" cy="679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"/>
          <p:cNvSpPr/>
          <p:nvPr/>
        </p:nvSpPr>
        <p:spPr>
          <a:xfrm>
            <a:off x="8458200" y="2649600"/>
            <a:ext cx="1365120" cy="679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2" name=""/>
          <p:cNvSpPr/>
          <p:nvPr/>
        </p:nvSpPr>
        <p:spPr>
          <a:xfrm>
            <a:off x="4102200" y="3828600"/>
            <a:ext cx="3896640" cy="2112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3" name=""/>
          <p:cNvSpPr/>
          <p:nvPr/>
        </p:nvSpPr>
        <p:spPr>
          <a:xfrm>
            <a:off x="349200" y="3803400"/>
            <a:ext cx="2160720" cy="9097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4" name=""/>
          <p:cNvSpPr/>
          <p:nvPr/>
        </p:nvSpPr>
        <p:spPr>
          <a:xfrm>
            <a:off x="349200" y="1204200"/>
            <a:ext cx="3422520" cy="681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5" name=""/>
          <p:cNvSpPr/>
          <p:nvPr/>
        </p:nvSpPr>
        <p:spPr>
          <a:xfrm>
            <a:off x="338400" y="2118600"/>
            <a:ext cx="3422520" cy="15937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228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7" name="Picture 54" descr=""/>
          <p:cNvPicPr/>
          <p:nvPr/>
        </p:nvPicPr>
        <p:blipFill>
          <a:blip r:embed="rId1"/>
          <a:stretch/>
        </p:blipFill>
        <p:spPr>
          <a:xfrm>
            <a:off x="9290520" y="3601800"/>
            <a:ext cx="2361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Picture 55" descr=""/>
          <p:cNvPicPr/>
          <p:nvPr/>
        </p:nvPicPr>
        <p:blipFill>
          <a:blip r:embed="rId2"/>
          <a:stretch/>
        </p:blipFill>
        <p:spPr>
          <a:xfrm>
            <a:off x="9673200" y="4028400"/>
            <a:ext cx="198036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9" name="Content Placeholder 1"/>
          <p:cNvSpPr/>
          <p:nvPr/>
        </p:nvSpPr>
        <p:spPr>
          <a:xfrm>
            <a:off x="228600" y="3803400"/>
            <a:ext cx="3970080" cy="18190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Box 23"/>
          <p:cNvSpPr/>
          <p:nvPr/>
        </p:nvSpPr>
        <p:spPr>
          <a:xfrm>
            <a:off x="255240" y="1215000"/>
            <a:ext cx="3397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Box 24"/>
          <p:cNvSpPr/>
          <p:nvPr/>
        </p:nvSpPr>
        <p:spPr>
          <a:xfrm>
            <a:off x="302400" y="2203200"/>
            <a:ext cx="339768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ontent Placeholder 3"/>
          <p:cNvSpPr/>
          <p:nvPr/>
        </p:nvSpPr>
        <p:spPr>
          <a:xfrm>
            <a:off x="9829800" y="1486800"/>
            <a:ext cx="3970080" cy="18190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25"/>
          <p:cNvSpPr/>
          <p:nvPr/>
        </p:nvSpPr>
        <p:spPr>
          <a:xfrm>
            <a:off x="8001000" y="2846880"/>
            <a:ext cx="225468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Box 26"/>
          <p:cNvSpPr/>
          <p:nvPr/>
        </p:nvSpPr>
        <p:spPr>
          <a:xfrm>
            <a:off x="10287000" y="2895120"/>
            <a:ext cx="156888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5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1040" cy="107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6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6560" cy="8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7" name="TextBox 27"/>
          <p:cNvSpPr/>
          <p:nvPr/>
        </p:nvSpPr>
        <p:spPr>
          <a:xfrm>
            <a:off x="228600" y="5065200"/>
            <a:ext cx="34988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8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372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9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372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0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6960" cy="242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1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6960" cy="93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2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2440" cy="94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Rectangle 14"/>
          <p:cNvSpPr/>
          <p:nvPr/>
        </p:nvSpPr>
        <p:spPr>
          <a:xfrm>
            <a:off x="4138200" y="3850200"/>
            <a:ext cx="374004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Rectangle 15"/>
          <p:cNvSpPr/>
          <p:nvPr/>
        </p:nvSpPr>
        <p:spPr>
          <a:xfrm>
            <a:off x="8602200" y="4417200"/>
            <a:ext cx="374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3"/>
          <a:stretch/>
        </p:blipFill>
        <p:spPr>
          <a:xfrm>
            <a:off x="8769600" y="4453200"/>
            <a:ext cx="399960" cy="35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8686800" y="5065200"/>
            <a:ext cx="3090240" cy="419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"/>
          <p:cNvSpPr/>
          <p:nvPr/>
        </p:nvSpPr>
        <p:spPr>
          <a:xfrm>
            <a:off x="8686800" y="5101200"/>
            <a:ext cx="30056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3720" cy="1320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Rectangle 192"/>
          <p:cNvSpPr/>
          <p:nvPr/>
        </p:nvSpPr>
        <p:spPr>
          <a:xfrm>
            <a:off x="8557200" y="2791800"/>
            <a:ext cx="2967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Rectangle 193"/>
          <p:cNvSpPr/>
          <p:nvPr/>
        </p:nvSpPr>
        <p:spPr>
          <a:xfrm>
            <a:off x="4991400" y="5257800"/>
            <a:ext cx="296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Rectangle 194"/>
          <p:cNvSpPr/>
          <p:nvPr/>
        </p:nvSpPr>
        <p:spPr>
          <a:xfrm>
            <a:off x="4991400" y="2791800"/>
            <a:ext cx="296712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Rectangle 195"/>
          <p:cNvSpPr/>
          <p:nvPr/>
        </p:nvSpPr>
        <p:spPr>
          <a:xfrm>
            <a:off x="876600" y="2791800"/>
            <a:ext cx="296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Rectangle 196"/>
          <p:cNvSpPr/>
          <p:nvPr/>
        </p:nvSpPr>
        <p:spPr>
          <a:xfrm>
            <a:off x="876600" y="5257800"/>
            <a:ext cx="296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Rectangle 197"/>
          <p:cNvSpPr/>
          <p:nvPr/>
        </p:nvSpPr>
        <p:spPr>
          <a:xfrm>
            <a:off x="8557200" y="5029200"/>
            <a:ext cx="2967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5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6720" cy="159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3200" cy="159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7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6920" cy="157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8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2840" cy="159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9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8200" y="1121400"/>
            <a:ext cx="1954080" cy="158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0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6720" cy="159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1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2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3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4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5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8400" cy="168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6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7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8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5440" cy="39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"/>
          <p:cNvSpPr/>
          <p:nvPr/>
        </p:nvSpPr>
        <p:spPr>
          <a:xfrm>
            <a:off x="5787000" y="3558600"/>
            <a:ext cx="4726800" cy="78372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280" cy="694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1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400" cy="53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2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6640" cy="476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Rectangle 27"/>
          <p:cNvSpPr/>
          <p:nvPr/>
        </p:nvSpPr>
        <p:spPr>
          <a:xfrm>
            <a:off x="5730480" y="2142360"/>
            <a:ext cx="54691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Rectangle 28"/>
          <p:cNvSpPr/>
          <p:nvPr/>
        </p:nvSpPr>
        <p:spPr>
          <a:xfrm>
            <a:off x="5751000" y="4163760"/>
            <a:ext cx="49914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Rectangle 29"/>
          <p:cNvSpPr/>
          <p:nvPr/>
        </p:nvSpPr>
        <p:spPr>
          <a:xfrm>
            <a:off x="5751000" y="3177360"/>
            <a:ext cx="54691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5787000" y="4601880"/>
            <a:ext cx="4726800" cy="78372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5751000" y="2572200"/>
            <a:ext cx="4762800" cy="78372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8" name="Picture 66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6920" cy="157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280" cy="694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Picture 67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400" cy="53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1" name="Picture 68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7720" cy="444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5560" cy="168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2280" cy="500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2280" cy="500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Picture 69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3200" cy="159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280" cy="694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7" name="Picture 70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7400" cy="53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8" name="Picture 71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5720" cy="517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9320" cy="635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Published in Frontiers in Immunology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0" name="Picture 92" descr=""/>
          <p:cNvPicPr/>
          <p:nvPr/>
        </p:nvPicPr>
        <p:blipFill>
          <a:blip r:embed="rId1"/>
          <a:stretch/>
        </p:blipFill>
        <p:spPr>
          <a:xfrm>
            <a:off x="4910760" y="1035000"/>
            <a:ext cx="5830200" cy="463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1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591640" y="2514600"/>
            <a:ext cx="1514520" cy="151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2" name="TextBox 9"/>
          <p:cNvSpPr/>
          <p:nvPr/>
        </p:nvSpPr>
        <p:spPr>
          <a:xfrm>
            <a:off x="2514600" y="4118760"/>
            <a:ext cx="12740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3" name="Picture 93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4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641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2026-10-22T17:26:49Z</dcterms:modified>
  <cp:revision>69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