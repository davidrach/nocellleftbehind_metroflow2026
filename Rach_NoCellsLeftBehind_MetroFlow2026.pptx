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7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7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18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58.png" ContentType="image/png"/>
  <Override PartName="/ppt/media/image57.png" ContentType="image/png"/>
  <Override PartName="/ppt/media/image59.jpeg" ContentType="image/jpeg"/>
  <Override PartName="/ppt/media/image105.png" ContentType="image/png"/>
  <Override PartName="/ppt/media/image56.png" ContentType="image/png"/>
  <Override PartName="/ppt/media/image55.png" ContentType="image/png"/>
  <Override PartName="/ppt/media/image103.png" ContentType="image/png"/>
  <Override PartName="/ppt/media/image54.png" ContentType="image/png"/>
  <Override PartName="/ppt/media/image102.png" ContentType="image/png"/>
  <Override PartName="/ppt/media/image52.png" ContentType="image/png"/>
  <Override PartName="/ppt/media/image96.svg" ContentType="image/svg"/>
  <Override PartName="/ppt/media/image100.png" ContentType="image/png"/>
  <Override PartName="/ppt/media/image51.png" ContentType="image/png"/>
  <Override PartName="/ppt/media/image50.svg" ContentType="image/svg"/>
  <Override PartName="/ppt/media/image49.png" ContentType="image/png"/>
  <Override PartName="/ppt/media/image46.png" ContentType="image/png"/>
  <Override PartName="/ppt/media/image45.png" ContentType="image/png"/>
  <Override PartName="/ppt/media/image44.png" ContentType="image/png"/>
  <Override PartName="/ppt/media/image43.png" ContentType="image/png"/>
  <Override PartName="/ppt/media/image47.jpeg" ContentType="image/jpeg"/>
  <Override PartName="/ppt/media/image42.png" ContentType="image/png"/>
  <Override PartName="/ppt/media/image41.png" ContentType="image/png"/>
  <Override PartName="/ppt/media/image53.png" ContentType="image/png"/>
  <Override PartName="/ppt/media/image101.png" ContentType="image/png"/>
  <Override PartName="/ppt/media/image40.svg" ContentType="image/svg"/>
  <Override PartName="/ppt/media/image35.jpeg" ContentType="image/jpeg"/>
  <Override PartName="/ppt/media/image65.png" ContentType="image/png"/>
  <Override PartName="/ppt/media/image113.png" ContentType="image/png"/>
  <Override PartName="/ppt/media/image32.png" ContentType="image/png"/>
  <Override PartName="/ppt/media/image31.png" ContentType="image/png"/>
  <Override PartName="/ppt/media/image30.png" ContentType="image/png"/>
  <Override PartName="/ppt/media/image12.jpeg" ContentType="image/jpeg"/>
  <Override PartName="/ppt/media/image18.png" ContentType="image/png"/>
  <Override PartName="/ppt/media/image17.png" ContentType="image/png"/>
  <Override PartName="/ppt/media/image8.png" ContentType="image/png"/>
  <Override PartName="/ppt/media/image82.png" ContentType="image/png"/>
  <Override PartName="/ppt/media/image34.png" ContentType="image/png"/>
  <Override PartName="/ppt/media/image2.png" ContentType="image/png"/>
  <Override PartName="/ppt/media/image11.png" ContentType="image/png"/>
  <Override PartName="/ppt/media/image39.png" ContentType="image/png"/>
  <Override PartName="/ppt/media/image7.png" ContentType="image/png"/>
  <Override PartName="/ppt/media/image16.png" ContentType="image/png"/>
  <Override PartName="/ppt/media/image81.png" ContentType="image/png"/>
  <Override PartName="/ppt/media/image108.svg" ContentType="image/svg"/>
  <Override PartName="/ppt/media/image13.jpeg" ContentType="image/jpeg"/>
  <Override PartName="/ppt/media/image28.png" ContentType="image/png"/>
  <Override PartName="/ppt/media/image93.png" ContentType="image/png"/>
  <Override PartName="/ppt/media/image36.png" ContentType="image/png"/>
  <Override PartName="/ppt/media/image9.jpeg" ContentType="image/jpeg"/>
  <Override PartName="/ppt/media/image4.png" ContentType="image/png"/>
  <Override PartName="/ppt/media/image37.png" ContentType="image/png"/>
  <Override PartName="/ppt/media/image5.png" ContentType="image/png"/>
  <Override PartName="/ppt/media/image106.svg" ContentType="image/svg"/>
  <Override PartName="/ppt/media/image10.png" ContentType="image/png"/>
  <Override PartName="/ppt/media/image1.png" ContentType="image/png"/>
  <Override PartName="/ppt/media/image38.png" ContentType="image/png"/>
  <Override PartName="/ppt/media/image14.jpeg" ContentType="image/jpeg"/>
  <Override PartName="/ppt/media/image70.png" ContentType="image/png"/>
  <Override PartName="/ppt/media/image94.svg" ContentType="image/svg"/>
  <Override PartName="/ppt/media/image73.png" ContentType="image/png"/>
  <Override PartName="/ppt/media/image74.png" ContentType="image/png"/>
  <Override PartName="/ppt/media/image75.png" ContentType="image/png"/>
  <Override PartName="/ppt/media/image76.png" ContentType="image/png"/>
  <Override PartName="/ppt/media/image72.png" ContentType="image/png"/>
  <Override PartName="/ppt/media/image83.svg" ContentType="image/svg"/>
  <Override PartName="/ppt/media/image85.png" ContentType="image/png"/>
  <Override PartName="/ppt/media/image97.jpeg" ContentType="image/jpeg"/>
  <Override PartName="/ppt/media/image71.png" ContentType="image/png"/>
  <Override PartName="/ppt/media/image29.png" ContentType="image/png"/>
  <Override PartName="/ppt/media/image112.svg" ContentType="image/svg"/>
  <Override PartName="/ppt/media/image115.png" ContentType="image/png"/>
  <Override PartName="/ppt/media/image67.png" ContentType="image/png"/>
  <Override PartName="/ppt/media/image110.svg" ContentType="image/svg"/>
  <Override PartName="/ppt/media/image99.png" ContentType="image/png"/>
  <Override PartName="/ppt/media/image62.png" ContentType="image/png"/>
  <Override PartName="/ppt/media/image109.png" ContentType="image/png"/>
  <Override PartName="/ppt/media/image77.png" ContentType="image/png"/>
  <Override PartName="/ppt/media/image107.png" ContentType="image/png"/>
  <Override PartName="/ppt/media/image104.svg" ContentType="image/svg"/>
  <Override PartName="/ppt/media/image22.png" ContentType="image/png"/>
  <Override PartName="/ppt/media/image98.png" ContentType="image/png"/>
  <Override PartName="/ppt/media/image61.png" ContentType="image/png"/>
  <Override PartName="/ppt/media/image68.png" ContentType="image/png"/>
  <Override PartName="/ppt/media/image116.png" ContentType="image/png"/>
  <Override PartName="/ppt/media/image86.png" ContentType="image/png"/>
  <Override PartName="/ppt/media/image95.png" ContentType="image/png"/>
  <Override PartName="/ppt/media/image78.png" ContentType="image/png"/>
  <Override PartName="/ppt/media/image90.jpeg" ContentType="image/jpeg"/>
  <Override PartName="/ppt/media/image89.jpeg" ContentType="image/jpeg"/>
  <Override PartName="/ppt/media/image88.png" ContentType="image/png"/>
  <Override PartName="/ppt/media/image114.png" ContentType="image/png"/>
  <Override PartName="/ppt/media/image66.png" ContentType="image/png"/>
  <Override PartName="/ppt/media/image64.png" ContentType="image/png"/>
  <Override PartName="/ppt/media/image111.png" ContentType="image/png"/>
  <Override PartName="/ppt/media/image63.png" ContentType="image/png"/>
  <Override PartName="/ppt/media/image60.png" ContentType="image/png"/>
  <Override PartName="/ppt/media/image92.png" ContentType="image/png"/>
  <Override PartName="/ppt/media/image27.png" ContentType="image/png"/>
  <Override PartName="/ppt/media/image21.jpeg" ContentType="image/jpeg"/>
  <Override PartName="/ppt/media/image91.png" ContentType="image/png"/>
  <Override PartName="/ppt/media/image26.png" ContentType="image/png"/>
  <Override PartName="/ppt/media/image69.svg" ContentType="image/svg"/>
  <Override PartName="/ppt/media/image25.png" ContentType="image/png"/>
  <Override PartName="/ppt/media/image24.png" ContentType="image/png"/>
  <Override PartName="/ppt/media/image87.png" ContentType="image/png"/>
  <Override PartName="/ppt/media/image20.svg" ContentType="image/svg"/>
  <Override PartName="/ppt/media/image33.png" ContentType="image/png"/>
  <Override PartName="/ppt/media/image19.png" ContentType="image/png"/>
  <Override PartName="/ppt/media/image84.png" ContentType="image/png"/>
  <Override PartName="/ppt/media/image23.png" ContentType="image/png"/>
  <Override PartName="/ppt/media/image79.png" ContentType="image/png"/>
  <Override PartName="/ppt/media/image3.svg" ContentType="image/svg"/>
  <Override PartName="/ppt/media/image48.png" ContentType="image/png"/>
  <Override PartName="/ppt/media/image80.png" ContentType="image/png"/>
  <Override PartName="/ppt/media/image6.png" ContentType="image/png"/>
  <Override PartName="/ppt/media/image15.png" ContentType="image/png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1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60.xml" ContentType="application/vnd.openxmlformats-officedocument.presentationml.slide+xml"/>
  <Override PartName="/ppt/slides/slide18.xml" ContentType="application/vnd.openxmlformats-officedocument.presentationml.slide+xml"/>
  <Override PartName="/ppt/slides/slide73.xml" ContentType="application/vnd.openxmlformats-officedocument.presentationml.slide+xml"/>
  <Override PartName="/ppt/slides/slide61.xml" ContentType="application/vnd.openxmlformats-officedocument.presentationml.slide+xml"/>
  <Override PartName="/ppt/slides/slide19.xml" ContentType="application/vnd.openxmlformats-officedocument.presentationml.slide+xml"/>
  <Override PartName="/ppt/slides/slide72.xml" ContentType="application/vnd.openxmlformats-officedocument.presentationml.slide+xml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36.xml.rels" ContentType="application/vnd.openxmlformats-package.relationships+xml"/>
  <Override PartName="/ppt/slides/_rels/slide35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13.xml.rels" ContentType="application/vnd.openxmlformats-package.relationships+xml"/>
  <Override PartName="/ppt/slides/_rels/slide59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49.xml.rels" ContentType="application/vnd.openxmlformats-package.relationships+xml"/>
  <Override PartName="/ppt/slides/_rels/slide12.xml.rels" ContentType="application/vnd.openxmlformats-package.relationships+xml"/>
  <Override PartName="/ppt/slides/_rels/slide58.xml.rels" ContentType="application/vnd.openxmlformats-package.relationships+xml"/>
  <Override PartName="/ppt/slides/_rels/slide21.xml.rels" ContentType="application/vnd.openxmlformats-package.relationships+xml"/>
  <Override PartName="/ppt/slides/_rels/slide60.xml.rels" ContentType="application/vnd.openxmlformats-package.relationships+xml"/>
  <Override PartName="/ppt/slides/_rels/slide18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46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.xml.rels" ContentType="application/vnd.openxmlformats-package.relationships+xml"/>
  <Override PartName="/ppt/slides/_rels/slide56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44.xml.rels" ContentType="application/vnd.openxmlformats-package.relationships+xml"/>
  <Override PartName="/ppt/slides/_rels/slide55.xml.rels" ContentType="application/vnd.openxmlformats-package.relationships+xml"/>
  <Override PartName="/ppt/slides/_rels/slide43.xml.rels" ContentType="application/vnd.openxmlformats-package.relationships+xml"/>
  <Override PartName="/ppt/slides/_rels/slide54.xml.rels" ContentType="application/vnd.openxmlformats-package.relationships+xml"/>
  <Override PartName="/ppt/slides/_rels/slide42.xml.rels" ContentType="application/vnd.openxmlformats-package.relationships+xml"/>
  <Override PartName="/ppt/slides/_rels/slide16.xml.rels" ContentType="application/vnd.openxmlformats-package.relationships+xml"/>
  <Override PartName="/ppt/slides/_rels/slide53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15.xml.rels" ContentType="application/vnd.openxmlformats-package.relationships+xml"/>
  <Override PartName="/ppt/slides/_rels/slide52.xml.rels" ContentType="application/vnd.openxmlformats-package.relationships+xml"/>
  <Override PartName="/ppt/slides/_rels/slide40.xml.rels" ContentType="application/vnd.openxmlformats-package.relationships+xml"/>
  <Override PartName="/ppt/slides/_rels/slide14.xml.rels" ContentType="application/vnd.openxmlformats-package.relationships+xml"/>
  <Override PartName="/ppt/slides/_rels/slide51.xml.rels" ContentType="application/vnd.openxmlformats-package.relationships+xml"/>
  <Override PartName="/ppt/slides/_rels/slide50.xml.rels" ContentType="application/vnd.openxmlformats-package.relationships+xml"/>
  <Override PartName="/ppt/slides/_rels/slide45.xml.rels" ContentType="application/vnd.openxmlformats-package.relationships+xml"/>
  <Override PartName="/ppt/slides/_rels/slide73.xml.rels" ContentType="application/vnd.openxmlformats-package.relationships+xml"/>
  <Override PartName="/ppt/slides/_rels/slide61.xml.rels" ContentType="application/vnd.openxmlformats-package.relationships+xml"/>
  <Override PartName="/ppt/slides/_rels/slide19.xml.rels" ContentType="application/vnd.openxmlformats-package.relationships+xml"/>
  <Override PartName="/ppt/slides/_rels/slide72.xml.rels" ContentType="application/vnd.openxmlformats-package.relationships+xml"/>
  <Override PartName="/ppt/slides/_rels/slide71.xml.rels" ContentType="application/vnd.openxmlformats-package.relationships+xml"/>
  <Override PartName="/ppt/slides/_rels/slide1.xml.rels" ContentType="application/vnd.openxmlformats-package.relationships+xml"/>
  <Override PartName="/ppt/slides/_rels/slide29.xml.rels" ContentType="application/vnd.openxmlformats-package.relationships+xml"/>
  <Override PartName="/ppt/slides/_rels/slide69.xml.rels" ContentType="application/vnd.openxmlformats-package.relationships+xml"/>
  <Override PartName="/ppt/slides/_rels/slide32.xml.rels" ContentType="application/vnd.openxmlformats-package.relationships+xml"/>
  <Override PartName="/ppt/slides/_rels/slide70.xml.rels" ContentType="application/vnd.openxmlformats-package.relationships+xml"/>
  <Override PartName="/ppt/slides/_rels/slide28.xml.rels" ContentType="application/vnd.openxmlformats-package.relationships+xml"/>
  <Override PartName="/ppt/slides/_rels/slide68.xml.rels" ContentType="application/vnd.openxmlformats-package.relationships+xml"/>
  <Override PartName="/ppt/slides/_rels/slide31.xml.rels" ContentType="application/vnd.openxmlformats-package.relationships+xml"/>
  <Override PartName="/ppt/slides/_rels/slide67.xml.rels" ContentType="application/vnd.openxmlformats-package.relationships+xml"/>
  <Override PartName="/ppt/slides/_rels/slide30.xml.rels" ContentType="application/vnd.openxmlformats-package.relationships+xml"/>
  <Override PartName="/ppt/slides/_rels/slide66.xml.rels" ContentType="application/vnd.openxmlformats-package.relationships+xml"/>
  <Override PartName="/ppt/slides/_rels/slide65.xml.rels" ContentType="application/vnd.openxmlformats-package.relationships+xml"/>
  <Override PartName="/ppt/slides/_rels/slide27.xml.rels" ContentType="application/vnd.openxmlformats-package.relationships+xml"/>
  <Override PartName="/ppt/slides/_rels/slide64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63.xml.rels" ContentType="application/vnd.openxmlformats-package.relationships+xml"/>
  <Override PartName="/ppt/slides/_rels/slide6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57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4.xml.rels" ContentType="application/vnd.openxmlformats-package.relationships+xml"/>
  <Override PartName="/ppt/slides/slide71.xml" ContentType="application/vnd.openxmlformats-officedocument.presentationml.slide+xml"/>
  <Override PartName="/ppt/slides/slide29.xml" ContentType="application/vnd.openxmlformats-officedocument.presentationml.slide+xml"/>
  <Override PartName="/ppt/slides/slide69.xml" ContentType="application/vnd.openxmlformats-officedocument.presentationml.slide+xml"/>
  <Override PartName="/ppt/slides/slide32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68.xml" ContentType="application/vnd.openxmlformats-officedocument.presentationml.slide+xml"/>
  <Override PartName="/ppt/slides/slide31.xml" ContentType="application/vnd.openxmlformats-officedocument.presentationml.slide+xml"/>
  <Override PartName="/ppt/slides/slide67.xml" ContentType="application/vnd.openxmlformats-officedocument.presentationml.slide+xml"/>
  <Override PartName="/ppt/slides/slide30.xml" ContentType="application/vnd.openxmlformats-officedocument.presentationml.slide+xml"/>
  <Override PartName="/ppt/slides/slide66.xml" ContentType="application/vnd.openxmlformats-officedocument.presentationml.slide+xml"/>
  <Override PartName="/ppt/slides/slide65.xml" ContentType="application/vnd.openxmlformats-officedocument.presentationml.slide+xml"/>
  <Override PartName="/ppt/slides/slide27.xml" ContentType="application/vnd.openxmlformats-officedocument.presentationml.slide+xml"/>
  <Override PartName="/ppt/slides/slide64.xml" ContentType="application/vnd.openxmlformats-officedocument.presentationml.slide+xml"/>
  <Override PartName="/ppt/slides/slide26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Slides/_rels/notesSlide69.xml.rels" ContentType="application/vnd.openxmlformats-package.relationships+xml"/>
  <Override PartName="/ppt/notesSlides/notesSlide6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3" r:id="rId4"/>
    <p:sldMasterId id="2147483658" r:id="rId5"/>
    <p:sldMasterId id="2147483666" r:id="rId6"/>
    <p:sldMasterId id="2147483668" r:id="rId7"/>
    <p:sldMasterId id="2147483670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  <p:sldId id="323" r:id="rId77"/>
    <p:sldId id="324" r:id="rId78"/>
    <p:sldId id="325" r:id="rId79"/>
    <p:sldId id="326" r:id="rId80"/>
    <p:sldId id="327" r:id="rId81"/>
    <p:sldId id="328" r:id="rId8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8.xml"/><Relationship Id="rId6" Type="http://schemas.openxmlformats.org/officeDocument/2006/relationships/slideMaster" Target="slideMasters/slideMaster15.xml"/><Relationship Id="rId7" Type="http://schemas.openxmlformats.org/officeDocument/2006/relationships/slideMaster" Target="slideMasters/slideMaster16.xml"/><Relationship Id="rId8" Type="http://schemas.openxmlformats.org/officeDocument/2006/relationships/slideMaster" Target="slideMasters/slideMaster17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Relationship Id="rId80" Type="http://schemas.openxmlformats.org/officeDocument/2006/relationships/slide" Target="slides/slide71.xml"/><Relationship Id="rId81" Type="http://schemas.openxmlformats.org/officeDocument/2006/relationships/slide" Target="slides/slide72.xml"/><Relationship Id="rId82" Type="http://schemas.openxmlformats.org/officeDocument/2006/relationships/slide" Target="slides/slide73.xml"/><Relationship Id="rId8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dt" idx="5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ftr" idx="5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5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6E65732-D30F-48BA-8699-6C3515A9A2D3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4240" cy="3385800"/>
          </a:xfrm>
          <a:prstGeom prst="rect">
            <a:avLst/>
          </a:prstGeom>
          <a:ln w="0">
            <a:noFill/>
          </a:ln>
        </p:spPr>
      </p:sp>
      <p:sp>
        <p:nvSpPr>
          <p:cNvPr id="796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08200" cy="39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PlaceHolder 3"/>
          <p:cNvSpPr>
            <a:spLocks noGrp="1"/>
          </p:cNvSpPr>
          <p:nvPr>
            <p:ph type="sldNum" idx="55"/>
          </p:nvPr>
        </p:nvSpPr>
        <p:spPr>
          <a:xfrm>
            <a:off x="4402080" y="9553680"/>
            <a:ext cx="3360240" cy="49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174575-CF0F-4959-8CBF-D9600982D5AA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Office-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12080"/>
            <a:ext cx="1051020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12720" y="160452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/>
          </p:nvPr>
        </p:nvSpPr>
        <p:spPr>
          <a:xfrm>
            <a:off x="609480" y="160488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/>
          </p:nvPr>
        </p:nvSpPr>
        <p:spPr>
          <a:xfrm>
            <a:off x="612720" y="160488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5E429B-695B-4542-95FF-719638903B4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1-title-Title-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020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48880" cy="18914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48880" cy="18914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48880" cy="18914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48880" cy="18914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E9C94E-3D50-4E75-8BAC-7BD03BD968FE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020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27640" cy="18914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27640" cy="18914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27640" cy="18914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27640" cy="18914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27640" cy="18914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27640" cy="18914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D4AC7B-597E-436C-8A0D-93B783AB8D0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ster1-Layout2-obj-Title-and-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8400" cy="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349106-ECA2-4D3A-B0EF-D8EBA89EFD76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1680" cy="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1680" cy="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1680" cy="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1680" cy="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645BCA-93B5-4317-BC7F-B5458CAE32BA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1680" cy="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1680" cy="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1680" cy="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1680" cy="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30C4D05-68D3-4958-A1FE-8640AA125EE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1680" cy="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1680" cy="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1680" cy="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1680" cy="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7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3FC72A-DF8E-4F6C-BE13-D4D15628A86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8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ster1-Layout2-obj-Title-and-Content_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400" cy="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058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7D8B7C-01B4-4515-99CF-B6352D33CBCB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058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36FA085-E0CF-4111-99DE-251686A12D69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058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ED3D97-D42A-4BD2-A9E9-3095F1C460BB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8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6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058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7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27D730-D53B-43BF-A096-33B3FDAE7EE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8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058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A5F96C-857C-4AB6-AF85-D12714850279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8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6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058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7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193845-6C19-4D47-B1A2-924F8C35117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8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6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058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PlaceHolder 7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BA0329-E307-47BF-BD2A-4AFE461829D3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PlaceHolder 8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838080" y="712080"/>
            <a:ext cx="1051020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ubTitle"/>
          </p:nvPr>
        </p:nvSpPr>
        <p:spPr>
          <a:xfrm>
            <a:off x="609480" y="-2269440"/>
            <a:ext cx="612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001D224-47D3-4FDD-AFC8-3E16BBE71C2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838080" y="712080"/>
            <a:ext cx="1051020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BC71029-2013-4536-91ED-A04D4553FAF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838080" y="712080"/>
            <a:ext cx="1051020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subTitle"/>
          </p:nvPr>
        </p:nvSpPr>
        <p:spPr>
          <a:xfrm>
            <a:off x="609480" y="-2269440"/>
            <a:ext cx="612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31455750-F1C6-486F-A09C-07636C4FA0B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1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25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12720" y="1604520"/>
            <a:ext cx="25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04880"/>
            <a:ext cx="25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12720" y="1604880"/>
            <a:ext cx="25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EFB669-9BC0-45DA-9A1E-FF2A532582A0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8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  <p:sldLayoutId id="2147483655" r:id="rId3"/>
    <p:sldLayoutId id="2147483656" r:id="rId4"/>
    <p:sldLayoutId id="2147483657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ftr" idx="43"/>
          </p:nvPr>
        </p:nvSpPr>
        <p:spPr>
          <a:xfrm>
            <a:off x="3447360" y="5165280"/>
            <a:ext cx="3188160" cy="38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sldNum" idx="44"/>
          </p:nvPr>
        </p:nvSpPr>
        <p:spPr>
          <a:xfrm>
            <a:off x="7227360" y="5165280"/>
            <a:ext cx="2341440" cy="38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5492E3-E1A5-4FE4-9236-A33B63C72D1F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dt" idx="45"/>
          </p:nvPr>
        </p:nvSpPr>
        <p:spPr>
          <a:xfrm>
            <a:off x="504000" y="5165280"/>
            <a:ext cx="2341440" cy="38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1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058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0A58E4-66BF-4A7D-A6B8-A03BFD3F6316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PlaceHolder 5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34200" cy="356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1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ftr" idx="49"/>
          </p:nvPr>
        </p:nvSpPr>
        <p:spPr>
          <a:xfrm>
            <a:off x="3447360" y="5165280"/>
            <a:ext cx="3189240" cy="38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50"/>
          </p:nvPr>
        </p:nvSpPr>
        <p:spPr>
          <a:xfrm>
            <a:off x="7227360" y="5165280"/>
            <a:ext cx="2342520" cy="38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E4290EC-9981-43A9-BB00-A55A183A8D5A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51"/>
          </p:nvPr>
        </p:nvSpPr>
        <p:spPr>
          <a:xfrm>
            <a:off x="504000" y="5165280"/>
            <a:ext cx="2342520" cy="38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jpe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jpe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jpe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slideLayout" Target="../slideLayouts/slideLayout1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21.jpeg"/><Relationship Id="rId4" Type="http://schemas.openxmlformats.org/officeDocument/2006/relationships/slideLayout" Target="../slideLayouts/slideLayout1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slideLayout" Target="../slideLayouts/slideLayout1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image" Target="../media/image35.jpe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1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7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7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14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14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14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slideLayout" Target="../slideLayouts/slideLayout7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image" Target="../media/image45.png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46.png"/><Relationship Id="rId6" Type="http://schemas.openxmlformats.org/officeDocument/2006/relationships/slideLayout" Target="../slideLayouts/slideLayout14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42.png"/><Relationship Id="rId3" Type="http://schemas.openxmlformats.org/officeDocument/2006/relationships/image" Target="../media/image47.jpeg"/><Relationship Id="rId4" Type="http://schemas.openxmlformats.org/officeDocument/2006/relationships/slideLayout" Target="../slideLayouts/slideLayout14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image" Target="../media/image35.jpe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1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7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image" Target="../media/image1.png"/><Relationship Id="rId3" Type="http://schemas.openxmlformats.org/officeDocument/2006/relationships/image" Target="../media/image52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7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7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1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7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7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56.png"/><Relationship Id="rId2" Type="http://schemas.openxmlformats.org/officeDocument/2006/relationships/image" Target="../media/image57.png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58.png"/><Relationship Id="rId6" Type="http://schemas.openxmlformats.org/officeDocument/2006/relationships/slideLayout" Target="../slideLayouts/slideLayout7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59.jpeg"/><Relationship Id="rId4" Type="http://schemas.openxmlformats.org/officeDocument/2006/relationships/slideLayout" Target="../slideLayouts/slideLayout7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60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slideLayout" Target="../slideLayouts/slideLayout7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slideLayout" Target="../slideLayouts/slideLayout7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67.png"/><Relationship Id="rId2" Type="http://schemas.openxmlformats.org/officeDocument/2006/relationships/image" Target="../media/image68.png"/><Relationship Id="rId3" Type="http://schemas.openxmlformats.org/officeDocument/2006/relationships/image" Target="../media/image69.svg"/><Relationship Id="rId4" Type="http://schemas.openxmlformats.org/officeDocument/2006/relationships/image" Target="../media/image1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slideLayout" Target="../slideLayouts/slideLayout7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65.png"/><Relationship Id="rId7" Type="http://schemas.openxmlformats.org/officeDocument/2006/relationships/slideLayout" Target="../slideLayouts/slideLayout7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77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image" Target="../media/image35.jpe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17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60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slideLayout" Target="../slideLayouts/slideLayout14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33.png"/><Relationship Id="rId5" Type="http://schemas.openxmlformats.org/officeDocument/2006/relationships/image" Target="../media/image82.png"/><Relationship Id="rId6" Type="http://schemas.openxmlformats.org/officeDocument/2006/relationships/image" Target="../media/image83.sv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4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84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5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6.png"/><Relationship Id="rId3" Type="http://schemas.openxmlformats.org/officeDocument/2006/relationships/slideLayout" Target="../slideLayouts/slideLayout1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7.png"/><Relationship Id="rId3" Type="http://schemas.openxmlformats.org/officeDocument/2006/relationships/slideLayout" Target="../slideLayouts/slideLayout14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8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89.jpeg"/><Relationship Id="rId4" Type="http://schemas.openxmlformats.org/officeDocument/2006/relationships/slideLayout" Target="../slideLayouts/slideLayout14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90.jpeg"/><Relationship Id="rId4" Type="http://schemas.openxmlformats.org/officeDocument/2006/relationships/slideLayout" Target="../slideLayouts/slideLayout14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91.png"/><Relationship Id="rId2" Type="http://schemas.openxmlformats.org/officeDocument/2006/relationships/image" Target="../media/image92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93.png"/><Relationship Id="rId7" Type="http://schemas.openxmlformats.org/officeDocument/2006/relationships/image" Target="../media/image94.svg"/><Relationship Id="rId8" Type="http://schemas.openxmlformats.org/officeDocument/2006/relationships/image" Target="../media/image95.png"/><Relationship Id="rId9" Type="http://schemas.openxmlformats.org/officeDocument/2006/relationships/image" Target="../media/image96.svg"/><Relationship Id="rId10" Type="http://schemas.openxmlformats.org/officeDocument/2006/relationships/image" Target="../media/image97.jpeg"/><Relationship Id="rId11" Type="http://schemas.openxmlformats.org/officeDocument/2006/relationships/image" Target="../media/image98.png"/><Relationship Id="rId12" Type="http://schemas.openxmlformats.org/officeDocument/2006/relationships/image" Target="../media/image99.png"/><Relationship Id="rId13" Type="http://schemas.openxmlformats.org/officeDocument/2006/relationships/image" Target="../media/image100.png"/><Relationship Id="rId14" Type="http://schemas.openxmlformats.org/officeDocument/2006/relationships/image" Target="../media/image101.png"/><Relationship Id="rId15" Type="http://schemas.openxmlformats.org/officeDocument/2006/relationships/slideLayout" Target="../slideLayouts/slideLayout14.xml"/><Relationship Id="rId16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29.png"/><Relationship Id="rId5" Type="http://schemas.openxmlformats.org/officeDocument/2006/relationships/image" Target="../media/image102.png"/><Relationship Id="rId6" Type="http://schemas.openxmlformats.org/officeDocument/2006/relationships/image" Target="../media/image33.png"/><Relationship Id="rId7" Type="http://schemas.openxmlformats.org/officeDocument/2006/relationships/image" Target="../media/image103.png"/><Relationship Id="rId8" Type="http://schemas.openxmlformats.org/officeDocument/2006/relationships/image" Target="../media/image104.svg"/><Relationship Id="rId9" Type="http://schemas.openxmlformats.org/officeDocument/2006/relationships/image" Target="../media/image105.png"/><Relationship Id="rId10" Type="http://schemas.openxmlformats.org/officeDocument/2006/relationships/image" Target="../media/image106.svg"/><Relationship Id="rId11" Type="http://schemas.openxmlformats.org/officeDocument/2006/relationships/image" Target="../media/image107.png"/><Relationship Id="rId12" Type="http://schemas.openxmlformats.org/officeDocument/2006/relationships/image" Target="../media/image108.svg"/><Relationship Id="rId13" Type="http://schemas.openxmlformats.org/officeDocument/2006/relationships/image" Target="../media/image109.png"/><Relationship Id="rId14" Type="http://schemas.openxmlformats.org/officeDocument/2006/relationships/image" Target="../media/image110.svg"/><Relationship Id="rId15" Type="http://schemas.openxmlformats.org/officeDocument/2006/relationships/image" Target="../media/image111.png"/><Relationship Id="rId16" Type="http://schemas.openxmlformats.org/officeDocument/2006/relationships/image" Target="../media/image112.svg"/><Relationship Id="rId17" Type="http://schemas.openxmlformats.org/officeDocument/2006/relationships/image" Target="../media/image82.png"/><Relationship Id="rId18" Type="http://schemas.openxmlformats.org/officeDocument/2006/relationships/image" Target="../media/image83.svg"/><Relationship Id="rId19" Type="http://schemas.openxmlformats.org/officeDocument/2006/relationships/image" Target="../media/image8.png"/><Relationship Id="rId20" Type="http://schemas.openxmlformats.org/officeDocument/2006/relationships/image" Target="../media/image1.png"/><Relationship Id="rId21" Type="http://schemas.openxmlformats.org/officeDocument/2006/relationships/slideLayout" Target="../slideLayouts/slideLayout7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3.png"/><Relationship Id="rId3" Type="http://schemas.openxmlformats.org/officeDocument/2006/relationships/image" Target="../media/image31.png"/><Relationship Id="rId4" Type="http://schemas.openxmlformats.org/officeDocument/2006/relationships/slideLayout" Target="../slideLayouts/slideLayout14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4.png"/><Relationship Id="rId3" Type="http://schemas.openxmlformats.org/officeDocument/2006/relationships/image" Target="../media/image109.png"/><Relationship Id="rId4" Type="http://schemas.openxmlformats.org/officeDocument/2006/relationships/image" Target="../media/image110.svg"/><Relationship Id="rId5" Type="http://schemas.openxmlformats.org/officeDocument/2006/relationships/image" Target="../media/image115.png"/><Relationship Id="rId6" Type="http://schemas.openxmlformats.org/officeDocument/2006/relationships/slideLayout" Target="../slideLayouts/slideLayout14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6.png"/><Relationship Id="rId3" Type="http://schemas.openxmlformats.org/officeDocument/2006/relationships/slideLayout" Target="../slideLayouts/slideLayout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/>
          </p:nvPr>
        </p:nvSpPr>
        <p:spPr>
          <a:xfrm>
            <a:off x="914760" y="4669200"/>
            <a:ext cx="10510200" cy="1821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David Rach, Ph.D.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UMGCCC Flow Cytometry Shared Resource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Baltimore, MD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701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October 23, 2026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Picture 4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TextBox 2"/>
          <p:cNvSpPr/>
          <p:nvPr/>
        </p:nvSpPr>
        <p:spPr>
          <a:xfrm>
            <a:off x="122760" y="6404400"/>
            <a:ext cx="21027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Slides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Graphic 5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65920" y="229320"/>
            <a:ext cx="3653280" cy="955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" name="Picture 72" descr=""/>
          <p:cNvPicPr/>
          <p:nvPr/>
        </p:nvPicPr>
        <p:blipFill>
          <a:blip r:embed="rId4"/>
          <a:stretch/>
        </p:blipFill>
        <p:spPr>
          <a:xfrm>
            <a:off x="8375760" y="115920"/>
            <a:ext cx="3191760" cy="12517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40" name=""/>
          <p:cNvGrpSpPr/>
          <p:nvPr/>
        </p:nvGrpSpPr>
        <p:grpSpPr>
          <a:xfrm>
            <a:off x="759960" y="1407240"/>
            <a:ext cx="10052280" cy="2111400"/>
            <a:chOff x="759960" y="1407240"/>
            <a:chExt cx="10052280" cy="2111400"/>
          </a:xfrm>
        </p:grpSpPr>
        <p:grpSp>
          <p:nvGrpSpPr>
            <p:cNvPr id="141" name=""/>
            <p:cNvGrpSpPr/>
            <p:nvPr/>
          </p:nvGrpSpPr>
          <p:grpSpPr>
            <a:xfrm>
              <a:off x="759960" y="1407240"/>
              <a:ext cx="10052280" cy="2111400"/>
              <a:chOff x="759960" y="1407240"/>
              <a:chExt cx="10052280" cy="2111400"/>
            </a:xfrm>
          </p:grpSpPr>
          <p:pic>
            <p:nvPicPr>
              <p:cNvPr id="142" name="" descr=""/>
              <p:cNvPicPr/>
              <p:nvPr/>
            </p:nvPicPr>
            <p:blipFill>
              <a:blip r:embed="rId5"/>
              <a:srcRect l="0" t="44464" r="9095" b="0"/>
              <a:stretch/>
            </p:blipFill>
            <p:spPr>
              <a:xfrm>
                <a:off x="1534320" y="1530360"/>
                <a:ext cx="9277920" cy="198828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sp>
            <p:nvSpPr>
              <p:cNvPr id="143" name=""/>
              <p:cNvSpPr/>
              <p:nvPr/>
            </p:nvSpPr>
            <p:spPr>
              <a:xfrm>
                <a:off x="759960" y="1407240"/>
                <a:ext cx="10052280" cy="32616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  <p:sp>
          <p:nvSpPr>
            <p:cNvPr id="144" name=""/>
            <p:cNvSpPr/>
            <p:nvPr/>
          </p:nvSpPr>
          <p:spPr>
            <a:xfrm>
              <a:off x="1035000" y="1828800"/>
              <a:ext cx="684000" cy="13698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45" name=""/>
          <p:cNvSpPr/>
          <p:nvPr/>
        </p:nvSpPr>
        <p:spPr>
          <a:xfrm>
            <a:off x="457200" y="3657600"/>
            <a:ext cx="11733120" cy="177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Towards ‘No Cell Left Behind’: open-source tool sets to 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leverage Spectral Flow Cytometry’s full biological discovery potential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" descr=""/>
          <p:cNvPicPr/>
          <p:nvPr/>
        </p:nvPicPr>
        <p:blipFill>
          <a:blip r:embed="rId6"/>
          <a:stretch/>
        </p:blipFill>
        <p:spPr>
          <a:xfrm>
            <a:off x="577800" y="4800600"/>
            <a:ext cx="1547640" cy="1503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"/>
          <p:cNvSpPr/>
          <p:nvPr/>
        </p:nvSpPr>
        <p:spPr>
          <a:xfrm>
            <a:off x="686160" y="1052640"/>
            <a:ext cx="5251680" cy="14562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71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Picture 12" descr=""/>
          <p:cNvPicPr/>
          <p:nvPr/>
        </p:nvPicPr>
        <p:blipFill>
          <a:blip r:embed="rId1"/>
          <a:stretch/>
        </p:blipFill>
        <p:spPr>
          <a:xfrm>
            <a:off x="6095880" y="1037880"/>
            <a:ext cx="5495040" cy="444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Picture 1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"/>
          <p:cNvSpPr/>
          <p:nvPr/>
        </p:nvSpPr>
        <p:spPr>
          <a:xfrm>
            <a:off x="686160" y="2660400"/>
            <a:ext cx="5251680" cy="159444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2" name="Rectangle 7"/>
          <p:cNvSpPr/>
          <p:nvPr/>
        </p:nvSpPr>
        <p:spPr>
          <a:xfrm>
            <a:off x="748800" y="1052640"/>
            <a:ext cx="5189040" cy="20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Capable of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resolving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remarkably similar fluorophores →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increased number of markers per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conventional flow cytometry (CFC)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11"/>
          <p:cNvSpPr/>
          <p:nvPr/>
        </p:nvSpPr>
        <p:spPr>
          <a:xfrm>
            <a:off x="748800" y="2707200"/>
            <a:ext cx="5189040" cy="16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Allows for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rapid acquisition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 millions of events in a few minutes → typically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greater number of acquired cells per sample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mass cytometry (MC)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12"/>
          <p:cNvSpPr/>
          <p:nvPr/>
        </p:nvSpPr>
        <p:spPr>
          <a:xfrm>
            <a:off x="685800" y="4440600"/>
            <a:ext cx="51890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(SFC) datasets have an unique combination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width and depth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preceding technologies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685800" y="4397760"/>
            <a:ext cx="5252040" cy="108288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" descr=""/>
          <p:cNvPicPr/>
          <p:nvPr/>
        </p:nvPicPr>
        <p:blipFill>
          <a:blip r:embed="rId1"/>
          <a:stretch/>
        </p:blipFill>
        <p:spPr>
          <a:xfrm>
            <a:off x="914400" y="1143000"/>
            <a:ext cx="5025960" cy="376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4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"/>
          <p:cNvSpPr/>
          <p:nvPr/>
        </p:nvSpPr>
        <p:spPr>
          <a:xfrm>
            <a:off x="6629400" y="1198800"/>
            <a:ext cx="5026320" cy="122832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1" name=""/>
          <p:cNvSpPr/>
          <p:nvPr/>
        </p:nvSpPr>
        <p:spPr>
          <a:xfrm>
            <a:off x="6629400" y="3837600"/>
            <a:ext cx="5023440" cy="83088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"/>
          <p:cNvSpPr/>
          <p:nvPr/>
        </p:nvSpPr>
        <p:spPr>
          <a:xfrm>
            <a:off x="6629400" y="3895200"/>
            <a:ext cx="52520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Expand our knowledge about immune system heterogeneity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6626520" y="2498400"/>
            <a:ext cx="5026320" cy="122832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4" name=""/>
          <p:cNvSpPr/>
          <p:nvPr/>
        </p:nvSpPr>
        <p:spPr>
          <a:xfrm>
            <a:off x="6629400" y="1234800"/>
            <a:ext cx="502344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Able to efficiently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acquire greater number of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carry out a more thorough profiling of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rare cell subsets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evaluate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multiple cell types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invaluable for clinical studies with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limited biospecimen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>
            <a:off x="903960" y="3466080"/>
            <a:ext cx="5034240" cy="1451520"/>
          </a:xfrm>
          <a:prstGeom prst="rect">
            <a:avLst/>
          </a:prstGeom>
          <a:solidFill>
            <a:srgbClr val="780373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7" name=""/>
          <p:cNvSpPr/>
          <p:nvPr/>
        </p:nvSpPr>
        <p:spPr>
          <a:xfrm>
            <a:off x="909360" y="1603080"/>
            <a:ext cx="5022360" cy="1365840"/>
          </a:xfrm>
          <a:prstGeom prst="rect">
            <a:avLst/>
          </a:prstGeom>
          <a:solidFill>
            <a:srgbClr val="ffd8ce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Trade-off: Increasing analytical complexity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3"/>
          <p:cNvSpPr/>
          <p:nvPr/>
        </p:nvSpPr>
        <p:spPr>
          <a:xfrm>
            <a:off x="909360" y="1603080"/>
            <a:ext cx="48682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you are only interested in a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population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of cells → analysis process remains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essentially unchanged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(manual gating with a few more gates)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13"/>
          <p:cNvSpPr/>
          <p:nvPr/>
        </p:nvSpPr>
        <p:spPr>
          <a:xfrm>
            <a:off x="970560" y="3514680"/>
            <a:ext cx="49676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your goal is to characterize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cell populations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may be present → the breadth and depth of the datasets complicate the analysis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1" name="Picture 15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Picture 17" descr=""/>
          <p:cNvPicPr/>
          <p:nvPr/>
        </p:nvPicPr>
        <p:blipFill>
          <a:blip r:embed="rId2"/>
          <a:stretch/>
        </p:blipFill>
        <p:spPr>
          <a:xfrm>
            <a:off x="6400800" y="1371600"/>
            <a:ext cx="3880800" cy="4102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/>
          <p:nvPr/>
        </p:nvSpPr>
        <p:spPr>
          <a:xfrm>
            <a:off x="5486400" y="4114800"/>
            <a:ext cx="5938200" cy="13662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Datasets: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Picture 18" descr=""/>
          <p:cNvPicPr/>
          <p:nvPr/>
        </p:nvPicPr>
        <p:blipFill>
          <a:blip r:embed="rId1"/>
          <a:stretch/>
        </p:blipFill>
        <p:spPr>
          <a:xfrm>
            <a:off x="457200" y="1175400"/>
            <a:ext cx="5020200" cy="446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"/>
          <p:cNvSpPr/>
          <p:nvPr/>
        </p:nvSpPr>
        <p:spPr>
          <a:xfrm>
            <a:off x="5481720" y="1403640"/>
            <a:ext cx="5860080" cy="25005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8" name="Rectangle 16"/>
          <p:cNvSpPr/>
          <p:nvPr/>
        </p:nvSpPr>
        <p:spPr>
          <a:xfrm>
            <a:off x="5403600" y="3154680"/>
            <a:ext cx="556992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At the end, we will have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grouped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only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expressed the same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17"/>
          <p:cNvSpPr/>
          <p:nvPr/>
        </p:nvSpPr>
        <p:spPr>
          <a:xfrm>
            <a:off x="5482800" y="4114800"/>
            <a:ext cx="5965920" cy="40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0" name="Rectangle 18"/>
          <p:cNvSpPr/>
          <p:nvPr/>
        </p:nvSpPr>
        <p:spPr>
          <a:xfrm>
            <a:off x="5486400" y="4572000"/>
            <a:ext cx="59382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216000" indent="-21600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“Groups” per panel = 2</a:t>
            </a:r>
            <a:r>
              <a:rPr b="0" lang="en-US" sz="2400" strike="noStrike" u="none" baseline="3300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Number of Fluorophores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" name="Picture 2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Rectangle 19"/>
          <p:cNvSpPr/>
          <p:nvPr/>
        </p:nvSpPr>
        <p:spPr>
          <a:xfrm>
            <a:off x="5403600" y="1325880"/>
            <a:ext cx="570960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If for a given marker in your panel, you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split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the cells into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positive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negative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populations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30"/>
          <p:cNvSpPr/>
          <p:nvPr/>
        </p:nvSpPr>
        <p:spPr>
          <a:xfrm>
            <a:off x="5403600" y="2240280"/>
            <a:ext cx="593820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this splitting process is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repeated for every marker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in your panel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1"/>
          <p:cNvSpPr/>
          <p:nvPr/>
        </p:nvSpPr>
        <p:spPr>
          <a:xfrm>
            <a:off x="5486400" y="5029200"/>
            <a:ext cx="6170400" cy="40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5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"/>
          <p:cNvSpPr/>
          <p:nvPr/>
        </p:nvSpPr>
        <p:spPr>
          <a:xfrm>
            <a:off x="5481720" y="1403640"/>
            <a:ext cx="5860080" cy="25005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7" name=""/>
          <p:cNvSpPr/>
          <p:nvPr/>
        </p:nvSpPr>
        <p:spPr>
          <a:xfrm>
            <a:off x="5486400" y="4114800"/>
            <a:ext cx="5938200" cy="13662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Datasets: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9" name="Picture 23" descr=""/>
          <p:cNvPicPr/>
          <p:nvPr/>
        </p:nvPicPr>
        <p:blipFill>
          <a:blip r:embed="rId1"/>
          <a:stretch/>
        </p:blipFill>
        <p:spPr>
          <a:xfrm>
            <a:off x="457200" y="1175400"/>
            <a:ext cx="5020200" cy="446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Rectangle 2"/>
          <p:cNvSpPr/>
          <p:nvPr/>
        </p:nvSpPr>
        <p:spPr>
          <a:xfrm>
            <a:off x="5403600" y="3154680"/>
            <a:ext cx="556992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At the end, we will have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grouped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only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expressed the same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ectangle 32"/>
          <p:cNvSpPr/>
          <p:nvPr/>
        </p:nvSpPr>
        <p:spPr>
          <a:xfrm>
            <a:off x="5482800" y="4114800"/>
            <a:ext cx="59659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9-color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512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at most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33"/>
          <p:cNvSpPr/>
          <p:nvPr/>
        </p:nvSpPr>
        <p:spPr>
          <a:xfrm>
            <a:off x="5482800" y="4572000"/>
            <a:ext cx="61704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40-color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1.1e+12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Picture 2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Rectangle 34"/>
          <p:cNvSpPr/>
          <p:nvPr/>
        </p:nvSpPr>
        <p:spPr>
          <a:xfrm>
            <a:off x="5403600" y="1325880"/>
            <a:ext cx="570960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If for a given marker in your panel, you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split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the cells into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positive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negative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populations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Rectangle 35"/>
          <p:cNvSpPr/>
          <p:nvPr/>
        </p:nvSpPr>
        <p:spPr>
          <a:xfrm>
            <a:off x="5403600" y="2240280"/>
            <a:ext cx="593820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this splitting process is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repeated for every marker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in your panel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Rectangle 36"/>
          <p:cNvSpPr/>
          <p:nvPr/>
        </p:nvSpPr>
        <p:spPr>
          <a:xfrm>
            <a:off x="5486400" y="5029200"/>
            <a:ext cx="61704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"/>
          <p:cNvSpPr/>
          <p:nvPr/>
        </p:nvSpPr>
        <p:spPr>
          <a:xfrm>
            <a:off x="457200" y="2784600"/>
            <a:ext cx="5938200" cy="16002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36000" y="33480"/>
            <a:ext cx="12183480" cy="649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even is a quintillion?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7"/>
          <p:cNvSpPr/>
          <p:nvPr/>
        </p:nvSpPr>
        <p:spPr>
          <a:xfrm>
            <a:off x="457200" y="2738520"/>
            <a:ext cx="59659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gate, every 10 seconds → 6 groups/minute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1" name="Picture 2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Rectangle 38"/>
          <p:cNvSpPr/>
          <p:nvPr/>
        </p:nvSpPr>
        <p:spPr>
          <a:xfrm>
            <a:off x="453600" y="1945800"/>
            <a:ext cx="61704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ectangle 39"/>
          <p:cNvSpPr/>
          <p:nvPr/>
        </p:nvSpPr>
        <p:spPr>
          <a:xfrm>
            <a:off x="457200" y="3134520"/>
            <a:ext cx="59659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 minutes in an hour → 360 groups/hour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Rectangle 40"/>
          <p:cNvSpPr/>
          <p:nvPr/>
        </p:nvSpPr>
        <p:spPr>
          <a:xfrm>
            <a:off x="457200" y="3530520"/>
            <a:ext cx="59659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Awake 16 hours a day → 5760 groups/day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41"/>
          <p:cNvSpPr/>
          <p:nvPr/>
        </p:nvSpPr>
        <p:spPr>
          <a:xfrm>
            <a:off x="457200" y="3962520"/>
            <a:ext cx="6166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457200" y="1899000"/>
            <a:ext cx="5938200" cy="45180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7" name="" descr=""/>
          <p:cNvPicPr/>
          <p:nvPr/>
        </p:nvPicPr>
        <p:blipFill>
          <a:blip r:embed="rId2"/>
          <a:stretch/>
        </p:blipFill>
        <p:spPr>
          <a:xfrm>
            <a:off x="6567120" y="1545840"/>
            <a:ext cx="5543280" cy="3020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PlaceHolder 12"/>
          <p:cNvSpPr/>
          <p:nvPr/>
        </p:nvSpPr>
        <p:spPr>
          <a:xfrm>
            <a:off x="424800" y="808200"/>
            <a:ext cx="8912520" cy="10879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I were to manually check for every combination...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"/>
          <p:cNvSpPr/>
          <p:nvPr/>
        </p:nvSpPr>
        <p:spPr>
          <a:xfrm>
            <a:off x="457200" y="2784600"/>
            <a:ext cx="5938200" cy="16002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36000" y="33480"/>
            <a:ext cx="12183480" cy="649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even is a quintillion?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45"/>
          <p:cNvSpPr/>
          <p:nvPr/>
        </p:nvSpPr>
        <p:spPr>
          <a:xfrm>
            <a:off x="457200" y="2738520"/>
            <a:ext cx="59659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gate, every 10 seconds → 6 groups/minute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" name="Picture 3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Rectangle 53"/>
          <p:cNvSpPr/>
          <p:nvPr/>
        </p:nvSpPr>
        <p:spPr>
          <a:xfrm>
            <a:off x="453600" y="1945800"/>
            <a:ext cx="61704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ectangle 54"/>
          <p:cNvSpPr/>
          <p:nvPr/>
        </p:nvSpPr>
        <p:spPr>
          <a:xfrm>
            <a:off x="457200" y="3134520"/>
            <a:ext cx="59659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 minutes in an hour → 360 groups/hour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Rectangle 55"/>
          <p:cNvSpPr/>
          <p:nvPr/>
        </p:nvSpPr>
        <p:spPr>
          <a:xfrm>
            <a:off x="457200" y="3530520"/>
            <a:ext cx="59659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Awake 16 hours a day → 5760 groups/day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ectangle 56"/>
          <p:cNvSpPr/>
          <p:nvPr/>
        </p:nvSpPr>
        <p:spPr>
          <a:xfrm>
            <a:off x="457200" y="3962520"/>
            <a:ext cx="6166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457200" y="1899000"/>
            <a:ext cx="5938200" cy="45180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19" name="" descr=""/>
          <p:cNvPicPr/>
          <p:nvPr/>
        </p:nvPicPr>
        <p:blipFill>
          <a:blip r:embed="rId2"/>
          <a:stretch/>
        </p:blipFill>
        <p:spPr>
          <a:xfrm>
            <a:off x="6567120" y="1545840"/>
            <a:ext cx="5543280" cy="3020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PlaceHolder 14"/>
          <p:cNvSpPr/>
          <p:nvPr/>
        </p:nvSpPr>
        <p:spPr>
          <a:xfrm>
            <a:off x="460800" y="808200"/>
            <a:ext cx="8912520" cy="10879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I were to manually check for every combination...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1910520" y="4601520"/>
            <a:ext cx="28872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….Not even close….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"/>
          <p:cNvSpPr/>
          <p:nvPr/>
        </p:nvSpPr>
        <p:spPr>
          <a:xfrm>
            <a:off x="5490000" y="2056680"/>
            <a:ext cx="5934600" cy="11664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5" name="Picture 3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Rectangle 43"/>
          <p:cNvSpPr/>
          <p:nvPr/>
        </p:nvSpPr>
        <p:spPr>
          <a:xfrm>
            <a:off x="5486400" y="1371600"/>
            <a:ext cx="61704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44"/>
          <p:cNvSpPr/>
          <p:nvPr/>
        </p:nvSpPr>
        <p:spPr>
          <a:xfrm>
            <a:off x="5490000" y="2046600"/>
            <a:ext cx="6166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5486400" y="1371600"/>
            <a:ext cx="5938200" cy="45180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29" name="" descr=""/>
          <p:cNvPicPr/>
          <p:nvPr/>
        </p:nvPicPr>
        <p:blipFill>
          <a:blip r:embed="rId2"/>
          <a:stretch/>
        </p:blipFill>
        <p:spPr>
          <a:xfrm>
            <a:off x="457200" y="1371600"/>
            <a:ext cx="4871160" cy="265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Rectangle 46"/>
          <p:cNvSpPr/>
          <p:nvPr/>
        </p:nvSpPr>
        <p:spPr>
          <a:xfrm>
            <a:off x="5490000" y="2406600"/>
            <a:ext cx="6166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ectangle 47"/>
          <p:cNvSpPr/>
          <p:nvPr/>
        </p:nvSpPr>
        <p:spPr>
          <a:xfrm>
            <a:off x="5490000" y="2730600"/>
            <a:ext cx="6166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9"/>
          <p:cNvSpPr/>
          <p:nvPr/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3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" descr=""/>
          <p:cNvPicPr/>
          <p:nvPr/>
        </p:nvPicPr>
        <p:blipFill>
          <a:blip r:embed="rId1"/>
          <a:stretch/>
        </p:blipFill>
        <p:spPr>
          <a:xfrm>
            <a:off x="457200" y="1371600"/>
            <a:ext cx="4873320" cy="265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"/>
          <p:cNvSpPr/>
          <p:nvPr/>
        </p:nvSpPr>
        <p:spPr>
          <a:xfrm>
            <a:off x="5490000" y="3578760"/>
            <a:ext cx="5934600" cy="14342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6" name=""/>
          <p:cNvSpPr/>
          <p:nvPr/>
        </p:nvSpPr>
        <p:spPr>
          <a:xfrm>
            <a:off x="5490000" y="2056680"/>
            <a:ext cx="5934600" cy="11664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8" name="Picture 3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Rectangle 42"/>
          <p:cNvSpPr/>
          <p:nvPr/>
        </p:nvSpPr>
        <p:spPr>
          <a:xfrm>
            <a:off x="5486400" y="1371600"/>
            <a:ext cx="61704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Rectangle 48"/>
          <p:cNvSpPr/>
          <p:nvPr/>
        </p:nvSpPr>
        <p:spPr>
          <a:xfrm>
            <a:off x="5490000" y="2046600"/>
            <a:ext cx="6166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ectangle 49"/>
          <p:cNvSpPr/>
          <p:nvPr/>
        </p:nvSpPr>
        <p:spPr>
          <a:xfrm>
            <a:off x="5490000" y="3578760"/>
            <a:ext cx="59382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 we need ~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50 immortal researchers working continuously since the Big Bang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just to check all group combinations for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60-fluorophore panel .fcs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5486400" y="1371600"/>
            <a:ext cx="5938200" cy="45180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3" name="Rectangle 51"/>
          <p:cNvSpPr/>
          <p:nvPr/>
        </p:nvSpPr>
        <p:spPr>
          <a:xfrm>
            <a:off x="5490000" y="2406600"/>
            <a:ext cx="6166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Rectangle 52"/>
          <p:cNvSpPr/>
          <p:nvPr/>
        </p:nvSpPr>
        <p:spPr>
          <a:xfrm>
            <a:off x="5490000" y="2730600"/>
            <a:ext cx="6166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11"/>
          <p:cNvSpPr/>
          <p:nvPr/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" descr=""/>
          <p:cNvPicPr/>
          <p:nvPr/>
        </p:nvPicPr>
        <p:blipFill>
          <a:blip r:embed="rId1"/>
          <a:stretch/>
        </p:blipFill>
        <p:spPr>
          <a:xfrm>
            <a:off x="457200" y="1371600"/>
            <a:ext cx="4873320" cy="265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8" name=""/>
          <p:cNvSpPr/>
          <p:nvPr/>
        </p:nvSpPr>
        <p:spPr>
          <a:xfrm>
            <a:off x="5490000" y="3578760"/>
            <a:ext cx="5934600" cy="14342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9" name=""/>
          <p:cNvSpPr/>
          <p:nvPr/>
        </p:nvSpPr>
        <p:spPr>
          <a:xfrm>
            <a:off x="5490000" y="2056680"/>
            <a:ext cx="5934600" cy="11664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1" name="Picture 3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Rectangle 57"/>
          <p:cNvSpPr/>
          <p:nvPr/>
        </p:nvSpPr>
        <p:spPr>
          <a:xfrm>
            <a:off x="5486400" y="1371600"/>
            <a:ext cx="61704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58"/>
          <p:cNvSpPr/>
          <p:nvPr/>
        </p:nvSpPr>
        <p:spPr>
          <a:xfrm>
            <a:off x="5490000" y="2046600"/>
            <a:ext cx="6166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Rectangle 59"/>
          <p:cNvSpPr/>
          <p:nvPr/>
        </p:nvSpPr>
        <p:spPr>
          <a:xfrm>
            <a:off x="5490000" y="3578760"/>
            <a:ext cx="59382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 we need ~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50 immortal researchers working continuously since the Big Bang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just to check all group combinations for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60-fluorophore panel .fcs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/>
          <p:nvPr/>
        </p:nvSpPr>
        <p:spPr>
          <a:xfrm>
            <a:off x="5486400" y="1371600"/>
            <a:ext cx="5938200" cy="45180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6" name="Rectangle 60"/>
          <p:cNvSpPr/>
          <p:nvPr/>
        </p:nvSpPr>
        <p:spPr>
          <a:xfrm>
            <a:off x="5490000" y="2406600"/>
            <a:ext cx="6166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61"/>
          <p:cNvSpPr/>
          <p:nvPr/>
        </p:nvSpPr>
        <p:spPr>
          <a:xfrm>
            <a:off x="5490000" y="2730600"/>
            <a:ext cx="6166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16"/>
          <p:cNvSpPr/>
          <p:nvPr/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9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"/>
          <p:cNvSpPr/>
          <p:nvPr/>
        </p:nvSpPr>
        <p:spPr>
          <a:xfrm>
            <a:off x="6629400" y="5215320"/>
            <a:ext cx="388332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file down, 99 more to go!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"/>
          <p:cNvGrpSpPr/>
          <p:nvPr/>
        </p:nvGrpSpPr>
        <p:grpSpPr>
          <a:xfrm>
            <a:off x="6858000" y="1371600"/>
            <a:ext cx="5024880" cy="4110480"/>
            <a:chOff x="6858000" y="1371600"/>
            <a:chExt cx="5024880" cy="4110480"/>
          </a:xfrm>
        </p:grpSpPr>
        <p:pic>
          <p:nvPicPr>
            <p:cNvPr id="262" name="" descr=""/>
            <p:cNvPicPr/>
            <p:nvPr/>
          </p:nvPicPr>
          <p:blipFill>
            <a:blip r:embed="rId1"/>
            <a:srcRect l="0" t="0" r="75396" b="50082"/>
            <a:stretch/>
          </p:blipFill>
          <p:spPr>
            <a:xfrm>
              <a:off x="7073280" y="1762920"/>
              <a:ext cx="4363920" cy="37191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3" name=""/>
            <p:cNvSpPr/>
            <p:nvPr/>
          </p:nvSpPr>
          <p:spPr>
            <a:xfrm>
              <a:off x="6858000" y="2743200"/>
              <a:ext cx="568440" cy="15631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64" name=""/>
            <p:cNvSpPr/>
            <p:nvPr/>
          </p:nvSpPr>
          <p:spPr>
            <a:xfrm>
              <a:off x="7239600" y="1371600"/>
              <a:ext cx="568800" cy="9752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65" name=""/>
            <p:cNvSpPr/>
            <p:nvPr/>
          </p:nvSpPr>
          <p:spPr>
            <a:xfrm>
              <a:off x="11314440" y="1567440"/>
              <a:ext cx="568440" cy="9752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266" name="Picture 73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" name=""/>
          <p:cNvSpPr/>
          <p:nvPr/>
        </p:nvSpPr>
        <p:spPr>
          <a:xfrm>
            <a:off x="685800" y="1135800"/>
            <a:ext cx="5935680" cy="143532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8" name="Rectangle 69"/>
          <p:cNvSpPr/>
          <p:nvPr/>
        </p:nvSpPr>
        <p:spPr>
          <a:xfrm>
            <a:off x="685800" y="1143000"/>
            <a:ext cx="59392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Consequently, if the goal is to characterize all cell populations present, some form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(algorithm) or semi-supervised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analytical approaches will be needed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-18360" y="48600"/>
            <a:ext cx="12206160" cy="108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Alternative: Unsupervised Analysis (Algorithms)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Rectangle 70"/>
          <p:cNvSpPr/>
          <p:nvPr/>
        </p:nvSpPr>
        <p:spPr>
          <a:xfrm>
            <a:off x="685800" y="1143000"/>
            <a:ext cx="59392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Consequently, if the goal is to characterize all cell populations present, some form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(algorithm) or semi-supervised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analytical approaches will be needed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Rectangle 71"/>
          <p:cNvSpPr/>
          <p:nvPr/>
        </p:nvSpPr>
        <p:spPr>
          <a:xfrm>
            <a:off x="685800" y="2871000"/>
            <a:ext cx="5939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Clustering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FlowSOM, Phenograph, Xshift,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ectangle 72"/>
          <p:cNvSpPr/>
          <p:nvPr/>
        </p:nvSpPr>
        <p:spPr>
          <a:xfrm>
            <a:off x="685800" y="3501000"/>
            <a:ext cx="5939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Dimensionality visualization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opt-SNE, UMAP, PaCMAP, Phate,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685800" y="4525200"/>
            <a:ext cx="5939280" cy="910080"/>
          </a:xfrm>
          <a:prstGeom prst="rect">
            <a:avLst/>
          </a:prstGeom>
          <a:solidFill>
            <a:srgbClr val="3faf4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4" name="Rectangle 73"/>
          <p:cNvSpPr/>
          <p:nvPr/>
        </p:nvSpPr>
        <p:spPr>
          <a:xfrm>
            <a:off x="685800" y="4644000"/>
            <a:ext cx="5939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Gating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openCyto, flowMagic, ElasticGate,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685800" y="2816640"/>
            <a:ext cx="5939280" cy="153504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8" name="Picture 2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0760" cy="639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9" name="Picture 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0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2" name="Picture 35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0760" cy="639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3" name="Picture 3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"/>
          <p:cNvSpPr/>
          <p:nvPr/>
        </p:nvSpPr>
        <p:spPr>
          <a:xfrm flipH="1" flipV="1" rot="16074000">
            <a:off x="1855800" y="892800"/>
            <a:ext cx="451800" cy="49464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860d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5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7" name="Picture 37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0760" cy="639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8" name="Picture 3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"/>
          <p:cNvSpPr/>
          <p:nvPr/>
        </p:nvSpPr>
        <p:spPr>
          <a:xfrm flipH="1" flipV="1" rot="16074000">
            <a:off x="9399600" y="892800"/>
            <a:ext cx="451800" cy="49464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860d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0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2" name="Picture 39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0760" cy="639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3" name="Picture 40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"/>
          <p:cNvSpPr/>
          <p:nvPr/>
        </p:nvSpPr>
        <p:spPr>
          <a:xfrm>
            <a:off x="3321360" y="5257800"/>
            <a:ext cx="4908600" cy="360"/>
          </a:xfrm>
          <a:prstGeom prst="line">
            <a:avLst/>
          </a:prstGeom>
          <a:ln w="73080">
            <a:solidFill>
              <a:srgbClr val="069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26360" rIns="126360" tIns="-81360" bIns="-81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5" name=""/>
          <p:cNvSpPr/>
          <p:nvPr/>
        </p:nvSpPr>
        <p:spPr>
          <a:xfrm flipH="1">
            <a:off x="3321360" y="5486400"/>
            <a:ext cx="4908600" cy="360"/>
          </a:xfrm>
          <a:prstGeom prst="line">
            <a:avLst/>
          </a:prstGeom>
          <a:ln w="73080">
            <a:solidFill>
              <a:srgbClr val="069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26360" rIns="126360" tIns="-81360" bIns="-81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6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/>
          <p:nvPr/>
        </p:nvSpPr>
        <p:spPr>
          <a:xfrm>
            <a:off x="5486400" y="1155600"/>
            <a:ext cx="5939280" cy="136728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8" name=""/>
          <p:cNvSpPr/>
          <p:nvPr/>
        </p:nvSpPr>
        <p:spPr>
          <a:xfrm>
            <a:off x="5486400" y="2669040"/>
            <a:ext cx="5935680" cy="98892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9" name=""/>
          <p:cNvSpPr/>
          <p:nvPr/>
        </p:nvSpPr>
        <p:spPr>
          <a:xfrm>
            <a:off x="5486400" y="3810600"/>
            <a:ext cx="5935680" cy="139608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1" name="Picture 7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2" name="Rectangle 74"/>
          <p:cNvSpPr/>
          <p:nvPr/>
        </p:nvSpPr>
        <p:spPr>
          <a:xfrm>
            <a:off x="5486400" y="1143000"/>
            <a:ext cx="61714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Many of these software tools were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originally implemented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as R or Python packages, for use in analysis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mass cytometry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or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single-cell RNA-seq datasets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ectangle 75"/>
          <p:cNvSpPr/>
          <p:nvPr/>
        </p:nvSpPr>
        <p:spPr>
          <a:xfrm>
            <a:off x="5486400" y="2669040"/>
            <a:ext cx="5939280" cy="10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Mass cytometry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similar number of markers, typically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fewer events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no unmixing variation due to autofluorescence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6"/>
          <p:cNvSpPr/>
          <p:nvPr/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algorithmic tools struggle with number of events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Rectangle 76"/>
          <p:cNvSpPr/>
          <p:nvPr/>
        </p:nvSpPr>
        <p:spPr>
          <a:xfrm>
            <a:off x="5486400" y="3748680"/>
            <a:ext cx="59392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Single-cell RNA-seq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substantially more markers, typically way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fewer events.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No equivalent “negative” gate events for not expressed transcripts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ectangle 77"/>
          <p:cNvSpPr/>
          <p:nvPr/>
        </p:nvSpPr>
        <p:spPr>
          <a:xfrm>
            <a:off x="5486400" y="5332680"/>
            <a:ext cx="5939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Down-sampling becomes often necessary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5486400" y="5332680"/>
            <a:ext cx="5939280" cy="60660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8" name="" descr=""/>
          <p:cNvPicPr/>
          <p:nvPr/>
        </p:nvPicPr>
        <p:blipFill>
          <a:blip r:embed="rId2"/>
          <a:stretch/>
        </p:blipFill>
        <p:spPr>
          <a:xfrm>
            <a:off x="381240" y="2057400"/>
            <a:ext cx="4872240" cy="2657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9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" descr=""/>
          <p:cNvPicPr/>
          <p:nvPr/>
        </p:nvPicPr>
        <p:blipFill>
          <a:blip r:embed="rId1"/>
          <a:stretch/>
        </p:blipFill>
        <p:spPr>
          <a:xfrm>
            <a:off x="5768640" y="1863000"/>
            <a:ext cx="6114240" cy="296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"/>
          <p:cNvSpPr/>
          <p:nvPr/>
        </p:nvSpPr>
        <p:spPr>
          <a:xfrm>
            <a:off x="230040" y="1229040"/>
            <a:ext cx="5480640" cy="1365840"/>
          </a:xfrm>
          <a:prstGeom prst="rect">
            <a:avLst/>
          </a:prstGeom>
          <a:solidFill>
            <a:srgbClr val="f7d1d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12" name="Picture 170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"/>
          <p:cNvSpPr/>
          <p:nvPr/>
        </p:nvSpPr>
        <p:spPr>
          <a:xfrm>
            <a:off x="101880" y="89280"/>
            <a:ext cx="12009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algorithmic tools struggle with unmixing errors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Rectangle 78"/>
          <p:cNvSpPr/>
          <p:nvPr/>
        </p:nvSpPr>
        <p:spPr>
          <a:xfrm>
            <a:off x="228600" y="1192680"/>
            <a:ext cx="54856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software packages heavily rely on having a consistent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median fluorescent intensity (MFI)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to cluster cells based on positive or negative marker expression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>
            <a:off x="228600" y="4343400"/>
            <a:ext cx="5480640" cy="1365840"/>
          </a:xfrm>
          <a:prstGeom prst="rect">
            <a:avLst/>
          </a:prstGeom>
          <a:solidFill>
            <a:srgbClr val="77bc6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errors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can seriously shift the MFI ranges for “negative” and “positive” cells for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individual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acquired specimens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228600" y="2780640"/>
            <a:ext cx="5480640" cy="1365840"/>
          </a:xfrm>
          <a:prstGeom prst="rect">
            <a:avLst/>
          </a:prstGeom>
          <a:solidFill>
            <a:srgbClr val="ff80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Existing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batch correction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/ normalization / scaling tools target instrumental or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experimental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level variation for correction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Picture 104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"/>
          <p:cNvSpPr/>
          <p:nvPr/>
        </p:nvSpPr>
        <p:spPr>
          <a:xfrm>
            <a:off x="101880" y="89280"/>
            <a:ext cx="12009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 “We discovered a novel dendritic cell cluster”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0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1" name="" descr=""/>
          <p:cNvPicPr/>
          <p:nvPr/>
        </p:nvPicPr>
        <p:blipFill>
          <a:blip r:embed="rId3"/>
          <a:stretch/>
        </p:blipFill>
        <p:spPr>
          <a:xfrm>
            <a:off x="2769120" y="1062000"/>
            <a:ext cx="6689520" cy="4649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2" name="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3375000" y="4572360"/>
            <a:ext cx="1138680" cy="1138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"/>
          <p:cNvSpPr/>
          <p:nvPr/>
        </p:nvSpPr>
        <p:spPr>
          <a:xfrm>
            <a:off x="7929000" y="2900880"/>
            <a:ext cx="4114080" cy="1313640"/>
          </a:xfrm>
          <a:prstGeom prst="rect">
            <a:avLst/>
          </a:prstGeom>
          <a:solidFill>
            <a:srgbClr val="6b5e9b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24" name="Picture 171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"/>
          <p:cNvSpPr/>
          <p:nvPr/>
        </p:nvSpPr>
        <p:spPr>
          <a:xfrm>
            <a:off x="101880" y="89280"/>
            <a:ext cx="12009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Full biological discovery potential often out of reach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Rectangle 79"/>
          <p:cNvSpPr/>
          <p:nvPr/>
        </p:nvSpPr>
        <p:spPr>
          <a:xfrm>
            <a:off x="7929000" y="2900880"/>
            <a:ext cx="41140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For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spectral flow cytometry datasets, only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handful of cell populations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end up being analyzed by any method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7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8" name="" descr=""/>
          <p:cNvPicPr/>
          <p:nvPr/>
        </p:nvPicPr>
        <p:blipFill>
          <a:blip r:embed="rId3"/>
          <a:srcRect l="0" t="0" r="0" b="9428"/>
          <a:stretch/>
        </p:blipFill>
        <p:spPr>
          <a:xfrm>
            <a:off x="228600" y="1371600"/>
            <a:ext cx="7543080" cy="388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Picture 9" descr=""/>
          <p:cNvPicPr/>
          <p:nvPr/>
        </p:nvPicPr>
        <p:blipFill>
          <a:blip r:embed="rId1"/>
          <a:stretch/>
        </p:blipFill>
        <p:spPr>
          <a:xfrm>
            <a:off x="1908720" y="698760"/>
            <a:ext cx="8371080" cy="585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My PhD’s focus: HIV-exposed Uninfected Infants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1" name="Picture 27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2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3" name="Picture 97" descr=""/>
          <p:cNvPicPr/>
          <p:nvPr/>
        </p:nvPicPr>
        <p:blipFill>
          <a:blip r:embed="rId1"/>
          <a:stretch/>
        </p:blipFill>
        <p:spPr>
          <a:xfrm>
            <a:off x="2773080" y="228600"/>
            <a:ext cx="9140760" cy="639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Malawian Cohort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5" name="Picture 98" descr=""/>
          <p:cNvPicPr/>
          <p:nvPr/>
        </p:nvPicPr>
        <p:blipFill>
          <a:blip r:embed="rId2"/>
          <a:stretch/>
        </p:blipFill>
        <p:spPr>
          <a:xfrm>
            <a:off x="459000" y="1765440"/>
            <a:ext cx="3066840" cy="356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6" name="Picture 100" descr=""/>
          <p:cNvPicPr/>
          <p:nvPr/>
        </p:nvPicPr>
        <p:blipFill>
          <a:blip r:embed="rId3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7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32-Fluorophore Spectral Flow Cytometry Panel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Picture 10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40" name=""/>
          <p:cNvGrpSpPr/>
          <p:nvPr/>
        </p:nvGrpSpPr>
        <p:grpSpPr>
          <a:xfrm>
            <a:off x="914400" y="757800"/>
            <a:ext cx="2283120" cy="5640120"/>
            <a:chOff x="914400" y="757800"/>
            <a:chExt cx="2283120" cy="5640120"/>
          </a:xfrm>
        </p:grpSpPr>
        <p:pic>
          <p:nvPicPr>
            <p:cNvPr id="341" name="Picture 3" descr=""/>
            <p:cNvPicPr/>
            <p:nvPr/>
          </p:nvPicPr>
          <p:blipFill>
            <a:blip r:embed="rId2"/>
            <a:srcRect l="0" t="0" r="0" b="29919"/>
            <a:stretch/>
          </p:blipFill>
          <p:spPr>
            <a:xfrm>
              <a:off x="914400" y="757800"/>
              <a:ext cx="2283120" cy="2571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42" name="Picture 7" descr=""/>
            <p:cNvPicPr/>
            <p:nvPr/>
          </p:nvPicPr>
          <p:blipFill>
            <a:blip r:embed="rId3"/>
            <a:stretch/>
          </p:blipFill>
          <p:spPr>
            <a:xfrm>
              <a:off x="914400" y="3324960"/>
              <a:ext cx="2276280" cy="307296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343" name="Picture 103" descr=""/>
          <p:cNvPicPr/>
          <p:nvPr/>
        </p:nvPicPr>
        <p:blipFill>
          <a:blip r:embed="rId4"/>
          <a:srcRect l="0" t="6125" r="0" b="0"/>
          <a:stretch/>
        </p:blipFill>
        <p:spPr>
          <a:xfrm>
            <a:off x="2743200" y="1022400"/>
            <a:ext cx="8226720" cy="540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4" name="" descr=""/>
          <p:cNvPicPr/>
          <p:nvPr/>
        </p:nvPicPr>
        <p:blipFill>
          <a:blip r:embed="rId5"/>
          <a:stretch/>
        </p:blipFill>
        <p:spPr>
          <a:xfrm>
            <a:off x="231120" y="6389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"/>
          <p:cNvSpPr/>
          <p:nvPr/>
        </p:nvSpPr>
        <p:spPr>
          <a:xfrm>
            <a:off x="6118920" y="3496680"/>
            <a:ext cx="5102640" cy="143424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46" name="Picture 8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657360" y="104400"/>
            <a:ext cx="10897200" cy="60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Personal Goal: No cell left behind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8" name="Picture 82" descr=""/>
          <p:cNvPicPr/>
          <p:nvPr/>
        </p:nvPicPr>
        <p:blipFill>
          <a:blip r:embed="rId2"/>
          <a:stretch/>
        </p:blipFill>
        <p:spPr>
          <a:xfrm>
            <a:off x="1311840" y="792360"/>
            <a:ext cx="4107600" cy="548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Box 15"/>
          <p:cNvSpPr/>
          <p:nvPr/>
        </p:nvSpPr>
        <p:spPr>
          <a:xfrm>
            <a:off x="6095880" y="1191240"/>
            <a:ext cx="504360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2400" strike="noStrike" u="sng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My over-caffeinated at 3 AM thoughts: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What makes spectral flow cytometry data amazing is both the depth and the breadth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Box 28"/>
          <p:cNvSpPr/>
          <p:nvPr/>
        </p:nvSpPr>
        <p:spPr>
          <a:xfrm>
            <a:off x="6118920" y="3223800"/>
            <a:ext cx="50436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How to fully profile the entirety of the acquired dataset, not just a single cell population of interest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"/>
          <p:cNvSpPr/>
          <p:nvPr/>
        </p:nvSpPr>
        <p:spPr>
          <a:xfrm>
            <a:off x="6095880" y="1847880"/>
            <a:ext cx="5102640" cy="143424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52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"/>
          <p:cNvSpPr/>
          <p:nvPr/>
        </p:nvSpPr>
        <p:spPr>
          <a:xfrm>
            <a:off x="4343400" y="3429000"/>
            <a:ext cx="3425040" cy="68184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54" name="Picture 79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5" name=""/>
          <p:cNvSpPr/>
          <p:nvPr/>
        </p:nvSpPr>
        <p:spPr>
          <a:xfrm>
            <a:off x="0" y="41040"/>
            <a:ext cx="12111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Building open-source tool-sets to address SFC’s quirks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6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7" name="" descr=""/>
          <p:cNvPicPr/>
          <p:nvPr/>
        </p:nvPicPr>
        <p:blipFill>
          <a:blip r:embed="rId3"/>
          <a:stretch/>
        </p:blipFill>
        <p:spPr>
          <a:xfrm>
            <a:off x="1371600" y="1371240"/>
            <a:ext cx="2105280" cy="1822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8" name="" descr=""/>
          <p:cNvPicPr/>
          <p:nvPr/>
        </p:nvPicPr>
        <p:blipFill>
          <a:blip r:embed="rId4"/>
          <a:stretch/>
        </p:blipFill>
        <p:spPr>
          <a:xfrm>
            <a:off x="5029200" y="1271880"/>
            <a:ext cx="2275200" cy="196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"/>
          <p:cNvSpPr/>
          <p:nvPr/>
        </p:nvSpPr>
        <p:spPr>
          <a:xfrm>
            <a:off x="687600" y="3476520"/>
            <a:ext cx="3423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Spectral Signature Characterization and Isolation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8208000" y="3428640"/>
            <a:ext cx="3423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Automated Instrument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Quality-Control Dashboards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4343400" y="3475800"/>
            <a:ext cx="3423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Incorporation of manually-annotated gating information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2" name="" descr=""/>
          <p:cNvPicPr/>
          <p:nvPr/>
        </p:nvPicPr>
        <p:blipFill>
          <a:blip r:embed="rId5"/>
          <a:stretch/>
        </p:blipFill>
        <p:spPr>
          <a:xfrm>
            <a:off x="9027720" y="1143000"/>
            <a:ext cx="1918080" cy="221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3" name=""/>
          <p:cNvSpPr/>
          <p:nvPr/>
        </p:nvSpPr>
        <p:spPr>
          <a:xfrm>
            <a:off x="8206200" y="3428640"/>
            <a:ext cx="3425040" cy="68184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4" name=""/>
          <p:cNvSpPr/>
          <p:nvPr/>
        </p:nvSpPr>
        <p:spPr>
          <a:xfrm>
            <a:off x="685800" y="3429000"/>
            <a:ext cx="3425040" cy="681840"/>
          </a:xfrm>
          <a:prstGeom prst="rect">
            <a:avLst/>
          </a:prstGeom>
          <a:solidFill>
            <a:srgbClr val="a1467e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65" name="" descr=""/>
          <p:cNvPicPr/>
          <p:nvPr/>
        </p:nvPicPr>
        <p:blipFill>
          <a:blip r:embed="rId6"/>
          <a:stretch/>
        </p:blipFill>
        <p:spPr>
          <a:xfrm>
            <a:off x="6172200" y="4710600"/>
            <a:ext cx="2186280" cy="14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"/>
          <p:cNvSpPr/>
          <p:nvPr/>
        </p:nvSpPr>
        <p:spPr>
          <a:xfrm>
            <a:off x="6172200" y="5943600"/>
            <a:ext cx="2510640" cy="681840"/>
          </a:xfrm>
          <a:prstGeom prst="rect">
            <a:avLst/>
          </a:prstGeom>
          <a:solidFill>
            <a:srgbClr val="ff7b59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67" name="Picture 80" descr=""/>
          <p:cNvPicPr/>
          <p:nvPr/>
        </p:nvPicPr>
        <p:blipFill>
          <a:blip r:embed="rId7"/>
          <a:stretch/>
        </p:blipFill>
        <p:spPr>
          <a:xfrm>
            <a:off x="3429000" y="4898160"/>
            <a:ext cx="2282040" cy="172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8" name=""/>
          <p:cNvSpPr/>
          <p:nvPr/>
        </p:nvSpPr>
        <p:spPr>
          <a:xfrm>
            <a:off x="6930000" y="6100200"/>
            <a:ext cx="9594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Rust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Picture 172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4160" cy="228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0" name=""/>
          <p:cNvSpPr/>
          <p:nvPr/>
        </p:nvSpPr>
        <p:spPr>
          <a:xfrm>
            <a:off x="5486400" y="1828800"/>
            <a:ext cx="680040" cy="68004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71" name="Picture 78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"/>
          <p:cNvSpPr/>
          <p:nvPr/>
        </p:nvSpPr>
        <p:spPr>
          <a:xfrm>
            <a:off x="0" y="41040"/>
            <a:ext cx="12111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"/>
          <p:cNvSpPr/>
          <p:nvPr/>
        </p:nvSpPr>
        <p:spPr>
          <a:xfrm>
            <a:off x="6402240" y="1457640"/>
            <a:ext cx="5023440" cy="132696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4" name="Rectangle 83"/>
          <p:cNvSpPr/>
          <p:nvPr/>
        </p:nvSpPr>
        <p:spPr>
          <a:xfrm>
            <a:off x="6402240" y="1418400"/>
            <a:ext cx="5023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>
            <a:off x="6400800" y="3214440"/>
            <a:ext cx="5024880" cy="150984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6" name="Rectangle 84"/>
          <p:cNvSpPr/>
          <p:nvPr/>
        </p:nvSpPr>
        <p:spPr>
          <a:xfrm>
            <a:off x="6400800" y="3201480"/>
            <a:ext cx="5023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"/>
          <p:cNvSpPr/>
          <p:nvPr/>
        </p:nvSpPr>
        <p:spPr>
          <a:xfrm>
            <a:off x="5486400" y="3585600"/>
            <a:ext cx="680040" cy="68004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78" name="" descr=""/>
          <p:cNvPicPr/>
          <p:nvPr/>
        </p:nvPicPr>
        <p:blipFill>
          <a:blip r:embed="rId3"/>
          <a:stretch/>
        </p:blipFill>
        <p:spPr>
          <a:xfrm>
            <a:off x="651960" y="3357000"/>
            <a:ext cx="2772720" cy="273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9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0" name="Picture 19" descr="A screenshot of a video game&#10;&#10;AI-generated content may be incorrect."/>
          <p:cNvPicPr/>
          <p:nvPr/>
        </p:nvPicPr>
        <p:blipFill>
          <a:blip r:embed="rId1"/>
          <a:srcRect l="0" t="0" r="0" b="13847"/>
          <a:stretch/>
        </p:blipFill>
        <p:spPr>
          <a:xfrm>
            <a:off x="2304360" y="1143000"/>
            <a:ext cx="7750080" cy="456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1" name="" descr=""/>
          <p:cNvPicPr/>
          <p:nvPr/>
        </p:nvPicPr>
        <p:blipFill>
          <a:blip r:embed="rId2"/>
          <a:stretch/>
        </p:blipFill>
        <p:spPr>
          <a:xfrm>
            <a:off x="45864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"/>
          <p:cNvSpPr/>
          <p:nvPr/>
        </p:nvSpPr>
        <p:spPr>
          <a:xfrm>
            <a:off x="1143000" y="4141440"/>
            <a:ext cx="1182960" cy="303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1143000" y="1525320"/>
            <a:ext cx="1182960" cy="5166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APC-Vio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2034720" y="4631400"/>
            <a:ext cx="594360" cy="36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5" name=""/>
          <p:cNvSpPr/>
          <p:nvPr/>
        </p:nvSpPr>
        <p:spPr>
          <a:xfrm>
            <a:off x="2034720" y="2014920"/>
            <a:ext cx="59436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86" name="Picture 22" descr=""/>
          <p:cNvPicPr/>
          <p:nvPr/>
        </p:nvPicPr>
        <p:blipFill>
          <a:blip r:embed="rId3"/>
          <a:stretch/>
        </p:blipFill>
        <p:spPr>
          <a:xfrm>
            <a:off x="1043568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7" name="PlaceHolder 4"/>
          <p:cNvSpPr/>
          <p:nvPr/>
        </p:nvSpPr>
        <p:spPr>
          <a:xfrm>
            <a:off x="231840" y="47880"/>
            <a:ext cx="12108600" cy="6343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Unmixing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8" name="Picture 24" descr="A screenshot of a video game&#10;&#10;AI-generated content may be incorrect."/>
          <p:cNvPicPr/>
          <p:nvPr/>
        </p:nvPicPr>
        <p:blipFill>
          <a:blip r:embed="rId1"/>
          <a:srcRect l="0" t="0" r="0" b="12458"/>
          <a:stretch/>
        </p:blipFill>
        <p:spPr>
          <a:xfrm>
            <a:off x="2996640" y="1143000"/>
            <a:ext cx="7286400" cy="479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9" name="" descr=""/>
          <p:cNvPicPr/>
          <p:nvPr/>
        </p:nvPicPr>
        <p:blipFill>
          <a:blip r:embed="rId2"/>
          <a:stretch/>
        </p:blipFill>
        <p:spPr>
          <a:xfrm>
            <a:off x="45864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"/>
          <p:cNvSpPr/>
          <p:nvPr/>
        </p:nvSpPr>
        <p:spPr>
          <a:xfrm>
            <a:off x="1600200" y="4239000"/>
            <a:ext cx="1111320" cy="303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"/>
          <p:cNvSpPr/>
          <p:nvPr/>
        </p:nvSpPr>
        <p:spPr>
          <a:xfrm>
            <a:off x="1600200" y="1537560"/>
            <a:ext cx="1111320" cy="5166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APC-Vio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2437920" y="4744800"/>
            <a:ext cx="55872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3" name=""/>
          <p:cNvSpPr/>
          <p:nvPr/>
        </p:nvSpPr>
        <p:spPr>
          <a:xfrm>
            <a:off x="2437920" y="2043360"/>
            <a:ext cx="55872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94" name="Picture 25" descr=""/>
          <p:cNvPicPr/>
          <p:nvPr/>
        </p:nvPicPr>
        <p:blipFill>
          <a:blip r:embed="rId3"/>
          <a:stretch/>
        </p:blipFill>
        <p:spPr>
          <a:xfrm>
            <a:off x="1043568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5" name="PlaceHolder 5"/>
          <p:cNvSpPr/>
          <p:nvPr/>
        </p:nvSpPr>
        <p:spPr>
          <a:xfrm>
            <a:off x="0" y="228600"/>
            <a:ext cx="12108600" cy="6343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Mismatched references lead to errors in attribution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"/>
          <p:cNvSpPr/>
          <p:nvPr/>
        </p:nvSpPr>
        <p:spPr>
          <a:xfrm>
            <a:off x="7317000" y="1144800"/>
            <a:ext cx="4566240" cy="1365840"/>
          </a:xfrm>
          <a:prstGeom prst="rect">
            <a:avLst/>
          </a:prstGeom>
          <a:solidFill>
            <a:srgbClr val="f7d1d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97" name="Picture 77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"/>
          <p:cNvSpPr/>
          <p:nvPr/>
        </p:nvSpPr>
        <p:spPr>
          <a:xfrm>
            <a:off x="101880" y="89280"/>
            <a:ext cx="12009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 How to identify problematic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9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"/>
          <p:cNvSpPr/>
          <p:nvPr/>
        </p:nvSpPr>
        <p:spPr>
          <a:xfrm>
            <a:off x="7399800" y="1143000"/>
            <a:ext cx="45680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Despite the critical importance unmixing controls play, few tools permit us to determine quality of the individual control before unmixing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7315200" y="2514600"/>
            <a:ext cx="45680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Existing quality control algorithms (PeacoQC, FlowAI, etc.) primarily focus on detecting laser and fluidic issues in already acquired .fcs files.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7387200" y="3922200"/>
            <a:ext cx="45680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errors can be introduced by tandem degradational, additional autofluorescences, undiagnosed instrumental issues, etc.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"/>
          <p:cNvSpPr/>
          <p:nvPr/>
        </p:nvSpPr>
        <p:spPr>
          <a:xfrm>
            <a:off x="7315200" y="2552400"/>
            <a:ext cx="4566240" cy="1365840"/>
          </a:xfrm>
          <a:prstGeom prst="rect">
            <a:avLst/>
          </a:prstGeom>
          <a:solidFill>
            <a:srgbClr val="3faf4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4" name=""/>
          <p:cNvSpPr/>
          <p:nvPr/>
        </p:nvSpPr>
        <p:spPr>
          <a:xfrm>
            <a:off x="7281000" y="3994200"/>
            <a:ext cx="4566240" cy="136584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05" name="" descr=""/>
          <p:cNvPicPr/>
          <p:nvPr/>
        </p:nvPicPr>
        <p:blipFill>
          <a:blip r:embed="rId3"/>
          <a:stretch/>
        </p:blipFill>
        <p:spPr>
          <a:xfrm>
            <a:off x="228600" y="1600200"/>
            <a:ext cx="6587280" cy="3199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6" name="Picture 83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3240" cy="593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8600" cy="634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Picture 28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1480" cy="248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Box 7"/>
          <p:cNvSpPr/>
          <p:nvPr/>
        </p:nvSpPr>
        <p:spPr>
          <a:xfrm>
            <a:off x="1491480" y="5803560"/>
            <a:ext cx="1974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0" name="Graphic 3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3160" cy="150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1" name="Picture 31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2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"/>
          <p:cNvSpPr/>
          <p:nvPr/>
        </p:nvSpPr>
        <p:spPr>
          <a:xfrm>
            <a:off x="6028200" y="914400"/>
            <a:ext cx="4112280" cy="5483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Picture 90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3240" cy="593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8600" cy="634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6" name="Picture 44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1480" cy="248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7" name="TextBox 11"/>
          <p:cNvSpPr/>
          <p:nvPr/>
        </p:nvSpPr>
        <p:spPr>
          <a:xfrm>
            <a:off x="1491480" y="5803560"/>
            <a:ext cx="1974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8" name="Graphic 4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3160" cy="150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9" name="Picture 7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0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1" name=""/>
          <p:cNvSpPr/>
          <p:nvPr/>
        </p:nvSpPr>
        <p:spPr>
          <a:xfrm>
            <a:off x="7979400" y="1143000"/>
            <a:ext cx="2075040" cy="5255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2" name="Picture 99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3240" cy="593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8600" cy="634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4" name="Picture 75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1480" cy="248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5" name="TextBox 12"/>
          <p:cNvSpPr/>
          <p:nvPr/>
        </p:nvSpPr>
        <p:spPr>
          <a:xfrm>
            <a:off x="1491480" y="5803560"/>
            <a:ext cx="1974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6" name="Graphic 10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3160" cy="150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7" name="Picture 8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8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0" y="-6192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tools for screening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0" name="Picture 6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1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"/>
          <p:cNvSpPr/>
          <p:nvPr/>
        </p:nvSpPr>
        <p:spPr>
          <a:xfrm>
            <a:off x="6487920" y="2309040"/>
            <a:ext cx="4541760" cy="201456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33" name="" descr=""/>
          <p:cNvPicPr/>
          <p:nvPr/>
        </p:nvPicPr>
        <p:blipFill>
          <a:blip r:embed="rId3"/>
          <a:srcRect l="0" t="0" r="15005" b="0"/>
          <a:stretch/>
        </p:blipFill>
        <p:spPr>
          <a:xfrm>
            <a:off x="7459200" y="2365560"/>
            <a:ext cx="2772720" cy="154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4" name=""/>
          <p:cNvSpPr/>
          <p:nvPr/>
        </p:nvSpPr>
        <p:spPr>
          <a:xfrm>
            <a:off x="6993360" y="3948840"/>
            <a:ext cx="353124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Autofluorescence Isolation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928440" y="3677040"/>
            <a:ext cx="5047200" cy="2014560"/>
          </a:xfrm>
          <a:prstGeom prst="rect">
            <a:avLst/>
          </a:prstGeom>
          <a:solidFill>
            <a:srgbClr val="729fcf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36" name="" descr=""/>
          <p:cNvPicPr/>
          <p:nvPr/>
        </p:nvPicPr>
        <p:blipFill>
          <a:blip r:embed="rId4"/>
          <a:srcRect l="36749" t="50780" r="-263" b="0"/>
          <a:stretch/>
        </p:blipFill>
        <p:spPr>
          <a:xfrm>
            <a:off x="1061640" y="3804120"/>
            <a:ext cx="4794480" cy="146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"/>
          <p:cNvSpPr/>
          <p:nvPr/>
        </p:nvSpPr>
        <p:spPr>
          <a:xfrm>
            <a:off x="1686600" y="5356800"/>
            <a:ext cx="353088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Residual Autofluorescence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>
            <a:off x="914400" y="1143000"/>
            <a:ext cx="5061240" cy="2274120"/>
          </a:xfrm>
          <a:prstGeom prst="rect">
            <a:avLst/>
          </a:prstGeom>
          <a:solidFill>
            <a:srgbClr val="ffd7d7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439" name=""/>
          <p:cNvGrpSpPr/>
          <p:nvPr/>
        </p:nvGrpSpPr>
        <p:grpSpPr>
          <a:xfrm>
            <a:off x="1686600" y="1233360"/>
            <a:ext cx="3943080" cy="1780560"/>
            <a:chOff x="1686600" y="1233360"/>
            <a:chExt cx="3943080" cy="1780560"/>
          </a:xfrm>
        </p:grpSpPr>
        <p:sp>
          <p:nvSpPr>
            <p:cNvPr id="440" name="Arrow: Right 2"/>
            <p:cNvSpPr/>
            <p:nvPr/>
          </p:nvSpPr>
          <p:spPr>
            <a:xfrm rot="10800000">
              <a:off x="4872240" y="1358280"/>
              <a:ext cx="414720" cy="21816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441" name="TextBox 4"/>
            <p:cNvSpPr/>
            <p:nvPr/>
          </p:nvSpPr>
          <p:spPr>
            <a:xfrm>
              <a:off x="4759200" y="1613520"/>
              <a:ext cx="870480" cy="54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APC-Fire 810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442" name="Picture 4" descr="A graph of a number of data&#10;&#10;AI-generated content may be incorrect."/>
            <p:cNvPicPr/>
            <p:nvPr/>
          </p:nvPicPr>
          <p:blipFill>
            <a:blip r:embed="rId5"/>
            <a:stretch/>
          </p:blipFill>
          <p:spPr>
            <a:xfrm>
              <a:off x="1686600" y="1233360"/>
              <a:ext cx="3171600" cy="17805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43" name="TextBox 3"/>
            <p:cNvSpPr/>
            <p:nvPr/>
          </p:nvSpPr>
          <p:spPr>
            <a:xfrm>
              <a:off x="3405960" y="1486440"/>
              <a:ext cx="624600" cy="31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4" name="Arrow: Right 1"/>
            <p:cNvSpPr/>
            <p:nvPr/>
          </p:nvSpPr>
          <p:spPr>
            <a:xfrm>
              <a:off x="4076640" y="1538280"/>
              <a:ext cx="216720" cy="2178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</p:grpSp>
      <p:sp>
        <p:nvSpPr>
          <p:cNvPr id="445" name=""/>
          <p:cNvSpPr/>
          <p:nvPr/>
        </p:nvSpPr>
        <p:spPr>
          <a:xfrm>
            <a:off x="1939320" y="3028680"/>
            <a:ext cx="277236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Tandem Degradation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"/>
          <p:cNvSpPr/>
          <p:nvPr/>
        </p:nvSpPr>
        <p:spPr>
          <a:xfrm>
            <a:off x="516600" y="3854880"/>
            <a:ext cx="6168600" cy="71532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7" name=""/>
          <p:cNvSpPr/>
          <p:nvPr/>
        </p:nvSpPr>
        <p:spPr>
          <a:xfrm>
            <a:off x="509400" y="2660400"/>
            <a:ext cx="6175800" cy="1020600"/>
          </a:xfrm>
          <a:prstGeom prst="rect">
            <a:avLst/>
          </a:prstGeom>
          <a:solidFill>
            <a:srgbClr val="ff6d6d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48" name="" descr=""/>
          <p:cNvPicPr/>
          <p:nvPr/>
        </p:nvPicPr>
        <p:blipFill>
          <a:blip r:embed="rId1"/>
          <a:stretch/>
        </p:blipFill>
        <p:spPr>
          <a:xfrm>
            <a:off x="7110000" y="1483920"/>
            <a:ext cx="4644360" cy="296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"/>
          <p:cNvSpPr/>
          <p:nvPr/>
        </p:nvSpPr>
        <p:spPr>
          <a:xfrm>
            <a:off x="277200" y="961920"/>
            <a:ext cx="558792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0" name=""/>
          <p:cNvSpPr/>
          <p:nvPr/>
        </p:nvSpPr>
        <p:spPr>
          <a:xfrm>
            <a:off x="468000" y="2588400"/>
            <a:ext cx="64332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the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 degrades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noticeable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 in variant signatures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making up substantial proportion of all cells in the unmixing control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>
            <a:off x="480600" y="3813840"/>
            <a:ext cx="639720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screening all acquired unmixing controls from campus users during off-hours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"/>
          <p:cNvSpPr/>
          <p:nvPr/>
        </p:nvSpPr>
        <p:spPr>
          <a:xfrm>
            <a:off x="0" y="47520"/>
            <a:ext cx="12340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degrading fluorophores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3" name="Picture 94" descr=""/>
          <p:cNvPicPr/>
          <p:nvPr/>
        </p:nvPicPr>
        <p:blipFill>
          <a:blip r:embed="rId2"/>
          <a:stretch/>
        </p:blipFill>
        <p:spPr>
          <a:xfrm>
            <a:off x="10436040" y="617256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4" name="" descr=""/>
          <p:cNvPicPr/>
          <p:nvPr/>
        </p:nvPicPr>
        <p:blipFill>
          <a:blip r:embed="rId3"/>
          <a:stretch/>
        </p:blipFill>
        <p:spPr>
          <a:xfrm>
            <a:off x="457920" y="617292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"/>
          <p:cNvSpPr/>
          <p:nvPr/>
        </p:nvSpPr>
        <p:spPr>
          <a:xfrm>
            <a:off x="516600" y="1444320"/>
            <a:ext cx="6167880" cy="1057320"/>
          </a:xfrm>
          <a:prstGeom prst="rect">
            <a:avLst/>
          </a:prstGeom>
          <a:solidFill>
            <a:srgbClr val="00a933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6" name=""/>
          <p:cNvSpPr/>
          <p:nvPr/>
        </p:nvSpPr>
        <p:spPr>
          <a:xfrm>
            <a:off x="473400" y="1408320"/>
            <a:ext cx="61758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Fluorophores in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good shape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predominant normalized signature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within the unmixing control raw .fcs file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"/>
          <p:cNvSpPr/>
          <p:nvPr/>
        </p:nvSpPr>
        <p:spPr>
          <a:xfrm>
            <a:off x="5257800" y="2861640"/>
            <a:ext cx="5939280" cy="985680"/>
          </a:xfrm>
          <a:prstGeom prst="rect">
            <a:avLst/>
          </a:prstGeom>
          <a:solidFill>
            <a:srgbClr val="ff3838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8" name=""/>
          <p:cNvSpPr/>
          <p:nvPr/>
        </p:nvSpPr>
        <p:spPr>
          <a:xfrm>
            <a:off x="5255280" y="4057920"/>
            <a:ext cx="5951880" cy="108936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9" name=""/>
          <p:cNvSpPr/>
          <p:nvPr/>
        </p:nvSpPr>
        <p:spPr>
          <a:xfrm>
            <a:off x="5258520" y="1494720"/>
            <a:ext cx="5939280" cy="113688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60" name="" descr=""/>
          <p:cNvPicPr/>
          <p:nvPr/>
        </p:nvPicPr>
        <p:blipFill>
          <a:blip r:embed="rId1"/>
          <a:stretch/>
        </p:blipFill>
        <p:spPr>
          <a:xfrm>
            <a:off x="2476440" y="3654720"/>
            <a:ext cx="2252880" cy="201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1" name="" descr=""/>
          <p:cNvPicPr/>
          <p:nvPr/>
        </p:nvPicPr>
        <p:blipFill>
          <a:blip r:embed="rId2"/>
          <a:stretch/>
        </p:blipFill>
        <p:spPr>
          <a:xfrm>
            <a:off x="318600" y="3675240"/>
            <a:ext cx="2048400" cy="199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2" name=""/>
          <p:cNvSpPr/>
          <p:nvPr/>
        </p:nvSpPr>
        <p:spPr>
          <a:xfrm>
            <a:off x="5259240" y="1539000"/>
            <a:ext cx="616716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This approach also works to isolate variant autofluorescence signatures from unstained controls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>
            <a:off x="5221800" y="3987360"/>
            <a:ext cx="594936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Return directly as an .fcs file containing just cells with same signature for use as an autofluorescent tag in SpectroFlo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5257800" y="2791080"/>
            <a:ext cx="593928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Unlike other approaches, the isolated cells share normalized signatures, only differing in terms of brightness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>
            <a:off x="0" y="46800"/>
            <a:ext cx="12188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Isolating additional autofluorescence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6" name="Picture 95" descr=""/>
          <p:cNvPicPr/>
          <p:nvPr/>
        </p:nvPicPr>
        <p:blipFill>
          <a:blip r:embed="rId3"/>
          <a:stretch/>
        </p:blipFill>
        <p:spPr>
          <a:xfrm>
            <a:off x="10436040" y="617256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7" name="" descr=""/>
          <p:cNvPicPr/>
          <p:nvPr/>
        </p:nvPicPr>
        <p:blipFill>
          <a:blip r:embed="rId4"/>
          <a:stretch/>
        </p:blipFill>
        <p:spPr>
          <a:xfrm>
            <a:off x="457920" y="617292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8" name="" descr=""/>
          <p:cNvPicPr/>
          <p:nvPr/>
        </p:nvPicPr>
        <p:blipFill>
          <a:blip r:embed="rId5"/>
          <a:stretch/>
        </p:blipFill>
        <p:spPr>
          <a:xfrm>
            <a:off x="409320" y="914400"/>
            <a:ext cx="4249080" cy="2630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"/>
          <p:cNvSpPr/>
          <p:nvPr/>
        </p:nvSpPr>
        <p:spPr>
          <a:xfrm>
            <a:off x="217800" y="2178000"/>
            <a:ext cx="4351680" cy="1727640"/>
          </a:xfrm>
          <a:prstGeom prst="rect">
            <a:avLst/>
          </a:prstGeom>
          <a:solidFill>
            <a:srgbClr val="afd09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0" name=""/>
          <p:cNvSpPr/>
          <p:nvPr/>
        </p:nvSpPr>
        <p:spPr>
          <a:xfrm>
            <a:off x="251280" y="4057920"/>
            <a:ext cx="4318200" cy="165456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1" name=""/>
          <p:cNvSpPr/>
          <p:nvPr/>
        </p:nvSpPr>
        <p:spPr>
          <a:xfrm>
            <a:off x="228600" y="1494720"/>
            <a:ext cx="4314960" cy="56016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2" name=""/>
          <p:cNvSpPr/>
          <p:nvPr/>
        </p:nvSpPr>
        <p:spPr>
          <a:xfrm>
            <a:off x="255240" y="1539000"/>
            <a:ext cx="43142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“As bright or brighter”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217800" y="3987360"/>
            <a:ext cx="435168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and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switching these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dim cell single-color controls to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bead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significantly improved unmixing for our panels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181800" y="2142000"/>
            <a:ext cx="438768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 antigen-fluorophore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combinations acquired as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cell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often have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contribution to their signature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0" y="46800"/>
            <a:ext cx="12188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 in dim cell single-color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6" name="" descr=""/>
          <p:cNvPicPr/>
          <p:nvPr/>
        </p:nvPicPr>
        <p:blipFill>
          <a:blip r:embed="rId1"/>
          <a:stretch/>
        </p:blipFill>
        <p:spPr>
          <a:xfrm>
            <a:off x="457920" y="617292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77" name=""/>
          <p:cNvGrpSpPr/>
          <p:nvPr/>
        </p:nvGrpSpPr>
        <p:grpSpPr>
          <a:xfrm>
            <a:off x="4800600" y="1092600"/>
            <a:ext cx="6626880" cy="2105280"/>
            <a:chOff x="4800600" y="1092600"/>
            <a:chExt cx="6626880" cy="2105280"/>
          </a:xfrm>
        </p:grpSpPr>
        <p:pic>
          <p:nvPicPr>
            <p:cNvPr id="478" name="" descr=""/>
            <p:cNvPicPr/>
            <p:nvPr/>
          </p:nvPicPr>
          <p:blipFill>
            <a:blip r:embed="rId2"/>
            <a:srcRect l="0" t="47914" r="29412" b="0"/>
            <a:stretch/>
          </p:blipFill>
          <p:spPr>
            <a:xfrm>
              <a:off x="4800600" y="1100160"/>
              <a:ext cx="6626880" cy="20977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79" name=""/>
            <p:cNvSpPr/>
            <p:nvPr/>
          </p:nvSpPr>
          <p:spPr>
            <a:xfrm>
              <a:off x="5064120" y="1103040"/>
              <a:ext cx="3309120" cy="19116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80" name=""/>
            <p:cNvSpPr/>
            <p:nvPr/>
          </p:nvSpPr>
          <p:spPr>
            <a:xfrm>
              <a:off x="8028000" y="1092600"/>
              <a:ext cx="3309120" cy="19080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481" name="Picture 96" descr="A group of images of a square&#10;&#10;AI-generated content may be incorrect."/>
          <p:cNvPicPr/>
          <p:nvPr/>
        </p:nvPicPr>
        <p:blipFill>
          <a:blip r:embed="rId3"/>
          <a:srcRect l="0" t="66996" r="0" b="0"/>
          <a:stretch/>
        </p:blipFill>
        <p:spPr>
          <a:xfrm>
            <a:off x="5029200" y="3373200"/>
            <a:ext cx="6061680" cy="256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2" name="TextBox 10"/>
          <p:cNvSpPr/>
          <p:nvPr/>
        </p:nvSpPr>
        <p:spPr>
          <a:xfrm>
            <a:off x="5221800" y="5943600"/>
            <a:ext cx="3197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Box 13"/>
          <p:cNvSpPr/>
          <p:nvPr/>
        </p:nvSpPr>
        <p:spPr>
          <a:xfrm>
            <a:off x="8001000" y="5991120"/>
            <a:ext cx="3197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without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"/>
          <p:cNvSpPr/>
          <p:nvPr/>
        </p:nvSpPr>
        <p:spPr>
          <a:xfrm rot="7421400">
            <a:off x="9690840" y="1180440"/>
            <a:ext cx="454680" cy="45468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6d6d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5" name="Picture 11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4520" cy="228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6" name=""/>
          <p:cNvSpPr/>
          <p:nvPr/>
        </p:nvSpPr>
        <p:spPr>
          <a:xfrm>
            <a:off x="5486400" y="1828800"/>
            <a:ext cx="680400" cy="68040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87" name="Picture 16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8" name=""/>
          <p:cNvSpPr/>
          <p:nvPr/>
        </p:nvSpPr>
        <p:spPr>
          <a:xfrm>
            <a:off x="0" y="41040"/>
            <a:ext cx="121118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>
            <a:off x="6402240" y="1457640"/>
            <a:ext cx="5023800" cy="132732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0" name="Rectangle 66"/>
          <p:cNvSpPr/>
          <p:nvPr/>
        </p:nvSpPr>
        <p:spPr>
          <a:xfrm>
            <a:off x="6402240" y="1418400"/>
            <a:ext cx="50238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"/>
          <p:cNvSpPr/>
          <p:nvPr/>
        </p:nvSpPr>
        <p:spPr>
          <a:xfrm>
            <a:off x="6400800" y="3214440"/>
            <a:ext cx="5025240" cy="151020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2" name="Rectangle 67"/>
          <p:cNvSpPr/>
          <p:nvPr/>
        </p:nvSpPr>
        <p:spPr>
          <a:xfrm>
            <a:off x="6400800" y="3201480"/>
            <a:ext cx="50238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5486400" y="3585600"/>
            <a:ext cx="680400" cy="68040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94" name="" descr=""/>
          <p:cNvPicPr/>
          <p:nvPr/>
        </p:nvPicPr>
        <p:blipFill>
          <a:blip r:embed="rId3"/>
          <a:stretch/>
        </p:blipFill>
        <p:spPr>
          <a:xfrm>
            <a:off x="651960" y="3429000"/>
            <a:ext cx="2773080" cy="273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5" name=""/>
          <p:cNvSpPr/>
          <p:nvPr/>
        </p:nvSpPr>
        <p:spPr>
          <a:xfrm flipV="1">
            <a:off x="5787000" y="16362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6" name=""/>
          <p:cNvSpPr/>
          <p:nvPr/>
        </p:nvSpPr>
        <p:spPr>
          <a:xfrm flipH="1" flipV="1">
            <a:off x="5594400" y="202140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97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Grouping cells that share every marker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9" name="Picture 20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0760" cy="639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0" name="Arrow: Down 3"/>
          <p:cNvSpPr/>
          <p:nvPr/>
        </p:nvSpPr>
        <p:spPr>
          <a:xfrm>
            <a:off x="7251480" y="829440"/>
            <a:ext cx="517680" cy="751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01" name="Picture 60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2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4" name="Picture 4" descr=""/>
          <p:cNvPicPr/>
          <p:nvPr/>
        </p:nvPicPr>
        <p:blipFill>
          <a:blip r:embed="rId1"/>
          <a:srcRect l="28389" t="0" r="46288" b="0"/>
          <a:stretch/>
        </p:blipFill>
        <p:spPr>
          <a:xfrm>
            <a:off x="3166200" y="293040"/>
            <a:ext cx="2318400" cy="641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5" name="Picture 5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49520" cy="28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6" name="TextBox 8"/>
          <p:cNvSpPr/>
          <p:nvPr/>
        </p:nvSpPr>
        <p:spPr>
          <a:xfrm>
            <a:off x="499680" y="5584680"/>
            <a:ext cx="2102760" cy="2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7" name="Graphic 9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29520" cy="182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Picture 10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9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Initial automated gate, with ability to adjust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1" name="Picture 43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1120" cy="1777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2" name="Picture 10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Picture 105" descr=""/>
          <p:cNvPicPr/>
          <p:nvPr/>
        </p:nvPicPr>
        <p:blipFill>
          <a:blip r:embed="rId3"/>
          <a:srcRect l="0" t="0" r="50000" b="26630"/>
          <a:stretch/>
        </p:blipFill>
        <p:spPr>
          <a:xfrm>
            <a:off x="1844640" y="1020240"/>
            <a:ext cx="4248000" cy="445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TextBox 14"/>
          <p:cNvSpPr/>
          <p:nvPr/>
        </p:nvSpPr>
        <p:spPr>
          <a:xfrm>
            <a:off x="6531840" y="1122480"/>
            <a:ext cx="444816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Initial gates for designated markers calculated via openCyto (mindensity)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Ability to update gate_range constraints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Launch a Shiny app and designate interactively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6557400" y="1407600"/>
            <a:ext cx="3955320" cy="136872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"/>
          <p:cNvSpPr/>
          <p:nvPr/>
        </p:nvSpPr>
        <p:spPr>
          <a:xfrm>
            <a:off x="6557400" y="3999600"/>
            <a:ext cx="3955320" cy="9414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6531840" y="2905920"/>
            <a:ext cx="3955320" cy="94140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8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0" name="Picture 6" descr=""/>
          <p:cNvPicPr/>
          <p:nvPr/>
        </p:nvPicPr>
        <p:blipFill>
          <a:blip r:embed="rId1"/>
          <a:srcRect l="28389" t="0" r="23840" b="0"/>
          <a:stretch/>
        </p:blipFill>
        <p:spPr>
          <a:xfrm>
            <a:off x="3166200" y="293040"/>
            <a:ext cx="4375800" cy="641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1" name="Picture 63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49520" cy="28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TextBox 1"/>
          <p:cNvSpPr/>
          <p:nvPr/>
        </p:nvSpPr>
        <p:spPr>
          <a:xfrm>
            <a:off x="499680" y="5584680"/>
            <a:ext cx="21027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3" name="Graphic 5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29520" cy="182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4" name="Picture 85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5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CoerebaID column gets added to the .fcs file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7" name="Picture 8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1120" cy="1777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8" name="Picture 106" descr=""/>
          <p:cNvPicPr/>
          <p:nvPr/>
        </p:nvPicPr>
        <p:blipFill>
          <a:blip r:embed="rId2"/>
          <a:stretch/>
        </p:blipFill>
        <p:spPr>
          <a:xfrm>
            <a:off x="7691040" y="776880"/>
            <a:ext cx="7574400" cy="530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9" name="Picture 107" descr=""/>
          <p:cNvPicPr/>
          <p:nvPr/>
        </p:nvPicPr>
        <p:blipFill>
          <a:blip r:embed="rId3"/>
          <a:srcRect l="0" t="0" r="0" b="54009"/>
          <a:stretch/>
        </p:blipFill>
        <p:spPr>
          <a:xfrm>
            <a:off x="-219600" y="2347920"/>
            <a:ext cx="7829280" cy="251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0" name="Picture 108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1" name="" descr=""/>
          <p:cNvPicPr/>
          <p:nvPr/>
        </p:nvPicPr>
        <p:blipFill>
          <a:blip r:embed="rId5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3" name="Picture 86" descr=""/>
          <p:cNvPicPr/>
          <p:nvPr/>
        </p:nvPicPr>
        <p:blipFill>
          <a:blip r:embed="rId1"/>
          <a:srcRect l="28389" t="0" r="0" b="0"/>
          <a:stretch/>
        </p:blipFill>
        <p:spPr>
          <a:xfrm>
            <a:off x="3166200" y="293040"/>
            <a:ext cx="6561000" cy="641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4" name="Picture 87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49520" cy="28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5" name="TextBox 6"/>
          <p:cNvSpPr/>
          <p:nvPr/>
        </p:nvSpPr>
        <p:spPr>
          <a:xfrm>
            <a:off x="499680" y="5584680"/>
            <a:ext cx="21027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6" name="Graphic 7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29520" cy="182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7" name="Picture 88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8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Summarized Experiment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Rectangle 10"/>
          <p:cNvSpPr/>
          <p:nvPr/>
        </p:nvSpPr>
        <p:spPr>
          <a:xfrm>
            <a:off x="7864560" y="1079280"/>
            <a:ext cx="387144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Permits rapid re-aggregation of the terminal nodes for re-evaluation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1" name="Picture 127" descr=""/>
          <p:cNvPicPr/>
          <p:nvPr/>
        </p:nvPicPr>
        <p:blipFill>
          <a:blip r:embed="rId1"/>
          <a:stretch/>
        </p:blipFill>
        <p:spPr>
          <a:xfrm>
            <a:off x="718560" y="705240"/>
            <a:ext cx="7185240" cy="560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2" name="Picture 12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3" name=""/>
          <p:cNvSpPr/>
          <p:nvPr/>
        </p:nvSpPr>
        <p:spPr>
          <a:xfrm>
            <a:off x="7864560" y="1079280"/>
            <a:ext cx="3791160" cy="97524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4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Selectively re-aggregate in seconds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Picture 123" descr=""/>
          <p:cNvPicPr/>
          <p:nvPr/>
        </p:nvPicPr>
        <p:blipFill>
          <a:blip r:embed="rId1"/>
          <a:stretch/>
        </p:blipFill>
        <p:spPr>
          <a:xfrm>
            <a:off x="1523880" y="1725480"/>
            <a:ext cx="9140760" cy="639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Arrow: Down 4"/>
          <p:cNvSpPr/>
          <p:nvPr/>
        </p:nvSpPr>
        <p:spPr>
          <a:xfrm rot="5366400">
            <a:off x="5482080" y="-723600"/>
            <a:ext cx="517680" cy="40568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48" name="Picture 12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9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0" name="Arrow: Down 1"/>
          <p:cNvSpPr/>
          <p:nvPr/>
        </p:nvSpPr>
        <p:spPr>
          <a:xfrm rot="5366400">
            <a:off x="6240240" y="557280"/>
            <a:ext cx="546840" cy="25120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"/>
          <p:cNvSpPr/>
          <p:nvPr/>
        </p:nvSpPr>
        <p:spPr>
          <a:xfrm>
            <a:off x="9817200" y="1335600"/>
            <a:ext cx="1840680" cy="40968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2" name="" descr=""/>
          <p:cNvPicPr/>
          <p:nvPr/>
        </p:nvPicPr>
        <p:blipFill>
          <a:blip r:embed="rId1"/>
          <a:stretch/>
        </p:blipFill>
        <p:spPr>
          <a:xfrm>
            <a:off x="228960" y="2532960"/>
            <a:ext cx="9371520" cy="145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3" name="" descr=""/>
          <p:cNvPicPr/>
          <p:nvPr/>
        </p:nvPicPr>
        <p:blipFill>
          <a:blip r:embed="rId2"/>
          <a:stretch/>
        </p:blipFill>
        <p:spPr>
          <a:xfrm>
            <a:off x="228960" y="4147920"/>
            <a:ext cx="9371520" cy="145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Retrieve marker expression by individual donor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5" name="Picture 110" descr=""/>
          <p:cNvPicPr/>
          <p:nvPr/>
        </p:nvPicPr>
        <p:blipFill>
          <a:blip r:embed="rId3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6" name=""/>
          <p:cNvSpPr/>
          <p:nvPr/>
        </p:nvSpPr>
        <p:spPr>
          <a:xfrm>
            <a:off x="9817200" y="2919600"/>
            <a:ext cx="1825920" cy="40968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"/>
          <p:cNvSpPr/>
          <p:nvPr/>
        </p:nvSpPr>
        <p:spPr>
          <a:xfrm>
            <a:off x="9817200" y="4572000"/>
            <a:ext cx="1825920" cy="57708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8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9" name="Rectangle 5"/>
          <p:cNvSpPr/>
          <p:nvPr/>
        </p:nvSpPr>
        <p:spPr>
          <a:xfrm>
            <a:off x="9781200" y="1335600"/>
            <a:ext cx="2285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CD4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Rectangle 1"/>
          <p:cNvSpPr/>
          <p:nvPr/>
        </p:nvSpPr>
        <p:spPr>
          <a:xfrm>
            <a:off x="9817200" y="2919600"/>
            <a:ext cx="2105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CD8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"/>
          <p:cNvSpPr/>
          <p:nvPr/>
        </p:nvSpPr>
        <p:spPr>
          <a:xfrm>
            <a:off x="9997200" y="4656600"/>
            <a:ext cx="161784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DN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2" name="" descr=""/>
          <p:cNvPicPr/>
          <p:nvPr/>
        </p:nvPicPr>
        <p:blipFill>
          <a:blip r:embed="rId5"/>
          <a:stretch/>
        </p:blipFill>
        <p:spPr>
          <a:xfrm>
            <a:off x="228600" y="893880"/>
            <a:ext cx="9372600" cy="1561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Grouping cells that share every marker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4" name="Picture 125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0760" cy="639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5" name="Arrow: Down 5"/>
          <p:cNvSpPr/>
          <p:nvPr/>
        </p:nvSpPr>
        <p:spPr>
          <a:xfrm>
            <a:off x="7251480" y="829440"/>
            <a:ext cx="517680" cy="751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66" name="Picture 12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7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"/>
          <p:cNvSpPr/>
          <p:nvPr/>
        </p:nvSpPr>
        <p:spPr>
          <a:xfrm>
            <a:off x="7864560" y="3780000"/>
            <a:ext cx="3791160" cy="102708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"/>
          <p:cNvSpPr/>
          <p:nvPr/>
        </p:nvSpPr>
        <p:spPr>
          <a:xfrm>
            <a:off x="7864560" y="2179800"/>
            <a:ext cx="3791160" cy="144072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"/>
          <p:cNvSpPr/>
          <p:nvPr/>
        </p:nvSpPr>
        <p:spPr>
          <a:xfrm>
            <a:off x="7864560" y="1079280"/>
            <a:ext cx="3791160" cy="97524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"/>
          <p:cNvSpPr/>
          <p:nvPr/>
        </p:nvSpPr>
        <p:spPr>
          <a:xfrm>
            <a:off x="7820280" y="4923000"/>
            <a:ext cx="3791160" cy="74664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Summarized Experiment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Rectangle 8"/>
          <p:cNvSpPr/>
          <p:nvPr/>
        </p:nvSpPr>
        <p:spPr>
          <a:xfrm>
            <a:off x="7864560" y="1079280"/>
            <a:ext cx="3871440" cy="44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Permits rapid re-aggregation of the terminal nodes for re-evaluation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Portable. Don’t like how we aggregated groups of cells? File is small enough to store in the same data repository as .fcs files for subsequent re-analysis.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Filterable by metadata or node.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only in HEU-hi?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unique to one individual?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Ties in with downstream Bioconductor statistics packages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4" name="Picture 117" descr=""/>
          <p:cNvPicPr/>
          <p:nvPr/>
        </p:nvPicPr>
        <p:blipFill>
          <a:blip r:embed="rId1"/>
          <a:stretch/>
        </p:blipFill>
        <p:spPr>
          <a:xfrm>
            <a:off x="718560" y="705240"/>
            <a:ext cx="7185240" cy="560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5" name="Picture 12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6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"/>
          <p:cNvSpPr/>
          <p:nvPr/>
        </p:nvSpPr>
        <p:spPr>
          <a:xfrm>
            <a:off x="8217720" y="3377520"/>
            <a:ext cx="3440880" cy="40968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8" name=""/>
          <p:cNvSpPr/>
          <p:nvPr/>
        </p:nvSpPr>
        <p:spPr>
          <a:xfrm>
            <a:off x="8181720" y="4063320"/>
            <a:ext cx="3476880" cy="40968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8217720" y="3399120"/>
            <a:ext cx="3440880" cy="685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CD4 T cells → 16241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Rectangle 22"/>
          <p:cNvSpPr/>
          <p:nvPr/>
        </p:nvSpPr>
        <p:spPr>
          <a:xfrm>
            <a:off x="7893720" y="4063320"/>
            <a:ext cx="37648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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8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→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1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2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4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6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6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"/>
          <p:cNvSpPr/>
          <p:nvPr/>
        </p:nvSpPr>
        <p:spPr>
          <a:xfrm>
            <a:off x="8229600" y="1371600"/>
            <a:ext cx="3429000" cy="73044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82" name="Picture 11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3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4" name="" descr=""/>
          <p:cNvPicPr/>
          <p:nvPr/>
        </p:nvPicPr>
        <p:blipFill>
          <a:blip r:embed="rId3"/>
          <a:stretch/>
        </p:blipFill>
        <p:spPr>
          <a:xfrm>
            <a:off x="456840" y="1191600"/>
            <a:ext cx="7543800" cy="411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"/>
          <p:cNvSpPr/>
          <p:nvPr/>
        </p:nvSpPr>
        <p:spPr>
          <a:xfrm>
            <a:off x="0" y="89280"/>
            <a:ext cx="12191760" cy="110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Biology is (fortunately) not just math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Rectangle 6"/>
          <p:cNvSpPr/>
          <p:nvPr/>
        </p:nvSpPr>
        <p:spPr>
          <a:xfrm>
            <a:off x="8229600" y="1371600"/>
            <a:ext cx="342684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29-color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               → 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536 million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(theory)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"/>
          <p:cNvSpPr/>
          <p:nvPr/>
        </p:nvSpPr>
        <p:spPr>
          <a:xfrm>
            <a:off x="8196480" y="4665600"/>
            <a:ext cx="3462120" cy="57708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8229600" y="4701600"/>
            <a:ext cx="34290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DN T cells →    9035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8000640" y="2514600"/>
            <a:ext cx="3842280" cy="12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actually exploring our panels dimensional space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fontScale="92500"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Ability to contrast unsupervised methods vs. “manual” ground-truth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1" name="Picture 4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2" name="" descr=""/>
          <p:cNvPicPr/>
          <p:nvPr/>
        </p:nvPicPr>
        <p:blipFill>
          <a:blip r:embed="rId2"/>
          <a:stretch/>
        </p:blipFill>
        <p:spPr>
          <a:xfrm>
            <a:off x="914400" y="1504080"/>
            <a:ext cx="10281600" cy="4205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3" name="" descr=""/>
          <p:cNvPicPr/>
          <p:nvPr/>
        </p:nvPicPr>
        <p:blipFill>
          <a:blip r:embed="rId3"/>
          <a:stretch/>
        </p:blipFill>
        <p:spPr>
          <a:xfrm>
            <a:off x="457560" y="617256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71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5" name="Picture 89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3440" cy="578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6" name="Picture 9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8" name="Picture 1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9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0" name=""/>
          <p:cNvSpPr txBox="1"/>
          <p:nvPr/>
        </p:nvSpPr>
        <p:spPr>
          <a:xfrm>
            <a:off x="457200" y="89280"/>
            <a:ext cx="11201400" cy="1101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For each island, re-aggregate cells from each donor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"/>
          <p:cNvSpPr/>
          <p:nvPr/>
        </p:nvSpPr>
        <p:spPr>
          <a:xfrm>
            <a:off x="5011560" y="5800320"/>
            <a:ext cx="1599840" cy="34848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"/>
          <p:cNvSpPr/>
          <p:nvPr/>
        </p:nvSpPr>
        <p:spPr>
          <a:xfrm>
            <a:off x="5011560" y="5739120"/>
            <a:ext cx="1617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DN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3" name=""/>
          <p:cNvGrpSpPr/>
          <p:nvPr/>
        </p:nvGrpSpPr>
        <p:grpSpPr>
          <a:xfrm>
            <a:off x="838440" y="914400"/>
            <a:ext cx="10591560" cy="4546080"/>
            <a:chOff x="838440" y="914400"/>
            <a:chExt cx="10591560" cy="4546080"/>
          </a:xfrm>
        </p:grpSpPr>
        <p:pic>
          <p:nvPicPr>
            <p:cNvPr id="604" name="" descr=""/>
            <p:cNvPicPr/>
            <p:nvPr/>
          </p:nvPicPr>
          <p:blipFill>
            <a:blip r:embed="rId3"/>
            <a:stretch/>
          </p:blipFill>
          <p:spPr>
            <a:xfrm>
              <a:off x="838440" y="914400"/>
              <a:ext cx="10591560" cy="15087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05" name="" descr=""/>
            <p:cNvPicPr/>
            <p:nvPr/>
          </p:nvPicPr>
          <p:blipFill>
            <a:blip r:embed="rId4"/>
            <a:stretch/>
          </p:blipFill>
          <p:spPr>
            <a:xfrm>
              <a:off x="838440" y="2442600"/>
              <a:ext cx="10591560" cy="15091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06" name="" descr=""/>
            <p:cNvPicPr/>
            <p:nvPr/>
          </p:nvPicPr>
          <p:blipFill>
            <a:blip r:embed="rId5"/>
            <a:stretch/>
          </p:blipFill>
          <p:spPr>
            <a:xfrm>
              <a:off x="838440" y="3951720"/>
              <a:ext cx="10591560" cy="15087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Picture 10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8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9" name="" descr=""/>
          <p:cNvPicPr/>
          <p:nvPr/>
        </p:nvPicPr>
        <p:blipFill>
          <a:blip r:embed="rId3"/>
          <a:stretch/>
        </p:blipFill>
        <p:spPr>
          <a:xfrm>
            <a:off x="4286520" y="914400"/>
            <a:ext cx="4399920" cy="4580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0" name="" descr=""/>
          <p:cNvPicPr/>
          <p:nvPr/>
        </p:nvPicPr>
        <p:blipFill>
          <a:blip r:embed="rId4"/>
          <a:stretch/>
        </p:blipFill>
        <p:spPr>
          <a:xfrm>
            <a:off x="457200" y="914400"/>
            <a:ext cx="3337200" cy="457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1" name="" descr=""/>
          <p:cNvPicPr/>
          <p:nvPr/>
        </p:nvPicPr>
        <p:blipFill>
          <a:blip r:embed="rId5"/>
          <a:stretch/>
        </p:blipFill>
        <p:spPr>
          <a:xfrm>
            <a:off x="9141840" y="914400"/>
            <a:ext cx="2287800" cy="458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"/>
          <p:cNvSpPr/>
          <p:nvPr/>
        </p:nvSpPr>
        <p:spPr>
          <a:xfrm>
            <a:off x="1143000" y="5569560"/>
            <a:ext cx="1732680" cy="40968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"/>
          <p:cNvSpPr/>
          <p:nvPr/>
        </p:nvSpPr>
        <p:spPr>
          <a:xfrm>
            <a:off x="5844960" y="5643000"/>
            <a:ext cx="1695960" cy="40968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"/>
          <p:cNvSpPr/>
          <p:nvPr/>
        </p:nvSpPr>
        <p:spPr>
          <a:xfrm>
            <a:off x="9601200" y="5594760"/>
            <a:ext cx="1599840" cy="34848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"/>
          <p:cNvSpPr/>
          <p:nvPr/>
        </p:nvSpPr>
        <p:spPr>
          <a:xfrm>
            <a:off x="9655200" y="5558760"/>
            <a:ext cx="1617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DN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"/>
          <p:cNvSpPr/>
          <p:nvPr/>
        </p:nvSpPr>
        <p:spPr>
          <a:xfrm>
            <a:off x="5844960" y="5664960"/>
            <a:ext cx="16959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CD8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"/>
          <p:cNvSpPr/>
          <p:nvPr/>
        </p:nvSpPr>
        <p:spPr>
          <a:xfrm>
            <a:off x="1164960" y="5569560"/>
            <a:ext cx="17107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CD4 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"/>
          <p:cNvSpPr/>
          <p:nvPr/>
        </p:nvSpPr>
        <p:spPr>
          <a:xfrm>
            <a:off x="0" y="112680"/>
            <a:ext cx="12115440" cy="11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Cord blood T cells - Baseline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600" cy="634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Published in Frontiers in Immunology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0" name="Picture 118" descr=""/>
          <p:cNvPicPr/>
          <p:nvPr/>
        </p:nvPicPr>
        <p:blipFill>
          <a:blip r:embed="rId1"/>
          <a:stretch/>
        </p:blipFill>
        <p:spPr>
          <a:xfrm>
            <a:off x="3866760" y="1035000"/>
            <a:ext cx="5829480" cy="463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1" name="Graphic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2303640" y="2514600"/>
            <a:ext cx="1513800" cy="151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2" name="TextBox 16"/>
          <p:cNvSpPr/>
          <p:nvPr/>
        </p:nvSpPr>
        <p:spPr>
          <a:xfrm>
            <a:off x="2226600" y="4118760"/>
            <a:ext cx="12733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Paper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3" name="Picture 121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4" name="" descr=""/>
          <p:cNvPicPr/>
          <p:nvPr/>
        </p:nvPicPr>
        <p:blipFill>
          <a:blip r:embed="rId5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5" name="Picture 12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6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7" name="" descr=""/>
          <p:cNvPicPr/>
          <p:nvPr/>
        </p:nvPicPr>
        <p:blipFill>
          <a:blip r:embed="rId3"/>
          <a:stretch/>
        </p:blipFill>
        <p:spPr>
          <a:xfrm>
            <a:off x="3531600" y="3257280"/>
            <a:ext cx="3416040" cy="245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8" name="" descr=""/>
          <p:cNvPicPr/>
          <p:nvPr/>
        </p:nvPicPr>
        <p:blipFill>
          <a:blip r:embed="rId4"/>
          <a:stretch/>
        </p:blipFill>
        <p:spPr>
          <a:xfrm>
            <a:off x="3531600" y="914400"/>
            <a:ext cx="3256560" cy="234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9" name=""/>
          <p:cNvSpPr txBox="1"/>
          <p:nvPr/>
        </p:nvSpPr>
        <p:spPr>
          <a:xfrm>
            <a:off x="675000" y="201600"/>
            <a:ext cx="10983600" cy="89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CD4-CD8- Cord blood T cell subsets driving observed IFN</a:t>
            </a:r>
            <a:r>
              <a:rPr b="0" lang="en-US" sz="2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γ</a:t>
            </a: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0" name="" descr=""/>
          <p:cNvPicPr/>
          <p:nvPr/>
        </p:nvPicPr>
        <p:blipFill>
          <a:blip r:embed="rId5"/>
          <a:stretch/>
        </p:blipFill>
        <p:spPr>
          <a:xfrm>
            <a:off x="7315200" y="914400"/>
            <a:ext cx="3447000" cy="412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1" name="Arrow: Down 2"/>
          <p:cNvSpPr/>
          <p:nvPr/>
        </p:nvSpPr>
        <p:spPr>
          <a:xfrm rot="5366400">
            <a:off x="10928520" y="1092600"/>
            <a:ext cx="546840" cy="9162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32" name="" descr=""/>
          <p:cNvPicPr/>
          <p:nvPr/>
        </p:nvPicPr>
        <p:blipFill>
          <a:blip r:embed="rId6"/>
          <a:stretch/>
        </p:blipFill>
        <p:spPr>
          <a:xfrm>
            <a:off x="457200" y="914400"/>
            <a:ext cx="2743200" cy="457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3" name=""/>
          <p:cNvSpPr/>
          <p:nvPr/>
        </p:nvSpPr>
        <p:spPr>
          <a:xfrm>
            <a:off x="1600200" y="806400"/>
            <a:ext cx="685800" cy="4800600"/>
          </a:xfrm>
          <a:prstGeom prst="rect">
            <a:avLst/>
          </a:prstGeom>
          <a:noFill/>
          <a:ln w="3672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4" name="Picture 11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5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6" name="" descr=""/>
          <p:cNvPicPr/>
          <p:nvPr/>
        </p:nvPicPr>
        <p:blipFill>
          <a:blip r:embed="rId3"/>
          <a:stretch/>
        </p:blipFill>
        <p:spPr>
          <a:xfrm>
            <a:off x="4358160" y="3429000"/>
            <a:ext cx="3656880" cy="2742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7" name="" descr=""/>
          <p:cNvPicPr/>
          <p:nvPr/>
        </p:nvPicPr>
        <p:blipFill>
          <a:blip r:embed="rId4"/>
          <a:stretch/>
        </p:blipFill>
        <p:spPr>
          <a:xfrm>
            <a:off x="4125600" y="842400"/>
            <a:ext cx="4137840" cy="258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8" name="" descr=""/>
          <p:cNvPicPr/>
          <p:nvPr/>
        </p:nvPicPr>
        <p:blipFill>
          <a:blip r:embed="rId5"/>
          <a:stretch/>
        </p:blipFill>
        <p:spPr>
          <a:xfrm>
            <a:off x="8263800" y="806400"/>
            <a:ext cx="3656880" cy="2742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9" name="" descr=""/>
          <p:cNvPicPr/>
          <p:nvPr/>
        </p:nvPicPr>
        <p:blipFill>
          <a:blip r:embed="rId6"/>
          <a:stretch/>
        </p:blipFill>
        <p:spPr>
          <a:xfrm>
            <a:off x="548640" y="1029960"/>
            <a:ext cx="333720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0" name=""/>
          <p:cNvSpPr txBox="1"/>
          <p:nvPr/>
        </p:nvSpPr>
        <p:spPr>
          <a:xfrm>
            <a:off x="685800" y="89280"/>
            <a:ext cx="11201400" cy="1101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Conventional Cord blood T cell subsets also show changes in CD62L</a:t>
            </a:r>
            <a:endParaRPr b="1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"/>
          <p:cNvSpPr/>
          <p:nvPr/>
        </p:nvSpPr>
        <p:spPr>
          <a:xfrm>
            <a:off x="2478600" y="914400"/>
            <a:ext cx="685800" cy="4800600"/>
          </a:xfrm>
          <a:prstGeom prst="rect">
            <a:avLst/>
          </a:prstGeom>
          <a:noFill/>
          <a:ln w="3672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TextBox 5"/>
          <p:cNvSpPr/>
          <p:nvPr/>
        </p:nvSpPr>
        <p:spPr>
          <a:xfrm>
            <a:off x="7269840" y="1225800"/>
            <a:ext cx="4730760" cy="56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Fun off-label uses thus far: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Contrasting where “manually-gated” cells end up vs. our unsupervised methods (normalization, clustering, etc.)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Added benefit of looking-at-the-forest: Easy to identify badly cryopreserved specimens where cell populations were lost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760" cy="636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Functional and Iterative: plenty for everyone to dislike </a:t>
            </a: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Wingdings"/>
                <a:ea typeface="DejaVu Sans"/>
              </a:rPr>
              <a:t>:)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4" name="Picture 2" descr=""/>
          <p:cNvPicPr/>
          <p:nvPr/>
        </p:nvPicPr>
        <p:blipFill>
          <a:blip r:embed="rId1"/>
          <a:stretch/>
        </p:blipFill>
        <p:spPr>
          <a:xfrm>
            <a:off x="479160" y="1063080"/>
            <a:ext cx="6452280" cy="4515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5" name="Picture 3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760" cy="397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6" name=""/>
          <p:cNvSpPr/>
          <p:nvPr/>
        </p:nvSpPr>
        <p:spPr>
          <a:xfrm>
            <a:off x="7315200" y="1297800"/>
            <a:ext cx="4340520" cy="371520"/>
          </a:xfrm>
          <a:prstGeom prst="rect">
            <a:avLst/>
          </a:prstGeom>
          <a:solidFill>
            <a:srgbClr val="ff8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"/>
          <p:cNvSpPr/>
          <p:nvPr/>
        </p:nvSpPr>
        <p:spPr>
          <a:xfrm>
            <a:off x="7315200" y="1949400"/>
            <a:ext cx="4340520" cy="159732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"/>
          <p:cNvSpPr/>
          <p:nvPr/>
        </p:nvSpPr>
        <p:spPr>
          <a:xfrm>
            <a:off x="7315200" y="3765600"/>
            <a:ext cx="4340520" cy="1597320"/>
          </a:xfrm>
          <a:prstGeom prst="rect">
            <a:avLst/>
          </a:prstGeom>
          <a:solidFill>
            <a:srgbClr val="dde8c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9" name="" descr=""/>
          <p:cNvPicPr/>
          <p:nvPr/>
        </p:nvPicPr>
        <p:blipFill>
          <a:blip r:embed="rId3"/>
          <a:stretch/>
        </p:blipFill>
        <p:spPr>
          <a:xfrm>
            <a:off x="230760" y="617292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Picture 131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4520" cy="228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1" name=""/>
          <p:cNvSpPr/>
          <p:nvPr/>
        </p:nvSpPr>
        <p:spPr>
          <a:xfrm>
            <a:off x="5486400" y="1828800"/>
            <a:ext cx="680400" cy="68040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52" name="Picture 134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3" name=""/>
          <p:cNvSpPr/>
          <p:nvPr/>
        </p:nvSpPr>
        <p:spPr>
          <a:xfrm>
            <a:off x="0" y="41040"/>
            <a:ext cx="121118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"/>
          <p:cNvSpPr/>
          <p:nvPr/>
        </p:nvSpPr>
        <p:spPr>
          <a:xfrm>
            <a:off x="6402240" y="1457640"/>
            <a:ext cx="5023800" cy="132732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5" name="Rectangle 20"/>
          <p:cNvSpPr/>
          <p:nvPr/>
        </p:nvSpPr>
        <p:spPr>
          <a:xfrm>
            <a:off x="6402240" y="1418400"/>
            <a:ext cx="50238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"/>
          <p:cNvSpPr/>
          <p:nvPr/>
        </p:nvSpPr>
        <p:spPr>
          <a:xfrm>
            <a:off x="6400800" y="3214440"/>
            <a:ext cx="5025240" cy="151020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7" name="Rectangle 21"/>
          <p:cNvSpPr/>
          <p:nvPr/>
        </p:nvSpPr>
        <p:spPr>
          <a:xfrm>
            <a:off x="6400800" y="3201480"/>
            <a:ext cx="50238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"/>
          <p:cNvSpPr/>
          <p:nvPr/>
        </p:nvSpPr>
        <p:spPr>
          <a:xfrm>
            <a:off x="5486400" y="3585600"/>
            <a:ext cx="680400" cy="68040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59" name="" descr=""/>
          <p:cNvPicPr/>
          <p:nvPr/>
        </p:nvPicPr>
        <p:blipFill>
          <a:blip r:embed="rId3"/>
          <a:stretch/>
        </p:blipFill>
        <p:spPr>
          <a:xfrm>
            <a:off x="651960" y="3429000"/>
            <a:ext cx="2773080" cy="273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0" name=""/>
          <p:cNvSpPr/>
          <p:nvPr/>
        </p:nvSpPr>
        <p:spPr>
          <a:xfrm flipV="1">
            <a:off x="5787000" y="16362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1" name=""/>
          <p:cNvSpPr/>
          <p:nvPr/>
        </p:nvSpPr>
        <p:spPr>
          <a:xfrm flipH="1" flipV="1">
            <a:off x="5558400" y="205740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62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3" name=""/>
          <p:cNvSpPr/>
          <p:nvPr/>
        </p:nvSpPr>
        <p:spPr>
          <a:xfrm flipH="1" flipV="1">
            <a:off x="5558760" y="385776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4" name=""/>
          <p:cNvSpPr/>
          <p:nvPr/>
        </p:nvSpPr>
        <p:spPr>
          <a:xfrm flipV="1">
            <a:off x="5751000" y="34416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71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6" name="Picture 45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3440" cy="578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7" name="Picture 47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8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040" cy="1315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good is any tool if the community is not able to use it?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0" name="Picture 5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4720" cy="39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1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72" name=""/>
          <p:cNvGrpSpPr/>
          <p:nvPr/>
        </p:nvGrpSpPr>
        <p:grpSpPr>
          <a:xfrm>
            <a:off x="5486400" y="1150920"/>
            <a:ext cx="6253200" cy="4336200"/>
            <a:chOff x="5486400" y="1150920"/>
            <a:chExt cx="6253200" cy="4336200"/>
          </a:xfrm>
        </p:grpSpPr>
        <p:pic>
          <p:nvPicPr>
            <p:cNvPr id="673" name="" descr=""/>
            <p:cNvPicPr/>
            <p:nvPr/>
          </p:nvPicPr>
          <p:blipFill>
            <a:blip r:embed="rId3"/>
            <a:stretch/>
          </p:blipFill>
          <p:spPr>
            <a:xfrm>
              <a:off x="5486400" y="1150920"/>
              <a:ext cx="6253200" cy="43362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74" name="" descr=""/>
            <p:cNvPicPr/>
            <p:nvPr/>
          </p:nvPicPr>
          <p:blipFill>
            <a:blip r:embed="rId4"/>
            <a:stretch/>
          </p:blipFill>
          <p:spPr>
            <a:xfrm>
              <a:off x="8780760" y="1379520"/>
              <a:ext cx="2339280" cy="2567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675" name=""/>
          <p:cNvSpPr/>
          <p:nvPr/>
        </p:nvSpPr>
        <p:spPr>
          <a:xfrm>
            <a:off x="444600" y="1150920"/>
            <a:ext cx="4564800" cy="45612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6" name="Rectangle 9"/>
          <p:cNvSpPr/>
          <p:nvPr/>
        </p:nvSpPr>
        <p:spPr>
          <a:xfrm>
            <a:off x="415440" y="1186920"/>
            <a:ext cx="461088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 resources to learn Cytometry in R to begin with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Those that exist aimed at those with intermediate-advanced R skills, not beginners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Know-how concentrated at a few institutions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self-learning attempts end in frustration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040" cy="1315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in R: A free weekly course for flow cytometrist</a:t>
            </a:r>
            <a:br>
              <a:rPr sz="3200"/>
            </a:b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 no-to-little coding experience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8" name="Picture 5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4720" cy="39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9" name="" descr=""/>
          <p:cNvPicPr/>
          <p:nvPr/>
        </p:nvPicPr>
        <p:blipFill>
          <a:blip r:embed="rId2"/>
          <a:stretch/>
        </p:blipFill>
        <p:spPr>
          <a:xfrm>
            <a:off x="3500640" y="1081800"/>
            <a:ext cx="6818400" cy="1509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0" name="" descr=""/>
          <p:cNvPicPr/>
          <p:nvPr/>
        </p:nvPicPr>
        <p:blipFill>
          <a:blip r:embed="rId3"/>
          <a:stretch/>
        </p:blipFill>
        <p:spPr>
          <a:xfrm>
            <a:off x="3483720" y="2774160"/>
            <a:ext cx="6835320" cy="4015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1" name="Picture 52" descr=""/>
          <p:cNvPicPr/>
          <p:nvPr/>
        </p:nvPicPr>
        <p:blipFill>
          <a:blip r:embed="rId4"/>
          <a:stretch/>
        </p:blipFill>
        <p:spPr>
          <a:xfrm>
            <a:off x="757800" y="1094760"/>
            <a:ext cx="1970640" cy="1451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2" name="Graphic 2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64800" y="3429000"/>
            <a:ext cx="1353240" cy="119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3" name="PlaceHolder 27"/>
          <p:cNvSpPr/>
          <p:nvPr/>
        </p:nvSpPr>
        <p:spPr>
          <a:xfrm>
            <a:off x="613800" y="4836600"/>
            <a:ext cx="1547640" cy="10447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rm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4" name="" descr=""/>
          <p:cNvPicPr/>
          <p:nvPr/>
        </p:nvPicPr>
        <p:blipFill>
          <a:blip r:embed="rId7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"/>
          <p:cNvSpPr/>
          <p:nvPr/>
        </p:nvSpPr>
        <p:spPr>
          <a:xfrm>
            <a:off x="6629400" y="1467000"/>
            <a:ext cx="4338000" cy="37854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86" name="" descr=""/>
          <p:cNvPicPr/>
          <p:nvPr/>
        </p:nvPicPr>
        <p:blipFill>
          <a:blip r:embed="rId1"/>
          <a:stretch/>
        </p:blipFill>
        <p:spPr>
          <a:xfrm>
            <a:off x="228600" y="868320"/>
            <a:ext cx="5709240" cy="552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YouTube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Rectangle 23"/>
          <p:cNvSpPr/>
          <p:nvPr/>
        </p:nvSpPr>
        <p:spPr>
          <a:xfrm>
            <a:off x="6665400" y="1467000"/>
            <a:ext cx="459540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Three live-streams a week (accommodating different timezones and schedules)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Recordings available immediately after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Best of the weekly livestreams added to the playlist, cutting down on editing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9" name="Picture 13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"/>
          <p:cNvSpPr/>
          <p:nvPr/>
        </p:nvSpPr>
        <p:spPr>
          <a:xfrm>
            <a:off x="252000" y="1238040"/>
            <a:ext cx="4650840" cy="42426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Website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Rectangle 24"/>
          <p:cNvSpPr/>
          <p:nvPr/>
        </p:nvSpPr>
        <p:spPr>
          <a:xfrm>
            <a:off x="307440" y="1443600"/>
            <a:ext cx="459540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Created with Quarto, hosted via GitHub pages.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Code, code outputs, screenshots and explanations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Searchable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New weekly material added as a new .qmd file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4" name="Picture 137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5" name="" descr=""/>
          <p:cNvPicPr/>
          <p:nvPr/>
        </p:nvPicPr>
        <p:blipFill>
          <a:blip r:embed="rId2"/>
          <a:stretch/>
        </p:blipFill>
        <p:spPr>
          <a:xfrm>
            <a:off x="5029200" y="1062000"/>
            <a:ext cx="5397840" cy="441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"/>
          <p:cNvSpPr/>
          <p:nvPr/>
        </p:nvSpPr>
        <p:spPr>
          <a:xfrm>
            <a:off x="6773760" y="914400"/>
            <a:ext cx="4650840" cy="47952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Rectangle 25"/>
          <p:cNvSpPr/>
          <p:nvPr/>
        </p:nvSpPr>
        <p:spPr>
          <a:xfrm>
            <a:off x="6828480" y="1048680"/>
            <a:ext cx="459540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 and datasets available via the GitHub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Course participants start course by creating GitHub account and forking the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After Positron is linked to GitHub account, pull locally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new material posted each week, sync and pull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0" name="Picture 13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1" name="" descr=""/>
          <p:cNvPicPr/>
          <p:nvPr/>
        </p:nvPicPr>
        <p:blipFill>
          <a:blip r:embed="rId2"/>
          <a:stretch/>
        </p:blipFill>
        <p:spPr>
          <a:xfrm>
            <a:off x="457200" y="914400"/>
            <a:ext cx="6041160" cy="481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"/>
          <p:cNvSpPr/>
          <p:nvPr/>
        </p:nvSpPr>
        <p:spPr>
          <a:xfrm>
            <a:off x="685800" y="2561400"/>
            <a:ext cx="4650840" cy="13662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Discussion Forum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Rectangle 26"/>
          <p:cNvSpPr/>
          <p:nvPr/>
        </p:nvSpPr>
        <p:spPr>
          <a:xfrm>
            <a:off x="717480" y="2561400"/>
            <a:ext cx="45954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 Discussions page has been repurposed as a community forum for questions, etc.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5" name="Picture 13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6" name="" descr=""/>
          <p:cNvPicPr/>
          <p:nvPr/>
        </p:nvPicPr>
        <p:blipFill>
          <a:blip r:embed="rId2"/>
          <a:stretch/>
        </p:blipFill>
        <p:spPr>
          <a:xfrm>
            <a:off x="5591520" y="914400"/>
            <a:ext cx="5833080" cy="50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"/>
          <p:cNvSpPr/>
          <p:nvPr/>
        </p:nvSpPr>
        <p:spPr>
          <a:xfrm>
            <a:off x="2569320" y="4523400"/>
            <a:ext cx="6622200" cy="15930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040" cy="1315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Half-way through this passion project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Rectangle 4"/>
          <p:cNvSpPr/>
          <p:nvPr/>
        </p:nvSpPr>
        <p:spPr>
          <a:xfrm>
            <a:off x="2569320" y="4523400"/>
            <a:ext cx="70236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Wrapping up Cytometry Core module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Gathering steam to start on the Unsupervised Analysis section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0" name="Picture 5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4720" cy="39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1" name="" descr=""/>
          <p:cNvPicPr/>
          <p:nvPr/>
        </p:nvPicPr>
        <p:blipFill>
          <a:blip r:embed="rId2"/>
          <a:stretch/>
        </p:blipFill>
        <p:spPr>
          <a:xfrm>
            <a:off x="228600" y="914400"/>
            <a:ext cx="11653200" cy="344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2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3" name=""/>
          <p:cNvSpPr/>
          <p:nvPr/>
        </p:nvSpPr>
        <p:spPr>
          <a:xfrm rot="19411800">
            <a:off x="10549080" y="793440"/>
            <a:ext cx="454320" cy="9115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983b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040" cy="1315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As scientist, our community is our strength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5" name="Picture 4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4720" cy="39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6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7" name="" descr=""/>
          <p:cNvPicPr/>
          <p:nvPr/>
        </p:nvPicPr>
        <p:blipFill>
          <a:blip r:embed="rId3"/>
          <a:srcRect l="0" t="0" r="32212" b="0"/>
          <a:stretch/>
        </p:blipFill>
        <p:spPr>
          <a:xfrm>
            <a:off x="2971800" y="1371600"/>
            <a:ext cx="4329000" cy="3483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040" cy="1315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Just my two over-caffeinated cents 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9" name="Picture 6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4720" cy="39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0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1" name="" descr=""/>
          <p:cNvPicPr/>
          <p:nvPr/>
        </p:nvPicPr>
        <p:blipFill>
          <a:blip r:embed="rId3"/>
          <a:stretch/>
        </p:blipFill>
        <p:spPr>
          <a:xfrm>
            <a:off x="2871720" y="1233720"/>
            <a:ext cx="6957720" cy="379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"/>
          <p:cNvSpPr/>
          <p:nvPr/>
        </p:nvSpPr>
        <p:spPr>
          <a:xfrm>
            <a:off x="8686800" y="5137200"/>
            <a:ext cx="3089520" cy="4183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3" name=""/>
          <p:cNvSpPr/>
          <p:nvPr/>
        </p:nvSpPr>
        <p:spPr>
          <a:xfrm>
            <a:off x="349200" y="4885200"/>
            <a:ext cx="2162520" cy="5983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4" name=""/>
          <p:cNvSpPr/>
          <p:nvPr/>
        </p:nvSpPr>
        <p:spPr>
          <a:xfrm>
            <a:off x="10395000" y="2685600"/>
            <a:ext cx="1364400" cy="6786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5" name=""/>
          <p:cNvSpPr/>
          <p:nvPr/>
        </p:nvSpPr>
        <p:spPr>
          <a:xfrm>
            <a:off x="8458200" y="2649600"/>
            <a:ext cx="1364400" cy="6786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6" name=""/>
          <p:cNvSpPr/>
          <p:nvPr/>
        </p:nvSpPr>
        <p:spPr>
          <a:xfrm>
            <a:off x="4102200" y="3828600"/>
            <a:ext cx="3895920" cy="21121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7" name=""/>
          <p:cNvSpPr/>
          <p:nvPr/>
        </p:nvSpPr>
        <p:spPr>
          <a:xfrm>
            <a:off x="349200" y="3803400"/>
            <a:ext cx="2160000" cy="9090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8" name=""/>
          <p:cNvSpPr/>
          <p:nvPr/>
        </p:nvSpPr>
        <p:spPr>
          <a:xfrm>
            <a:off x="349200" y="1204200"/>
            <a:ext cx="3421800" cy="6804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9" name=""/>
          <p:cNvSpPr/>
          <p:nvPr/>
        </p:nvSpPr>
        <p:spPr>
          <a:xfrm>
            <a:off x="338400" y="2118600"/>
            <a:ext cx="3421800" cy="15930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0" name="PlaceHolder 1"/>
          <p:cNvSpPr>
            <a:spLocks noGrp="1"/>
          </p:cNvSpPr>
          <p:nvPr>
            <p:ph type="title"/>
          </p:nvPr>
        </p:nvSpPr>
        <p:spPr>
          <a:xfrm>
            <a:off x="3886200" y="46080"/>
            <a:ext cx="4561560" cy="1315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Acknowledgments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1" name="Picture 54" descr=""/>
          <p:cNvPicPr/>
          <p:nvPr/>
        </p:nvPicPr>
        <p:blipFill>
          <a:blip r:embed="rId1"/>
          <a:stretch/>
        </p:blipFill>
        <p:spPr>
          <a:xfrm>
            <a:off x="9290520" y="3457800"/>
            <a:ext cx="2360880" cy="419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2" name="Picture 55" descr=""/>
          <p:cNvPicPr/>
          <p:nvPr/>
        </p:nvPicPr>
        <p:blipFill>
          <a:blip r:embed="rId2"/>
          <a:stretch/>
        </p:blipFill>
        <p:spPr>
          <a:xfrm>
            <a:off x="9673200" y="3812400"/>
            <a:ext cx="1979640" cy="39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3" name="Content Placeholder 1"/>
          <p:cNvSpPr/>
          <p:nvPr/>
        </p:nvSpPr>
        <p:spPr>
          <a:xfrm>
            <a:off x="228600" y="3803400"/>
            <a:ext cx="3969360" cy="18183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Cristiana Cairo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Kirsten E. Lyke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Xiaoxuan Fan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Box 23"/>
          <p:cNvSpPr/>
          <p:nvPr/>
        </p:nvSpPr>
        <p:spPr>
          <a:xfrm>
            <a:off x="255240" y="1215000"/>
            <a:ext cx="3396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mothers and their infants, and their communities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Box 24"/>
          <p:cNvSpPr/>
          <p:nvPr/>
        </p:nvSpPr>
        <p:spPr>
          <a:xfrm>
            <a:off x="302400" y="2203200"/>
            <a:ext cx="339696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the open-source contributors, developers, and maintainers, that collectively made the tool sets without which all of this would not be feasible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ontent Placeholder 3"/>
          <p:cNvSpPr/>
          <p:nvPr/>
        </p:nvSpPr>
        <p:spPr>
          <a:xfrm>
            <a:off x="9829800" y="1486800"/>
            <a:ext cx="3969360" cy="18183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Box 25"/>
          <p:cNvSpPr/>
          <p:nvPr/>
        </p:nvSpPr>
        <p:spPr>
          <a:xfrm>
            <a:off x="8001000" y="2846880"/>
            <a:ext cx="225396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Discord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Box 26"/>
          <p:cNvSpPr/>
          <p:nvPr/>
        </p:nvSpPr>
        <p:spPr>
          <a:xfrm>
            <a:off x="10287000" y="2895120"/>
            <a:ext cx="1568160" cy="41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Bioconductor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Zulip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9" name="Picture 56" descr=""/>
          <p:cNvPicPr/>
          <p:nvPr/>
        </p:nvPicPr>
        <p:blipFill>
          <a:blip r:embed="rId3"/>
          <a:stretch/>
        </p:blipFill>
        <p:spPr>
          <a:xfrm>
            <a:off x="9144000" y="5715000"/>
            <a:ext cx="2740320" cy="1073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0" name="Graphic 6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218880" y="5771520"/>
            <a:ext cx="3435840" cy="89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1" name="TextBox 27"/>
          <p:cNvSpPr/>
          <p:nvPr/>
        </p:nvSpPr>
        <p:spPr>
          <a:xfrm>
            <a:off x="228600" y="5065200"/>
            <a:ext cx="34981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spAutoFit/>
          </a:bodyPr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Daniela Franco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Natarajan Ayithan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2" name="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0200" y="1036800"/>
            <a:ext cx="1593000" cy="159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3" name="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251000" y="1062000"/>
            <a:ext cx="1593000" cy="159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4" name="Picture 57" descr="A picture containing text, person, indoor, working&#10;&#10;Description automatically generated"/>
          <p:cNvPicPr/>
          <p:nvPr/>
        </p:nvPicPr>
        <p:blipFill>
          <a:blip r:embed="rId10"/>
          <a:stretch/>
        </p:blipFill>
        <p:spPr>
          <a:xfrm>
            <a:off x="4305240" y="1234080"/>
            <a:ext cx="3576240" cy="2427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5" name="Picture 58" descr=""/>
          <p:cNvPicPr/>
          <p:nvPr/>
        </p:nvPicPr>
        <p:blipFill>
          <a:blip r:embed="rId11"/>
          <a:stretch/>
        </p:blipFill>
        <p:spPr>
          <a:xfrm>
            <a:off x="156600" y="122400"/>
            <a:ext cx="3576240" cy="93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6" name="Picture 59" descr=""/>
          <p:cNvPicPr/>
          <p:nvPr/>
        </p:nvPicPr>
        <p:blipFill>
          <a:blip r:embed="rId12"/>
          <a:stretch/>
        </p:blipFill>
        <p:spPr>
          <a:xfrm>
            <a:off x="9493200" y="109080"/>
            <a:ext cx="2511720" cy="94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7" name="Rectangle 14"/>
          <p:cNvSpPr/>
          <p:nvPr/>
        </p:nvSpPr>
        <p:spPr>
          <a:xfrm>
            <a:off x="4138200" y="3850200"/>
            <a:ext cx="373932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U01 HD092309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This publication was supported by funds through Maryland Department of Health’s Cigarette Restitution Fund Program – CH- 649-CRF and the National Cancer Institute – Cancer Center Support Grant (CCSG) – P30CA134274.d Service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Rectangle 15"/>
          <p:cNvSpPr/>
          <p:nvPr/>
        </p:nvSpPr>
        <p:spPr>
          <a:xfrm>
            <a:off x="8602200" y="4201200"/>
            <a:ext cx="3739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www.linkedin.com/in/david-rach/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9" name="" descr=""/>
          <p:cNvPicPr/>
          <p:nvPr/>
        </p:nvPicPr>
        <p:blipFill>
          <a:blip r:embed="rId13"/>
          <a:stretch/>
        </p:blipFill>
        <p:spPr>
          <a:xfrm>
            <a:off x="8769600" y="4201200"/>
            <a:ext cx="399240" cy="35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0" name=""/>
          <p:cNvSpPr/>
          <p:nvPr/>
        </p:nvSpPr>
        <p:spPr>
          <a:xfrm>
            <a:off x="8686800" y="4597200"/>
            <a:ext cx="3089520" cy="4183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1" name=""/>
          <p:cNvSpPr/>
          <p:nvPr/>
        </p:nvSpPr>
        <p:spPr>
          <a:xfrm>
            <a:off x="8686800" y="4633200"/>
            <a:ext cx="30049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Want to collaborate? Reach out!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"/>
          <p:cNvSpPr/>
          <p:nvPr/>
        </p:nvSpPr>
        <p:spPr>
          <a:xfrm>
            <a:off x="7894800" y="5172840"/>
            <a:ext cx="30049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                      Hiring?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3" name="" descr=""/>
          <p:cNvPicPr/>
          <p:nvPr/>
        </p:nvPicPr>
        <p:blipFill>
          <a:blip r:embed="rId14"/>
          <a:stretch/>
        </p:blipFill>
        <p:spPr>
          <a:xfrm>
            <a:off x="10395000" y="5208840"/>
            <a:ext cx="399600" cy="333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title"/>
          </p:nvPr>
        </p:nvSpPr>
        <p:spPr>
          <a:xfrm>
            <a:off x="1143000" y="-182520"/>
            <a:ext cx="10053000" cy="1320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Rectangle 192"/>
          <p:cNvSpPr/>
          <p:nvPr/>
        </p:nvSpPr>
        <p:spPr>
          <a:xfrm>
            <a:off x="8557200" y="2791800"/>
            <a:ext cx="2966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UMGCCC FCSR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dashboard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Rectangle 193"/>
          <p:cNvSpPr/>
          <p:nvPr/>
        </p:nvSpPr>
        <p:spPr>
          <a:xfrm>
            <a:off x="4991400" y="5257800"/>
            <a:ext cx="2966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YouTube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@CytometryInR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Rectangle 194"/>
          <p:cNvSpPr/>
          <p:nvPr/>
        </p:nvSpPr>
        <p:spPr>
          <a:xfrm>
            <a:off x="4991400" y="2791800"/>
            <a:ext cx="296640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 - 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Rectangle 195"/>
          <p:cNvSpPr/>
          <p:nvPr/>
        </p:nvSpPr>
        <p:spPr>
          <a:xfrm>
            <a:off x="876600" y="2791800"/>
            <a:ext cx="2966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Luciernaga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Rectangle 196"/>
          <p:cNvSpPr/>
          <p:nvPr/>
        </p:nvSpPr>
        <p:spPr>
          <a:xfrm>
            <a:off x="876600" y="5257800"/>
            <a:ext cx="2966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Rectangle 197"/>
          <p:cNvSpPr/>
          <p:nvPr/>
        </p:nvSpPr>
        <p:spPr>
          <a:xfrm>
            <a:off x="8557200" y="5029200"/>
            <a:ext cx="2966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How-To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1" name="Picture 198" descr=""/>
          <p:cNvPicPr/>
          <p:nvPr/>
        </p:nvPicPr>
        <p:blipFill>
          <a:blip r:embed="rId1"/>
          <a:stretch/>
        </p:blipFill>
        <p:spPr>
          <a:xfrm>
            <a:off x="4023000" y="3578400"/>
            <a:ext cx="2106000" cy="159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2" name="Picture 199" descr=""/>
          <p:cNvPicPr/>
          <p:nvPr/>
        </p:nvPicPr>
        <p:blipFill>
          <a:blip r:embed="rId2"/>
          <a:stretch/>
        </p:blipFill>
        <p:spPr>
          <a:xfrm>
            <a:off x="171720" y="3596400"/>
            <a:ext cx="1842480" cy="159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3" name="Picture 200" descr=""/>
          <p:cNvPicPr/>
          <p:nvPr/>
        </p:nvPicPr>
        <p:blipFill>
          <a:blip r:embed="rId3"/>
          <a:stretch/>
        </p:blipFill>
        <p:spPr>
          <a:xfrm>
            <a:off x="8557200" y="3673440"/>
            <a:ext cx="1366200" cy="1578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4" name="Picture 201" descr=""/>
          <p:cNvPicPr/>
          <p:nvPr/>
        </p:nvPicPr>
        <p:blipFill>
          <a:blip r:embed="rId4"/>
          <a:stretch/>
        </p:blipFill>
        <p:spPr>
          <a:xfrm>
            <a:off x="208080" y="1071000"/>
            <a:ext cx="1842120" cy="159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5" name="Picture 202" descr=""/>
          <p:cNvPicPr/>
          <p:nvPr/>
        </p:nvPicPr>
        <p:blipFill>
          <a:blip r:embed="rId5"/>
          <a:srcRect l="33723" t="6681" r="35970" b="0"/>
          <a:stretch/>
        </p:blipFill>
        <p:spPr>
          <a:xfrm rot="24000">
            <a:off x="8187480" y="1120680"/>
            <a:ext cx="1953360" cy="1581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6" name="Picture 203" descr=""/>
          <p:cNvPicPr/>
          <p:nvPr/>
        </p:nvPicPr>
        <p:blipFill>
          <a:blip r:embed="rId6"/>
          <a:stretch/>
        </p:blipFill>
        <p:spPr>
          <a:xfrm>
            <a:off x="4023000" y="1035000"/>
            <a:ext cx="2106000" cy="159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7" name="Graphic 204" descr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2140200" y="3429000"/>
            <a:ext cx="1823400" cy="182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8" name="Graphic 205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134400" y="3429000"/>
            <a:ext cx="1823400" cy="182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9" name="Graphic 206" descr="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2140200" y="927000"/>
            <a:ext cx="1823400" cy="182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0" name="Graphic 207" descr="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10121400" y="963000"/>
            <a:ext cx="1823400" cy="182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1" name="Graphic 208" descr="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10157400" y="3537000"/>
            <a:ext cx="1687680" cy="1687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2" name="Graphic 209" descr=""/>
          <p:cNvPicPr/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/>
        </p:blipFill>
        <p:spPr>
          <a:xfrm>
            <a:off x="6134400" y="963000"/>
            <a:ext cx="1823400" cy="182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3" name="" descr=""/>
          <p:cNvPicPr/>
          <p:nvPr/>
        </p:nvPicPr>
        <p:blipFill>
          <a:blip r:embed="rId19"/>
          <a:stretch/>
        </p:blipFill>
        <p:spPr>
          <a:xfrm>
            <a:off x="230760" y="617292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4" name="Picture 49" descr=""/>
          <p:cNvPicPr/>
          <p:nvPr/>
        </p:nvPicPr>
        <p:blipFill>
          <a:blip r:embed="rId20"/>
          <a:stretch/>
        </p:blipFill>
        <p:spPr>
          <a:xfrm>
            <a:off x="10435680" y="6172560"/>
            <a:ext cx="1134720" cy="392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"/>
          <p:cNvSpPr/>
          <p:nvPr/>
        </p:nvSpPr>
        <p:spPr>
          <a:xfrm>
            <a:off x="5787000" y="3558600"/>
            <a:ext cx="4726080" cy="783000"/>
          </a:xfrm>
          <a:prstGeom prst="rect">
            <a:avLst/>
          </a:prstGeom>
          <a:solidFill>
            <a:srgbClr val="ffbf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0560" cy="694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Daily Processing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7" name="Picture 64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6680" cy="53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8" name="Picture 65" descr=""/>
          <p:cNvPicPr/>
          <p:nvPr/>
        </p:nvPicPr>
        <p:blipFill>
          <a:blip r:embed="rId2"/>
          <a:stretch/>
        </p:blipFill>
        <p:spPr>
          <a:xfrm>
            <a:off x="1010520" y="952920"/>
            <a:ext cx="4525920" cy="475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9" name="Rectangle 27"/>
          <p:cNvSpPr/>
          <p:nvPr/>
        </p:nvSpPr>
        <p:spPr>
          <a:xfrm>
            <a:off x="5730480" y="2142360"/>
            <a:ext cx="54684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Behind-the-scenes: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Using R (and increasingly Rust) to process the .fcs files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Rectangle 28"/>
          <p:cNvSpPr/>
          <p:nvPr/>
        </p:nvSpPr>
        <p:spPr>
          <a:xfrm>
            <a:off x="5751000" y="4163760"/>
            <a:ext cx="49906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Quarto Website gets updated twice daily via a GitHub action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Rectangle 29"/>
          <p:cNvSpPr/>
          <p:nvPr/>
        </p:nvSpPr>
        <p:spPr>
          <a:xfrm>
            <a:off x="5751000" y="3177360"/>
            <a:ext cx="54684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transfer to GitHub via Windows Task Scheduler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"/>
          <p:cNvSpPr/>
          <p:nvPr/>
        </p:nvSpPr>
        <p:spPr>
          <a:xfrm>
            <a:off x="5787000" y="4601880"/>
            <a:ext cx="4726080" cy="783000"/>
          </a:xfrm>
          <a:prstGeom prst="rect">
            <a:avLst/>
          </a:prstGeom>
          <a:solidFill>
            <a:srgbClr val="e0c2cd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"/>
          <p:cNvSpPr/>
          <p:nvPr/>
        </p:nvSpPr>
        <p:spPr>
          <a:xfrm>
            <a:off x="5751000" y="2572200"/>
            <a:ext cx="4762080" cy="783000"/>
          </a:xfrm>
          <a:prstGeom prst="rect">
            <a:avLst/>
          </a:prstGeom>
          <a:solidFill>
            <a:srgbClr val="dee6e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4" name="Picture 66" descr=""/>
          <p:cNvPicPr/>
          <p:nvPr/>
        </p:nvPicPr>
        <p:blipFill>
          <a:blip r:embed="rId3"/>
          <a:stretch/>
        </p:blipFill>
        <p:spPr>
          <a:xfrm>
            <a:off x="9108000" y="812520"/>
            <a:ext cx="1366200" cy="1578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0560" cy="694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6" name="Picture 67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6680" cy="53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7" name="Picture 68" descr=""/>
          <p:cNvPicPr/>
          <p:nvPr/>
        </p:nvPicPr>
        <p:blipFill>
          <a:blip r:embed="rId2"/>
          <a:stretch/>
        </p:blipFill>
        <p:spPr>
          <a:xfrm>
            <a:off x="2069640" y="1093320"/>
            <a:ext cx="9747000" cy="443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8" name="Graphic 1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215640" y="1154520"/>
            <a:ext cx="1644840" cy="16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9" name="PlaceHolder 2"/>
          <p:cNvSpPr>
            <a:spLocks noGrp="1"/>
          </p:cNvSpPr>
          <p:nvPr>
            <p:ph/>
          </p:nvPr>
        </p:nvSpPr>
        <p:spPr>
          <a:xfrm>
            <a:off x="-148680" y="2971800"/>
            <a:ext cx="1951560" cy="500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Dashboard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PlaceHolder 3"/>
          <p:cNvSpPr>
            <a:spLocks noGrp="1"/>
          </p:cNvSpPr>
          <p:nvPr>
            <p:ph/>
          </p:nvPr>
        </p:nvSpPr>
        <p:spPr>
          <a:xfrm>
            <a:off x="-148680" y="5227200"/>
            <a:ext cx="1951560" cy="500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How-To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1" name="Picture 69" descr=""/>
          <p:cNvPicPr/>
          <p:nvPr/>
        </p:nvPicPr>
        <p:blipFill>
          <a:blip r:embed="rId5"/>
          <a:srcRect l="3481" t="5989" r="0" b="0"/>
          <a:stretch/>
        </p:blipFill>
        <p:spPr>
          <a:xfrm>
            <a:off x="274320" y="3545280"/>
            <a:ext cx="1662480" cy="1595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0560" cy="694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3" name="Picture 70" descr=""/>
          <p:cNvPicPr/>
          <p:nvPr/>
        </p:nvPicPr>
        <p:blipFill>
          <a:blip r:embed="rId1"/>
          <a:stretch/>
        </p:blipFill>
        <p:spPr>
          <a:xfrm>
            <a:off x="10058760" y="6153840"/>
            <a:ext cx="1516680" cy="53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4" name="Picture 71" descr=""/>
          <p:cNvPicPr/>
          <p:nvPr/>
        </p:nvPicPr>
        <p:blipFill>
          <a:blip r:embed="rId2"/>
          <a:stretch/>
        </p:blipFill>
        <p:spPr>
          <a:xfrm>
            <a:off x="582120" y="726480"/>
            <a:ext cx="11025000" cy="517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668</TotalTime>
  <Application>LibreOffice/25.2.3.2$Linux_X86_64 LibreOffice_project/520$Build-2</Application>
  <AppVersion>15.0000</AppVersion>
  <Words>1146</Words>
  <Paragraphs>268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2025-07-21T11:58:18Z</dcterms:created>
  <dc:creator>Thomas Evans</dc:creator>
  <dc:description/>
  <dc:language>en-US</dc:language>
  <cp:lastModifiedBy/>
  <dcterms:modified xsi:type="dcterms:W3CDTF">2026-10-22T22:36:41Z</dcterms:modified>
  <cp:revision>73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0x010100804A9A38EF1C6344A4E9D5FEC9AF05B5</vt:lpwstr>
  </property>
  <property fmtid="{D5CDD505-2E9C-101B-9397-08002B2CF9AE}" pid="3" name="Notes">
    <vt:i4>3</vt:i4>
  </property>
  <property fmtid="{D5CDD505-2E9C-101B-9397-08002B2CF9AE}" pid="4" name="PresentationFormat">
    <vt:lpwstr>Widescreen</vt:lpwstr>
  </property>
  <property fmtid="{D5CDD505-2E9C-101B-9397-08002B2CF9AE}" pid="5" name="Slides">
    <vt:i4>39</vt:i4>
  </property>
  <property fmtid="{D5CDD505-2E9C-101B-9397-08002B2CF9AE}" pid="6" name="_dlc_DocIdItemGuid">
    <vt:lpwstr>4d3e5825-e8bc-4995-b9ad-4f8ee15e5c87</vt:lpwstr>
  </property>
</Properties>
</file>