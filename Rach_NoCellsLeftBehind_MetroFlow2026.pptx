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16.xml" ContentType="application/vnd.openxmlformats-officedocument.theme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7.png" ContentType="image/png"/>
  <Override PartName="/ppt/media/image105.png" ContentType="image/png"/>
  <Override PartName="/ppt/media/image56.png" ContentType="image/png"/>
  <Override PartName="/ppt/media/image55.png" ContentType="image/png"/>
  <Override PartName="/ppt/media/image103.png" ContentType="image/png"/>
  <Override PartName="/ppt/media/image54.png" ContentType="image/png"/>
  <Override PartName="/ppt/media/image98.svg" ContentType="image/svg"/>
  <Override PartName="/ppt/media/image52.png" ContentType="image/png"/>
  <Override PartName="/ppt/media/image51.png" ContentType="image/png"/>
  <Override PartName="/ppt/media/image50.svg" ContentType="image/svg"/>
  <Override PartName="/ppt/media/image49.png" ContentType="image/png"/>
  <Override PartName="/ppt/media/image46.png" ContentType="image/png"/>
  <Override PartName="/ppt/media/image45.png" ContentType="image/png"/>
  <Override PartName="/ppt/media/image44.png" ContentType="image/png"/>
  <Override PartName="/ppt/media/image88.svg" ContentType="image/svg"/>
  <Override PartName="/ppt/media/image43.png" ContentType="image/png"/>
  <Override PartName="/ppt/media/image47.jpeg" ContentType="image/jpeg"/>
  <Override PartName="/ppt/media/image42.png" ContentType="image/png"/>
  <Override PartName="/ppt/media/image41.png" ContentType="image/png"/>
  <Override PartName="/ppt/media/image53.png" ContentType="image/png"/>
  <Override PartName="/ppt/media/image101.png" ContentType="image/png"/>
  <Override PartName="/ppt/media/image40.svg" ContentType="image/svg"/>
  <Override PartName="/ppt/media/image35.jpeg" ContentType="image/jpeg"/>
  <Override PartName="/ppt/media/image32.png" ContentType="image/png"/>
  <Override PartName="/ppt/media/image31.png" ContentType="image/png"/>
  <Override PartName="/ppt/media/image30.png" ContentType="image/png"/>
  <Override PartName="/ppt/media/image12.jpeg" ContentType="image/jpeg"/>
  <Override PartName="/ppt/media/image18.png" ContentType="image/png"/>
  <Override PartName="/ppt/media/image17.png" ContentType="image/png"/>
  <Override PartName="/ppt/media/image8.png" ContentType="image/png"/>
  <Override PartName="/ppt/media/image82.png" ContentType="image/png"/>
  <Override PartName="/ppt/media/image34.png" ContentType="image/png"/>
  <Override PartName="/ppt/media/image2.png" ContentType="image/png"/>
  <Override PartName="/ppt/media/image11.png" ContentType="image/png"/>
  <Override PartName="/ppt/media/image91.jpeg" ContentType="image/jpeg"/>
  <Override PartName="/ppt/media/image39.png" ContentType="image/png"/>
  <Override PartName="/ppt/media/image7.png" ContentType="image/png"/>
  <Override PartName="/ppt/media/image16.png" ContentType="image/png"/>
  <Override PartName="/ppt/media/image81.png" ContentType="image/png"/>
  <Override PartName="/ppt/media/image13.jpeg" ContentType="image/jpeg"/>
  <Override PartName="/ppt/media/image28.png" ContentType="image/png"/>
  <Override PartName="/ppt/media/image93.png" ContentType="image/png"/>
  <Override PartName="/ppt/media/image36.png" ContentType="image/png"/>
  <Override PartName="/ppt/media/image9.jpeg" ContentType="image/jpeg"/>
  <Override PartName="/ppt/media/image4.png" ContentType="image/png"/>
  <Override PartName="/ppt/media/image37.png" ContentType="image/png"/>
  <Override PartName="/ppt/media/image5.png" ContentType="image/png"/>
  <Override PartName="/ppt/media/image106.svg" ContentType="image/svg"/>
  <Override PartName="/ppt/media/image10.png" ContentType="image/png"/>
  <Override PartName="/ppt/media/image1.png" ContentType="image/png"/>
  <Override PartName="/ppt/media/image102.svg" ContentType="image/svg"/>
  <Override PartName="/ppt/media/image66.png" ContentType="image/png"/>
  <Override PartName="/ppt/media/image67.png" ContentType="image/png"/>
  <Override PartName="/ppt/media/image68.png" ContentType="image/png"/>
  <Override PartName="/ppt/media/image70.png" ContentType="image/png"/>
  <Override PartName="/ppt/media/image69.png" ContentType="image/png"/>
  <Override PartName="/ppt/media/image71.png" ContentType="image/png"/>
  <Override PartName="/ppt/media/image72.png" ContentType="image/png"/>
  <Override PartName="/ppt/media/image73.png" ContentType="image/png"/>
  <Override PartName="/ppt/media/image74.png" ContentType="image/png"/>
  <Override PartName="/ppt/media/image76.png" ContentType="image/png"/>
  <Override PartName="/ppt/media/image109.png" ContentType="image/png"/>
  <Override PartName="/ppt/media/image83.jpeg" ContentType="image/jpeg"/>
  <Override PartName="/ppt/media/image78.png" ContentType="image/png"/>
  <Override PartName="/ppt/media/image65.svg" ContentType="image/svg"/>
  <Override PartName="/ppt/media/image108.png" ContentType="image/png"/>
  <Override PartName="/ppt/media/image90.svg" ContentType="image/svg"/>
  <Override PartName="/ppt/media/image24.png" ContentType="image/png"/>
  <Override PartName="/ppt/media/image63.png" ContentType="image/png"/>
  <Override PartName="/ppt/media/image104.svg" ContentType="image/svg"/>
  <Override PartName="/ppt/media/image22.png" ContentType="image/png"/>
  <Override PartName="/ppt/media/image75.png" ContentType="image/png"/>
  <Override PartName="/ppt/media/image84.jpeg" ContentType="image/jpeg"/>
  <Override PartName="/ppt/media/image100.svg" ContentType="image/svg"/>
  <Override PartName="/ppt/media/image89.png" ContentType="image/png"/>
  <Override PartName="/ppt/media/image64.png" ContentType="image/png"/>
  <Override PartName="/ppt/media/image99.png" ContentType="image/png"/>
  <Override PartName="/ppt/media/image110.png" ContentType="image/png"/>
  <Override PartName="/ppt/media/image62.png" ContentType="image/png"/>
  <Override PartName="/ppt/media/image97.png" ContentType="image/png"/>
  <Override PartName="/ppt/media/image60.png" ContentType="image/png"/>
  <Override PartName="/ppt/media/image85.png" ContentType="image/png"/>
  <Override PartName="/ppt/media/image96.png" ContentType="image/png"/>
  <Override PartName="/ppt/media/image95.png" ContentType="image/png"/>
  <Override PartName="/ppt/media/image86.png" ContentType="image/png"/>
  <Override PartName="/ppt/media/image61.png" ContentType="image/png"/>
  <Override PartName="/ppt/media/image19.png" ContentType="image/png"/>
  <Override PartName="/ppt/media/image29.png" ContentType="image/png"/>
  <Override PartName="/ppt/media/image94.png" ContentType="image/png"/>
  <Override PartName="/ppt/media/image92.png" ContentType="image/png"/>
  <Override PartName="/ppt/media/image27.png" ContentType="image/png"/>
  <Override PartName="/ppt/media/image21.jpeg" ContentType="image/jpeg"/>
  <Override PartName="/ppt/media/image58.jpeg" ContentType="image/jpeg"/>
  <Override PartName="/ppt/media/image26.png" ContentType="image/png"/>
  <Override PartName="/ppt/media/image25.png" ContentType="image/png"/>
  <Override PartName="/ppt/media/image59.png" ContentType="image/png"/>
  <Override PartName="/ppt/media/image107.png" ContentType="image/png"/>
  <Override PartName="/ppt/media/image87.png" ContentType="image/png"/>
  <Override PartName="/ppt/media/image20.svg" ContentType="image/svg"/>
  <Override PartName="/ppt/media/image33.png" ContentType="image/png"/>
  <Override PartName="/ppt/media/image77.svg" ContentType="image/svg"/>
  <Override PartName="/ppt/media/image23.png" ContentType="image/png"/>
  <Override PartName="/ppt/media/image79.png" ContentType="image/png"/>
  <Override PartName="/ppt/media/image3.svg" ContentType="image/svg"/>
  <Override PartName="/ppt/media/image48.png" ContentType="image/png"/>
  <Override PartName="/ppt/media/image15.png" ContentType="image/png"/>
  <Override PartName="/ppt/media/image80.png" ContentType="image/png"/>
  <Override PartName="/ppt/media/image6.png" ContentType="image/png"/>
  <Override PartName="/ppt/media/image38.png" ContentType="image/png"/>
  <Override PartName="/ppt/media/image14.jpeg" ContentType="image/jpe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73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72.xml" ContentType="application/vnd.openxmlformats-officedocument.presentationml.slide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40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73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72.xml.rels" ContentType="application/vnd.openxmlformats-package.relationships+xml"/>
  <Override PartName="/ppt/slides/_rels/slide71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6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Slides/_rels/notesSlide69.xml.rels" ContentType="application/vnd.openxmlformats-package.relationships+xml"/>
  <Override PartName="/ppt/notesSlides/notesSlide6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6" r:id="rId6"/>
    <p:sldMasterId id="2147483668" r:id="rId7"/>
    <p:sldMasterId id="2147483670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  <p:sldId id="327" r:id="rId81"/>
    <p:sldId id="328" r:id="rId8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3.xml"/><Relationship Id="rId7" Type="http://schemas.openxmlformats.org/officeDocument/2006/relationships/slideMaster" Target="slideMasters/slideMaster14.xml"/><Relationship Id="rId8" Type="http://schemas.openxmlformats.org/officeDocument/2006/relationships/slideMaster" Target="slideMasters/slideMaster15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dt" idx="5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ftr" idx="5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5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37B1582-9EA3-45B4-844D-16FE87C5779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4600" cy="338616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8560" cy="39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55"/>
          </p:nvPr>
        </p:nvSpPr>
        <p:spPr>
          <a:xfrm>
            <a:off x="4402080" y="9553680"/>
            <a:ext cx="3360600" cy="49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80F49B-A0FA-40A9-A117-D4D2253B19B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73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272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272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65C32E-6061-4811-A50C-35367A4A17F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56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924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924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924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924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95CA4D-0656-4BFF-A68B-F442E37F901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56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8000" cy="189180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C907E2-117C-483C-A690-43FDE882EDC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760" cy="1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0D42C2-B2A5-46CA-80E4-40DC01E40F97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F6F3B8-E570-4D5E-8A59-771FFBCA125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F47E01-89EB-429C-955F-E7C3D5489FA7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040" cy="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947744-C9DC-4126-893A-E76F6634DB1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7D4392-531E-44C3-A36B-A82BC8B050A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EC2A77-FCA8-44AE-8C3F-E9F9A6B15D8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FF8E8C-2878-4172-B293-D3C7D45EFE5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ACDE26-1EF2-4FD8-81FE-B8118DFA589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0EFC46-1535-43F8-A57E-EF584C74741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8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8F5C3D-2ABF-4F05-A517-84A2357B960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7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F38C61-1D35-49E4-9377-C27B8790882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8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609480" y="-2269440"/>
            <a:ext cx="648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C7F5EC2-7168-4568-B145-9ABE44ECF1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FDD62A2-D3FC-46AC-B953-E3AA33C48D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ubTitle"/>
          </p:nvPr>
        </p:nvSpPr>
        <p:spPr>
          <a:xfrm>
            <a:off x="609480" y="-2269440"/>
            <a:ext cx="648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4DE8DC2-DC5D-4F9C-B6D0-1B82D820E8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5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6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344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3440" y="160488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97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8D48C3-49DF-4C70-8734-5D5A113C659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8160" cy="360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ftr" idx="43"/>
          </p:nvPr>
        </p:nvSpPr>
        <p:spPr>
          <a:xfrm>
            <a:off x="3447360" y="5165280"/>
            <a:ext cx="318852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44"/>
          </p:nvPr>
        </p:nvSpPr>
        <p:spPr>
          <a:xfrm>
            <a:off x="7227360" y="5165280"/>
            <a:ext cx="234180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8D9D5C-EE72-4BA0-92DC-32D94534892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dt" idx="45"/>
          </p:nvPr>
        </p:nvSpPr>
        <p:spPr>
          <a:xfrm>
            <a:off x="504000" y="5165280"/>
            <a:ext cx="234180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4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F1182A-5FB6-4652-90B5-E3117E6F3CA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49"/>
          </p:nvPr>
        </p:nvSpPr>
        <p:spPr>
          <a:xfrm>
            <a:off x="3447360" y="5165280"/>
            <a:ext cx="318960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50"/>
          </p:nvPr>
        </p:nvSpPr>
        <p:spPr>
          <a:xfrm>
            <a:off x="722736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7E5232-B559-441D-AC63-2D7A0574F3F6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51"/>
          </p:nvPr>
        </p:nvSpPr>
        <p:spPr>
          <a:xfrm>
            <a:off x="50400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slideLayout" Target="../slideLayouts/slideLayout1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1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slideLayout" Target="../slideLayouts/slideLayout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1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42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57.png"/><Relationship Id="rId3" Type="http://schemas.openxmlformats.org/officeDocument/2006/relationships/image" Target="../media/image56.pn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58.jpeg"/><Relationship Id="rId4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64.png"/><Relationship Id="rId3" Type="http://schemas.openxmlformats.org/officeDocument/2006/relationships/image" Target="../media/image65.sv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1.png"/><Relationship Id="rId7" Type="http://schemas.openxmlformats.org/officeDocument/2006/relationships/slideLayout" Target="../slideLayouts/slideLayout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2.png"/><Relationship Id="rId6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7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slideLayout" Target="../slideLayouts/slideLayout14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33.png"/><Relationship Id="rId5" Type="http://schemas.openxmlformats.org/officeDocument/2006/relationships/image" Target="../media/image76.png"/><Relationship Id="rId6" Type="http://schemas.openxmlformats.org/officeDocument/2006/relationships/image" Target="../media/image77.sv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4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9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0.png"/><Relationship Id="rId3" Type="http://schemas.openxmlformats.org/officeDocument/2006/relationships/slideLayout" Target="../slideLayouts/slideLayout1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1.png"/><Relationship Id="rId3" Type="http://schemas.openxmlformats.org/officeDocument/2006/relationships/slideLayout" Target="../slideLayouts/slideLayout14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2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4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83.jpeg"/><Relationship Id="rId4" Type="http://schemas.openxmlformats.org/officeDocument/2006/relationships/slideLayout" Target="../slideLayouts/slideLayout14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84.jpeg"/><Relationship Id="rId4" Type="http://schemas.openxmlformats.org/officeDocument/2006/relationships/slideLayout" Target="../slideLayouts/slideLayout14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image" Target="../media/image86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87.png"/><Relationship Id="rId7" Type="http://schemas.openxmlformats.org/officeDocument/2006/relationships/image" Target="../media/image88.svg"/><Relationship Id="rId8" Type="http://schemas.openxmlformats.org/officeDocument/2006/relationships/image" Target="../media/image89.png"/><Relationship Id="rId9" Type="http://schemas.openxmlformats.org/officeDocument/2006/relationships/image" Target="../media/image90.svg"/><Relationship Id="rId10" Type="http://schemas.openxmlformats.org/officeDocument/2006/relationships/image" Target="../media/image91.jpeg"/><Relationship Id="rId11" Type="http://schemas.openxmlformats.org/officeDocument/2006/relationships/image" Target="../media/image92.png"/><Relationship Id="rId12" Type="http://schemas.openxmlformats.org/officeDocument/2006/relationships/image" Target="../media/image93.png"/><Relationship Id="rId13" Type="http://schemas.openxmlformats.org/officeDocument/2006/relationships/image" Target="../media/image94.png"/><Relationship Id="rId14" Type="http://schemas.openxmlformats.org/officeDocument/2006/relationships/image" Target="../media/image95.png"/><Relationship Id="rId15" Type="http://schemas.openxmlformats.org/officeDocument/2006/relationships/slideLayout" Target="../slideLayouts/slideLayout14.xml"/><Relationship Id="rId16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29.png"/><Relationship Id="rId5" Type="http://schemas.openxmlformats.org/officeDocument/2006/relationships/image" Target="../media/image96.png"/><Relationship Id="rId6" Type="http://schemas.openxmlformats.org/officeDocument/2006/relationships/image" Target="../media/image33.png"/><Relationship Id="rId7" Type="http://schemas.openxmlformats.org/officeDocument/2006/relationships/image" Target="../media/image97.png"/><Relationship Id="rId8" Type="http://schemas.openxmlformats.org/officeDocument/2006/relationships/image" Target="../media/image98.svg"/><Relationship Id="rId9" Type="http://schemas.openxmlformats.org/officeDocument/2006/relationships/image" Target="../media/image99.png"/><Relationship Id="rId10" Type="http://schemas.openxmlformats.org/officeDocument/2006/relationships/image" Target="../media/image100.svg"/><Relationship Id="rId11" Type="http://schemas.openxmlformats.org/officeDocument/2006/relationships/image" Target="../media/image101.png"/><Relationship Id="rId12" Type="http://schemas.openxmlformats.org/officeDocument/2006/relationships/image" Target="../media/image102.svg"/><Relationship Id="rId13" Type="http://schemas.openxmlformats.org/officeDocument/2006/relationships/image" Target="../media/image103.png"/><Relationship Id="rId14" Type="http://schemas.openxmlformats.org/officeDocument/2006/relationships/image" Target="../media/image104.svg"/><Relationship Id="rId15" Type="http://schemas.openxmlformats.org/officeDocument/2006/relationships/image" Target="../media/image105.png"/><Relationship Id="rId16" Type="http://schemas.openxmlformats.org/officeDocument/2006/relationships/image" Target="../media/image106.svg"/><Relationship Id="rId17" Type="http://schemas.openxmlformats.org/officeDocument/2006/relationships/image" Target="../media/image76.png"/><Relationship Id="rId18" Type="http://schemas.openxmlformats.org/officeDocument/2006/relationships/image" Target="../media/image77.svg"/><Relationship Id="rId19" Type="http://schemas.openxmlformats.org/officeDocument/2006/relationships/image" Target="../media/image8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7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14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8.png"/><Relationship Id="rId3" Type="http://schemas.openxmlformats.org/officeDocument/2006/relationships/image" Target="../media/image103.png"/><Relationship Id="rId4" Type="http://schemas.openxmlformats.org/officeDocument/2006/relationships/image" Target="../media/image104.svg"/><Relationship Id="rId5" Type="http://schemas.openxmlformats.org/officeDocument/2006/relationships/image" Target="../media/image109.png"/><Relationship Id="rId6" Type="http://schemas.openxmlformats.org/officeDocument/2006/relationships/slideLayout" Target="../slideLayouts/slideLayout14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0.png"/><Relationship Id="rId3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10560" cy="1821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23,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Box 2"/>
          <p:cNvSpPr/>
          <p:nvPr/>
        </p:nvSpPr>
        <p:spPr>
          <a:xfrm>
            <a:off x="122760" y="6404400"/>
            <a:ext cx="21031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3640" cy="95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2120" cy="12520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0" name=""/>
          <p:cNvGrpSpPr/>
          <p:nvPr/>
        </p:nvGrpSpPr>
        <p:grpSpPr>
          <a:xfrm>
            <a:off x="759960" y="1407240"/>
            <a:ext cx="10052640" cy="2111760"/>
            <a:chOff x="759960" y="1407240"/>
            <a:chExt cx="10052640" cy="2111760"/>
          </a:xfrm>
        </p:grpSpPr>
        <p:grpSp>
          <p:nvGrpSpPr>
            <p:cNvPr id="141" name=""/>
            <p:cNvGrpSpPr/>
            <p:nvPr/>
          </p:nvGrpSpPr>
          <p:grpSpPr>
            <a:xfrm>
              <a:off x="759960" y="1407240"/>
              <a:ext cx="10052640" cy="2111760"/>
              <a:chOff x="759960" y="1407240"/>
              <a:chExt cx="10052640" cy="2111760"/>
            </a:xfrm>
          </p:grpSpPr>
          <p:pic>
            <p:nvPicPr>
              <p:cNvPr id="142" name="" descr=""/>
              <p:cNvPicPr/>
              <p:nvPr/>
            </p:nvPicPr>
            <p:blipFill>
              <a:blip r:embed="rId5"/>
              <a:srcRect l="0" t="44464" r="9095" b="0"/>
              <a:stretch/>
            </p:blipFill>
            <p:spPr>
              <a:xfrm>
                <a:off x="1534320" y="1530360"/>
                <a:ext cx="9278280" cy="198864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43" name=""/>
              <p:cNvSpPr/>
              <p:nvPr/>
            </p:nvSpPr>
            <p:spPr>
              <a:xfrm>
                <a:off x="759960" y="1407240"/>
                <a:ext cx="10052640" cy="32652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sp>
          <p:nvSpPr>
            <p:cNvPr id="144" name=""/>
            <p:cNvSpPr/>
            <p:nvPr/>
          </p:nvSpPr>
          <p:spPr>
            <a:xfrm>
              <a:off x="1035000" y="1828800"/>
              <a:ext cx="684360" cy="13701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45" name=""/>
          <p:cNvSpPr/>
          <p:nvPr/>
        </p:nvSpPr>
        <p:spPr>
          <a:xfrm>
            <a:off x="457200" y="3657600"/>
            <a:ext cx="11733480" cy="177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Towards ‘No Cell Left Behind’: open-source tool sets to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leverage Spectral Flow Cytometry’s full biological discovery potential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" descr=""/>
          <p:cNvPicPr/>
          <p:nvPr/>
        </p:nvPicPr>
        <p:blipFill>
          <a:blip r:embed="rId6"/>
          <a:stretch/>
        </p:blipFill>
        <p:spPr>
          <a:xfrm>
            <a:off x="577800" y="4800600"/>
            <a:ext cx="1548000" cy="150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>
            <a:off x="686160" y="1052640"/>
            <a:ext cx="5252040" cy="14565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5400" cy="444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686160" y="2660400"/>
            <a:ext cx="5252040" cy="159480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Rectangle 7"/>
          <p:cNvSpPr/>
          <p:nvPr/>
        </p:nvSpPr>
        <p:spPr>
          <a:xfrm>
            <a:off x="748800" y="1052640"/>
            <a:ext cx="518940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11"/>
          <p:cNvSpPr/>
          <p:nvPr/>
        </p:nvSpPr>
        <p:spPr>
          <a:xfrm>
            <a:off x="748800" y="2707200"/>
            <a:ext cx="518940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12"/>
          <p:cNvSpPr/>
          <p:nvPr/>
        </p:nvSpPr>
        <p:spPr>
          <a:xfrm>
            <a:off x="685800" y="4440600"/>
            <a:ext cx="5189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685800" y="4397760"/>
            <a:ext cx="5252400" cy="108324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6320" cy="376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/>
          <p:nvPr/>
        </p:nvSpPr>
        <p:spPr>
          <a:xfrm>
            <a:off x="6629400" y="1198800"/>
            <a:ext cx="5026680" cy="122868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6629400" y="3837600"/>
            <a:ext cx="5023800" cy="83124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6629400" y="3895200"/>
            <a:ext cx="52524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626520" y="2498400"/>
            <a:ext cx="5026680" cy="122868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6629400" y="1234800"/>
            <a:ext cx="502380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carry out a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clinical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903960" y="3466080"/>
            <a:ext cx="5034600" cy="145188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"/>
          <p:cNvSpPr/>
          <p:nvPr/>
        </p:nvSpPr>
        <p:spPr>
          <a:xfrm>
            <a:off x="909360" y="1603080"/>
            <a:ext cx="5022720" cy="136620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3"/>
          <p:cNvSpPr/>
          <p:nvPr/>
        </p:nvSpPr>
        <p:spPr>
          <a:xfrm>
            <a:off x="909360" y="1603080"/>
            <a:ext cx="4868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13"/>
          <p:cNvSpPr/>
          <p:nvPr/>
        </p:nvSpPr>
        <p:spPr>
          <a:xfrm>
            <a:off x="970560" y="3514680"/>
            <a:ext cx="4968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1160" cy="4103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5486400" y="4114800"/>
            <a:ext cx="5938560" cy="13665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560" cy="446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5481720" y="1403640"/>
            <a:ext cx="5860440" cy="250092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Rectangle 16"/>
          <p:cNvSpPr/>
          <p:nvPr/>
        </p:nvSpPr>
        <p:spPr>
          <a:xfrm>
            <a:off x="5403600" y="3154680"/>
            <a:ext cx="55702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17"/>
          <p:cNvSpPr/>
          <p:nvPr/>
        </p:nvSpPr>
        <p:spPr>
          <a:xfrm>
            <a:off x="5482800" y="4114800"/>
            <a:ext cx="596628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Rectangle 18"/>
          <p:cNvSpPr/>
          <p:nvPr/>
        </p:nvSpPr>
        <p:spPr>
          <a:xfrm>
            <a:off x="5486400" y="4572000"/>
            <a:ext cx="59385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Rectangle 19"/>
          <p:cNvSpPr/>
          <p:nvPr/>
        </p:nvSpPr>
        <p:spPr>
          <a:xfrm>
            <a:off x="5403600" y="1325880"/>
            <a:ext cx="57099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30"/>
          <p:cNvSpPr/>
          <p:nvPr/>
        </p:nvSpPr>
        <p:spPr>
          <a:xfrm>
            <a:off x="5403600" y="2240280"/>
            <a:ext cx="59385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1"/>
          <p:cNvSpPr/>
          <p:nvPr/>
        </p:nvSpPr>
        <p:spPr>
          <a:xfrm>
            <a:off x="5486400" y="5029200"/>
            <a:ext cx="61707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>
            <a:off x="5481720" y="1403640"/>
            <a:ext cx="5860440" cy="250092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5486400" y="4114800"/>
            <a:ext cx="5938560" cy="13665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560" cy="446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Rectangle 2"/>
          <p:cNvSpPr/>
          <p:nvPr/>
        </p:nvSpPr>
        <p:spPr>
          <a:xfrm>
            <a:off x="5403600" y="3154680"/>
            <a:ext cx="55702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32"/>
          <p:cNvSpPr/>
          <p:nvPr/>
        </p:nvSpPr>
        <p:spPr>
          <a:xfrm>
            <a:off x="5482800" y="411480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3"/>
          <p:cNvSpPr/>
          <p:nvPr/>
        </p:nvSpPr>
        <p:spPr>
          <a:xfrm>
            <a:off x="5482800" y="45720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Rectangle 34"/>
          <p:cNvSpPr/>
          <p:nvPr/>
        </p:nvSpPr>
        <p:spPr>
          <a:xfrm>
            <a:off x="5403600" y="1325880"/>
            <a:ext cx="57099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35"/>
          <p:cNvSpPr/>
          <p:nvPr/>
        </p:nvSpPr>
        <p:spPr>
          <a:xfrm>
            <a:off x="5403600" y="2240280"/>
            <a:ext cx="59385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36"/>
          <p:cNvSpPr/>
          <p:nvPr/>
        </p:nvSpPr>
        <p:spPr>
          <a:xfrm>
            <a:off x="5486400" y="50292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457200" y="2784600"/>
            <a:ext cx="5938560" cy="16005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3840" cy="649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7"/>
          <p:cNvSpPr/>
          <p:nvPr/>
        </p:nvSpPr>
        <p:spPr>
          <a:xfrm>
            <a:off x="457200" y="2738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Rectangle 38"/>
          <p:cNvSpPr/>
          <p:nvPr/>
        </p:nvSpPr>
        <p:spPr>
          <a:xfrm>
            <a:off x="453600" y="19458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39"/>
          <p:cNvSpPr/>
          <p:nvPr/>
        </p:nvSpPr>
        <p:spPr>
          <a:xfrm>
            <a:off x="457200" y="3134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40"/>
          <p:cNvSpPr/>
          <p:nvPr/>
        </p:nvSpPr>
        <p:spPr>
          <a:xfrm>
            <a:off x="457200" y="3530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41"/>
          <p:cNvSpPr/>
          <p:nvPr/>
        </p:nvSpPr>
        <p:spPr>
          <a:xfrm>
            <a:off x="457200" y="396252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457200" y="1899000"/>
            <a:ext cx="5938560" cy="4521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3640" cy="302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laceHolder 12"/>
          <p:cNvSpPr/>
          <p:nvPr/>
        </p:nvSpPr>
        <p:spPr>
          <a:xfrm>
            <a:off x="424800" y="808200"/>
            <a:ext cx="8912880" cy="10882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>
            <a:off x="457200" y="2784600"/>
            <a:ext cx="5938560" cy="16005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3840" cy="649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45"/>
          <p:cNvSpPr/>
          <p:nvPr/>
        </p:nvSpPr>
        <p:spPr>
          <a:xfrm>
            <a:off x="457200" y="2738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Rectangle 53"/>
          <p:cNvSpPr/>
          <p:nvPr/>
        </p:nvSpPr>
        <p:spPr>
          <a:xfrm>
            <a:off x="453600" y="19458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54"/>
          <p:cNvSpPr/>
          <p:nvPr/>
        </p:nvSpPr>
        <p:spPr>
          <a:xfrm>
            <a:off x="457200" y="3134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55"/>
          <p:cNvSpPr/>
          <p:nvPr/>
        </p:nvSpPr>
        <p:spPr>
          <a:xfrm>
            <a:off x="457200" y="3530520"/>
            <a:ext cx="5966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56"/>
          <p:cNvSpPr/>
          <p:nvPr/>
        </p:nvSpPr>
        <p:spPr>
          <a:xfrm>
            <a:off x="457200" y="396252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457200" y="1899000"/>
            <a:ext cx="5938560" cy="4521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3640" cy="302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PlaceHolder 14"/>
          <p:cNvSpPr/>
          <p:nvPr/>
        </p:nvSpPr>
        <p:spPr>
          <a:xfrm>
            <a:off x="460800" y="808200"/>
            <a:ext cx="8912880" cy="10882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1910520" y="4601520"/>
            <a:ext cx="28875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5490000" y="2056680"/>
            <a:ext cx="5934960" cy="11667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Rectangle 43"/>
          <p:cNvSpPr/>
          <p:nvPr/>
        </p:nvSpPr>
        <p:spPr>
          <a:xfrm>
            <a:off x="5486400" y="13716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44"/>
          <p:cNvSpPr/>
          <p:nvPr/>
        </p:nvSpPr>
        <p:spPr>
          <a:xfrm>
            <a:off x="5490000" y="204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5486400" y="1371600"/>
            <a:ext cx="5938560" cy="4521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9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1520" cy="26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Rectangle 46"/>
          <p:cNvSpPr/>
          <p:nvPr/>
        </p:nvSpPr>
        <p:spPr>
          <a:xfrm>
            <a:off x="5490000" y="240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47"/>
          <p:cNvSpPr/>
          <p:nvPr/>
        </p:nvSpPr>
        <p:spPr>
          <a:xfrm>
            <a:off x="5490000" y="2730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9"/>
          <p:cNvSpPr/>
          <p:nvPr/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3680" cy="26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/>
          <p:nvPr/>
        </p:nvSpPr>
        <p:spPr>
          <a:xfrm>
            <a:off x="5490000" y="3578760"/>
            <a:ext cx="5934960" cy="14346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5490000" y="2056680"/>
            <a:ext cx="5934960" cy="11667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8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Rectangle 42"/>
          <p:cNvSpPr/>
          <p:nvPr/>
        </p:nvSpPr>
        <p:spPr>
          <a:xfrm>
            <a:off x="5486400" y="13716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48"/>
          <p:cNvSpPr/>
          <p:nvPr/>
        </p:nvSpPr>
        <p:spPr>
          <a:xfrm>
            <a:off x="5490000" y="204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49"/>
          <p:cNvSpPr/>
          <p:nvPr/>
        </p:nvSpPr>
        <p:spPr>
          <a:xfrm>
            <a:off x="5490000" y="3578760"/>
            <a:ext cx="59385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5486400" y="1371600"/>
            <a:ext cx="5938560" cy="4521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Rectangle 51"/>
          <p:cNvSpPr/>
          <p:nvPr/>
        </p:nvSpPr>
        <p:spPr>
          <a:xfrm>
            <a:off x="5490000" y="240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52"/>
          <p:cNvSpPr/>
          <p:nvPr/>
        </p:nvSpPr>
        <p:spPr>
          <a:xfrm>
            <a:off x="5490000" y="2730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11"/>
          <p:cNvSpPr/>
          <p:nvPr/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3680" cy="26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"/>
          <p:cNvSpPr/>
          <p:nvPr/>
        </p:nvSpPr>
        <p:spPr>
          <a:xfrm>
            <a:off x="5490000" y="3578760"/>
            <a:ext cx="5934960" cy="14346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"/>
          <p:cNvSpPr/>
          <p:nvPr/>
        </p:nvSpPr>
        <p:spPr>
          <a:xfrm>
            <a:off x="5490000" y="2056680"/>
            <a:ext cx="5934960" cy="11667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Rectangle 57"/>
          <p:cNvSpPr/>
          <p:nvPr/>
        </p:nvSpPr>
        <p:spPr>
          <a:xfrm>
            <a:off x="5486400" y="1371600"/>
            <a:ext cx="6170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58"/>
          <p:cNvSpPr/>
          <p:nvPr/>
        </p:nvSpPr>
        <p:spPr>
          <a:xfrm>
            <a:off x="5490000" y="204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9"/>
          <p:cNvSpPr/>
          <p:nvPr/>
        </p:nvSpPr>
        <p:spPr>
          <a:xfrm>
            <a:off x="5490000" y="3578760"/>
            <a:ext cx="59385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5486400" y="1371600"/>
            <a:ext cx="5938560" cy="4521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Rectangle 60"/>
          <p:cNvSpPr/>
          <p:nvPr/>
        </p:nvSpPr>
        <p:spPr>
          <a:xfrm>
            <a:off x="5490000" y="2406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61"/>
          <p:cNvSpPr/>
          <p:nvPr/>
        </p:nvSpPr>
        <p:spPr>
          <a:xfrm>
            <a:off x="5490000" y="2730600"/>
            <a:ext cx="6167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6"/>
          <p:cNvSpPr/>
          <p:nvPr/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"/>
          <p:cNvSpPr/>
          <p:nvPr/>
        </p:nvSpPr>
        <p:spPr>
          <a:xfrm>
            <a:off x="6629400" y="5215320"/>
            <a:ext cx="388368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"/>
          <p:cNvGrpSpPr/>
          <p:nvPr/>
        </p:nvGrpSpPr>
        <p:grpSpPr>
          <a:xfrm>
            <a:off x="6858000" y="1371600"/>
            <a:ext cx="5025240" cy="4110840"/>
            <a:chOff x="6858000" y="1371600"/>
            <a:chExt cx="5025240" cy="4110840"/>
          </a:xfrm>
        </p:grpSpPr>
        <p:pic>
          <p:nvPicPr>
            <p:cNvPr id="262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4280" cy="3719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3" name=""/>
            <p:cNvSpPr/>
            <p:nvPr/>
          </p:nvSpPr>
          <p:spPr>
            <a:xfrm>
              <a:off x="6858000" y="2743200"/>
              <a:ext cx="568800" cy="15634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4" name=""/>
            <p:cNvSpPr/>
            <p:nvPr/>
          </p:nvSpPr>
          <p:spPr>
            <a:xfrm>
              <a:off x="7239600" y="1371600"/>
              <a:ext cx="569160" cy="97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5" name=""/>
            <p:cNvSpPr/>
            <p:nvPr/>
          </p:nvSpPr>
          <p:spPr>
            <a:xfrm>
              <a:off x="11314440" y="1567440"/>
              <a:ext cx="568800" cy="97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66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685800" y="113580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8" name="Rectangle 69"/>
          <p:cNvSpPr/>
          <p:nvPr/>
        </p:nvSpPr>
        <p:spPr>
          <a:xfrm>
            <a:off x="685800" y="114300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6520" cy="108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70"/>
          <p:cNvSpPr/>
          <p:nvPr/>
        </p:nvSpPr>
        <p:spPr>
          <a:xfrm>
            <a:off x="685800" y="114300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71"/>
          <p:cNvSpPr/>
          <p:nvPr/>
        </p:nvSpPr>
        <p:spPr>
          <a:xfrm>
            <a:off x="685800" y="2871000"/>
            <a:ext cx="5939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72"/>
          <p:cNvSpPr/>
          <p:nvPr/>
        </p:nvSpPr>
        <p:spPr>
          <a:xfrm>
            <a:off x="685800" y="3501000"/>
            <a:ext cx="593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685800" y="4525200"/>
            <a:ext cx="5939640" cy="91044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4" name="Rectangle 73"/>
          <p:cNvSpPr/>
          <p:nvPr/>
        </p:nvSpPr>
        <p:spPr>
          <a:xfrm>
            <a:off x="685800" y="4644000"/>
            <a:ext cx="593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85800" y="2816640"/>
            <a:ext cx="5939640" cy="15354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8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"/>
          <p:cNvSpPr/>
          <p:nvPr/>
        </p:nvSpPr>
        <p:spPr>
          <a:xfrm flipH="1" flipV="1" rot="16074000">
            <a:off x="1856520" y="893520"/>
            <a:ext cx="452160" cy="4950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"/>
          <p:cNvSpPr/>
          <p:nvPr/>
        </p:nvSpPr>
        <p:spPr>
          <a:xfrm flipH="1" flipV="1" rot="16074000">
            <a:off x="9400320" y="893520"/>
            <a:ext cx="452160" cy="4950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2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5486400" y="1155600"/>
            <a:ext cx="5939640" cy="13676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5486400" y="2669040"/>
            <a:ext cx="5936040" cy="98928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9" name=""/>
          <p:cNvSpPr/>
          <p:nvPr/>
        </p:nvSpPr>
        <p:spPr>
          <a:xfrm>
            <a:off x="5486400" y="3810600"/>
            <a:ext cx="5936040" cy="13964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Picture 7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Rectangle 74"/>
          <p:cNvSpPr/>
          <p:nvPr/>
        </p:nvSpPr>
        <p:spPr>
          <a:xfrm>
            <a:off x="5486400" y="1143000"/>
            <a:ext cx="61718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Many of these software tools were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originally implemented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as R or Python packages, for use in analysis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 datasets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ctangle 75"/>
          <p:cNvSpPr/>
          <p:nvPr/>
        </p:nvSpPr>
        <p:spPr>
          <a:xfrm>
            <a:off x="5486400" y="2669040"/>
            <a:ext cx="593964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similar number of markers,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 unmixing variation due to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6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number of events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76"/>
          <p:cNvSpPr/>
          <p:nvPr/>
        </p:nvSpPr>
        <p:spPr>
          <a:xfrm>
            <a:off x="5486400" y="374868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substantially more markers, typically way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events.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No equivalent “negative” gate events for not expressed transcripts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77"/>
          <p:cNvSpPr/>
          <p:nvPr/>
        </p:nvSpPr>
        <p:spPr>
          <a:xfrm>
            <a:off x="5486400" y="5332680"/>
            <a:ext cx="5939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Down-sampling becomes often necessary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5486400" y="5332680"/>
            <a:ext cx="5939640" cy="60696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381240" y="2057400"/>
            <a:ext cx="4872600" cy="26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4600" cy="29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"/>
          <p:cNvSpPr/>
          <p:nvPr/>
        </p:nvSpPr>
        <p:spPr>
          <a:xfrm>
            <a:off x="230040" y="1229040"/>
            <a:ext cx="5481000" cy="136620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2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"/>
          <p:cNvSpPr/>
          <p:nvPr/>
        </p:nvSpPr>
        <p:spPr>
          <a:xfrm>
            <a:off x="101880" y="89280"/>
            <a:ext cx="1200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78"/>
          <p:cNvSpPr/>
          <p:nvPr/>
        </p:nvSpPr>
        <p:spPr>
          <a:xfrm>
            <a:off x="228600" y="1192680"/>
            <a:ext cx="54860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228600" y="4343400"/>
            <a:ext cx="5481000" cy="136620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228600" y="2780640"/>
            <a:ext cx="5481000" cy="136620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"/>
          <p:cNvSpPr/>
          <p:nvPr/>
        </p:nvSpPr>
        <p:spPr>
          <a:xfrm>
            <a:off x="101880" y="89280"/>
            <a:ext cx="1200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9880" cy="464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9040" cy="1139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>
            <a:off x="7929000" y="2900880"/>
            <a:ext cx="4114440" cy="131400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4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"/>
          <p:cNvSpPr/>
          <p:nvPr/>
        </p:nvSpPr>
        <p:spPr>
          <a:xfrm>
            <a:off x="101880" y="89280"/>
            <a:ext cx="1200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79"/>
          <p:cNvSpPr/>
          <p:nvPr/>
        </p:nvSpPr>
        <p:spPr>
          <a:xfrm>
            <a:off x="7929000" y="2900880"/>
            <a:ext cx="411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 descr=""/>
          <p:cNvPicPr/>
          <p:nvPr/>
        </p:nvPicPr>
        <p:blipFill>
          <a:blip r:embed="rId3"/>
          <a:srcRect l="0" t="0" r="0" b="9428"/>
          <a:stretch/>
        </p:blipFill>
        <p:spPr>
          <a:xfrm>
            <a:off x="228600" y="1371600"/>
            <a:ext cx="7543440" cy="38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Picture 9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1440" cy="585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Picture 2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Picture 97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Picture 98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7200" cy="356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6" name="Picture 100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7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Picture 10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40" name=""/>
          <p:cNvGrpSpPr/>
          <p:nvPr/>
        </p:nvGrpSpPr>
        <p:grpSpPr>
          <a:xfrm>
            <a:off x="914400" y="757800"/>
            <a:ext cx="2283480" cy="5640480"/>
            <a:chOff x="914400" y="757800"/>
            <a:chExt cx="2283480" cy="5640480"/>
          </a:xfrm>
        </p:grpSpPr>
        <p:pic>
          <p:nvPicPr>
            <p:cNvPr id="341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3480" cy="25722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2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6640" cy="30733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43" name="Picture 10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7080" cy="540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>
            <a:off x="6118920" y="3496680"/>
            <a:ext cx="5103000" cy="143460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6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7560" cy="60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Picture 82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7960" cy="548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Box 15"/>
          <p:cNvSpPr/>
          <p:nvPr/>
        </p:nvSpPr>
        <p:spPr>
          <a:xfrm>
            <a:off x="6095880" y="1191240"/>
            <a:ext cx="504396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My over-caffeinated at 3 AM thoughts: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28"/>
          <p:cNvSpPr/>
          <p:nvPr/>
        </p:nvSpPr>
        <p:spPr>
          <a:xfrm>
            <a:off x="6118920" y="3223800"/>
            <a:ext cx="5043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6095880" y="1847880"/>
            <a:ext cx="5103000" cy="143460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>
            <a:off x="4343400" y="3429000"/>
            <a:ext cx="3425400" cy="68220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4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"/>
          <p:cNvSpPr/>
          <p:nvPr/>
        </p:nvSpPr>
        <p:spPr>
          <a:xfrm>
            <a:off x="0" y="41040"/>
            <a:ext cx="12111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7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56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8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5560" cy="196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687600" y="3476520"/>
            <a:ext cx="3423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8208000" y="3428640"/>
            <a:ext cx="3423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4343400" y="3475800"/>
            <a:ext cx="3423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8440" cy="221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"/>
          <p:cNvSpPr/>
          <p:nvPr/>
        </p:nvSpPr>
        <p:spPr>
          <a:xfrm>
            <a:off x="8206200" y="3428640"/>
            <a:ext cx="3425400" cy="6822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"/>
          <p:cNvSpPr/>
          <p:nvPr/>
        </p:nvSpPr>
        <p:spPr>
          <a:xfrm>
            <a:off x="685800" y="3429000"/>
            <a:ext cx="3425400" cy="68220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6640" cy="145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"/>
          <p:cNvSpPr/>
          <p:nvPr/>
        </p:nvSpPr>
        <p:spPr>
          <a:xfrm>
            <a:off x="6172200" y="5943600"/>
            <a:ext cx="2511000" cy="68220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7" name="Picture 80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2400" cy="172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"/>
          <p:cNvSpPr/>
          <p:nvPr/>
        </p:nvSpPr>
        <p:spPr>
          <a:xfrm>
            <a:off x="6930000" y="6100200"/>
            <a:ext cx="9597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Picture 172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520" cy="228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486400" y="18288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1" name="Picture 78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"/>
          <p:cNvSpPr/>
          <p:nvPr/>
        </p:nvSpPr>
        <p:spPr>
          <a:xfrm>
            <a:off x="0" y="41040"/>
            <a:ext cx="12111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6402240" y="1457640"/>
            <a:ext cx="5023800" cy="132732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Rectangle 83"/>
          <p:cNvSpPr/>
          <p:nvPr/>
        </p:nvSpPr>
        <p:spPr>
          <a:xfrm>
            <a:off x="6402240" y="141840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6400800" y="3214440"/>
            <a:ext cx="5025240" cy="151020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Rectangle 84"/>
          <p:cNvSpPr/>
          <p:nvPr/>
        </p:nvSpPr>
        <p:spPr>
          <a:xfrm>
            <a:off x="6400800" y="3201480"/>
            <a:ext cx="50238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5486400" y="3585600"/>
            <a:ext cx="680400" cy="68040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3"/>
          <a:stretch/>
        </p:blipFill>
        <p:spPr>
          <a:xfrm>
            <a:off x="651960" y="3357000"/>
            <a:ext cx="2773080" cy="273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50440" cy="456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/>
          <p:nvPr/>
        </p:nvSpPr>
        <p:spPr>
          <a:xfrm>
            <a:off x="1143000" y="4141440"/>
            <a:ext cx="118332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143000" y="1525320"/>
            <a:ext cx="118332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6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PlaceHolder 4"/>
          <p:cNvSpPr/>
          <p:nvPr/>
        </p:nvSpPr>
        <p:spPr>
          <a:xfrm>
            <a:off x="231840" y="47880"/>
            <a:ext cx="12108960" cy="6346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6760" cy="479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"/>
          <p:cNvSpPr/>
          <p:nvPr/>
        </p:nvSpPr>
        <p:spPr>
          <a:xfrm>
            <a:off x="1600200" y="4239000"/>
            <a:ext cx="111168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1600200" y="1537560"/>
            <a:ext cx="111168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4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PlaceHolder 5"/>
          <p:cNvSpPr/>
          <p:nvPr/>
        </p:nvSpPr>
        <p:spPr>
          <a:xfrm>
            <a:off x="0" y="228600"/>
            <a:ext cx="12108960" cy="6346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7317000" y="1144800"/>
            <a:ext cx="4566600" cy="136620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7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"/>
          <p:cNvSpPr/>
          <p:nvPr/>
        </p:nvSpPr>
        <p:spPr>
          <a:xfrm>
            <a:off x="101880" y="89280"/>
            <a:ext cx="1200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How to identify problematic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"/>
          <p:cNvSpPr/>
          <p:nvPr/>
        </p:nvSpPr>
        <p:spPr>
          <a:xfrm>
            <a:off x="7399800" y="1143000"/>
            <a:ext cx="4568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7315200" y="2514600"/>
            <a:ext cx="4568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7387200" y="3922200"/>
            <a:ext cx="4568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7315200" y="2552400"/>
            <a:ext cx="4566600" cy="136620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4" name=""/>
          <p:cNvSpPr/>
          <p:nvPr/>
        </p:nvSpPr>
        <p:spPr>
          <a:xfrm>
            <a:off x="7281000" y="3994200"/>
            <a:ext cx="4566600" cy="136620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6587640" cy="320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600" cy="59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840" cy="248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7"/>
          <p:cNvSpPr/>
          <p:nvPr/>
        </p:nvSpPr>
        <p:spPr>
          <a:xfrm>
            <a:off x="1491480" y="5803560"/>
            <a:ext cx="1975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520" cy="150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"/>
          <p:cNvSpPr/>
          <p:nvPr/>
        </p:nvSpPr>
        <p:spPr>
          <a:xfrm>
            <a:off x="6028200" y="914400"/>
            <a:ext cx="4112640" cy="5484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600" cy="59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840" cy="248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Box 11"/>
          <p:cNvSpPr/>
          <p:nvPr/>
        </p:nvSpPr>
        <p:spPr>
          <a:xfrm>
            <a:off x="1491480" y="5803560"/>
            <a:ext cx="1975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520" cy="150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/>
          <p:nvPr/>
        </p:nvSpPr>
        <p:spPr>
          <a:xfrm>
            <a:off x="7979400" y="1143000"/>
            <a:ext cx="2075400" cy="5255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2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600" cy="59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4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840" cy="248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Box 12"/>
          <p:cNvSpPr/>
          <p:nvPr/>
        </p:nvSpPr>
        <p:spPr>
          <a:xfrm>
            <a:off x="1491480" y="5803560"/>
            <a:ext cx="1975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520" cy="150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7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/>
          <p:nvPr/>
        </p:nvSpPr>
        <p:spPr>
          <a:xfrm>
            <a:off x="6487920" y="2309040"/>
            <a:ext cx="4542120" cy="201492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3080" cy="154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"/>
          <p:cNvSpPr/>
          <p:nvPr/>
        </p:nvSpPr>
        <p:spPr>
          <a:xfrm>
            <a:off x="6993360" y="3948840"/>
            <a:ext cx="353160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928440" y="3677040"/>
            <a:ext cx="5047560" cy="201492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6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4840" cy="146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"/>
          <p:cNvSpPr/>
          <p:nvPr/>
        </p:nvSpPr>
        <p:spPr>
          <a:xfrm>
            <a:off x="1686600" y="5356800"/>
            <a:ext cx="353124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914400" y="1143000"/>
            <a:ext cx="5061600" cy="227448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39" name=""/>
          <p:cNvGrpSpPr/>
          <p:nvPr/>
        </p:nvGrpSpPr>
        <p:grpSpPr>
          <a:xfrm>
            <a:off x="1686600" y="1233360"/>
            <a:ext cx="3943440" cy="1780920"/>
            <a:chOff x="1686600" y="1233360"/>
            <a:chExt cx="3943440" cy="1780920"/>
          </a:xfrm>
        </p:grpSpPr>
        <p:sp>
          <p:nvSpPr>
            <p:cNvPr id="440" name="Arrow: Right 2"/>
            <p:cNvSpPr/>
            <p:nvPr/>
          </p:nvSpPr>
          <p:spPr>
            <a:xfrm rot="10800000">
              <a:off x="4871880" y="1357920"/>
              <a:ext cx="415080" cy="2185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41" name="TextBox 4"/>
            <p:cNvSpPr/>
            <p:nvPr/>
          </p:nvSpPr>
          <p:spPr>
            <a:xfrm>
              <a:off x="4759200" y="1613520"/>
              <a:ext cx="87084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42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1960" cy="1780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43" name="TextBox 3"/>
            <p:cNvSpPr/>
            <p:nvPr/>
          </p:nvSpPr>
          <p:spPr>
            <a:xfrm>
              <a:off x="3405960" y="1486440"/>
              <a:ext cx="62496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Arrow: Right 1"/>
            <p:cNvSpPr/>
            <p:nvPr/>
          </p:nvSpPr>
          <p:spPr>
            <a:xfrm>
              <a:off x="4076640" y="1538280"/>
              <a:ext cx="217080" cy="2181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45" name=""/>
          <p:cNvSpPr/>
          <p:nvPr/>
        </p:nvSpPr>
        <p:spPr>
          <a:xfrm>
            <a:off x="1939320" y="3028680"/>
            <a:ext cx="277272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"/>
          <p:cNvSpPr/>
          <p:nvPr/>
        </p:nvSpPr>
        <p:spPr>
          <a:xfrm>
            <a:off x="516600" y="3854880"/>
            <a:ext cx="6168960" cy="7156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7" name=""/>
          <p:cNvSpPr/>
          <p:nvPr/>
        </p:nvSpPr>
        <p:spPr>
          <a:xfrm>
            <a:off x="509400" y="2660400"/>
            <a:ext cx="6176160" cy="102096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4720" cy="29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277200" y="961920"/>
            <a:ext cx="558828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"/>
          <p:cNvSpPr/>
          <p:nvPr/>
        </p:nvSpPr>
        <p:spPr>
          <a:xfrm>
            <a:off x="468000" y="2588400"/>
            <a:ext cx="64335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480600" y="3813840"/>
            <a:ext cx="63975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47520"/>
            <a:ext cx="1234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3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"/>
          <p:cNvSpPr/>
          <p:nvPr/>
        </p:nvSpPr>
        <p:spPr>
          <a:xfrm>
            <a:off x="516600" y="1444320"/>
            <a:ext cx="6168240" cy="105768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473400" y="1408320"/>
            <a:ext cx="61761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>
            <a:off x="5257800" y="2861640"/>
            <a:ext cx="5939640" cy="98604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8" name=""/>
          <p:cNvSpPr/>
          <p:nvPr/>
        </p:nvSpPr>
        <p:spPr>
          <a:xfrm>
            <a:off x="5255280" y="4057920"/>
            <a:ext cx="5952240" cy="108972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9" name=""/>
          <p:cNvSpPr/>
          <p:nvPr/>
        </p:nvSpPr>
        <p:spPr>
          <a:xfrm>
            <a:off x="5258520" y="1494720"/>
            <a:ext cx="5939640" cy="11372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60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3240" cy="201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8760" cy="199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5259240" y="1539000"/>
            <a:ext cx="61675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5221800" y="3987360"/>
            <a:ext cx="59497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5257800" y="2791080"/>
            <a:ext cx="5939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46800"/>
            <a:ext cx="1218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7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8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49440" cy="2630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217800" y="2178000"/>
            <a:ext cx="4352040" cy="172800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251280" y="4057920"/>
            <a:ext cx="4318560" cy="165492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1" name=""/>
          <p:cNvSpPr/>
          <p:nvPr/>
        </p:nvSpPr>
        <p:spPr>
          <a:xfrm>
            <a:off x="228600" y="1494720"/>
            <a:ext cx="4315320" cy="5605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2" name=""/>
          <p:cNvSpPr/>
          <p:nvPr/>
        </p:nvSpPr>
        <p:spPr>
          <a:xfrm>
            <a:off x="255240" y="1539000"/>
            <a:ext cx="4314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217800" y="3987360"/>
            <a:ext cx="435204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81800" y="2142000"/>
            <a:ext cx="438804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46800"/>
            <a:ext cx="1218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77" name=""/>
          <p:cNvGrpSpPr/>
          <p:nvPr/>
        </p:nvGrpSpPr>
        <p:grpSpPr>
          <a:xfrm>
            <a:off x="4800600" y="1092600"/>
            <a:ext cx="6627240" cy="2105640"/>
            <a:chOff x="4800600" y="1092600"/>
            <a:chExt cx="6627240" cy="2105640"/>
          </a:xfrm>
        </p:grpSpPr>
        <p:pic>
          <p:nvPicPr>
            <p:cNvPr id="478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7240" cy="2098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79" name=""/>
            <p:cNvSpPr/>
            <p:nvPr/>
          </p:nvSpPr>
          <p:spPr>
            <a:xfrm>
              <a:off x="5064120" y="1103040"/>
              <a:ext cx="3309480" cy="19152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80" name=""/>
            <p:cNvSpPr/>
            <p:nvPr/>
          </p:nvSpPr>
          <p:spPr>
            <a:xfrm>
              <a:off x="8028000" y="1092600"/>
              <a:ext cx="3309480" cy="19116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81" name="Picture 96" descr="A group of images of a square&#10;&#10;AI-generated content may be incorrect."/>
          <p:cNvPicPr/>
          <p:nvPr/>
        </p:nvPicPr>
        <p:blipFill>
          <a:blip r:embed="rId3"/>
          <a:srcRect l="0" t="67008" r="0" b="0"/>
          <a:stretch/>
        </p:blipFill>
        <p:spPr>
          <a:xfrm>
            <a:off x="5029200" y="3373200"/>
            <a:ext cx="6062040" cy="256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TextBox 10"/>
          <p:cNvSpPr/>
          <p:nvPr/>
        </p:nvSpPr>
        <p:spPr>
          <a:xfrm>
            <a:off x="5221800" y="5943600"/>
            <a:ext cx="3198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13"/>
          <p:cNvSpPr/>
          <p:nvPr/>
        </p:nvSpPr>
        <p:spPr>
          <a:xfrm>
            <a:off x="8001000" y="5991120"/>
            <a:ext cx="3198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 rot="7421400">
            <a:off x="9690840" y="1180440"/>
            <a:ext cx="455040" cy="45504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Picture 1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8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"/>
          <p:cNvSpPr/>
          <p:nvPr/>
        </p:nvSpPr>
        <p:spPr>
          <a:xfrm>
            <a:off x="5486400" y="18288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7" name="Picture 16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"/>
          <p:cNvSpPr/>
          <p:nvPr/>
        </p:nvSpPr>
        <p:spPr>
          <a:xfrm>
            <a:off x="0" y="41040"/>
            <a:ext cx="12112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6402240" y="1457640"/>
            <a:ext cx="5024160" cy="132768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0" name="Rectangle 66"/>
          <p:cNvSpPr/>
          <p:nvPr/>
        </p:nvSpPr>
        <p:spPr>
          <a:xfrm>
            <a:off x="6402240" y="141840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400800" y="3214440"/>
            <a:ext cx="5025600" cy="151056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2" name="Rectangle 67"/>
          <p:cNvSpPr/>
          <p:nvPr/>
        </p:nvSpPr>
        <p:spPr>
          <a:xfrm>
            <a:off x="6400800" y="320148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5486400" y="35856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4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440" cy="273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6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7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Picture 20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Arrow: Down 3"/>
          <p:cNvSpPr/>
          <p:nvPr/>
        </p:nvSpPr>
        <p:spPr>
          <a:xfrm>
            <a:off x="7251480" y="829440"/>
            <a:ext cx="518040" cy="7520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1" name="Picture 6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Picture 4" descr=""/>
          <p:cNvPicPr/>
          <p:nvPr/>
        </p:nvPicPr>
        <p:blipFill>
          <a:blip r:embed="rId1"/>
          <a:srcRect l="28389" t="0" r="46288" b="0"/>
          <a:stretch/>
        </p:blipFill>
        <p:spPr>
          <a:xfrm>
            <a:off x="3166200" y="293040"/>
            <a:ext cx="2318760" cy="641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880" cy="286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TextBox 8"/>
          <p:cNvSpPr/>
          <p:nvPr/>
        </p:nvSpPr>
        <p:spPr>
          <a:xfrm>
            <a:off x="499680" y="5584680"/>
            <a:ext cx="210312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880" cy="182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Picture 43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480" cy="177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Picture 10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Picture 105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8360" cy="445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Box 14"/>
          <p:cNvSpPr/>
          <p:nvPr/>
        </p:nvSpPr>
        <p:spPr>
          <a:xfrm>
            <a:off x="6531840" y="1122480"/>
            <a:ext cx="444852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557400" y="1407600"/>
            <a:ext cx="3955680" cy="136908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6557400" y="3999600"/>
            <a:ext cx="3955680" cy="9417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6531840" y="2905920"/>
            <a:ext cx="3955680" cy="94176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8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Picture 6" descr=""/>
          <p:cNvPicPr/>
          <p:nvPr/>
        </p:nvPicPr>
        <p:blipFill>
          <a:blip r:embed="rId1"/>
          <a:srcRect l="28389" t="0" r="23840" b="0"/>
          <a:stretch/>
        </p:blipFill>
        <p:spPr>
          <a:xfrm>
            <a:off x="3166200" y="293040"/>
            <a:ext cx="4376160" cy="641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Picture 63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880" cy="286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TextBox 1"/>
          <p:cNvSpPr/>
          <p:nvPr/>
        </p:nvSpPr>
        <p:spPr>
          <a:xfrm>
            <a:off x="499680" y="5584680"/>
            <a:ext cx="21031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3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880" cy="182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4" name="Picture 85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5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7" name="Picture 8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480" cy="177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Picture 106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4760" cy="530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9" name="Picture 10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29640" cy="251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0" name="Picture 10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1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Picture 86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1360" cy="641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Picture 87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49880" cy="286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5" name="TextBox 6"/>
          <p:cNvSpPr/>
          <p:nvPr/>
        </p:nvSpPr>
        <p:spPr>
          <a:xfrm>
            <a:off x="499680" y="5584680"/>
            <a:ext cx="21031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29880" cy="182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Picture 88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Rectangle 10"/>
          <p:cNvSpPr/>
          <p:nvPr/>
        </p:nvSpPr>
        <p:spPr>
          <a:xfrm>
            <a:off x="7864560" y="1079280"/>
            <a:ext cx="387180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terminal nodes for re-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Picture 127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5600" cy="560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Picture 12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"/>
          <p:cNvSpPr/>
          <p:nvPr/>
        </p:nvSpPr>
        <p:spPr>
          <a:xfrm>
            <a:off x="7864560" y="1079280"/>
            <a:ext cx="3791520" cy="97560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Selectively re-aggregate in seconds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Picture 123" descr=""/>
          <p:cNvPicPr/>
          <p:nvPr/>
        </p:nvPicPr>
        <p:blipFill>
          <a:blip r:embed="rId1"/>
          <a:stretch/>
        </p:blipFill>
        <p:spPr>
          <a:xfrm>
            <a:off x="1523880" y="172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Arrow: Down 4"/>
          <p:cNvSpPr/>
          <p:nvPr/>
        </p:nvSpPr>
        <p:spPr>
          <a:xfrm rot="5366400">
            <a:off x="5482080" y="-723600"/>
            <a:ext cx="518040" cy="4057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8" name="Picture 12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Arrow: Down 1"/>
          <p:cNvSpPr/>
          <p:nvPr/>
        </p:nvSpPr>
        <p:spPr>
          <a:xfrm rot="5366400">
            <a:off x="6239880" y="557640"/>
            <a:ext cx="547200" cy="2512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>
            <a:off x="9817200" y="1335600"/>
            <a:ext cx="1841040" cy="41004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" descr=""/>
          <p:cNvPicPr/>
          <p:nvPr/>
        </p:nvPicPr>
        <p:blipFill>
          <a:blip r:embed="rId1"/>
          <a:stretch/>
        </p:blipFill>
        <p:spPr>
          <a:xfrm>
            <a:off x="228960" y="2532960"/>
            <a:ext cx="9371880" cy="145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3" name="" descr=""/>
          <p:cNvPicPr/>
          <p:nvPr/>
        </p:nvPicPr>
        <p:blipFill>
          <a:blip r:embed="rId2"/>
          <a:stretch/>
        </p:blipFill>
        <p:spPr>
          <a:xfrm>
            <a:off x="228960" y="4147920"/>
            <a:ext cx="9371880" cy="145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4" name="" descr=""/>
          <p:cNvPicPr/>
          <p:nvPr/>
        </p:nvPicPr>
        <p:blipFill>
          <a:blip r:embed="rId3"/>
          <a:stretch/>
        </p:blipFill>
        <p:spPr>
          <a:xfrm>
            <a:off x="228960" y="1053720"/>
            <a:ext cx="9371880" cy="145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Retrieve marker expression by individual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6" name="Picture 110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"/>
          <p:cNvSpPr/>
          <p:nvPr/>
        </p:nvSpPr>
        <p:spPr>
          <a:xfrm>
            <a:off x="9817200" y="2919600"/>
            <a:ext cx="1826280" cy="4100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9817200" y="4572000"/>
            <a:ext cx="1826280" cy="5774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Rectangle 5"/>
          <p:cNvSpPr/>
          <p:nvPr/>
        </p:nvSpPr>
        <p:spPr>
          <a:xfrm>
            <a:off x="9637200" y="1335600"/>
            <a:ext cx="2285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1"/>
          <p:cNvSpPr/>
          <p:nvPr/>
        </p:nvSpPr>
        <p:spPr>
          <a:xfrm>
            <a:off x="9637200" y="2919600"/>
            <a:ext cx="2285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9997200" y="4656600"/>
            <a:ext cx="16182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Picture 12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120" cy="639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Arrow: Down 5"/>
          <p:cNvSpPr/>
          <p:nvPr/>
        </p:nvSpPr>
        <p:spPr>
          <a:xfrm>
            <a:off x="7251480" y="829440"/>
            <a:ext cx="518040" cy="7520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6" name="Picture 1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Rectangle 8"/>
          <p:cNvSpPr/>
          <p:nvPr/>
        </p:nvSpPr>
        <p:spPr>
          <a:xfrm>
            <a:off x="7864560" y="1079280"/>
            <a:ext cx="387180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Picture 117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5600" cy="560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Picture 12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"/>
          <p:cNvSpPr/>
          <p:nvPr/>
        </p:nvSpPr>
        <p:spPr>
          <a:xfrm>
            <a:off x="7864560" y="1079280"/>
            <a:ext cx="3791520" cy="97560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7864560" y="2186280"/>
            <a:ext cx="3791520" cy="747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7864560" y="3007800"/>
            <a:ext cx="3791520" cy="14410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7864560" y="4572000"/>
            <a:ext cx="3791520" cy="10274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Picture 1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3"/>
          <a:stretch/>
        </p:blipFill>
        <p:spPr>
          <a:xfrm>
            <a:off x="456840" y="1191600"/>
            <a:ext cx="7544160" cy="411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"/>
          <p:cNvSpPr txBox="1"/>
          <p:nvPr/>
        </p:nvSpPr>
        <p:spPr>
          <a:xfrm>
            <a:off x="0" y="89280"/>
            <a:ext cx="12192120" cy="1101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Biology is (fortunately) not just math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Picture 8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3800" cy="578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Picture 9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7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1960" cy="420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0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Picture 10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2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" descr=""/>
          <p:cNvPicPr/>
          <p:nvPr/>
        </p:nvPicPr>
        <p:blipFill>
          <a:blip r:embed="rId3"/>
          <a:stretch/>
        </p:blipFill>
        <p:spPr>
          <a:xfrm>
            <a:off x="4286520" y="914400"/>
            <a:ext cx="4400280" cy="458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" descr=""/>
          <p:cNvPicPr/>
          <p:nvPr/>
        </p:nvPicPr>
        <p:blipFill>
          <a:blip r:embed="rId4"/>
          <a:stretch/>
        </p:blipFill>
        <p:spPr>
          <a:xfrm>
            <a:off x="457200" y="914400"/>
            <a:ext cx="3337560" cy="457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5" name="" descr=""/>
          <p:cNvPicPr/>
          <p:nvPr/>
        </p:nvPicPr>
        <p:blipFill>
          <a:blip r:embed="rId5"/>
          <a:stretch/>
        </p:blipFill>
        <p:spPr>
          <a:xfrm>
            <a:off x="9141840" y="914400"/>
            <a:ext cx="2288160" cy="458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"/>
          <p:cNvSpPr/>
          <p:nvPr/>
        </p:nvSpPr>
        <p:spPr>
          <a:xfrm>
            <a:off x="1143000" y="5569560"/>
            <a:ext cx="1733040" cy="41004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5844960" y="5643000"/>
            <a:ext cx="1696320" cy="4100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9601200" y="5594760"/>
            <a:ext cx="1600200" cy="3488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9655200" y="5558760"/>
            <a:ext cx="1618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844960" y="5664960"/>
            <a:ext cx="1696320" cy="68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164960" y="5569560"/>
            <a:ext cx="1711080" cy="68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0" y="112680"/>
            <a:ext cx="12115800" cy="1102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Cord blood T cells - Baseline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Published in Frontiers in Immunology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Picture 118" descr=""/>
          <p:cNvPicPr/>
          <p:nvPr/>
        </p:nvPicPr>
        <p:blipFill>
          <a:blip r:embed="rId1"/>
          <a:stretch/>
        </p:blipFill>
        <p:spPr>
          <a:xfrm>
            <a:off x="1958760" y="1035000"/>
            <a:ext cx="5829840" cy="463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95640" y="2514600"/>
            <a:ext cx="1514160" cy="151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Box 16"/>
          <p:cNvSpPr/>
          <p:nvPr/>
        </p:nvSpPr>
        <p:spPr>
          <a:xfrm>
            <a:off x="318600" y="4118760"/>
            <a:ext cx="12736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Picture 121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Picture 1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0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1" name="" descr=""/>
          <p:cNvPicPr/>
          <p:nvPr/>
        </p:nvPicPr>
        <p:blipFill>
          <a:blip r:embed="rId3"/>
          <a:stretch/>
        </p:blipFill>
        <p:spPr>
          <a:xfrm>
            <a:off x="4358160" y="3429000"/>
            <a:ext cx="3657240" cy="274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2" name="" descr=""/>
          <p:cNvPicPr/>
          <p:nvPr/>
        </p:nvPicPr>
        <p:blipFill>
          <a:blip r:embed="rId4"/>
          <a:stretch/>
        </p:blipFill>
        <p:spPr>
          <a:xfrm>
            <a:off x="4125600" y="842400"/>
            <a:ext cx="4138200" cy="258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3" name="" descr=""/>
          <p:cNvPicPr/>
          <p:nvPr/>
        </p:nvPicPr>
        <p:blipFill>
          <a:blip r:embed="rId5"/>
          <a:stretch/>
        </p:blipFill>
        <p:spPr>
          <a:xfrm>
            <a:off x="8263800" y="806400"/>
            <a:ext cx="3657240" cy="274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4" name="" descr=""/>
          <p:cNvPicPr/>
          <p:nvPr/>
        </p:nvPicPr>
        <p:blipFill>
          <a:blip r:embed="rId6"/>
          <a:stretch/>
        </p:blipFill>
        <p:spPr>
          <a:xfrm>
            <a:off x="548640" y="1029960"/>
            <a:ext cx="3337560" cy="457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Picture 1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6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17" name=""/>
          <p:cNvGrpSpPr/>
          <p:nvPr/>
        </p:nvGrpSpPr>
        <p:grpSpPr>
          <a:xfrm>
            <a:off x="775800" y="914400"/>
            <a:ext cx="6172200" cy="4800600"/>
            <a:chOff x="775800" y="914400"/>
            <a:chExt cx="6172200" cy="4800600"/>
          </a:xfrm>
        </p:grpSpPr>
        <p:pic>
          <p:nvPicPr>
            <p:cNvPr id="618" name="" descr=""/>
            <p:cNvPicPr/>
            <p:nvPr/>
          </p:nvPicPr>
          <p:blipFill>
            <a:blip r:embed="rId3"/>
            <a:stretch/>
          </p:blipFill>
          <p:spPr>
            <a:xfrm>
              <a:off x="3531600" y="3257280"/>
              <a:ext cx="3416400" cy="2457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9" name="" descr=""/>
            <p:cNvPicPr/>
            <p:nvPr/>
          </p:nvPicPr>
          <p:blipFill>
            <a:blip r:embed="rId4"/>
            <a:stretch/>
          </p:blipFill>
          <p:spPr>
            <a:xfrm>
              <a:off x="3531600" y="914400"/>
              <a:ext cx="3256920" cy="2342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20" name="" descr=""/>
            <p:cNvPicPr/>
            <p:nvPr/>
          </p:nvPicPr>
          <p:blipFill>
            <a:blip r:embed="rId5"/>
            <a:stretch/>
          </p:blipFill>
          <p:spPr>
            <a:xfrm>
              <a:off x="775800" y="1050480"/>
              <a:ext cx="2254680" cy="44280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TextBox 5"/>
          <p:cNvSpPr/>
          <p:nvPr/>
        </p:nvSpPr>
        <p:spPr>
          <a:xfrm>
            <a:off x="7269840" y="1225800"/>
            <a:ext cx="4731120" cy="56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120" cy="636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2640" cy="451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4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120" cy="39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5" name=""/>
          <p:cNvSpPr/>
          <p:nvPr/>
        </p:nvSpPr>
        <p:spPr>
          <a:xfrm>
            <a:off x="7315200" y="1297800"/>
            <a:ext cx="4340880" cy="37188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>
            <a:off x="7315200" y="1949400"/>
            <a:ext cx="4340880" cy="15976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7315200" y="3765600"/>
            <a:ext cx="4340880" cy="159768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9" name="Picture 13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8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0" name=""/>
          <p:cNvSpPr/>
          <p:nvPr/>
        </p:nvSpPr>
        <p:spPr>
          <a:xfrm>
            <a:off x="5486400" y="18288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31" name="Picture 134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2" name=""/>
          <p:cNvSpPr/>
          <p:nvPr/>
        </p:nvSpPr>
        <p:spPr>
          <a:xfrm>
            <a:off x="0" y="41040"/>
            <a:ext cx="12112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6402240" y="1457640"/>
            <a:ext cx="5024160" cy="132768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4" name="Rectangle 20"/>
          <p:cNvSpPr/>
          <p:nvPr/>
        </p:nvSpPr>
        <p:spPr>
          <a:xfrm>
            <a:off x="6402240" y="141840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6400800" y="3214440"/>
            <a:ext cx="5025600" cy="151056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6" name="Rectangle 21"/>
          <p:cNvSpPr/>
          <p:nvPr/>
        </p:nvSpPr>
        <p:spPr>
          <a:xfrm>
            <a:off x="6400800" y="320148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>
            <a:off x="5486400" y="35856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440" cy="273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9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0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41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"/>
          <p:cNvSpPr/>
          <p:nvPr/>
        </p:nvSpPr>
        <p:spPr>
          <a:xfrm flipH="1" flipV="1">
            <a:off x="5558760" y="385776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3" name=""/>
          <p:cNvSpPr/>
          <p:nvPr/>
        </p:nvSpPr>
        <p:spPr>
          <a:xfrm flipV="1">
            <a:off x="5751000" y="34416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5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3800" cy="578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6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9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51" name=""/>
          <p:cNvGrpSpPr/>
          <p:nvPr/>
        </p:nvGrpSpPr>
        <p:grpSpPr>
          <a:xfrm>
            <a:off x="5486400" y="1150920"/>
            <a:ext cx="6253560" cy="4336560"/>
            <a:chOff x="5486400" y="1150920"/>
            <a:chExt cx="6253560" cy="4336560"/>
          </a:xfrm>
        </p:grpSpPr>
        <p:pic>
          <p:nvPicPr>
            <p:cNvPr id="652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3560" cy="4336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53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39640" cy="25682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54" name=""/>
          <p:cNvSpPr/>
          <p:nvPr/>
        </p:nvSpPr>
        <p:spPr>
          <a:xfrm>
            <a:off x="444600" y="1150920"/>
            <a:ext cx="4565160" cy="4561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5" name="Rectangle 9"/>
          <p:cNvSpPr/>
          <p:nvPr/>
        </p:nvSpPr>
        <p:spPr>
          <a:xfrm>
            <a:off x="415440" y="1186920"/>
            <a:ext cx="46112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7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8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8760" cy="151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9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5680" cy="401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0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1000" cy="145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1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3600" cy="11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2" name="PlaceHolder 27"/>
          <p:cNvSpPr/>
          <p:nvPr/>
        </p:nvSpPr>
        <p:spPr>
          <a:xfrm>
            <a:off x="613800" y="4836600"/>
            <a:ext cx="1548000" cy="10450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3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"/>
          <p:cNvSpPr/>
          <p:nvPr/>
        </p:nvSpPr>
        <p:spPr>
          <a:xfrm>
            <a:off x="6629400" y="1467000"/>
            <a:ext cx="4338360" cy="3785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65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9600" cy="552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Rectangle 23"/>
          <p:cNvSpPr/>
          <p:nvPr/>
        </p:nvSpPr>
        <p:spPr>
          <a:xfrm>
            <a:off x="6665400" y="1467000"/>
            <a:ext cx="45957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8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"/>
          <p:cNvSpPr/>
          <p:nvPr/>
        </p:nvSpPr>
        <p:spPr>
          <a:xfrm>
            <a:off x="252000" y="1238040"/>
            <a:ext cx="4651200" cy="4242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Rectangle 24"/>
          <p:cNvSpPr/>
          <p:nvPr/>
        </p:nvSpPr>
        <p:spPr>
          <a:xfrm>
            <a:off x="307440" y="1443600"/>
            <a:ext cx="45957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3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4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8200" cy="441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"/>
          <p:cNvSpPr/>
          <p:nvPr/>
        </p:nvSpPr>
        <p:spPr>
          <a:xfrm>
            <a:off x="6773760" y="914400"/>
            <a:ext cx="4651200" cy="4795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Rectangle 25"/>
          <p:cNvSpPr/>
          <p:nvPr/>
        </p:nvSpPr>
        <p:spPr>
          <a:xfrm>
            <a:off x="6828480" y="1048680"/>
            <a:ext cx="459576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9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0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1520" cy="481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"/>
          <p:cNvSpPr/>
          <p:nvPr/>
        </p:nvSpPr>
        <p:spPr>
          <a:xfrm>
            <a:off x="685800" y="2561400"/>
            <a:ext cx="4651200" cy="1366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Rectangle 26"/>
          <p:cNvSpPr/>
          <p:nvPr/>
        </p:nvSpPr>
        <p:spPr>
          <a:xfrm>
            <a:off x="717480" y="2561400"/>
            <a:ext cx="4595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4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5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3440" cy="50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"/>
          <p:cNvSpPr/>
          <p:nvPr/>
        </p:nvSpPr>
        <p:spPr>
          <a:xfrm>
            <a:off x="2569320" y="4523400"/>
            <a:ext cx="6622560" cy="15933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4"/>
          <p:cNvSpPr/>
          <p:nvPr/>
        </p:nvSpPr>
        <p:spPr>
          <a:xfrm>
            <a:off x="2569320" y="4523400"/>
            <a:ext cx="7023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9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0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3560" cy="3440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2" name=""/>
          <p:cNvSpPr/>
          <p:nvPr/>
        </p:nvSpPr>
        <p:spPr>
          <a:xfrm rot="19411800">
            <a:off x="10549440" y="793440"/>
            <a:ext cx="454680" cy="911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As a scientist, our community is our strength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4" name="Picture 4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5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" descr=""/>
          <p:cNvPicPr/>
          <p:nvPr/>
        </p:nvPicPr>
        <p:blipFill>
          <a:blip r:embed="rId3"/>
          <a:srcRect l="0" t="0" r="32212" b="0"/>
          <a:stretch/>
        </p:blipFill>
        <p:spPr>
          <a:xfrm>
            <a:off x="2971800" y="1371600"/>
            <a:ext cx="4329360" cy="348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Just my two over-caffeinated cents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8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9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0" name="" descr=""/>
          <p:cNvPicPr/>
          <p:nvPr/>
        </p:nvPicPr>
        <p:blipFill>
          <a:blip r:embed="rId3"/>
          <a:stretch/>
        </p:blipFill>
        <p:spPr>
          <a:xfrm>
            <a:off x="2871720" y="1233720"/>
            <a:ext cx="6958080" cy="379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"/>
          <p:cNvSpPr/>
          <p:nvPr/>
        </p:nvSpPr>
        <p:spPr>
          <a:xfrm>
            <a:off x="8686800" y="5137200"/>
            <a:ext cx="3089880" cy="418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2" name=""/>
          <p:cNvSpPr/>
          <p:nvPr/>
        </p:nvSpPr>
        <p:spPr>
          <a:xfrm>
            <a:off x="349200" y="4885200"/>
            <a:ext cx="2162880" cy="598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3" name=""/>
          <p:cNvSpPr/>
          <p:nvPr/>
        </p:nvSpPr>
        <p:spPr>
          <a:xfrm>
            <a:off x="10395000" y="2685600"/>
            <a:ext cx="1364760" cy="678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4" name=""/>
          <p:cNvSpPr/>
          <p:nvPr/>
        </p:nvSpPr>
        <p:spPr>
          <a:xfrm>
            <a:off x="8458200" y="2649600"/>
            <a:ext cx="1364760" cy="678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>
            <a:off x="4102200" y="3828600"/>
            <a:ext cx="3896280" cy="21124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6" name=""/>
          <p:cNvSpPr/>
          <p:nvPr/>
        </p:nvSpPr>
        <p:spPr>
          <a:xfrm>
            <a:off x="349200" y="3803400"/>
            <a:ext cx="2160360" cy="9093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7" name=""/>
          <p:cNvSpPr/>
          <p:nvPr/>
        </p:nvSpPr>
        <p:spPr>
          <a:xfrm>
            <a:off x="349200" y="1204200"/>
            <a:ext cx="3422160" cy="680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8" name=""/>
          <p:cNvSpPr/>
          <p:nvPr/>
        </p:nvSpPr>
        <p:spPr>
          <a:xfrm>
            <a:off x="338400" y="2118600"/>
            <a:ext cx="3422160" cy="15933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192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0" name="Picture 54" descr=""/>
          <p:cNvPicPr/>
          <p:nvPr/>
        </p:nvPicPr>
        <p:blipFill>
          <a:blip r:embed="rId1"/>
          <a:stretch/>
        </p:blipFill>
        <p:spPr>
          <a:xfrm>
            <a:off x="9290520" y="3457800"/>
            <a:ext cx="2361240" cy="41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1" name="Picture 55" descr=""/>
          <p:cNvPicPr/>
          <p:nvPr/>
        </p:nvPicPr>
        <p:blipFill>
          <a:blip r:embed="rId2"/>
          <a:stretch/>
        </p:blipFill>
        <p:spPr>
          <a:xfrm>
            <a:off x="9673200" y="3812400"/>
            <a:ext cx="198000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Content Placeholder 1"/>
          <p:cNvSpPr/>
          <p:nvPr/>
        </p:nvSpPr>
        <p:spPr>
          <a:xfrm>
            <a:off x="228600" y="3803400"/>
            <a:ext cx="3969720" cy="18187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23"/>
          <p:cNvSpPr/>
          <p:nvPr/>
        </p:nvSpPr>
        <p:spPr>
          <a:xfrm>
            <a:off x="255240" y="1215000"/>
            <a:ext cx="33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Box 24"/>
          <p:cNvSpPr/>
          <p:nvPr/>
        </p:nvSpPr>
        <p:spPr>
          <a:xfrm>
            <a:off x="302400" y="2203200"/>
            <a:ext cx="339732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ontent Placeholder 3"/>
          <p:cNvSpPr/>
          <p:nvPr/>
        </p:nvSpPr>
        <p:spPr>
          <a:xfrm>
            <a:off x="9829800" y="1486800"/>
            <a:ext cx="3969720" cy="18187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Box 25"/>
          <p:cNvSpPr/>
          <p:nvPr/>
        </p:nvSpPr>
        <p:spPr>
          <a:xfrm>
            <a:off x="8001000" y="2846880"/>
            <a:ext cx="225432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26"/>
          <p:cNvSpPr/>
          <p:nvPr/>
        </p:nvSpPr>
        <p:spPr>
          <a:xfrm>
            <a:off x="10287000" y="2895120"/>
            <a:ext cx="15685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8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0680" cy="107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9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6200" cy="89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TextBox 27"/>
          <p:cNvSpPr/>
          <p:nvPr/>
        </p:nvSpPr>
        <p:spPr>
          <a:xfrm>
            <a:off x="228600" y="5065200"/>
            <a:ext cx="34984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1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336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336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3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6600" cy="242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4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6600" cy="93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5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2080" cy="94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Rectangle 14"/>
          <p:cNvSpPr/>
          <p:nvPr/>
        </p:nvSpPr>
        <p:spPr>
          <a:xfrm>
            <a:off x="4138200" y="3850200"/>
            <a:ext cx="373968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Rectangle 15"/>
          <p:cNvSpPr/>
          <p:nvPr/>
        </p:nvSpPr>
        <p:spPr>
          <a:xfrm>
            <a:off x="8602200" y="4201200"/>
            <a:ext cx="373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8" name="" descr=""/>
          <p:cNvPicPr/>
          <p:nvPr/>
        </p:nvPicPr>
        <p:blipFill>
          <a:blip r:embed="rId13"/>
          <a:stretch/>
        </p:blipFill>
        <p:spPr>
          <a:xfrm>
            <a:off x="8769600" y="4201200"/>
            <a:ext cx="399600" cy="35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9" name=""/>
          <p:cNvSpPr/>
          <p:nvPr/>
        </p:nvSpPr>
        <p:spPr>
          <a:xfrm>
            <a:off x="8686800" y="4597200"/>
            <a:ext cx="3089880" cy="418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0" name=""/>
          <p:cNvSpPr/>
          <p:nvPr/>
        </p:nvSpPr>
        <p:spPr>
          <a:xfrm>
            <a:off x="8686800" y="4633200"/>
            <a:ext cx="30052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7894800" y="5172840"/>
            <a:ext cx="30052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                      Hiring?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4"/>
          <a:stretch/>
        </p:blipFill>
        <p:spPr>
          <a:xfrm>
            <a:off x="10395000" y="5208840"/>
            <a:ext cx="399960" cy="33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3360" cy="1320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Rectangle 192"/>
          <p:cNvSpPr/>
          <p:nvPr/>
        </p:nvSpPr>
        <p:spPr>
          <a:xfrm>
            <a:off x="8557200" y="2791800"/>
            <a:ext cx="2966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Rectangle 193"/>
          <p:cNvSpPr/>
          <p:nvPr/>
        </p:nvSpPr>
        <p:spPr>
          <a:xfrm>
            <a:off x="4991400" y="5257800"/>
            <a:ext cx="296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Rectangle 194"/>
          <p:cNvSpPr/>
          <p:nvPr/>
        </p:nvSpPr>
        <p:spPr>
          <a:xfrm>
            <a:off x="4991400" y="2791800"/>
            <a:ext cx="296676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Rectangle 195"/>
          <p:cNvSpPr/>
          <p:nvPr/>
        </p:nvSpPr>
        <p:spPr>
          <a:xfrm>
            <a:off x="876600" y="2791800"/>
            <a:ext cx="296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Rectangle 196"/>
          <p:cNvSpPr/>
          <p:nvPr/>
        </p:nvSpPr>
        <p:spPr>
          <a:xfrm>
            <a:off x="876600" y="5257800"/>
            <a:ext cx="296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Rectangle 197"/>
          <p:cNvSpPr/>
          <p:nvPr/>
        </p:nvSpPr>
        <p:spPr>
          <a:xfrm>
            <a:off x="8557200" y="5029200"/>
            <a:ext cx="2966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0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6360" cy="159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1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2840" cy="159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2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6560" cy="157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3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2480" cy="159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4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7840" y="1121040"/>
            <a:ext cx="1953720" cy="158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5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6360" cy="159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6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7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8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9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0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8040" cy="168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1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2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3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5080" cy="39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"/>
          <p:cNvSpPr/>
          <p:nvPr/>
        </p:nvSpPr>
        <p:spPr>
          <a:xfrm>
            <a:off x="5787000" y="3558600"/>
            <a:ext cx="4726440" cy="78336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920" cy="694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6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040" cy="53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7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6280" cy="475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8" name="Rectangle 27"/>
          <p:cNvSpPr/>
          <p:nvPr/>
        </p:nvSpPr>
        <p:spPr>
          <a:xfrm>
            <a:off x="5730480" y="2142360"/>
            <a:ext cx="5468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Rectangle 28"/>
          <p:cNvSpPr/>
          <p:nvPr/>
        </p:nvSpPr>
        <p:spPr>
          <a:xfrm>
            <a:off x="5751000" y="4163760"/>
            <a:ext cx="49910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ectangle 29"/>
          <p:cNvSpPr/>
          <p:nvPr/>
        </p:nvSpPr>
        <p:spPr>
          <a:xfrm>
            <a:off x="5751000" y="3177360"/>
            <a:ext cx="5468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5787000" y="4601880"/>
            <a:ext cx="4726440" cy="78336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5751000" y="2572200"/>
            <a:ext cx="4762440" cy="78336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3" name="Picture 66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6560" cy="15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920" cy="694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5" name="Picture 67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040" cy="53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6" name="Picture 68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7360" cy="444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7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5200" cy="168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1920" cy="500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1920" cy="500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0" name="Picture 69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2840" cy="159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920" cy="694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Picture 70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7040" cy="53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3" name="Picture 71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5360" cy="517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658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2026-10-22T18:40:27Z</dcterms:modified>
  <cp:revision>71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