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56.png" ContentType="image/png"/>
  <Override PartName="/ppt/media/image55.png" ContentType="image/png"/>
  <Override PartName="/ppt/media/image51.png" ContentType="image/png"/>
  <Override PartName="/ppt/media/image50.svg" ContentType="image/svg"/>
  <Override PartName="/ppt/media/image49.png" ContentType="image/png"/>
  <Override PartName="/ppt/media/image46.png" ContentType="image/png"/>
  <Override PartName="/ppt/media/image45.png" ContentType="image/png"/>
  <Override PartName="/ppt/media/image44.png" ContentType="image/png"/>
  <Override PartName="/ppt/media/image43.png" ContentType="image/png"/>
  <Override PartName="/ppt/media/image47.jpeg" ContentType="image/jpeg"/>
  <Override PartName="/ppt/media/image42.png" ContentType="image/png"/>
  <Override PartName="/ppt/media/image41.png" ContentType="image/png"/>
  <Override PartName="/ppt/media/image53.png" ContentType="image/png"/>
  <Override PartName="/ppt/media/image101.png" ContentType="image/png"/>
  <Override PartName="/ppt/media/image40.svg" ContentType="image/svg"/>
  <Override PartName="/ppt/media/image37.svg" ContentType="image/svg"/>
  <Override PartName="/ppt/media/image35.png" ContentType="image/png"/>
  <Override PartName="/ppt/media/image32.jpeg" ContentType="image/jpeg"/>
  <Override PartName="/ppt/media/image54.png" ContentType="image/png"/>
  <Override PartName="/ppt/media/image102.png" ContentType="image/png"/>
  <Override PartName="/ppt/media/image31.png" ContentType="image/png"/>
  <Override PartName="/ppt/media/image30.png" ContentType="image/png"/>
  <Override PartName="/ppt/media/image52.png" ContentType="image/png"/>
  <Override PartName="/ppt/media/image96.svg" ContentType="image/svg"/>
  <Override PartName="/ppt/media/image100.png" ContentType="image/png"/>
  <Override PartName="/ppt/media/image11.jpeg" ContentType="image/jpeg"/>
  <Override PartName="/ppt/media/image73.png" ContentType="image/png"/>
  <Override PartName="/ppt/media/image28.png" ContentType="image/png"/>
  <Override PartName="/ppt/media/image13.jpeg" ContentType="image/jpeg"/>
  <Override PartName="/ppt/media/image93.png" ContentType="image/png"/>
  <Override PartName="/ppt/media/image9.png" ContentType="image/png"/>
  <Override PartName="/ppt/media/image18.png" ContentType="image/png"/>
  <Override PartName="/ppt/media/image12.jpeg" ContentType="image/jpeg"/>
  <Override PartName="/ppt/media/image57.png" ContentType="image/png"/>
  <Override PartName="/ppt/media/image20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36.png" ContentType="image/png"/>
  <Override PartName="/ppt/media/image4.png" ContentType="image/png"/>
  <Override PartName="/ppt/media/image5.png" ContentType="image/png"/>
  <Override PartName="/ppt/media/image14.png" ContentType="image/png"/>
  <Override PartName="/ppt/media/image10.png" ContentType="image/png"/>
  <Override PartName="/ppt/media/image1.png" ContentType="image/png"/>
  <Override PartName="/ppt/media/image65.png" ContentType="image/png"/>
  <Override PartName="/ppt/media/image66.png" ContentType="image/png"/>
  <Override PartName="/ppt/media/image67.png" ContentType="image/png"/>
  <Override PartName="/ppt/media/image69.png" ContentType="image/png"/>
  <Override PartName="/ppt/media/image74.png" ContentType="image/png"/>
  <Override PartName="/ppt/media/image76.png" ContentType="image/png"/>
  <Override PartName="/ppt/media/image78.png" ContentType="image/png"/>
  <Override PartName="/ppt/media/image70.png" ContentType="image/png"/>
  <Override PartName="/ppt/media/image94.svg" ContentType="image/svg"/>
  <Override PartName="/ppt/media/image81.svg" ContentType="image/svg"/>
  <Override PartName="/ppt/media/image82.png" ContentType="image/png"/>
  <Override PartName="/ppt/media/image72.png" ContentType="image/png"/>
  <Override PartName="/ppt/media/image83.svg" ContentType="image/svg"/>
  <Override PartName="/ppt/media/image64.png" ContentType="image/png"/>
  <Override PartName="/ppt/media/image99.png" ContentType="image/png"/>
  <Override PartName="/ppt/media/image62.png" ContentType="image/png"/>
  <Override PartName="/ppt/media/image87.png" ContentType="image/png"/>
  <Override PartName="/ppt/media/image98.png" ContentType="image/png"/>
  <Override PartName="/ppt/media/image61.png" ContentType="image/png"/>
  <Override PartName="/ppt/media/image19.png" ContentType="image/png"/>
  <Override PartName="/ppt/media/image86.png" ContentType="image/png"/>
  <Override PartName="/ppt/media/image97.png" ContentType="image/png"/>
  <Override PartName="/ppt/media/image85.png" ContentType="image/png"/>
  <Override PartName="/ppt/media/image71.svg" ContentType="image/svg"/>
  <Override PartName="/ppt/media/image95.png" ContentType="image/png"/>
  <Override PartName="/ppt/media/image92.svg" ContentType="image/svg"/>
  <Override PartName="/ppt/media/image77.png" ContentType="image/png"/>
  <Override PartName="/ppt/media/image90.svg" ContentType="image/svg"/>
  <Override PartName="/ppt/media/image24.png" ContentType="image/png"/>
  <Override PartName="/ppt/media/image89.png" ContentType="image/png"/>
  <Override PartName="/ppt/media/image75.png" ContentType="image/png"/>
  <Override PartName="/ppt/media/image88.png" ContentType="image/png"/>
  <Override PartName="/ppt/media/image84.jpeg" ContentType="image/jpeg"/>
  <Override PartName="/ppt/media/image63.png" ContentType="image/png"/>
  <Override PartName="/ppt/media/image60.svg" ContentType="image/svg"/>
  <Override PartName="/ppt/media/image29.png" ContentType="image/png"/>
  <Override PartName="/ppt/media/image27.png" ContentType="image/png"/>
  <Override PartName="/ppt/media/image25.png" ContentType="image/png"/>
  <Override PartName="/ppt/media/image23.png" ContentType="image/png"/>
  <Override PartName="/ppt/media/image22.png" ContentType="image/png"/>
  <Override PartName="/ppt/media/image59.png" ContentType="image/png"/>
  <Override PartName="/ppt/media/image21.png" ContentType="image/png"/>
  <Override PartName="/ppt/media/image58.png" ContentType="image/png"/>
  <Override PartName="/ppt/media/image103.svg" ContentType="image/svg"/>
  <Override PartName="/ppt/media/image2.png" ContentType="image/png"/>
  <Override PartName="/ppt/media/image34.png" ContentType="image/png"/>
  <Override PartName="/ppt/media/image79.png" ContentType="image/png"/>
  <Override PartName="/ppt/media/image3.svg" ContentType="image/svg"/>
  <Override PartName="/ppt/media/image48.png" ContentType="image/png"/>
  <Override PartName="/ppt/media/image15.png" ContentType="image/png"/>
  <Override PartName="/ppt/media/image80.png" ContentType="image/png"/>
  <Override PartName="/ppt/media/image6.png" ContentType="image/png"/>
  <Override PartName="/ppt/media/image38.png" ContentType="image/png"/>
  <Override PartName="/ppt/media/image26.png" ContentType="image/png"/>
  <Override PartName="/ppt/media/image8.jpeg" ContentType="image/jpeg"/>
  <Override PartName="/ppt/media/image91.png" ContentType="image/png"/>
  <Override PartName="/ppt/media/image68.png" ContentType="image/png"/>
  <Override PartName="/ppt/media/image17.jpeg" ContentType="image/jpeg"/>
  <Override PartName="/ppt/media/image33.png" ContentType="image/png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71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46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29.xml.rels" ContentType="application/vnd.openxmlformats-package.relationships+xml"/>
  <Override PartName="/ppt/slides/_rels/slide1.xml.rels" ContentType="application/vnd.openxmlformats-package.relationships+xml"/>
  <Override PartName="/ppt/slides/_rels/slide43.xml.rels" ContentType="application/vnd.openxmlformats-package.relationships+xml"/>
  <Override PartName="/ppt/slides/_rels/slide42.xml.rels" ContentType="application/vnd.openxmlformats-package.relationships+xml"/>
  <Override PartName="/ppt/slides/_rels/slide16.xml.rels" ContentType="application/vnd.openxmlformats-package.relationships+xml"/>
  <Override PartName="/ppt/slides/_rels/slide53.xml.rels" ContentType="application/vnd.openxmlformats-package.relationships+xml"/>
  <Override PartName="/ppt/slides/_rels/slide41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54.xml.rels" ContentType="application/vnd.openxmlformats-package.relationships+xml"/>
  <Override PartName="/ppt/slides/_rels/slide17.xml.rels" ContentType="application/vnd.openxmlformats-package.relationships+xml"/>
  <Override PartName="/ppt/slides/_rels/slide14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69.xml.rels" ContentType="application/vnd.openxmlformats-package.relationships+xml"/>
  <Override PartName="/ppt/slides/_rels/slide32.xml.rels" ContentType="application/vnd.openxmlformats-package.relationships+xml"/>
  <Override PartName="/ppt/slides/_rels/slide70.xml.rels" ContentType="application/vnd.openxmlformats-package.relationships+xml"/>
  <Override PartName="/ppt/slides/_rels/slide28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65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66.xml.rels" ContentType="application/vnd.openxmlformats-package.relationships+xml"/>
  <Override PartName="/ppt/slides/_rels/slide63.xml.rels" ContentType="application/vnd.openxmlformats-package.relationships+xml"/>
  <Override PartName="/ppt/slides/_rels/slide62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5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58.xml.rels" ContentType="application/vnd.openxmlformats-package.relationships+xml"/>
  <Override PartName="/ppt/slides/_rels/slide12.xml.rels" ContentType="application/vnd.openxmlformats-package.relationships+xml"/>
  <Override PartName="/ppt/slides/_rels/slide49.xml.rels" ContentType="application/vnd.openxmlformats-package.relationships+xml"/>
  <Override PartName="/ppt/slides/slide71.xml" ContentType="application/vnd.openxmlformats-officedocument.presentationml.slide+xml"/>
  <Override PartName="/ppt/slides/slide29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5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66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_rels/notesSlide66.xml.rels" ContentType="application/vnd.openxmlformats-package.relationships+xml"/>
  <Override PartName="/ppt/notesSlides/notesSlide6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8" r:id="rId5"/>
    <p:sldMasterId id="2147483662" r:id="rId6"/>
    <p:sldMasterId id="2147483664" r:id="rId7"/>
    <p:sldMasterId id="2147483666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  <p:sldId id="326" r:id="rId80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9.xml"/><Relationship Id="rId7" Type="http://schemas.openxmlformats.org/officeDocument/2006/relationships/slideMaster" Target="slideMasters/slideMaster10.xml"/><Relationship Id="rId8" Type="http://schemas.openxmlformats.org/officeDocument/2006/relationships/slideMaster" Target="slideMasters/slideMaster11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DF1ED2C-8581-44F6-A28C-3D24C1138DF6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5680" cy="3387240"/>
          </a:xfrm>
          <a:prstGeom prst="rect">
            <a:avLst/>
          </a:prstGeom>
          <a:ln w="0">
            <a:noFill/>
          </a:ln>
        </p:spPr>
      </p:sp>
      <p:sp>
        <p:nvSpPr>
          <p:cNvPr id="762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9640" cy="39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PlaceHolder 3"/>
          <p:cNvSpPr>
            <a:spLocks noGrp="1"/>
          </p:cNvSpPr>
          <p:nvPr>
            <p:ph type="sldNum" idx="37"/>
          </p:nvPr>
        </p:nvSpPr>
        <p:spPr>
          <a:xfrm>
            <a:off x="4402080" y="9553680"/>
            <a:ext cx="3361680" cy="49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6B8374-333F-45B1-AEA0-9C5F77F576E3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11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756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17760" y="1604520"/>
            <a:ext cx="756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6320"/>
            <a:ext cx="756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17760" y="1606320"/>
            <a:ext cx="756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7A3EC6-6D72-4A3F-8ABB-DEBD4DA98D4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164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032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032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032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032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6B2EE2-6823-49B4-86D3-0F32E67E74CF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164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2A12B0-5FE1-4BCB-B0FF-8E595AA722AD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9840" cy="1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15627E-1C97-46FD-A694-980178636C3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FD576E-BBB1-480F-82F8-495B6CE0AB8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959C49-6573-4F49-A048-16105F804FB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FDBF90-72F8-45D3-8EFE-BD906102E37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11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D6F5C72-FD64-473B-9027-AD6A3AFD4C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1-Layout2-obj-Title-and-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11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subTitle"/>
          </p:nvPr>
        </p:nvSpPr>
        <p:spPr>
          <a:xfrm>
            <a:off x="609480" y="-2267640"/>
            <a:ext cx="1584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5AFFDFA-7B44-45B2-B32A-3A6191BA0C5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2-obj-Title-and-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11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756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17760" y="1604520"/>
            <a:ext cx="756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9480" y="1606320"/>
            <a:ext cx="756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617760" y="1606320"/>
            <a:ext cx="756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EFC7BB7-9F16-45CD-B130-B58DEB83E76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11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ubTitle"/>
          </p:nvPr>
        </p:nvSpPr>
        <p:spPr>
          <a:xfrm>
            <a:off x="609480" y="-2267640"/>
            <a:ext cx="1584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F6D8E56-45FB-4D82-BF6A-8FE9189D2D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11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A9E8ADE-4561-4768-9061-E4B418566F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11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ubTitle"/>
          </p:nvPr>
        </p:nvSpPr>
        <p:spPr>
          <a:xfrm>
            <a:off x="609480" y="-2267640"/>
            <a:ext cx="1584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B15D697-20F3-4106-9DBB-194E5BD433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1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2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6760" y="160452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920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26760" y="160920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7E529F-6256-44D1-824C-1451C18AA508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626760" y="160452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609480" y="160920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626760" y="160920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72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7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56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DF770F-9860-4EE8-A4B3-1207F51AD31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8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56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  <p:sldLayoutId id="2147483660" r:id="rId3"/>
    <p:sldLayoutId id="2147483661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ftr" idx="25"/>
          </p:nvPr>
        </p:nvSpPr>
        <p:spPr>
          <a:xfrm>
            <a:off x="3447360" y="5165280"/>
            <a:ext cx="318960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sldNum" idx="26"/>
          </p:nvPr>
        </p:nvSpPr>
        <p:spPr>
          <a:xfrm>
            <a:off x="7227360" y="5165280"/>
            <a:ext cx="234288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AA2B6F-5744-4B3D-9D88-C6F8198B0F2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dt" idx="27"/>
          </p:nvPr>
        </p:nvSpPr>
        <p:spPr>
          <a:xfrm>
            <a:off x="504000" y="5165280"/>
            <a:ext cx="234288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72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56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7DDE15-F02A-45DB-8917-46896634B45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56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ftr" idx="31"/>
          </p:nvPr>
        </p:nvSpPr>
        <p:spPr>
          <a:xfrm>
            <a:off x="3447360" y="5165280"/>
            <a:ext cx="3190680" cy="38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32"/>
          </p:nvPr>
        </p:nvSpPr>
        <p:spPr>
          <a:xfrm>
            <a:off x="7227360" y="5165280"/>
            <a:ext cx="2343960" cy="38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6EF616-0D23-46D7-A9D7-5A52677291FF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dt" idx="33"/>
          </p:nvPr>
        </p:nvSpPr>
        <p:spPr>
          <a:xfrm>
            <a:off x="504000" y="5165280"/>
            <a:ext cx="2343960" cy="38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.png"/><Relationship Id="rId3" Type="http://schemas.openxmlformats.org/officeDocument/2006/relationships/image" Target="../media/image32.jpe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svg"/><Relationship Id="rId6" Type="http://schemas.openxmlformats.org/officeDocument/2006/relationships/slideLayout" Target="../slideLayouts/slideLayout1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0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0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0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slideLayout" Target="../slideLayouts/slideLayout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45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46.png"/><Relationship Id="rId6" Type="http://schemas.openxmlformats.org/officeDocument/2006/relationships/slideLayout" Target="../slideLayouts/slideLayout10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42.png"/><Relationship Id="rId3" Type="http://schemas.openxmlformats.org/officeDocument/2006/relationships/image" Target="../media/image47.jpeg"/><Relationship Id="rId4" Type="http://schemas.openxmlformats.org/officeDocument/2006/relationships/slideLayout" Target="../slideLayouts/slideLayout10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.png"/><Relationship Id="rId3" Type="http://schemas.openxmlformats.org/officeDocument/2006/relationships/image" Target="../media/image32.jpe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slideLayout" Target="../slideLayouts/slideLayout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59.png"/><Relationship Id="rId3" Type="http://schemas.openxmlformats.org/officeDocument/2006/relationships/image" Target="../media/image60.svg"/><Relationship Id="rId4" Type="http://schemas.openxmlformats.org/officeDocument/2006/relationships/image" Target="../media/image61.pn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3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1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62.png"/><Relationship Id="rId2" Type="http://schemas.openxmlformats.org/officeDocument/2006/relationships/image" Target="../media/image5.png"/><Relationship Id="rId3" Type="http://schemas.openxmlformats.org/officeDocument/2006/relationships/image" Target="../media/image63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10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6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.png"/><Relationship Id="rId3" Type="http://schemas.openxmlformats.org/officeDocument/2006/relationships/image" Target="../media/image32.jpe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3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5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slideLayout" Target="../slideLayouts/slideLayout10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23.png"/><Relationship Id="rId5" Type="http://schemas.openxmlformats.org/officeDocument/2006/relationships/image" Target="../media/image70.png"/><Relationship Id="rId6" Type="http://schemas.openxmlformats.org/officeDocument/2006/relationships/image" Target="../media/image71.sv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10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72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3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4.png"/><Relationship Id="rId3" Type="http://schemas.openxmlformats.org/officeDocument/2006/relationships/slideLayout" Target="../slideLayouts/slideLayout10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5.png"/><Relationship Id="rId3" Type="http://schemas.openxmlformats.org/officeDocument/2006/relationships/slideLayout" Target="../slideLayouts/slideLayout10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7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0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78.png"/><Relationship Id="rId2" Type="http://schemas.openxmlformats.org/officeDocument/2006/relationships/image" Target="../media/image79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80.png"/><Relationship Id="rId7" Type="http://schemas.openxmlformats.org/officeDocument/2006/relationships/image" Target="../media/image81.svg"/><Relationship Id="rId8" Type="http://schemas.openxmlformats.org/officeDocument/2006/relationships/image" Target="../media/image82.png"/><Relationship Id="rId9" Type="http://schemas.openxmlformats.org/officeDocument/2006/relationships/image" Target="../media/image83.svg"/><Relationship Id="rId10" Type="http://schemas.openxmlformats.org/officeDocument/2006/relationships/image" Target="../media/image84.jpeg"/><Relationship Id="rId11" Type="http://schemas.openxmlformats.org/officeDocument/2006/relationships/image" Target="../media/image85.png"/><Relationship Id="rId12" Type="http://schemas.openxmlformats.org/officeDocument/2006/relationships/image" Target="../media/image86.png"/><Relationship Id="rId13" Type="http://schemas.openxmlformats.org/officeDocument/2006/relationships/image" Target="../media/image87.png"/><Relationship Id="rId14" Type="http://schemas.openxmlformats.org/officeDocument/2006/relationships/slideLayout" Target="../slideLayouts/slideLayout10.xml"/><Relationship Id="rId15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9.png"/><Relationship Id="rId5" Type="http://schemas.openxmlformats.org/officeDocument/2006/relationships/image" Target="../media/image88.png"/><Relationship Id="rId6" Type="http://schemas.openxmlformats.org/officeDocument/2006/relationships/image" Target="../media/image23.png"/><Relationship Id="rId7" Type="http://schemas.openxmlformats.org/officeDocument/2006/relationships/image" Target="../media/image59.png"/><Relationship Id="rId8" Type="http://schemas.openxmlformats.org/officeDocument/2006/relationships/image" Target="../media/image60.svg"/><Relationship Id="rId9" Type="http://schemas.openxmlformats.org/officeDocument/2006/relationships/image" Target="../media/image89.png"/><Relationship Id="rId10" Type="http://schemas.openxmlformats.org/officeDocument/2006/relationships/image" Target="../media/image90.svg"/><Relationship Id="rId11" Type="http://schemas.openxmlformats.org/officeDocument/2006/relationships/image" Target="../media/image91.png"/><Relationship Id="rId12" Type="http://schemas.openxmlformats.org/officeDocument/2006/relationships/image" Target="../media/image92.svg"/><Relationship Id="rId13" Type="http://schemas.openxmlformats.org/officeDocument/2006/relationships/image" Target="../media/image93.png"/><Relationship Id="rId14" Type="http://schemas.openxmlformats.org/officeDocument/2006/relationships/image" Target="../media/image94.svg"/><Relationship Id="rId15" Type="http://schemas.openxmlformats.org/officeDocument/2006/relationships/image" Target="../media/image95.png"/><Relationship Id="rId16" Type="http://schemas.openxmlformats.org/officeDocument/2006/relationships/image" Target="../media/image96.svg"/><Relationship Id="rId17" Type="http://schemas.openxmlformats.org/officeDocument/2006/relationships/image" Target="../media/image70.png"/><Relationship Id="rId18" Type="http://schemas.openxmlformats.org/officeDocument/2006/relationships/image" Target="../media/image71.svg"/><Relationship Id="rId19" Type="http://schemas.openxmlformats.org/officeDocument/2006/relationships/image" Target="../media/image7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7.png"/><Relationship Id="rId3" Type="http://schemas.openxmlformats.org/officeDocument/2006/relationships/image" Target="../media/image21.png"/><Relationship Id="rId4" Type="http://schemas.openxmlformats.org/officeDocument/2006/relationships/slideLayout" Target="../slideLayouts/slideLayout10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8.png"/><Relationship Id="rId3" Type="http://schemas.openxmlformats.org/officeDocument/2006/relationships/image" Target="../media/image93.png"/><Relationship Id="rId4" Type="http://schemas.openxmlformats.org/officeDocument/2006/relationships/image" Target="../media/image94.svg"/><Relationship Id="rId5" Type="http://schemas.openxmlformats.org/officeDocument/2006/relationships/image" Target="../media/image99.png"/><Relationship Id="rId6" Type="http://schemas.openxmlformats.org/officeDocument/2006/relationships/slideLayout" Target="../slideLayouts/slideLayout10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0.png"/><Relationship Id="rId3" Type="http://schemas.openxmlformats.org/officeDocument/2006/relationships/slideLayout" Target="../slideLayouts/slideLayout1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01.png"/><Relationship Id="rId2" Type="http://schemas.openxmlformats.org/officeDocument/2006/relationships/image" Target="../media/image102.png"/><Relationship Id="rId3" Type="http://schemas.openxmlformats.org/officeDocument/2006/relationships/image" Target="../media/image103.sv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/>
          </p:nvPr>
        </p:nvSpPr>
        <p:spPr>
          <a:xfrm>
            <a:off x="914760" y="4669200"/>
            <a:ext cx="10511640" cy="1823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Rach, Ph.D.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Baltimore, MD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October 23,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Box 2"/>
          <p:cNvSpPr/>
          <p:nvPr/>
        </p:nvSpPr>
        <p:spPr>
          <a:xfrm>
            <a:off x="122760" y="6404400"/>
            <a:ext cx="21042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Graphic 5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65920" y="229320"/>
            <a:ext cx="3654720" cy="95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Picture 72" descr=""/>
          <p:cNvPicPr/>
          <p:nvPr/>
        </p:nvPicPr>
        <p:blipFill>
          <a:blip r:embed="rId4"/>
          <a:stretch/>
        </p:blipFill>
        <p:spPr>
          <a:xfrm>
            <a:off x="8375760" y="115920"/>
            <a:ext cx="3193200" cy="12531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8" name=""/>
          <p:cNvGrpSpPr/>
          <p:nvPr/>
        </p:nvGrpSpPr>
        <p:grpSpPr>
          <a:xfrm>
            <a:off x="759960" y="1407240"/>
            <a:ext cx="10053720" cy="2112840"/>
            <a:chOff x="759960" y="1407240"/>
            <a:chExt cx="10053720" cy="2112840"/>
          </a:xfrm>
        </p:grpSpPr>
        <p:grpSp>
          <p:nvGrpSpPr>
            <p:cNvPr id="109" name=""/>
            <p:cNvGrpSpPr/>
            <p:nvPr/>
          </p:nvGrpSpPr>
          <p:grpSpPr>
            <a:xfrm>
              <a:off x="759960" y="1407240"/>
              <a:ext cx="10053720" cy="2112840"/>
              <a:chOff x="759960" y="1407240"/>
              <a:chExt cx="10053720" cy="2112840"/>
            </a:xfrm>
          </p:grpSpPr>
          <p:pic>
            <p:nvPicPr>
              <p:cNvPr id="110" name="" descr=""/>
              <p:cNvPicPr/>
              <p:nvPr/>
            </p:nvPicPr>
            <p:blipFill>
              <a:blip r:embed="rId5"/>
              <a:srcRect l="0" t="44464" r="9095" b="0"/>
              <a:stretch/>
            </p:blipFill>
            <p:spPr>
              <a:xfrm>
                <a:off x="1534320" y="1530360"/>
                <a:ext cx="9279360" cy="19897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sp>
            <p:nvSpPr>
              <p:cNvPr id="111" name=""/>
              <p:cNvSpPr/>
              <p:nvPr/>
            </p:nvSpPr>
            <p:spPr>
              <a:xfrm>
                <a:off x="759960" y="1407240"/>
                <a:ext cx="10053720" cy="32760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sp>
          <p:nvSpPr>
            <p:cNvPr id="112" name=""/>
            <p:cNvSpPr/>
            <p:nvPr/>
          </p:nvSpPr>
          <p:spPr>
            <a:xfrm>
              <a:off x="1035000" y="1828800"/>
              <a:ext cx="685440" cy="13712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13" name=""/>
          <p:cNvSpPr/>
          <p:nvPr/>
        </p:nvSpPr>
        <p:spPr>
          <a:xfrm>
            <a:off x="457200" y="3657600"/>
            <a:ext cx="11734560" cy="177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Towards ‘No Cell Left Behind’: open-source tool sets to 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leverage Spectral Flow Cytometry’s full biological discovery potential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>
            <a:off x="686160" y="1052640"/>
            <a:ext cx="5253120" cy="145764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Picture 12" descr=""/>
          <p:cNvPicPr/>
          <p:nvPr/>
        </p:nvPicPr>
        <p:blipFill>
          <a:blip r:embed="rId1"/>
          <a:stretch/>
        </p:blipFill>
        <p:spPr>
          <a:xfrm>
            <a:off x="6095880" y="1037880"/>
            <a:ext cx="5496480" cy="444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Picture 1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"/>
          <p:cNvSpPr/>
          <p:nvPr/>
        </p:nvSpPr>
        <p:spPr>
          <a:xfrm>
            <a:off x="686160" y="2660400"/>
            <a:ext cx="5253120" cy="159588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Rectangle 7"/>
          <p:cNvSpPr/>
          <p:nvPr/>
        </p:nvSpPr>
        <p:spPr>
          <a:xfrm>
            <a:off x="748800" y="1052640"/>
            <a:ext cx="5190480" cy="20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11"/>
          <p:cNvSpPr/>
          <p:nvPr/>
        </p:nvSpPr>
        <p:spPr>
          <a:xfrm>
            <a:off x="748800" y="2707200"/>
            <a:ext cx="5190480" cy="16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Allows for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12"/>
          <p:cNvSpPr/>
          <p:nvPr/>
        </p:nvSpPr>
        <p:spPr>
          <a:xfrm>
            <a:off x="685800" y="4440600"/>
            <a:ext cx="51904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685800" y="4397760"/>
            <a:ext cx="5253480" cy="108432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" descr=""/>
          <p:cNvPicPr/>
          <p:nvPr/>
        </p:nvPicPr>
        <p:blipFill>
          <a:blip r:embed="rId1"/>
          <a:stretch/>
        </p:blipFill>
        <p:spPr>
          <a:xfrm>
            <a:off x="914400" y="1143000"/>
            <a:ext cx="5027400" cy="37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Picture 4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"/>
          <p:cNvSpPr/>
          <p:nvPr/>
        </p:nvSpPr>
        <p:spPr>
          <a:xfrm>
            <a:off x="6629400" y="1198800"/>
            <a:ext cx="5027760" cy="122976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8" name=""/>
          <p:cNvSpPr/>
          <p:nvPr/>
        </p:nvSpPr>
        <p:spPr>
          <a:xfrm>
            <a:off x="6629400" y="3837600"/>
            <a:ext cx="5024880" cy="83232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"/>
          <p:cNvSpPr/>
          <p:nvPr/>
        </p:nvSpPr>
        <p:spPr>
          <a:xfrm>
            <a:off x="6629400" y="3895200"/>
            <a:ext cx="525348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knowledge about immune system heterogeneity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6629400" y="1234800"/>
            <a:ext cx="502488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efficiently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more thorough profiling of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invaluable for studies with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biospecimen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6626520" y="2498400"/>
            <a:ext cx="5027760" cy="122976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>
            <a:off x="903960" y="3466080"/>
            <a:ext cx="5035680" cy="1452960"/>
          </a:xfrm>
          <a:prstGeom prst="rect">
            <a:avLst/>
          </a:prstGeom>
          <a:solidFill>
            <a:srgbClr val="780373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4" name=""/>
          <p:cNvSpPr/>
          <p:nvPr/>
        </p:nvSpPr>
        <p:spPr>
          <a:xfrm>
            <a:off x="909360" y="1603080"/>
            <a:ext cx="5023800" cy="1367280"/>
          </a:xfrm>
          <a:prstGeom prst="rect">
            <a:avLst/>
          </a:prstGeom>
          <a:solidFill>
            <a:srgbClr val="ffd8ce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Trade-off: Increasing analytical complexity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3"/>
          <p:cNvSpPr/>
          <p:nvPr/>
        </p:nvSpPr>
        <p:spPr>
          <a:xfrm>
            <a:off x="909360" y="1603080"/>
            <a:ext cx="48697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 are only interested in a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population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 cells → analysis process remains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essentially unchanged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(manual gating with a few more gates)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13"/>
          <p:cNvSpPr/>
          <p:nvPr/>
        </p:nvSpPr>
        <p:spPr>
          <a:xfrm>
            <a:off x="970560" y="3514680"/>
            <a:ext cx="49690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your goal is to characterize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be present →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breadth and depth of the datasets complicate the analysis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Picture 17" descr=""/>
          <p:cNvPicPr/>
          <p:nvPr/>
        </p:nvPicPr>
        <p:blipFill>
          <a:blip r:embed="rId2"/>
          <a:stretch/>
        </p:blipFill>
        <p:spPr>
          <a:xfrm>
            <a:off x="6400800" y="1371600"/>
            <a:ext cx="3882240" cy="41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5486400" y="4114800"/>
            <a:ext cx="5939640" cy="13676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18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1640" cy="446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Rectangle 16"/>
          <p:cNvSpPr/>
          <p:nvPr/>
        </p:nvSpPr>
        <p:spPr>
          <a:xfrm>
            <a:off x="5403600" y="3154680"/>
            <a:ext cx="557136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at the end, we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17"/>
          <p:cNvSpPr/>
          <p:nvPr/>
        </p:nvSpPr>
        <p:spPr>
          <a:xfrm>
            <a:off x="5482800" y="4114800"/>
            <a:ext cx="59673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6" name="Rectangle 18"/>
          <p:cNvSpPr/>
          <p:nvPr/>
        </p:nvSpPr>
        <p:spPr>
          <a:xfrm>
            <a:off x="5486400" y="4572000"/>
            <a:ext cx="5939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216000" indent="-21600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“Groups” per panel = 2</a:t>
            </a:r>
            <a:r>
              <a:rPr b="0" lang="en-US" sz="2400" strike="noStrike" u="none" baseline="3300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Number of 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2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"/>
          <p:cNvSpPr/>
          <p:nvPr/>
        </p:nvSpPr>
        <p:spPr>
          <a:xfrm>
            <a:off x="5481720" y="1403640"/>
            <a:ext cx="5861520" cy="25020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Rectangle 19"/>
          <p:cNvSpPr/>
          <p:nvPr/>
        </p:nvSpPr>
        <p:spPr>
          <a:xfrm>
            <a:off x="5403600" y="1325880"/>
            <a:ext cx="57110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30"/>
          <p:cNvSpPr/>
          <p:nvPr/>
        </p:nvSpPr>
        <p:spPr>
          <a:xfrm>
            <a:off x="5403600" y="2240280"/>
            <a:ext cx="59396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was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31"/>
          <p:cNvSpPr/>
          <p:nvPr/>
        </p:nvSpPr>
        <p:spPr>
          <a:xfrm>
            <a:off x="5486400" y="5029200"/>
            <a:ext cx="61718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5486400" y="4114800"/>
            <a:ext cx="5939640" cy="13676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Picture 23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1640" cy="446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Rectangle 2"/>
          <p:cNvSpPr/>
          <p:nvPr/>
        </p:nvSpPr>
        <p:spPr>
          <a:xfrm>
            <a:off x="5403600" y="3154680"/>
            <a:ext cx="557136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at the end, we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32"/>
          <p:cNvSpPr/>
          <p:nvPr/>
        </p:nvSpPr>
        <p:spPr>
          <a:xfrm>
            <a:off x="5482800" y="411480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at most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33"/>
          <p:cNvSpPr/>
          <p:nvPr/>
        </p:nvSpPr>
        <p:spPr>
          <a:xfrm>
            <a:off x="5482800" y="45720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1.1e+12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"/>
          <p:cNvSpPr/>
          <p:nvPr/>
        </p:nvSpPr>
        <p:spPr>
          <a:xfrm>
            <a:off x="5481720" y="1403640"/>
            <a:ext cx="5861520" cy="25020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Rectangle 34"/>
          <p:cNvSpPr/>
          <p:nvPr/>
        </p:nvSpPr>
        <p:spPr>
          <a:xfrm>
            <a:off x="5403600" y="1325880"/>
            <a:ext cx="57110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35"/>
          <p:cNvSpPr/>
          <p:nvPr/>
        </p:nvSpPr>
        <p:spPr>
          <a:xfrm>
            <a:off x="5403600" y="2240280"/>
            <a:ext cx="59396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was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36"/>
          <p:cNvSpPr/>
          <p:nvPr/>
        </p:nvSpPr>
        <p:spPr>
          <a:xfrm>
            <a:off x="5486400" y="50292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/>
          <p:nvPr/>
        </p:nvSpPr>
        <p:spPr>
          <a:xfrm>
            <a:off x="457200" y="2784600"/>
            <a:ext cx="5939640" cy="16016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4920" cy="650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37"/>
          <p:cNvSpPr/>
          <p:nvPr/>
        </p:nvSpPr>
        <p:spPr>
          <a:xfrm>
            <a:off x="457200" y="2738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Picture 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Rectangle 38"/>
          <p:cNvSpPr/>
          <p:nvPr/>
        </p:nvSpPr>
        <p:spPr>
          <a:xfrm>
            <a:off x="453600" y="19458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39"/>
          <p:cNvSpPr/>
          <p:nvPr/>
        </p:nvSpPr>
        <p:spPr>
          <a:xfrm>
            <a:off x="457200" y="3134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40"/>
          <p:cNvSpPr/>
          <p:nvPr/>
        </p:nvSpPr>
        <p:spPr>
          <a:xfrm>
            <a:off x="457200" y="3530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41"/>
          <p:cNvSpPr/>
          <p:nvPr/>
        </p:nvSpPr>
        <p:spPr>
          <a:xfrm>
            <a:off x="457200" y="396252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457200" y="18990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4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4720" cy="302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12"/>
          <p:cNvSpPr/>
          <p:nvPr/>
        </p:nvSpPr>
        <p:spPr>
          <a:xfrm>
            <a:off x="1900800" y="808200"/>
            <a:ext cx="8913960" cy="10893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>
            <a:off x="457200" y="2784600"/>
            <a:ext cx="5939640" cy="16016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4920" cy="650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45"/>
          <p:cNvSpPr/>
          <p:nvPr/>
        </p:nvSpPr>
        <p:spPr>
          <a:xfrm>
            <a:off x="457200" y="2738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Picture 3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Rectangle 53"/>
          <p:cNvSpPr/>
          <p:nvPr/>
        </p:nvSpPr>
        <p:spPr>
          <a:xfrm>
            <a:off x="453600" y="19458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ectangle 54"/>
          <p:cNvSpPr/>
          <p:nvPr/>
        </p:nvSpPr>
        <p:spPr>
          <a:xfrm>
            <a:off x="457200" y="3134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55"/>
          <p:cNvSpPr/>
          <p:nvPr/>
        </p:nvSpPr>
        <p:spPr>
          <a:xfrm>
            <a:off x="457200" y="3530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56"/>
          <p:cNvSpPr/>
          <p:nvPr/>
        </p:nvSpPr>
        <p:spPr>
          <a:xfrm>
            <a:off x="457200" y="396252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457200" y="18990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6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4720" cy="302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PlaceHolder 14"/>
          <p:cNvSpPr/>
          <p:nvPr/>
        </p:nvSpPr>
        <p:spPr>
          <a:xfrm>
            <a:off x="1900800" y="808200"/>
            <a:ext cx="8913960" cy="10893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1910520" y="4601520"/>
            <a:ext cx="28886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….Not even close….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>
            <a:off x="5490000" y="2056680"/>
            <a:ext cx="5936040" cy="11678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Picture 3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Rectangle 43"/>
          <p:cNvSpPr/>
          <p:nvPr/>
        </p:nvSpPr>
        <p:spPr>
          <a:xfrm>
            <a:off x="5486400" y="13716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44"/>
          <p:cNvSpPr/>
          <p:nvPr/>
        </p:nvSpPr>
        <p:spPr>
          <a:xfrm>
            <a:off x="5490000" y="204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5486400" y="13716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6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2600" cy="265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Rectangle 46"/>
          <p:cNvSpPr/>
          <p:nvPr/>
        </p:nvSpPr>
        <p:spPr>
          <a:xfrm>
            <a:off x="5490000" y="240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47"/>
          <p:cNvSpPr/>
          <p:nvPr/>
        </p:nvSpPr>
        <p:spPr>
          <a:xfrm>
            <a:off x="5490000" y="2730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9"/>
          <p:cNvSpPr/>
          <p:nvPr/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>
            <a:off x="5490000" y="2056680"/>
            <a:ext cx="5936040" cy="11678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Picture 2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Rectangle 62"/>
          <p:cNvSpPr/>
          <p:nvPr/>
        </p:nvSpPr>
        <p:spPr>
          <a:xfrm>
            <a:off x="5486400" y="13716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63"/>
          <p:cNvSpPr/>
          <p:nvPr/>
        </p:nvSpPr>
        <p:spPr>
          <a:xfrm>
            <a:off x="5490000" y="204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5486400" y="13716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2600" cy="265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Rectangle 64"/>
          <p:cNvSpPr/>
          <p:nvPr/>
        </p:nvSpPr>
        <p:spPr>
          <a:xfrm>
            <a:off x="5490000" y="240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65"/>
          <p:cNvSpPr/>
          <p:nvPr/>
        </p:nvSpPr>
        <p:spPr>
          <a:xfrm>
            <a:off x="5490000" y="2730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4"/>
          <p:cNvSpPr/>
          <p:nvPr/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"/>
          <p:cNvSpPr/>
          <p:nvPr/>
        </p:nvSpPr>
        <p:spPr>
          <a:xfrm>
            <a:off x="5486400" y="3429000"/>
            <a:ext cx="59421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….Still not enough….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4760" cy="265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"/>
          <p:cNvSpPr/>
          <p:nvPr/>
        </p:nvSpPr>
        <p:spPr>
          <a:xfrm>
            <a:off x="5490000" y="3578760"/>
            <a:ext cx="5936040" cy="143568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5" name=""/>
          <p:cNvSpPr/>
          <p:nvPr/>
        </p:nvSpPr>
        <p:spPr>
          <a:xfrm>
            <a:off x="5490000" y="2056680"/>
            <a:ext cx="5936040" cy="11678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Picture 3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Rectangle 42"/>
          <p:cNvSpPr/>
          <p:nvPr/>
        </p:nvSpPr>
        <p:spPr>
          <a:xfrm>
            <a:off x="5486400" y="13716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ectangle 48"/>
          <p:cNvSpPr/>
          <p:nvPr/>
        </p:nvSpPr>
        <p:spPr>
          <a:xfrm>
            <a:off x="5490000" y="204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ectangle 49"/>
          <p:cNvSpPr/>
          <p:nvPr/>
        </p:nvSpPr>
        <p:spPr>
          <a:xfrm>
            <a:off x="5490000" y="357876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5486400" y="13716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2" name="Rectangle 51"/>
          <p:cNvSpPr/>
          <p:nvPr/>
        </p:nvSpPr>
        <p:spPr>
          <a:xfrm>
            <a:off x="5490000" y="240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ectangle 52"/>
          <p:cNvSpPr/>
          <p:nvPr/>
        </p:nvSpPr>
        <p:spPr>
          <a:xfrm>
            <a:off x="5490000" y="2730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11"/>
          <p:cNvSpPr/>
          <p:nvPr/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4760" cy="265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"/>
          <p:cNvSpPr/>
          <p:nvPr/>
        </p:nvSpPr>
        <p:spPr>
          <a:xfrm>
            <a:off x="5490000" y="3578760"/>
            <a:ext cx="5936040" cy="143568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8" name=""/>
          <p:cNvSpPr/>
          <p:nvPr/>
        </p:nvSpPr>
        <p:spPr>
          <a:xfrm>
            <a:off x="5490000" y="2056680"/>
            <a:ext cx="5936040" cy="11678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3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Rectangle 57"/>
          <p:cNvSpPr/>
          <p:nvPr/>
        </p:nvSpPr>
        <p:spPr>
          <a:xfrm>
            <a:off x="5486400" y="13716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58"/>
          <p:cNvSpPr/>
          <p:nvPr/>
        </p:nvSpPr>
        <p:spPr>
          <a:xfrm>
            <a:off x="5490000" y="204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59"/>
          <p:cNvSpPr/>
          <p:nvPr/>
        </p:nvSpPr>
        <p:spPr>
          <a:xfrm>
            <a:off x="5490000" y="357876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5486400" y="13716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5" name="Rectangle 60"/>
          <p:cNvSpPr/>
          <p:nvPr/>
        </p:nvSpPr>
        <p:spPr>
          <a:xfrm>
            <a:off x="5490000" y="240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Rectangle 61"/>
          <p:cNvSpPr/>
          <p:nvPr/>
        </p:nvSpPr>
        <p:spPr>
          <a:xfrm>
            <a:off x="5490000" y="2730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16"/>
          <p:cNvSpPr/>
          <p:nvPr/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"/>
          <p:cNvSpPr/>
          <p:nvPr/>
        </p:nvSpPr>
        <p:spPr>
          <a:xfrm>
            <a:off x="6629400" y="5215320"/>
            <a:ext cx="3884760" cy="7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file down, 99 more to go!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"/>
          <p:cNvGrpSpPr/>
          <p:nvPr/>
        </p:nvGrpSpPr>
        <p:grpSpPr>
          <a:xfrm>
            <a:off x="6858000" y="1371600"/>
            <a:ext cx="5026320" cy="4111920"/>
            <a:chOff x="6858000" y="1371600"/>
            <a:chExt cx="5026320" cy="4111920"/>
          </a:xfrm>
        </p:grpSpPr>
        <p:pic>
          <p:nvPicPr>
            <p:cNvPr id="241" name="" descr=""/>
            <p:cNvPicPr/>
            <p:nvPr/>
          </p:nvPicPr>
          <p:blipFill>
            <a:blip r:embed="rId1"/>
            <a:srcRect l="0" t="0" r="75396" b="50082"/>
            <a:stretch/>
          </p:blipFill>
          <p:spPr>
            <a:xfrm>
              <a:off x="7073280" y="1762920"/>
              <a:ext cx="4365360" cy="3720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42" name=""/>
            <p:cNvSpPr/>
            <p:nvPr/>
          </p:nvSpPr>
          <p:spPr>
            <a:xfrm>
              <a:off x="6858000" y="2743200"/>
              <a:ext cx="569880" cy="15645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3" name=""/>
            <p:cNvSpPr/>
            <p:nvPr/>
          </p:nvSpPr>
          <p:spPr>
            <a:xfrm>
              <a:off x="7239600" y="1371600"/>
              <a:ext cx="570240" cy="9766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4" name=""/>
            <p:cNvSpPr/>
            <p:nvPr/>
          </p:nvSpPr>
          <p:spPr>
            <a:xfrm>
              <a:off x="11314440" y="1567440"/>
              <a:ext cx="569880" cy="9766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245" name="Picture 73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"/>
          <p:cNvSpPr/>
          <p:nvPr/>
        </p:nvSpPr>
        <p:spPr>
          <a:xfrm>
            <a:off x="685800" y="1135800"/>
            <a:ext cx="5937120" cy="143676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7" name="Rectangle 69"/>
          <p:cNvSpPr/>
          <p:nvPr/>
        </p:nvSpPr>
        <p:spPr>
          <a:xfrm>
            <a:off x="685800" y="1143000"/>
            <a:ext cx="59407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-18360" y="48600"/>
            <a:ext cx="12207600" cy="1089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Alternative: Unsupervised Analysis (Algorithms)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70"/>
          <p:cNvSpPr/>
          <p:nvPr/>
        </p:nvSpPr>
        <p:spPr>
          <a:xfrm>
            <a:off x="685800" y="1143000"/>
            <a:ext cx="59407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71"/>
          <p:cNvSpPr/>
          <p:nvPr/>
        </p:nvSpPr>
        <p:spPr>
          <a:xfrm>
            <a:off x="685800" y="3159000"/>
            <a:ext cx="5940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Clustering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FlowSOM, Phenograph, Xshift,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ectangle 72"/>
          <p:cNvSpPr/>
          <p:nvPr/>
        </p:nvSpPr>
        <p:spPr>
          <a:xfrm>
            <a:off x="685800" y="3789000"/>
            <a:ext cx="5940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Dimensionality visualization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opt-SNE, UMAP, PaCMAP, Phate,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685800" y="4813200"/>
            <a:ext cx="5940720" cy="91152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3" name="Rectangle 73"/>
          <p:cNvSpPr/>
          <p:nvPr/>
        </p:nvSpPr>
        <p:spPr>
          <a:xfrm>
            <a:off x="685800" y="4932000"/>
            <a:ext cx="5940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openCyto, flowMagic, ElasticGate,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685800" y="3104640"/>
            <a:ext cx="5940720" cy="153648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8" name="Picture 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1" name="Picture 3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2" name="Picture 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"/>
          <p:cNvSpPr/>
          <p:nvPr/>
        </p:nvSpPr>
        <p:spPr>
          <a:xfrm flipH="1" flipV="1" rot="16074000">
            <a:off x="1857600" y="894240"/>
            <a:ext cx="453240" cy="49608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64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6" name="Picture 37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Picture 3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"/>
          <p:cNvSpPr/>
          <p:nvPr/>
        </p:nvSpPr>
        <p:spPr>
          <a:xfrm flipH="1" flipV="1" rot="16074000">
            <a:off x="9401400" y="894240"/>
            <a:ext cx="453240" cy="49608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6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39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2" name="Picture 4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"/>
          <p:cNvSpPr/>
          <p:nvPr/>
        </p:nvSpPr>
        <p:spPr>
          <a:xfrm>
            <a:off x="3321360" y="52578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4" name=""/>
          <p:cNvSpPr/>
          <p:nvPr/>
        </p:nvSpPr>
        <p:spPr>
          <a:xfrm flipH="1">
            <a:off x="3321360" y="54864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5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>
            <a:off x="5486400" y="1155600"/>
            <a:ext cx="5940720" cy="136872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7" name=""/>
          <p:cNvSpPr/>
          <p:nvPr/>
        </p:nvSpPr>
        <p:spPr>
          <a:xfrm>
            <a:off x="5486400" y="2669040"/>
            <a:ext cx="5937120" cy="99036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8" name=""/>
          <p:cNvSpPr/>
          <p:nvPr/>
        </p:nvSpPr>
        <p:spPr>
          <a:xfrm>
            <a:off x="5486400" y="3810600"/>
            <a:ext cx="5937120" cy="139752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6000" cy="1319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0" name="Picture 7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Rectangle 74"/>
          <p:cNvSpPr/>
          <p:nvPr/>
        </p:nvSpPr>
        <p:spPr>
          <a:xfrm>
            <a:off x="5486400" y="1143000"/>
            <a:ext cx="6172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Many of these software tools were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originally implemented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as R or Python packages, for use in analysis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 datasets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75"/>
          <p:cNvSpPr/>
          <p:nvPr/>
        </p:nvSpPr>
        <p:spPr>
          <a:xfrm>
            <a:off x="5486400" y="2669040"/>
            <a:ext cx="594072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similar number of markers,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 unmixing variation due to autofluorescence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6"/>
          <p:cNvSpPr/>
          <p:nvPr/>
        </p:nvSpPr>
        <p:spPr>
          <a:xfrm>
            <a:off x="0" y="-182520"/>
            <a:ext cx="12186000" cy="13190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number of events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Rectangle 76"/>
          <p:cNvSpPr/>
          <p:nvPr/>
        </p:nvSpPr>
        <p:spPr>
          <a:xfrm>
            <a:off x="5486400" y="3748680"/>
            <a:ext cx="59407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substantially more markers, typically way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events.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No equivalent “negative” gate events for not expressed transcripts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ectangle 77"/>
          <p:cNvSpPr/>
          <p:nvPr/>
        </p:nvSpPr>
        <p:spPr>
          <a:xfrm>
            <a:off x="5486400" y="5332680"/>
            <a:ext cx="5940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Down-sampling becomes often necessary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5486400" y="5332680"/>
            <a:ext cx="5940720" cy="60804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7" name="" descr=""/>
          <p:cNvPicPr/>
          <p:nvPr/>
        </p:nvPicPr>
        <p:blipFill>
          <a:blip r:embed="rId2"/>
          <a:stretch/>
        </p:blipFill>
        <p:spPr>
          <a:xfrm>
            <a:off x="381240" y="2057400"/>
            <a:ext cx="4873680" cy="2658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" descr=""/>
          <p:cNvPicPr/>
          <p:nvPr/>
        </p:nvPicPr>
        <p:blipFill>
          <a:blip r:embed="rId1"/>
          <a:stretch/>
        </p:blipFill>
        <p:spPr>
          <a:xfrm>
            <a:off x="5768640" y="1863000"/>
            <a:ext cx="6115680" cy="29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"/>
          <p:cNvSpPr/>
          <p:nvPr/>
        </p:nvSpPr>
        <p:spPr>
          <a:xfrm>
            <a:off x="230040" y="1229040"/>
            <a:ext cx="5482080" cy="136728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1" name="Picture 170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"/>
          <p:cNvSpPr/>
          <p:nvPr/>
        </p:nvSpPr>
        <p:spPr>
          <a:xfrm>
            <a:off x="101880" y="89280"/>
            <a:ext cx="12011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unmixing errors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78"/>
          <p:cNvSpPr/>
          <p:nvPr/>
        </p:nvSpPr>
        <p:spPr>
          <a:xfrm>
            <a:off x="228600" y="1192680"/>
            <a:ext cx="54871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software packages heavily rely on having a consistent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median fluorescent intensity (MFI)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to cluster cells based on positive or negative marker expression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228600" y="4343400"/>
            <a:ext cx="5482080" cy="1367280"/>
          </a:xfrm>
          <a:prstGeom prst="rect">
            <a:avLst/>
          </a:prstGeom>
          <a:solidFill>
            <a:srgbClr val="77bc6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can seriously shift the MFI ranges for “negative” and “positive” cells for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individual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acquired specimens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228600" y="2780640"/>
            <a:ext cx="5482080" cy="1367280"/>
          </a:xfrm>
          <a:prstGeom prst="rect">
            <a:avLst/>
          </a:prstGeom>
          <a:solidFill>
            <a:srgbClr val="ff80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batch correction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/ normalization / scaling tools target instrumental 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experimental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level variation for correction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>
            <a:off x="6402240" y="4168440"/>
            <a:ext cx="4796280" cy="1315080"/>
          </a:xfrm>
          <a:prstGeom prst="rect">
            <a:avLst/>
          </a:prstGeom>
          <a:solidFill>
            <a:srgbClr val="6b5e9b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8" name="Picture 171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"/>
          <p:cNvSpPr/>
          <p:nvPr/>
        </p:nvSpPr>
        <p:spPr>
          <a:xfrm>
            <a:off x="101880" y="89280"/>
            <a:ext cx="12011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Full biological discovery potential often out of reach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ectangle 79"/>
          <p:cNvSpPr/>
          <p:nvPr/>
        </p:nvSpPr>
        <p:spPr>
          <a:xfrm>
            <a:off x="6400800" y="4082400"/>
            <a:ext cx="47977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spectral flow cytometry datasets, only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handful of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end up being analyzed by any method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6400800" y="1371600"/>
            <a:ext cx="4797720" cy="59688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2" name="Rectangle 80"/>
          <p:cNvSpPr/>
          <p:nvPr/>
        </p:nvSpPr>
        <p:spPr>
          <a:xfrm>
            <a:off x="6402240" y="1418400"/>
            <a:ext cx="4151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flow cytometrist don’t code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3" name=""/>
          <p:cNvGrpSpPr/>
          <p:nvPr/>
        </p:nvGrpSpPr>
        <p:grpSpPr>
          <a:xfrm>
            <a:off x="204480" y="1612800"/>
            <a:ext cx="5964840" cy="3251880"/>
            <a:chOff x="204480" y="1612800"/>
            <a:chExt cx="5964840" cy="3251880"/>
          </a:xfrm>
        </p:grpSpPr>
        <p:pic>
          <p:nvPicPr>
            <p:cNvPr id="304" name="" descr=""/>
            <p:cNvPicPr/>
            <p:nvPr/>
          </p:nvPicPr>
          <p:blipFill>
            <a:blip r:embed="rId2"/>
            <a:stretch/>
          </p:blipFill>
          <p:spPr>
            <a:xfrm>
              <a:off x="204480" y="1612800"/>
              <a:ext cx="5964840" cy="3251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5" name=""/>
            <p:cNvSpPr/>
            <p:nvPr/>
          </p:nvSpPr>
          <p:spPr>
            <a:xfrm>
              <a:off x="3886200" y="1900800"/>
              <a:ext cx="1825920" cy="2257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306" name=""/>
          <p:cNvSpPr/>
          <p:nvPr/>
        </p:nvSpPr>
        <p:spPr>
          <a:xfrm>
            <a:off x="6402240" y="2143440"/>
            <a:ext cx="4796280" cy="82548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7" name="Rectangle 81"/>
          <p:cNvSpPr/>
          <p:nvPr/>
        </p:nvSpPr>
        <p:spPr>
          <a:xfrm>
            <a:off x="6400800" y="2201400"/>
            <a:ext cx="479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 likely lost your bioinformatician while describing manual gating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6398640" y="3134520"/>
            <a:ext cx="4799880" cy="736560"/>
          </a:xfrm>
          <a:prstGeom prst="rect">
            <a:avLst/>
          </a:prstGeom>
          <a:solidFill>
            <a:srgbClr val="ffa6a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9" name="Rectangle 82"/>
          <p:cNvSpPr/>
          <p:nvPr/>
        </p:nvSpPr>
        <p:spPr>
          <a:xfrm>
            <a:off x="6397200" y="3156480"/>
            <a:ext cx="48013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statisticians were never consulted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"/>
          <p:cNvSpPr/>
          <p:nvPr/>
        </p:nvSpPr>
        <p:spPr>
          <a:xfrm>
            <a:off x="6118920" y="3496680"/>
            <a:ext cx="5104080" cy="143568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2" name="Picture 8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57360" y="104400"/>
            <a:ext cx="10898640" cy="60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Personal Goal: No cell left behind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4" name="Picture 82" descr=""/>
          <p:cNvPicPr/>
          <p:nvPr/>
        </p:nvPicPr>
        <p:blipFill>
          <a:blip r:embed="rId2"/>
          <a:stretch/>
        </p:blipFill>
        <p:spPr>
          <a:xfrm>
            <a:off x="1311840" y="792360"/>
            <a:ext cx="4109040" cy="549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Box 15"/>
          <p:cNvSpPr/>
          <p:nvPr/>
        </p:nvSpPr>
        <p:spPr>
          <a:xfrm>
            <a:off x="6095880" y="1191240"/>
            <a:ext cx="504504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Repeated 3 AM thoughts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What makes spectral flow cytometry data amazing is both the depth and the breadth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8"/>
          <p:cNvSpPr/>
          <p:nvPr/>
        </p:nvSpPr>
        <p:spPr>
          <a:xfrm>
            <a:off x="6118920" y="3223800"/>
            <a:ext cx="50450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How to fully profile the entirety of the acquired dataset, not just a single cell population of interest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6095880" y="1847880"/>
            <a:ext cx="5104080" cy="143568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8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>
            <a:off x="4343400" y="3429000"/>
            <a:ext cx="3426480" cy="68328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0" name="Picture 79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" name=""/>
          <p:cNvSpPr/>
          <p:nvPr/>
        </p:nvSpPr>
        <p:spPr>
          <a:xfrm>
            <a:off x="0" y="41040"/>
            <a:ext cx="12112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Building open-source tool-sets to address SFC’s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3" name="" descr=""/>
          <p:cNvPicPr/>
          <p:nvPr/>
        </p:nvPicPr>
        <p:blipFill>
          <a:blip r:embed="rId3"/>
          <a:stretch/>
        </p:blipFill>
        <p:spPr>
          <a:xfrm>
            <a:off x="1371600" y="1371240"/>
            <a:ext cx="2106720" cy="18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4" name="" descr=""/>
          <p:cNvPicPr/>
          <p:nvPr/>
        </p:nvPicPr>
        <p:blipFill>
          <a:blip r:embed="rId4"/>
          <a:stretch/>
        </p:blipFill>
        <p:spPr>
          <a:xfrm>
            <a:off x="5029200" y="1271880"/>
            <a:ext cx="2276640" cy="197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"/>
          <p:cNvSpPr/>
          <p:nvPr/>
        </p:nvSpPr>
        <p:spPr>
          <a:xfrm>
            <a:off x="687600" y="3476520"/>
            <a:ext cx="3424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8208000" y="3428640"/>
            <a:ext cx="3424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4343400" y="3475800"/>
            <a:ext cx="3424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" descr=""/>
          <p:cNvPicPr/>
          <p:nvPr/>
        </p:nvPicPr>
        <p:blipFill>
          <a:blip r:embed="rId5"/>
          <a:stretch/>
        </p:blipFill>
        <p:spPr>
          <a:xfrm>
            <a:off x="9027720" y="1143000"/>
            <a:ext cx="1919520" cy="22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"/>
          <p:cNvSpPr/>
          <p:nvPr/>
        </p:nvSpPr>
        <p:spPr>
          <a:xfrm>
            <a:off x="8206200" y="3428640"/>
            <a:ext cx="3426480" cy="68328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0" name=""/>
          <p:cNvSpPr/>
          <p:nvPr/>
        </p:nvSpPr>
        <p:spPr>
          <a:xfrm>
            <a:off x="685800" y="3429000"/>
            <a:ext cx="3426480" cy="683280"/>
          </a:xfrm>
          <a:prstGeom prst="rect">
            <a:avLst/>
          </a:prstGeom>
          <a:solidFill>
            <a:srgbClr val="a1467e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1" name="" descr=""/>
          <p:cNvPicPr/>
          <p:nvPr/>
        </p:nvPicPr>
        <p:blipFill>
          <a:blip r:embed="rId6"/>
          <a:stretch/>
        </p:blipFill>
        <p:spPr>
          <a:xfrm>
            <a:off x="6172200" y="4710600"/>
            <a:ext cx="2187720" cy="145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"/>
          <p:cNvSpPr/>
          <p:nvPr/>
        </p:nvSpPr>
        <p:spPr>
          <a:xfrm>
            <a:off x="6172200" y="5943600"/>
            <a:ext cx="2512080" cy="683280"/>
          </a:xfrm>
          <a:prstGeom prst="rect">
            <a:avLst/>
          </a:prstGeom>
          <a:solidFill>
            <a:srgbClr val="ff7b59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3" name="Picture 80" descr=""/>
          <p:cNvPicPr/>
          <p:nvPr/>
        </p:nvPicPr>
        <p:blipFill>
          <a:blip r:embed="rId7"/>
          <a:stretch/>
        </p:blipFill>
        <p:spPr>
          <a:xfrm>
            <a:off x="3429000" y="4898160"/>
            <a:ext cx="2283480" cy="172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"/>
          <p:cNvSpPr/>
          <p:nvPr/>
        </p:nvSpPr>
        <p:spPr>
          <a:xfrm>
            <a:off x="6930000" y="6100200"/>
            <a:ext cx="960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Rust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Picture 7" descr=""/>
          <p:cNvPicPr/>
          <p:nvPr/>
        </p:nvPicPr>
        <p:blipFill>
          <a:blip r:embed="rId1"/>
          <a:stretch/>
        </p:blipFill>
        <p:spPr>
          <a:xfrm>
            <a:off x="1908720" y="698760"/>
            <a:ext cx="8372520" cy="58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PhD’s focus: HIV-exposed Uninfected Infants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9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8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Picture 2" descr=""/>
          <p:cNvPicPr/>
          <p:nvPr/>
        </p:nvPicPr>
        <p:blipFill>
          <a:blip r:embed="rId1"/>
          <a:stretch/>
        </p:blipFill>
        <p:spPr>
          <a:xfrm>
            <a:off x="2773080" y="22860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Malawian Cohort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1" name="Picture 4" descr=""/>
          <p:cNvPicPr/>
          <p:nvPr/>
        </p:nvPicPr>
        <p:blipFill>
          <a:blip r:embed="rId2"/>
          <a:stretch/>
        </p:blipFill>
        <p:spPr>
          <a:xfrm>
            <a:off x="459000" y="1765440"/>
            <a:ext cx="3068280" cy="357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2" name="Picture 5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3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Study Timeline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5" name="Picture 3" descr=""/>
          <p:cNvPicPr/>
          <p:nvPr/>
        </p:nvPicPr>
        <p:blipFill>
          <a:blip r:embed="rId1"/>
          <a:srcRect l="0" t="18235" r="0" b="29137"/>
          <a:stretch/>
        </p:blipFill>
        <p:spPr>
          <a:xfrm>
            <a:off x="404640" y="1332360"/>
            <a:ext cx="11381040" cy="419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Arrow: Right 4"/>
          <p:cNvSpPr/>
          <p:nvPr/>
        </p:nvSpPr>
        <p:spPr>
          <a:xfrm rot="16200000">
            <a:off x="4167720" y="5541480"/>
            <a:ext cx="529920" cy="285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7" name="Arrow: Right 5"/>
          <p:cNvSpPr/>
          <p:nvPr/>
        </p:nvSpPr>
        <p:spPr>
          <a:xfrm rot="16200000">
            <a:off x="9073080" y="5555520"/>
            <a:ext cx="529920" cy="285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Arrow: Right 6"/>
          <p:cNvSpPr/>
          <p:nvPr/>
        </p:nvSpPr>
        <p:spPr>
          <a:xfrm rot="16200000">
            <a:off x="10784880" y="5576760"/>
            <a:ext cx="529920" cy="285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9" name="Picture 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0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32-Fluorophore Spectral Flow Cytometry Panel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" name="Picture 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53" name=""/>
          <p:cNvGrpSpPr/>
          <p:nvPr/>
        </p:nvGrpSpPr>
        <p:grpSpPr>
          <a:xfrm>
            <a:off x="914400" y="757800"/>
            <a:ext cx="2284560" cy="5641560"/>
            <a:chOff x="914400" y="757800"/>
            <a:chExt cx="2284560" cy="5641560"/>
          </a:xfrm>
        </p:grpSpPr>
        <p:pic>
          <p:nvPicPr>
            <p:cNvPr id="354" name="Picture 3" descr=""/>
            <p:cNvPicPr/>
            <p:nvPr/>
          </p:nvPicPr>
          <p:blipFill>
            <a:blip r:embed="rId2"/>
            <a:srcRect l="0" t="0" r="0" b="29919"/>
            <a:stretch/>
          </p:blipFill>
          <p:spPr>
            <a:xfrm>
              <a:off x="914400" y="757800"/>
              <a:ext cx="2284560" cy="2573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55" name="Picture 7" descr=""/>
            <p:cNvPicPr/>
            <p:nvPr/>
          </p:nvPicPr>
          <p:blipFill>
            <a:blip r:embed="rId3"/>
            <a:stretch/>
          </p:blipFill>
          <p:spPr>
            <a:xfrm>
              <a:off x="914400" y="3324960"/>
              <a:ext cx="2277720" cy="307440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356" name="Picture 43" descr=""/>
          <p:cNvPicPr/>
          <p:nvPr/>
        </p:nvPicPr>
        <p:blipFill>
          <a:blip r:embed="rId4"/>
          <a:srcRect l="0" t="6125" r="0" b="0"/>
          <a:stretch/>
        </p:blipFill>
        <p:spPr>
          <a:xfrm>
            <a:off x="2743200" y="1022400"/>
            <a:ext cx="8228160" cy="540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7" name="" descr=""/>
          <p:cNvPicPr/>
          <p:nvPr/>
        </p:nvPicPr>
        <p:blipFill>
          <a:blip r:embed="rId5"/>
          <a:stretch/>
        </p:blipFill>
        <p:spPr>
          <a:xfrm>
            <a:off x="231120" y="6389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Picture 172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5600" cy="228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"/>
          <p:cNvSpPr/>
          <p:nvPr/>
        </p:nvSpPr>
        <p:spPr>
          <a:xfrm>
            <a:off x="5486400" y="1828800"/>
            <a:ext cx="681480" cy="68148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0" name="Picture 78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1" name=""/>
          <p:cNvSpPr/>
          <p:nvPr/>
        </p:nvSpPr>
        <p:spPr>
          <a:xfrm>
            <a:off x="0" y="41040"/>
            <a:ext cx="121129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6402240" y="1457640"/>
            <a:ext cx="5024880" cy="132840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3" name="Rectangle 83"/>
          <p:cNvSpPr/>
          <p:nvPr/>
        </p:nvSpPr>
        <p:spPr>
          <a:xfrm>
            <a:off x="6402240" y="1418400"/>
            <a:ext cx="502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6400800" y="3214440"/>
            <a:ext cx="5026320" cy="151128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5" name="Rectangle 84"/>
          <p:cNvSpPr/>
          <p:nvPr/>
        </p:nvSpPr>
        <p:spPr>
          <a:xfrm>
            <a:off x="6400800" y="3201480"/>
            <a:ext cx="502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5486400" y="3585600"/>
            <a:ext cx="681480" cy="68148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7" name="" descr=""/>
          <p:cNvPicPr/>
          <p:nvPr/>
        </p:nvPicPr>
        <p:blipFill>
          <a:blip r:embed="rId3"/>
          <a:stretch/>
        </p:blipFill>
        <p:spPr>
          <a:xfrm>
            <a:off x="651960" y="3357000"/>
            <a:ext cx="2774160" cy="274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Picture 19" descr="A screenshot of a video game&#10;&#10;AI-generated content may be incorrect."/>
          <p:cNvPicPr/>
          <p:nvPr/>
        </p:nvPicPr>
        <p:blipFill>
          <a:blip r:embed="rId1"/>
          <a:srcRect l="0" t="0" r="0" b="13847"/>
          <a:stretch/>
        </p:blipFill>
        <p:spPr>
          <a:xfrm>
            <a:off x="2304360" y="1143000"/>
            <a:ext cx="7751520" cy="4569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0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"/>
          <p:cNvSpPr/>
          <p:nvPr/>
        </p:nvSpPr>
        <p:spPr>
          <a:xfrm>
            <a:off x="1143000" y="4141440"/>
            <a:ext cx="118440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>
            <a:off x="1143000" y="1525320"/>
            <a:ext cx="118440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2034720" y="4631400"/>
            <a:ext cx="594360" cy="3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"/>
          <p:cNvSpPr/>
          <p:nvPr/>
        </p:nvSpPr>
        <p:spPr>
          <a:xfrm>
            <a:off x="2034720" y="2014920"/>
            <a:ext cx="59436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5" name="Picture 22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PlaceHolder 4"/>
          <p:cNvSpPr/>
          <p:nvPr/>
        </p:nvSpPr>
        <p:spPr>
          <a:xfrm>
            <a:off x="231840" y="47880"/>
            <a:ext cx="12110040" cy="6357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Picture 24" descr="A screenshot of a video game&#10;&#10;AI-generated content may be incorrect."/>
          <p:cNvPicPr/>
          <p:nvPr/>
        </p:nvPicPr>
        <p:blipFill>
          <a:blip r:embed="rId1"/>
          <a:srcRect l="0" t="0" r="0" b="12458"/>
          <a:stretch/>
        </p:blipFill>
        <p:spPr>
          <a:xfrm>
            <a:off x="2996640" y="1143000"/>
            <a:ext cx="7287840" cy="479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"/>
          <p:cNvSpPr/>
          <p:nvPr/>
        </p:nvSpPr>
        <p:spPr>
          <a:xfrm>
            <a:off x="1600200" y="4239000"/>
            <a:ext cx="111276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1600200" y="1537560"/>
            <a:ext cx="111276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2437920" y="474480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2" name=""/>
          <p:cNvSpPr/>
          <p:nvPr/>
        </p:nvSpPr>
        <p:spPr>
          <a:xfrm>
            <a:off x="2437920" y="204336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3" name="Picture 25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PlaceHolder 5"/>
          <p:cNvSpPr/>
          <p:nvPr/>
        </p:nvSpPr>
        <p:spPr>
          <a:xfrm>
            <a:off x="0" y="228600"/>
            <a:ext cx="12110040" cy="6357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Mismatched References lead to errors in attribution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"/>
          <p:cNvSpPr/>
          <p:nvPr/>
        </p:nvSpPr>
        <p:spPr>
          <a:xfrm>
            <a:off x="7317000" y="1144800"/>
            <a:ext cx="4567680" cy="136728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6" name="Picture 77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"/>
          <p:cNvSpPr/>
          <p:nvPr/>
        </p:nvSpPr>
        <p:spPr>
          <a:xfrm>
            <a:off x="101880" y="89280"/>
            <a:ext cx="12011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“We discovered a novel dendritic cell cluster”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8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9" name="" descr=""/>
          <p:cNvPicPr/>
          <p:nvPr/>
        </p:nvPicPr>
        <p:blipFill>
          <a:blip r:embed="rId3"/>
          <a:stretch/>
        </p:blipFill>
        <p:spPr>
          <a:xfrm>
            <a:off x="393120" y="1062000"/>
            <a:ext cx="6690960" cy="465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0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99000" y="4572360"/>
            <a:ext cx="1140120" cy="114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"/>
          <p:cNvSpPr/>
          <p:nvPr/>
        </p:nvSpPr>
        <p:spPr>
          <a:xfrm>
            <a:off x="7399800" y="1143000"/>
            <a:ext cx="45694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Despite the critical importance unmixing controls play, few tools permit us to determine quality of the individual control before unmixing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7315200" y="2514600"/>
            <a:ext cx="45694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quality control algorithms (PeacoQC, FlowAI, etc.) primarily focus on detecting laser and fluidic issues in already acquired .fcs files.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7387200" y="3922200"/>
            <a:ext cx="45694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 can be introduced by tandem degradational, additional autofluorescences, undiagnosed instrumental issues, etc.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7315200" y="2552400"/>
            <a:ext cx="4567680" cy="136728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5" name=""/>
          <p:cNvSpPr/>
          <p:nvPr/>
        </p:nvSpPr>
        <p:spPr>
          <a:xfrm>
            <a:off x="7281000" y="3994200"/>
            <a:ext cx="4567680" cy="136728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6" name="Picture 83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4680" cy="594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10040" cy="635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8" name="Picture 28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920" cy="248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TextBox 7"/>
          <p:cNvSpPr/>
          <p:nvPr/>
        </p:nvSpPr>
        <p:spPr>
          <a:xfrm>
            <a:off x="1491480" y="5803560"/>
            <a:ext cx="19764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0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4600" cy="150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1" name="Picture 31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2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76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6028200" y="914400"/>
            <a:ext cx="4113720" cy="5485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4" name="Picture 90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4680" cy="594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10040" cy="635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6" name="Picture 44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920" cy="248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TextBox 11"/>
          <p:cNvSpPr/>
          <p:nvPr/>
        </p:nvSpPr>
        <p:spPr>
          <a:xfrm>
            <a:off x="1491480" y="5803560"/>
            <a:ext cx="19764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4600" cy="150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9" name="Picture 7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0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76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"/>
          <p:cNvSpPr/>
          <p:nvPr/>
        </p:nvSpPr>
        <p:spPr>
          <a:xfrm>
            <a:off x="7979400" y="1143000"/>
            <a:ext cx="2076480" cy="5256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Picture 99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4680" cy="594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10040" cy="635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4" name="Picture 7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920" cy="248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TextBox 12"/>
          <p:cNvSpPr/>
          <p:nvPr/>
        </p:nvSpPr>
        <p:spPr>
          <a:xfrm>
            <a:off x="1491480" y="5803560"/>
            <a:ext cx="19764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4600" cy="150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Picture 8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7640" cy="35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0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1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2" name=""/>
          <p:cNvSpPr/>
          <p:nvPr/>
        </p:nvSpPr>
        <p:spPr>
          <a:xfrm>
            <a:off x="6487920" y="2309040"/>
            <a:ext cx="4543200" cy="201600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3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4160" cy="154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"/>
          <p:cNvSpPr/>
          <p:nvPr/>
        </p:nvSpPr>
        <p:spPr>
          <a:xfrm>
            <a:off x="6993360" y="3948840"/>
            <a:ext cx="353268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928440" y="3677040"/>
            <a:ext cx="5048640" cy="201600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6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5920" cy="146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"/>
          <p:cNvSpPr/>
          <p:nvPr/>
        </p:nvSpPr>
        <p:spPr>
          <a:xfrm>
            <a:off x="1686600" y="5356800"/>
            <a:ext cx="353232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914400" y="1143000"/>
            <a:ext cx="5062680" cy="227556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29" name=""/>
          <p:cNvGrpSpPr/>
          <p:nvPr/>
        </p:nvGrpSpPr>
        <p:grpSpPr>
          <a:xfrm>
            <a:off x="1686600" y="1233360"/>
            <a:ext cx="3944520" cy="1782000"/>
            <a:chOff x="1686600" y="1233360"/>
            <a:chExt cx="3944520" cy="1782000"/>
          </a:xfrm>
        </p:grpSpPr>
        <p:sp>
          <p:nvSpPr>
            <p:cNvPr id="430" name="Arrow: Right 2"/>
            <p:cNvSpPr/>
            <p:nvPr/>
          </p:nvSpPr>
          <p:spPr>
            <a:xfrm rot="10800000">
              <a:off x="4870800" y="1356840"/>
              <a:ext cx="416160" cy="219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431" name="TextBox 4"/>
            <p:cNvSpPr/>
            <p:nvPr/>
          </p:nvSpPr>
          <p:spPr>
            <a:xfrm>
              <a:off x="4759200" y="1505520"/>
              <a:ext cx="87192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32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3040" cy="17820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3" name="TextBox 3"/>
            <p:cNvSpPr/>
            <p:nvPr/>
          </p:nvSpPr>
          <p:spPr>
            <a:xfrm>
              <a:off x="3405960" y="1486440"/>
              <a:ext cx="626040" cy="31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Arrow: Right 1"/>
            <p:cNvSpPr/>
            <p:nvPr/>
          </p:nvSpPr>
          <p:spPr>
            <a:xfrm>
              <a:off x="4076640" y="1538280"/>
              <a:ext cx="218160" cy="2192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435" name=""/>
          <p:cNvSpPr/>
          <p:nvPr/>
        </p:nvSpPr>
        <p:spPr>
          <a:xfrm>
            <a:off x="1939320" y="3028680"/>
            <a:ext cx="277380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"/>
          <p:cNvSpPr/>
          <p:nvPr/>
        </p:nvSpPr>
        <p:spPr>
          <a:xfrm>
            <a:off x="516600" y="3854880"/>
            <a:ext cx="6170040" cy="7167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7" name=""/>
          <p:cNvSpPr/>
          <p:nvPr/>
        </p:nvSpPr>
        <p:spPr>
          <a:xfrm>
            <a:off x="509400" y="2660400"/>
            <a:ext cx="6177240" cy="102204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8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5800" cy="29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"/>
          <p:cNvSpPr/>
          <p:nvPr/>
        </p:nvSpPr>
        <p:spPr>
          <a:xfrm>
            <a:off x="277200" y="961920"/>
            <a:ext cx="558936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0" name=""/>
          <p:cNvSpPr/>
          <p:nvPr/>
        </p:nvSpPr>
        <p:spPr>
          <a:xfrm>
            <a:off x="468000" y="2588400"/>
            <a:ext cx="64346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480600" y="3813840"/>
            <a:ext cx="639864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47520"/>
            <a:ext cx="123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3" name="Picture 9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4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"/>
          <p:cNvSpPr/>
          <p:nvPr/>
        </p:nvSpPr>
        <p:spPr>
          <a:xfrm>
            <a:off x="516600" y="1444320"/>
            <a:ext cx="6169320" cy="105876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6" name=""/>
          <p:cNvSpPr/>
          <p:nvPr/>
        </p:nvSpPr>
        <p:spPr>
          <a:xfrm>
            <a:off x="473400" y="1408320"/>
            <a:ext cx="61772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>
            <a:off x="5257800" y="2861640"/>
            <a:ext cx="5940720" cy="98712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8" name=""/>
          <p:cNvSpPr/>
          <p:nvPr/>
        </p:nvSpPr>
        <p:spPr>
          <a:xfrm>
            <a:off x="5255280" y="4057920"/>
            <a:ext cx="5953320" cy="109080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9" name=""/>
          <p:cNvSpPr/>
          <p:nvPr/>
        </p:nvSpPr>
        <p:spPr>
          <a:xfrm>
            <a:off x="5258520" y="1494720"/>
            <a:ext cx="5940720" cy="113832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50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4320" cy="202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1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9840" cy="19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"/>
          <p:cNvSpPr/>
          <p:nvPr/>
        </p:nvSpPr>
        <p:spPr>
          <a:xfrm>
            <a:off x="5259240" y="1539000"/>
            <a:ext cx="61686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5221800" y="3987360"/>
            <a:ext cx="5950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5257800" y="2791080"/>
            <a:ext cx="59407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46800"/>
            <a:ext cx="1218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6" name="Picture 9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7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8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50520" cy="2631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>
            <a:off x="217800" y="2178000"/>
            <a:ext cx="4353120" cy="172908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0" name=""/>
          <p:cNvSpPr/>
          <p:nvPr/>
        </p:nvSpPr>
        <p:spPr>
          <a:xfrm>
            <a:off x="251280" y="4057920"/>
            <a:ext cx="4319640" cy="165600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1" name=""/>
          <p:cNvSpPr/>
          <p:nvPr/>
        </p:nvSpPr>
        <p:spPr>
          <a:xfrm>
            <a:off x="228600" y="1494720"/>
            <a:ext cx="4316400" cy="5616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2" name=""/>
          <p:cNvSpPr/>
          <p:nvPr/>
        </p:nvSpPr>
        <p:spPr>
          <a:xfrm>
            <a:off x="255240" y="1539000"/>
            <a:ext cx="43156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217800" y="3987360"/>
            <a:ext cx="435312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181800" y="2142000"/>
            <a:ext cx="438912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46800"/>
            <a:ext cx="1218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67" name=""/>
          <p:cNvGrpSpPr/>
          <p:nvPr/>
        </p:nvGrpSpPr>
        <p:grpSpPr>
          <a:xfrm>
            <a:off x="4800600" y="1092600"/>
            <a:ext cx="6628320" cy="2106720"/>
            <a:chOff x="4800600" y="1092600"/>
            <a:chExt cx="6628320" cy="2106720"/>
          </a:xfrm>
        </p:grpSpPr>
        <p:pic>
          <p:nvPicPr>
            <p:cNvPr id="468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8320" cy="20991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69" name=""/>
            <p:cNvSpPr/>
            <p:nvPr/>
          </p:nvSpPr>
          <p:spPr>
            <a:xfrm>
              <a:off x="5064120" y="1103040"/>
              <a:ext cx="3310560" cy="19260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70" name=""/>
            <p:cNvSpPr/>
            <p:nvPr/>
          </p:nvSpPr>
          <p:spPr>
            <a:xfrm>
              <a:off x="8028000" y="1092600"/>
              <a:ext cx="3310560" cy="19224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471" name="Picture 96" descr="A group of images of a square&#10;&#10;AI-generated content may be incorrect."/>
          <p:cNvPicPr/>
          <p:nvPr/>
        </p:nvPicPr>
        <p:blipFill>
          <a:blip r:embed="rId3"/>
          <a:srcRect l="0" t="67042" r="0" b="0"/>
          <a:stretch/>
        </p:blipFill>
        <p:spPr>
          <a:xfrm>
            <a:off x="5029200" y="3373200"/>
            <a:ext cx="6063120" cy="256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TextBox 10"/>
          <p:cNvSpPr/>
          <p:nvPr/>
        </p:nvSpPr>
        <p:spPr>
          <a:xfrm>
            <a:off x="5221800" y="5943600"/>
            <a:ext cx="319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13"/>
          <p:cNvSpPr/>
          <p:nvPr/>
        </p:nvSpPr>
        <p:spPr>
          <a:xfrm>
            <a:off x="8001000" y="5991120"/>
            <a:ext cx="319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 rot="7421400">
            <a:off x="9689760" y="1180800"/>
            <a:ext cx="456120" cy="45612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5" name="Picture 1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5960" cy="228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"/>
          <p:cNvSpPr/>
          <p:nvPr/>
        </p:nvSpPr>
        <p:spPr>
          <a:xfrm>
            <a:off x="5486400" y="1828800"/>
            <a:ext cx="681840" cy="68184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77" name="Picture 16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"/>
          <p:cNvSpPr/>
          <p:nvPr/>
        </p:nvSpPr>
        <p:spPr>
          <a:xfrm>
            <a:off x="0" y="41040"/>
            <a:ext cx="121132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6402240" y="1457640"/>
            <a:ext cx="5025240" cy="132876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0" name="Rectangle 66"/>
          <p:cNvSpPr/>
          <p:nvPr/>
        </p:nvSpPr>
        <p:spPr>
          <a:xfrm>
            <a:off x="6402240" y="1418400"/>
            <a:ext cx="50252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6400800" y="3214440"/>
            <a:ext cx="5026680" cy="151164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2" name="Rectangle 67"/>
          <p:cNvSpPr/>
          <p:nvPr/>
        </p:nvSpPr>
        <p:spPr>
          <a:xfrm>
            <a:off x="6400800" y="3201480"/>
            <a:ext cx="50252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5486400" y="3585600"/>
            <a:ext cx="681840" cy="68184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4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4520" cy="274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6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7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9" name="Picture 20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Arrow: Down 3"/>
          <p:cNvSpPr/>
          <p:nvPr/>
        </p:nvSpPr>
        <p:spPr>
          <a:xfrm>
            <a:off x="7251480" y="829440"/>
            <a:ext cx="519120" cy="753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1" name="Picture 6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4" name="Picture 4" descr=""/>
          <p:cNvPicPr/>
          <p:nvPr/>
        </p:nvPicPr>
        <p:blipFill>
          <a:blip r:embed="rId1"/>
          <a:srcRect l="28389" t="0" r="46288" b="0"/>
          <a:stretch/>
        </p:blipFill>
        <p:spPr>
          <a:xfrm>
            <a:off x="3166200" y="293040"/>
            <a:ext cx="2319840" cy="641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5" name="Picture 5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960" cy="286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TextBox 8"/>
          <p:cNvSpPr/>
          <p:nvPr/>
        </p:nvSpPr>
        <p:spPr>
          <a:xfrm>
            <a:off x="499680" y="558468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7" name="Graphic 9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960" cy="1830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8" name="Picture 10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9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1" name="Picture 6" descr=""/>
          <p:cNvPicPr/>
          <p:nvPr/>
        </p:nvPicPr>
        <p:blipFill>
          <a:blip r:embed="rId1"/>
          <a:srcRect l="28389" t="0" r="23840" b="0"/>
          <a:stretch/>
        </p:blipFill>
        <p:spPr>
          <a:xfrm>
            <a:off x="3166200" y="293040"/>
            <a:ext cx="4377240" cy="641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2" name="Picture 63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960" cy="286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TextBox 1"/>
          <p:cNvSpPr/>
          <p:nvPr/>
        </p:nvSpPr>
        <p:spPr>
          <a:xfrm>
            <a:off x="499680" y="5584680"/>
            <a:ext cx="21042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Graphic 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960" cy="1830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Picture 85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6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8" name="Picture 86" descr=""/>
          <p:cNvPicPr/>
          <p:nvPr/>
        </p:nvPicPr>
        <p:blipFill>
          <a:blip r:embed="rId1"/>
          <a:srcRect l="28389" t="0" r="0" b="0"/>
          <a:stretch/>
        </p:blipFill>
        <p:spPr>
          <a:xfrm>
            <a:off x="3166200" y="293040"/>
            <a:ext cx="6562440" cy="641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9" name="Picture 87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960" cy="286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0" name="TextBox 6"/>
          <p:cNvSpPr/>
          <p:nvPr/>
        </p:nvSpPr>
        <p:spPr>
          <a:xfrm>
            <a:off x="499680" y="5584680"/>
            <a:ext cx="21042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960" cy="1830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2" name="Picture 88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Initial automated gate, with ability to adjust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5" name="Picture 5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560" cy="17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6" name="Picture 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7" name="Picture 2" descr=""/>
          <p:cNvPicPr/>
          <p:nvPr/>
        </p:nvPicPr>
        <p:blipFill>
          <a:blip r:embed="rId3"/>
          <a:srcRect l="0" t="0" r="50000" b="26630"/>
          <a:stretch/>
        </p:blipFill>
        <p:spPr>
          <a:xfrm>
            <a:off x="1844640" y="1020240"/>
            <a:ext cx="4249440" cy="4454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TextBox 3"/>
          <p:cNvSpPr/>
          <p:nvPr/>
        </p:nvSpPr>
        <p:spPr>
          <a:xfrm>
            <a:off x="6531840" y="1122480"/>
            <a:ext cx="4449600" cy="37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Initial gates for designated markers calculated via openCyto (mindensity)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Ability to update gate_range constraints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Launch a Shiny app and designate interactively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6557400" y="1407600"/>
            <a:ext cx="3956760" cy="137016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"/>
          <p:cNvSpPr/>
          <p:nvPr/>
        </p:nvSpPr>
        <p:spPr>
          <a:xfrm>
            <a:off x="6557400" y="3999600"/>
            <a:ext cx="3956760" cy="9428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6531840" y="2905920"/>
            <a:ext cx="3956760" cy="94284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2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CoerebaID column gets added to the .fcs file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4" name="Picture 5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560" cy="17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5" name="Picture 4" descr=""/>
          <p:cNvPicPr/>
          <p:nvPr/>
        </p:nvPicPr>
        <p:blipFill>
          <a:blip r:embed="rId2"/>
          <a:stretch/>
        </p:blipFill>
        <p:spPr>
          <a:xfrm>
            <a:off x="7691040" y="776880"/>
            <a:ext cx="7575840" cy="530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Picture 7" descr=""/>
          <p:cNvPicPr/>
          <p:nvPr/>
        </p:nvPicPr>
        <p:blipFill>
          <a:blip r:embed="rId3"/>
          <a:srcRect l="0" t="0" r="0" b="54009"/>
          <a:stretch/>
        </p:blipFill>
        <p:spPr>
          <a:xfrm>
            <a:off x="-219600" y="2347920"/>
            <a:ext cx="7830720" cy="252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Picture 8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8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Rectangle 50"/>
          <p:cNvSpPr/>
          <p:nvPr/>
        </p:nvSpPr>
        <p:spPr>
          <a:xfrm>
            <a:off x="7864560" y="1079280"/>
            <a:ext cx="3872880" cy="452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Picture 2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6680" cy="560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2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"/>
          <p:cNvSpPr/>
          <p:nvPr/>
        </p:nvSpPr>
        <p:spPr>
          <a:xfrm>
            <a:off x="7864560" y="1079280"/>
            <a:ext cx="3792600" cy="97668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7864560" y="2186280"/>
            <a:ext cx="3792600" cy="74808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7864560" y="3007800"/>
            <a:ext cx="3792600" cy="144216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7864560" y="4572000"/>
            <a:ext cx="3792600" cy="102852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7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contrast unsupervised methods vs. “manual” ground-truth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Picture 4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" descr=""/>
          <p:cNvPicPr/>
          <p:nvPr/>
        </p:nvPicPr>
        <p:blipFill>
          <a:blip r:embed="rId2"/>
          <a:stretch/>
        </p:blipFill>
        <p:spPr>
          <a:xfrm>
            <a:off x="914400" y="1504080"/>
            <a:ext cx="10283040" cy="420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" descr=""/>
          <p:cNvPicPr/>
          <p:nvPr/>
        </p:nvPicPr>
        <p:blipFill>
          <a:blip r:embed="rId3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Retrieving and re-enumerating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3" name="Picture 1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4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5" name="" descr=""/>
          <p:cNvPicPr/>
          <p:nvPr/>
        </p:nvPicPr>
        <p:blipFill>
          <a:blip r:embed="rId3"/>
          <a:srcRect l="0" t="0" r="75396" b="50082"/>
          <a:stretch/>
        </p:blipFill>
        <p:spPr>
          <a:xfrm>
            <a:off x="685800" y="1438200"/>
            <a:ext cx="2615400" cy="224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6" name="" descr=""/>
          <p:cNvPicPr/>
          <p:nvPr/>
        </p:nvPicPr>
        <p:blipFill>
          <a:blip r:embed="rId4"/>
          <a:srcRect l="0" t="0" r="0" b="46265"/>
          <a:stretch/>
        </p:blipFill>
        <p:spPr>
          <a:xfrm>
            <a:off x="3568680" y="2062800"/>
            <a:ext cx="3879720" cy="1879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7" name="" descr=""/>
          <p:cNvPicPr/>
          <p:nvPr/>
        </p:nvPicPr>
        <p:blipFill>
          <a:blip r:embed="rId5"/>
          <a:srcRect l="28789" t="0" r="0" b="79839"/>
          <a:stretch/>
        </p:blipFill>
        <p:spPr>
          <a:xfrm>
            <a:off x="5927760" y="4227480"/>
            <a:ext cx="5498280" cy="16023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48" name=""/>
          <p:cNvGrpSpPr/>
          <p:nvPr/>
        </p:nvGrpSpPr>
        <p:grpSpPr>
          <a:xfrm>
            <a:off x="1307160" y="3902760"/>
            <a:ext cx="1731960" cy="589680"/>
            <a:chOff x="1307160" y="3902760"/>
            <a:chExt cx="1731960" cy="589680"/>
          </a:xfrm>
        </p:grpSpPr>
        <p:sp>
          <p:nvSpPr>
            <p:cNvPr id="549" name=""/>
            <p:cNvSpPr/>
            <p:nvPr/>
          </p:nvSpPr>
          <p:spPr>
            <a:xfrm>
              <a:off x="1307160" y="3902760"/>
              <a:ext cx="1525680" cy="589680"/>
            </a:xfrm>
            <a:prstGeom prst="rect">
              <a:avLst/>
            </a:prstGeom>
            <a:solidFill>
              <a:srgbClr val="afd095">
                <a:alpha val="50000"/>
              </a:srgbClr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50" name=""/>
            <p:cNvSpPr/>
            <p:nvPr/>
          </p:nvSpPr>
          <p:spPr>
            <a:xfrm>
              <a:off x="1491480" y="3956760"/>
              <a:ext cx="15476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1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1) Gate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1" name=""/>
          <p:cNvSpPr/>
          <p:nvPr/>
        </p:nvSpPr>
        <p:spPr>
          <a:xfrm>
            <a:off x="4051800" y="1319040"/>
            <a:ext cx="3155040" cy="73980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2" name=""/>
          <p:cNvSpPr/>
          <p:nvPr/>
        </p:nvSpPr>
        <p:spPr>
          <a:xfrm>
            <a:off x="7963200" y="3495960"/>
            <a:ext cx="2414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3) Re-enumerate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and plot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3283920" y="1522080"/>
            <a:ext cx="547920" cy="64224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4" name=""/>
          <p:cNvSpPr/>
          <p:nvPr/>
        </p:nvSpPr>
        <p:spPr>
          <a:xfrm>
            <a:off x="6994800" y="3729240"/>
            <a:ext cx="565200" cy="62640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5" name=""/>
          <p:cNvSpPr/>
          <p:nvPr/>
        </p:nvSpPr>
        <p:spPr>
          <a:xfrm>
            <a:off x="4203360" y="1387080"/>
            <a:ext cx="320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2) Retrieve manual-annotated gates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7766640" y="3428640"/>
            <a:ext cx="2588400" cy="73980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040" cy="635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Rectangle 6"/>
          <p:cNvSpPr/>
          <p:nvPr/>
        </p:nvSpPr>
        <p:spPr>
          <a:xfrm>
            <a:off x="7864560" y="1079280"/>
            <a:ext cx="387072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9" name="Picture 119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4520" cy="560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0" name="Picture 12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3" name="Picture 89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880" cy="578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4" name="Picture 9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1063080" y="0"/>
            <a:ext cx="10509480" cy="69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Retrieval of marker expressions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7" name="Picture 121" descr=""/>
          <p:cNvPicPr/>
          <p:nvPr/>
        </p:nvPicPr>
        <p:blipFill>
          <a:blip r:embed="rId1"/>
          <a:stretch/>
        </p:blipFill>
        <p:spPr>
          <a:xfrm>
            <a:off x="72000" y="108000"/>
            <a:ext cx="1841760" cy="159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8" name="Graphic 1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515600" y="0"/>
            <a:ext cx="1594080" cy="159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9" name="Picture 122" descr=""/>
          <p:cNvPicPr/>
          <p:nvPr/>
        </p:nvPicPr>
        <p:blipFill>
          <a:blip r:embed="rId4"/>
          <a:stretch/>
        </p:blipFill>
        <p:spPr>
          <a:xfrm>
            <a:off x="1863720" y="1362240"/>
            <a:ext cx="8460720" cy="457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0" name="Picture 123" descr=""/>
          <p:cNvPicPr/>
          <p:nvPr/>
        </p:nvPicPr>
        <p:blipFill>
          <a:blip r:embed="rId5"/>
          <a:stretch/>
        </p:blipFill>
        <p:spPr>
          <a:xfrm>
            <a:off x="10435680" y="617256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" descr=""/>
          <p:cNvPicPr/>
          <p:nvPr/>
        </p:nvPicPr>
        <p:blipFill>
          <a:blip r:embed="rId6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2" name="" descr=""/>
          <p:cNvPicPr/>
          <p:nvPr/>
        </p:nvPicPr>
        <p:blipFill>
          <a:blip r:embed="rId1"/>
          <a:stretch/>
        </p:blipFill>
        <p:spPr>
          <a:xfrm>
            <a:off x="914400" y="1503720"/>
            <a:ext cx="10284480" cy="420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3" name="Picture 133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5" name=""/>
          <p:cNvSpPr/>
          <p:nvPr/>
        </p:nvSpPr>
        <p:spPr>
          <a:xfrm>
            <a:off x="621360" y="269640"/>
            <a:ext cx="110347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contrast unsupervised methods vs “manual” ground-truth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" descr=""/>
          <p:cNvPicPr/>
          <p:nvPr/>
        </p:nvPicPr>
        <p:blipFill>
          <a:blip r:embed="rId1"/>
          <a:srcRect l="0" t="0" r="75396" b="50082"/>
          <a:stretch/>
        </p:blipFill>
        <p:spPr>
          <a:xfrm>
            <a:off x="685800" y="1438560"/>
            <a:ext cx="2616840" cy="224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7" name="" descr=""/>
          <p:cNvPicPr/>
          <p:nvPr/>
        </p:nvPicPr>
        <p:blipFill>
          <a:blip r:embed="rId2"/>
          <a:srcRect l="0" t="0" r="0" b="46265"/>
          <a:stretch/>
        </p:blipFill>
        <p:spPr>
          <a:xfrm>
            <a:off x="3568680" y="2063160"/>
            <a:ext cx="3881160" cy="188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8" name="" descr=""/>
          <p:cNvPicPr/>
          <p:nvPr/>
        </p:nvPicPr>
        <p:blipFill>
          <a:blip r:embed="rId3"/>
          <a:srcRect l="28789" t="0" r="0" b="79839"/>
          <a:stretch/>
        </p:blipFill>
        <p:spPr>
          <a:xfrm>
            <a:off x="5927760" y="4227840"/>
            <a:ext cx="5499720" cy="16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"/>
          <p:cNvSpPr/>
          <p:nvPr/>
        </p:nvSpPr>
        <p:spPr>
          <a:xfrm>
            <a:off x="3306600" y="1522080"/>
            <a:ext cx="547920" cy="64224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0" name=""/>
          <p:cNvSpPr/>
          <p:nvPr/>
        </p:nvSpPr>
        <p:spPr>
          <a:xfrm>
            <a:off x="7017480" y="3729240"/>
            <a:ext cx="565200" cy="62640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581" name=""/>
          <p:cNvGrpSpPr/>
          <p:nvPr/>
        </p:nvGrpSpPr>
        <p:grpSpPr>
          <a:xfrm>
            <a:off x="1307160" y="3903120"/>
            <a:ext cx="1733400" cy="591120"/>
            <a:chOff x="1307160" y="3903120"/>
            <a:chExt cx="1733400" cy="591120"/>
          </a:xfrm>
        </p:grpSpPr>
        <p:sp>
          <p:nvSpPr>
            <p:cNvPr id="582" name=""/>
            <p:cNvSpPr/>
            <p:nvPr/>
          </p:nvSpPr>
          <p:spPr>
            <a:xfrm>
              <a:off x="1307160" y="3903120"/>
              <a:ext cx="1527120" cy="591120"/>
            </a:xfrm>
            <a:prstGeom prst="rect">
              <a:avLst/>
            </a:prstGeom>
            <a:solidFill>
              <a:srgbClr val="afd095">
                <a:alpha val="50000"/>
              </a:srgbClr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83" name=""/>
            <p:cNvSpPr/>
            <p:nvPr/>
          </p:nvSpPr>
          <p:spPr>
            <a:xfrm>
              <a:off x="1491480" y="3957120"/>
              <a:ext cx="15490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1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1) Gate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84" name=""/>
          <p:cNvSpPr/>
          <p:nvPr/>
        </p:nvSpPr>
        <p:spPr>
          <a:xfrm>
            <a:off x="4051800" y="1319400"/>
            <a:ext cx="3156480" cy="74124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5" name=""/>
          <p:cNvSpPr/>
          <p:nvPr/>
        </p:nvSpPr>
        <p:spPr>
          <a:xfrm>
            <a:off x="4226040" y="1387080"/>
            <a:ext cx="3201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2) Retrieve manual-annotated gates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7789320" y="3428640"/>
            <a:ext cx="2589840" cy="74124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7" name=""/>
          <p:cNvSpPr/>
          <p:nvPr/>
        </p:nvSpPr>
        <p:spPr>
          <a:xfrm>
            <a:off x="7963200" y="3496320"/>
            <a:ext cx="241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3) Re-enumerate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and plot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8" name="Picture 132" descr=""/>
          <p:cNvPicPr/>
          <p:nvPr/>
        </p:nvPicPr>
        <p:blipFill>
          <a:blip r:embed="rId4"/>
          <a:stretch/>
        </p:blipFill>
        <p:spPr>
          <a:xfrm>
            <a:off x="10435680" y="617256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" descr=""/>
          <p:cNvPicPr/>
          <p:nvPr/>
        </p:nvPicPr>
        <p:blipFill>
          <a:blip r:embed="rId5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PlaceHolder 26"/>
          <p:cNvSpPr/>
          <p:nvPr/>
        </p:nvSpPr>
        <p:spPr>
          <a:xfrm>
            <a:off x="0" y="46440"/>
            <a:ext cx="12110040" cy="6357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Retrieving and re-enumerating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0" y="175320"/>
            <a:ext cx="12189600" cy="965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1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Retrieve manual annotated gating information </a:t>
            </a:r>
            <a:br>
              <a:rPr sz="3600"/>
            </a:b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following unsupervised steps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92" name="Group 3"/>
          <p:cNvGrpSpPr/>
          <p:nvPr/>
        </p:nvGrpSpPr>
        <p:grpSpPr>
          <a:xfrm>
            <a:off x="1035000" y="1090440"/>
            <a:ext cx="9785160" cy="4673160"/>
            <a:chOff x="1035000" y="1090440"/>
            <a:chExt cx="9785160" cy="4673160"/>
          </a:xfrm>
        </p:grpSpPr>
        <p:pic>
          <p:nvPicPr>
            <p:cNvPr id="593" name="Picture 125" descr=""/>
            <p:cNvPicPr/>
            <p:nvPr/>
          </p:nvPicPr>
          <p:blipFill>
            <a:blip r:embed="rId1"/>
            <a:stretch/>
          </p:blipFill>
          <p:spPr>
            <a:xfrm>
              <a:off x="3891960" y="3265560"/>
              <a:ext cx="6927480" cy="249804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594" name="Group 4"/>
            <p:cNvGrpSpPr/>
            <p:nvPr/>
          </p:nvGrpSpPr>
          <p:grpSpPr>
            <a:xfrm>
              <a:off x="3314880" y="1090440"/>
              <a:ext cx="7505280" cy="2185560"/>
              <a:chOff x="3314880" y="1090440"/>
              <a:chExt cx="7505280" cy="2185560"/>
            </a:xfrm>
          </p:grpSpPr>
          <p:pic>
            <p:nvPicPr>
              <p:cNvPr id="595" name="Picture 126" descr=""/>
              <p:cNvPicPr/>
              <p:nvPr/>
            </p:nvPicPr>
            <p:blipFill>
              <a:blip r:embed="rId2"/>
              <a:srcRect l="0" t="44464" r="9095" b="0"/>
              <a:stretch/>
            </p:blipFill>
            <p:spPr>
              <a:xfrm>
                <a:off x="3893040" y="1217880"/>
                <a:ext cx="6927120" cy="2058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sp>
            <p:nvSpPr>
              <p:cNvPr id="596" name="Rectangle 8"/>
              <p:cNvSpPr/>
              <p:nvPr/>
            </p:nvSpPr>
            <p:spPr>
              <a:xfrm>
                <a:off x="3314880" y="1090440"/>
                <a:ext cx="7505280" cy="33732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pic>
          <p:nvPicPr>
            <p:cNvPr id="597" name="Picture 128" descr=""/>
            <p:cNvPicPr/>
            <p:nvPr/>
          </p:nvPicPr>
          <p:blipFill>
            <a:blip r:embed="rId3"/>
            <a:stretch/>
          </p:blipFill>
          <p:spPr>
            <a:xfrm>
              <a:off x="1035000" y="1386360"/>
              <a:ext cx="2561760" cy="43772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598" name="Picture 130" descr=""/>
          <p:cNvPicPr/>
          <p:nvPr/>
        </p:nvPicPr>
        <p:blipFill>
          <a:blip r:embed="rId4"/>
          <a:stretch/>
        </p:blipFill>
        <p:spPr>
          <a:xfrm>
            <a:off x="10435680" y="617256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9" name="" descr=""/>
          <p:cNvPicPr/>
          <p:nvPr/>
        </p:nvPicPr>
        <p:blipFill>
          <a:blip r:embed="rId5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TextBox 5"/>
          <p:cNvSpPr/>
          <p:nvPr/>
        </p:nvSpPr>
        <p:spPr>
          <a:xfrm>
            <a:off x="7269840" y="1225800"/>
            <a:ext cx="4732200" cy="56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Fun off-label uses thus far: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Contrasting where “manually-gated” cells end up vs. our unsupervised methods (normalization, clustering, etc.)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Added benefit of looking-at-the-forest: Easy to identify badly cryopreserved specimens where cell populations were lost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Functional and Iterative: plenty for everyone to dislike </a:t>
            </a: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:)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Picture 2" descr=""/>
          <p:cNvPicPr/>
          <p:nvPr/>
        </p:nvPicPr>
        <p:blipFill>
          <a:blip r:embed="rId1"/>
          <a:stretch/>
        </p:blipFill>
        <p:spPr>
          <a:xfrm>
            <a:off x="479160" y="1063080"/>
            <a:ext cx="6453720" cy="451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"/>
          <p:cNvSpPr/>
          <p:nvPr/>
        </p:nvSpPr>
        <p:spPr>
          <a:xfrm>
            <a:off x="7315200" y="1297800"/>
            <a:ext cx="4341960" cy="372960"/>
          </a:xfrm>
          <a:prstGeom prst="rect">
            <a:avLst/>
          </a:prstGeom>
          <a:solidFill>
            <a:srgbClr val="ff8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"/>
          <p:cNvSpPr/>
          <p:nvPr/>
        </p:nvSpPr>
        <p:spPr>
          <a:xfrm>
            <a:off x="7315200" y="1949400"/>
            <a:ext cx="4341960" cy="159876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7315200" y="3765600"/>
            <a:ext cx="4341960" cy="1598760"/>
          </a:xfrm>
          <a:prstGeom prst="rect">
            <a:avLst/>
          </a:prstGeom>
          <a:solidFill>
            <a:srgbClr val="dde8c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" descr=""/>
          <p:cNvPicPr/>
          <p:nvPr/>
        </p:nvPicPr>
        <p:blipFill>
          <a:blip r:embed="rId3"/>
          <a:stretch/>
        </p:blipFill>
        <p:spPr>
          <a:xfrm>
            <a:off x="23076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Picture 13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5960" cy="228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9" name=""/>
          <p:cNvSpPr/>
          <p:nvPr/>
        </p:nvSpPr>
        <p:spPr>
          <a:xfrm>
            <a:off x="5486400" y="1828800"/>
            <a:ext cx="681840" cy="68184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10" name="Picture 134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1" name=""/>
          <p:cNvSpPr/>
          <p:nvPr/>
        </p:nvSpPr>
        <p:spPr>
          <a:xfrm>
            <a:off x="0" y="41040"/>
            <a:ext cx="121132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"/>
          <p:cNvSpPr/>
          <p:nvPr/>
        </p:nvSpPr>
        <p:spPr>
          <a:xfrm>
            <a:off x="6402240" y="1457640"/>
            <a:ext cx="5025240" cy="132876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3" name="Rectangle 20"/>
          <p:cNvSpPr/>
          <p:nvPr/>
        </p:nvSpPr>
        <p:spPr>
          <a:xfrm>
            <a:off x="6402240" y="1418400"/>
            <a:ext cx="50252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6400800" y="3214440"/>
            <a:ext cx="5026680" cy="151164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5" name="Rectangle 21"/>
          <p:cNvSpPr/>
          <p:nvPr/>
        </p:nvSpPr>
        <p:spPr>
          <a:xfrm>
            <a:off x="6400800" y="3201480"/>
            <a:ext cx="50252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5486400" y="3585600"/>
            <a:ext cx="681840" cy="68184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17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4520" cy="274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8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9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20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1" name=""/>
          <p:cNvSpPr/>
          <p:nvPr/>
        </p:nvSpPr>
        <p:spPr>
          <a:xfrm flipH="1" flipV="1">
            <a:off x="5558760" y="385776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2" name=""/>
          <p:cNvSpPr/>
          <p:nvPr/>
        </p:nvSpPr>
        <p:spPr>
          <a:xfrm flipV="1">
            <a:off x="5751000" y="34416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Are our high-dimensional analysis problems fixed?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4" name="Picture 6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5" name="Picture 48" descr=""/>
          <p:cNvPicPr/>
          <p:nvPr/>
        </p:nvPicPr>
        <p:blipFill>
          <a:blip r:embed="rId2"/>
          <a:srcRect l="19531" t="32521" r="20346" b="27773"/>
          <a:stretch/>
        </p:blipFill>
        <p:spPr>
          <a:xfrm>
            <a:off x="1098360" y="1371960"/>
            <a:ext cx="10328040" cy="383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6" name="" descr=""/>
          <p:cNvPicPr/>
          <p:nvPr/>
        </p:nvPicPr>
        <p:blipFill>
          <a:blip r:embed="rId3"/>
          <a:stretch/>
        </p:blipFill>
        <p:spPr>
          <a:xfrm>
            <a:off x="23040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Picture 45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880" cy="578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9" name="Picture 4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2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3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34" name=""/>
          <p:cNvGrpSpPr/>
          <p:nvPr/>
        </p:nvGrpSpPr>
        <p:grpSpPr>
          <a:xfrm>
            <a:off x="5486400" y="1150920"/>
            <a:ext cx="6254640" cy="4337640"/>
            <a:chOff x="5486400" y="1150920"/>
            <a:chExt cx="6254640" cy="4337640"/>
          </a:xfrm>
        </p:grpSpPr>
        <p:pic>
          <p:nvPicPr>
            <p:cNvPr id="635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4640" cy="4337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36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40720" cy="2569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37" name=""/>
          <p:cNvSpPr/>
          <p:nvPr/>
        </p:nvSpPr>
        <p:spPr>
          <a:xfrm>
            <a:off x="444600" y="1150920"/>
            <a:ext cx="4566240" cy="4562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8" name="Rectangle 9"/>
          <p:cNvSpPr/>
          <p:nvPr/>
        </p:nvSpPr>
        <p:spPr>
          <a:xfrm>
            <a:off x="415440" y="1186920"/>
            <a:ext cx="461232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0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1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9840" cy="151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2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6760" cy="401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3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72080" cy="145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4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4680" cy="119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5" name="PlaceHolder 27"/>
          <p:cNvSpPr/>
          <p:nvPr/>
        </p:nvSpPr>
        <p:spPr>
          <a:xfrm>
            <a:off x="613800" y="4836600"/>
            <a:ext cx="1549080" cy="10461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6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"/>
          <p:cNvSpPr/>
          <p:nvPr/>
        </p:nvSpPr>
        <p:spPr>
          <a:xfrm>
            <a:off x="6629400" y="1467000"/>
            <a:ext cx="4339440" cy="3786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48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10680" cy="552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Rectangle 23"/>
          <p:cNvSpPr/>
          <p:nvPr/>
        </p:nvSpPr>
        <p:spPr>
          <a:xfrm>
            <a:off x="6665400" y="1467000"/>
            <a:ext cx="459684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1" name="Picture 1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>
            <a:off x="252000" y="1238040"/>
            <a:ext cx="4652280" cy="4244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Rectangle 24"/>
          <p:cNvSpPr/>
          <p:nvPr/>
        </p:nvSpPr>
        <p:spPr>
          <a:xfrm>
            <a:off x="307440" y="1443600"/>
            <a:ext cx="459684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6" name="Picture 13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7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9280" cy="441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"/>
          <p:cNvSpPr/>
          <p:nvPr/>
        </p:nvSpPr>
        <p:spPr>
          <a:xfrm>
            <a:off x="6773760" y="914400"/>
            <a:ext cx="4652280" cy="4796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Rectangle 25"/>
          <p:cNvSpPr/>
          <p:nvPr/>
        </p:nvSpPr>
        <p:spPr>
          <a:xfrm>
            <a:off x="6828480" y="1048680"/>
            <a:ext cx="459684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2" name="Picture 13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3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2600" cy="4811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"/>
          <p:cNvSpPr/>
          <p:nvPr/>
        </p:nvSpPr>
        <p:spPr>
          <a:xfrm>
            <a:off x="685800" y="2561400"/>
            <a:ext cx="4652280" cy="1367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Rectangle 26"/>
          <p:cNvSpPr/>
          <p:nvPr/>
        </p:nvSpPr>
        <p:spPr>
          <a:xfrm>
            <a:off x="717480" y="2561400"/>
            <a:ext cx="45968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7" name="Picture 13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8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4520" cy="504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"/>
          <p:cNvSpPr/>
          <p:nvPr/>
        </p:nvSpPr>
        <p:spPr>
          <a:xfrm>
            <a:off x="2569320" y="4523400"/>
            <a:ext cx="6623640" cy="159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Rectangle 4"/>
          <p:cNvSpPr/>
          <p:nvPr/>
        </p:nvSpPr>
        <p:spPr>
          <a:xfrm>
            <a:off x="2569320" y="4523400"/>
            <a:ext cx="70250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2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3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4640" cy="344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5" name=""/>
          <p:cNvSpPr/>
          <p:nvPr/>
        </p:nvSpPr>
        <p:spPr>
          <a:xfrm rot="19411800">
            <a:off x="10550160" y="793440"/>
            <a:ext cx="455760" cy="912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"/>
          <p:cNvSpPr/>
          <p:nvPr/>
        </p:nvSpPr>
        <p:spPr>
          <a:xfrm>
            <a:off x="5185800" y="3200400"/>
            <a:ext cx="6481080" cy="25135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7" name=""/>
          <p:cNvSpPr/>
          <p:nvPr/>
        </p:nvSpPr>
        <p:spPr>
          <a:xfrm>
            <a:off x="5185800" y="1058400"/>
            <a:ext cx="6481080" cy="19353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Rectangle 22"/>
          <p:cNvSpPr/>
          <p:nvPr/>
        </p:nvSpPr>
        <p:spPr>
          <a:xfrm>
            <a:off x="5176440" y="3249000"/>
            <a:ext cx="6252480" cy="24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72 Bioconductor cytometry packages (+ 20? GitHub based packages)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Heavily under-utilized, some unmaintained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Evidence that “Build the `software tool` and they will come” approach doesn’t work in practice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0" name="Picture 13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1" name="" descr=""/>
          <p:cNvPicPr/>
          <p:nvPr/>
        </p:nvPicPr>
        <p:blipFill>
          <a:blip r:embed="rId2"/>
          <a:stretch/>
        </p:blipFill>
        <p:spPr>
          <a:xfrm>
            <a:off x="659880" y="909000"/>
            <a:ext cx="3907800" cy="4912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3" name=""/>
          <p:cNvSpPr/>
          <p:nvPr/>
        </p:nvSpPr>
        <p:spPr>
          <a:xfrm>
            <a:off x="5185800" y="1136520"/>
            <a:ext cx="64364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MT Extra" charset="2"/>
              <a:buChar char="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Working towards formally submitting my R packages to Bioconductor this year (adding documentation, generalizing for different instrument manufacturers)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5185800" y="2286000"/>
            <a:ext cx="643644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MT Extra" charset="2"/>
              <a:buChar char="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Still learning better ways to parallelize and speed up the process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"/>
          <p:cNvSpPr/>
          <p:nvPr/>
        </p:nvSpPr>
        <p:spPr>
          <a:xfrm>
            <a:off x="349200" y="4885200"/>
            <a:ext cx="2163960" cy="599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6" name=""/>
          <p:cNvSpPr/>
          <p:nvPr/>
        </p:nvSpPr>
        <p:spPr>
          <a:xfrm>
            <a:off x="10395000" y="2685600"/>
            <a:ext cx="1365840" cy="680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7" name=""/>
          <p:cNvSpPr/>
          <p:nvPr/>
        </p:nvSpPr>
        <p:spPr>
          <a:xfrm>
            <a:off x="8458200" y="2649600"/>
            <a:ext cx="1365840" cy="680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8" name=""/>
          <p:cNvSpPr/>
          <p:nvPr/>
        </p:nvSpPr>
        <p:spPr>
          <a:xfrm>
            <a:off x="4102200" y="3828600"/>
            <a:ext cx="3897360" cy="21135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9" name=""/>
          <p:cNvSpPr/>
          <p:nvPr/>
        </p:nvSpPr>
        <p:spPr>
          <a:xfrm>
            <a:off x="349200" y="3803400"/>
            <a:ext cx="2161440" cy="910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0" name=""/>
          <p:cNvSpPr/>
          <p:nvPr/>
        </p:nvSpPr>
        <p:spPr>
          <a:xfrm>
            <a:off x="349200" y="1204200"/>
            <a:ext cx="3423240" cy="681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1" name=""/>
          <p:cNvSpPr/>
          <p:nvPr/>
        </p:nvSpPr>
        <p:spPr>
          <a:xfrm>
            <a:off x="338400" y="2118600"/>
            <a:ext cx="3423240" cy="159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300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Picture 54" descr=""/>
          <p:cNvPicPr/>
          <p:nvPr/>
        </p:nvPicPr>
        <p:blipFill>
          <a:blip r:embed="rId1"/>
          <a:stretch/>
        </p:blipFill>
        <p:spPr>
          <a:xfrm>
            <a:off x="9290520" y="3601800"/>
            <a:ext cx="2362320" cy="42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4" name="Picture 55" descr=""/>
          <p:cNvPicPr/>
          <p:nvPr/>
        </p:nvPicPr>
        <p:blipFill>
          <a:blip r:embed="rId2"/>
          <a:stretch/>
        </p:blipFill>
        <p:spPr>
          <a:xfrm>
            <a:off x="9673200" y="4028400"/>
            <a:ext cx="198108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5" name="Content Placeholder 1"/>
          <p:cNvSpPr/>
          <p:nvPr/>
        </p:nvSpPr>
        <p:spPr>
          <a:xfrm>
            <a:off x="228600" y="3803400"/>
            <a:ext cx="3970800" cy="18198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Box 23"/>
          <p:cNvSpPr/>
          <p:nvPr/>
        </p:nvSpPr>
        <p:spPr>
          <a:xfrm>
            <a:off x="255240" y="1215000"/>
            <a:ext cx="3398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Box 24"/>
          <p:cNvSpPr/>
          <p:nvPr/>
        </p:nvSpPr>
        <p:spPr>
          <a:xfrm>
            <a:off x="302400" y="2203200"/>
            <a:ext cx="33984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ontent Placeholder 3"/>
          <p:cNvSpPr/>
          <p:nvPr/>
        </p:nvSpPr>
        <p:spPr>
          <a:xfrm>
            <a:off x="9829800" y="1486800"/>
            <a:ext cx="3970800" cy="18198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Box 25"/>
          <p:cNvSpPr/>
          <p:nvPr/>
        </p:nvSpPr>
        <p:spPr>
          <a:xfrm>
            <a:off x="8001000" y="2846880"/>
            <a:ext cx="225540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Box 26"/>
          <p:cNvSpPr/>
          <p:nvPr/>
        </p:nvSpPr>
        <p:spPr>
          <a:xfrm>
            <a:off x="10287000" y="2895120"/>
            <a:ext cx="156960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1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41760" cy="107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2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7280" cy="8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3" name="TextBox 27"/>
          <p:cNvSpPr/>
          <p:nvPr/>
        </p:nvSpPr>
        <p:spPr>
          <a:xfrm>
            <a:off x="228600" y="5065200"/>
            <a:ext cx="349956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4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444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5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444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6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7680" cy="242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7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7680" cy="93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8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3160" cy="94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Rectangle 14"/>
          <p:cNvSpPr/>
          <p:nvPr/>
        </p:nvSpPr>
        <p:spPr>
          <a:xfrm>
            <a:off x="4138200" y="3850200"/>
            <a:ext cx="374076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Rectangle 15"/>
          <p:cNvSpPr/>
          <p:nvPr/>
        </p:nvSpPr>
        <p:spPr>
          <a:xfrm>
            <a:off x="8602200" y="4417200"/>
            <a:ext cx="3740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1" name="" descr=""/>
          <p:cNvPicPr/>
          <p:nvPr/>
        </p:nvPicPr>
        <p:blipFill>
          <a:blip r:embed="rId13"/>
          <a:stretch/>
        </p:blipFill>
        <p:spPr>
          <a:xfrm>
            <a:off x="8769600" y="4453200"/>
            <a:ext cx="400680" cy="35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2" name=""/>
          <p:cNvSpPr/>
          <p:nvPr/>
        </p:nvSpPr>
        <p:spPr>
          <a:xfrm>
            <a:off x="8686800" y="5065200"/>
            <a:ext cx="3090960" cy="419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3" name=""/>
          <p:cNvSpPr/>
          <p:nvPr/>
        </p:nvSpPr>
        <p:spPr>
          <a:xfrm>
            <a:off x="8686800" y="5101200"/>
            <a:ext cx="3006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4440" cy="1321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Rectangle 192"/>
          <p:cNvSpPr/>
          <p:nvPr/>
        </p:nvSpPr>
        <p:spPr>
          <a:xfrm>
            <a:off x="8557200" y="2791800"/>
            <a:ext cx="2967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193"/>
          <p:cNvSpPr/>
          <p:nvPr/>
        </p:nvSpPr>
        <p:spPr>
          <a:xfrm>
            <a:off x="4991400" y="5257800"/>
            <a:ext cx="296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Rectangle 194"/>
          <p:cNvSpPr/>
          <p:nvPr/>
        </p:nvSpPr>
        <p:spPr>
          <a:xfrm>
            <a:off x="4991400" y="2791800"/>
            <a:ext cx="296784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Rectangle 195"/>
          <p:cNvSpPr/>
          <p:nvPr/>
        </p:nvSpPr>
        <p:spPr>
          <a:xfrm>
            <a:off x="876600" y="2791800"/>
            <a:ext cx="296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Rectangle 196"/>
          <p:cNvSpPr/>
          <p:nvPr/>
        </p:nvSpPr>
        <p:spPr>
          <a:xfrm>
            <a:off x="876600" y="5257800"/>
            <a:ext cx="296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Rectangle 197"/>
          <p:cNvSpPr/>
          <p:nvPr/>
        </p:nvSpPr>
        <p:spPr>
          <a:xfrm>
            <a:off x="8557200" y="5029200"/>
            <a:ext cx="2967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1" name="Picture 198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7440" cy="159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2" name="Picture 199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3920" cy="159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3" name="Picture 200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7640" cy="1580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4" name="Picture 201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3560" cy="159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5" name="Picture 202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8920" y="1122120"/>
            <a:ext cx="1954800" cy="158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6" name="Picture 203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7440" cy="159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7" name="Graphic 204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4840" cy="182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8" name="Graphic 205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4840" cy="182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9" name="Graphic 206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4840" cy="182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0" name="Graphic 207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4840" cy="182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1" name="Graphic 208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9120" cy="168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2" name="Graphic 209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4840" cy="182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3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4" name="Picture 49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6160" cy="394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"/>
          <p:cNvSpPr/>
          <p:nvPr/>
        </p:nvSpPr>
        <p:spPr>
          <a:xfrm>
            <a:off x="5787000" y="3558600"/>
            <a:ext cx="4727520" cy="78444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000" cy="695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7" name="Picture 64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8120" cy="53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8" name="Picture 65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7360" cy="47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9" name="Rectangle 27"/>
          <p:cNvSpPr/>
          <p:nvPr/>
        </p:nvSpPr>
        <p:spPr>
          <a:xfrm>
            <a:off x="5730480" y="2142360"/>
            <a:ext cx="5469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Rectangle 28"/>
          <p:cNvSpPr/>
          <p:nvPr/>
        </p:nvSpPr>
        <p:spPr>
          <a:xfrm>
            <a:off x="5751000" y="4163760"/>
            <a:ext cx="49921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Rectangle 29"/>
          <p:cNvSpPr/>
          <p:nvPr/>
        </p:nvSpPr>
        <p:spPr>
          <a:xfrm>
            <a:off x="5751000" y="3177360"/>
            <a:ext cx="5469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>
            <a:off x="5787000" y="4601880"/>
            <a:ext cx="4727520" cy="78444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5751000" y="2572200"/>
            <a:ext cx="4763520" cy="78444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4" name="Picture 66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7640" cy="158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000" cy="695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6" name="Picture 67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8120" cy="53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7" name="Picture 68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8440" cy="444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8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6280" cy="169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9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3000" cy="501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3000" cy="501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1" name="Picture 69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3920" cy="159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000" cy="695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3" name="Picture 70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8120" cy="53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4" name="Picture 71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6440" cy="517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040" cy="635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Published in Frontiers in Immunology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6" name="Picture 92" descr=""/>
          <p:cNvPicPr/>
          <p:nvPr/>
        </p:nvPicPr>
        <p:blipFill>
          <a:blip r:embed="rId1"/>
          <a:stretch/>
        </p:blipFill>
        <p:spPr>
          <a:xfrm>
            <a:off x="4910760" y="1035000"/>
            <a:ext cx="5830920" cy="463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7" name="Graphic 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2591640" y="2514600"/>
            <a:ext cx="1515240" cy="151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8" name="TextBox 9"/>
          <p:cNvSpPr/>
          <p:nvPr/>
        </p:nvSpPr>
        <p:spPr>
          <a:xfrm>
            <a:off x="2514600" y="4118760"/>
            <a:ext cx="1274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9" name="Picture 93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0" name="" descr=""/>
          <p:cNvPicPr/>
          <p:nvPr/>
        </p:nvPicPr>
        <p:blipFill>
          <a:blip r:embed="rId5"/>
          <a:stretch/>
        </p:blipFill>
        <p:spPr>
          <a:xfrm>
            <a:off x="457200" y="6172200"/>
            <a:ext cx="1367640" cy="35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623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2026-10-21T18:05:33Z</dcterms:modified>
  <cp:revision>66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