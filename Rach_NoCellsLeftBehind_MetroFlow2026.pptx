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7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6.png" ContentType="image/png"/>
  <Override PartName="/ppt/media/image55.png" ContentType="image/png"/>
  <Override PartName="/ppt/media/image54.png" ContentType="image/png"/>
  <Override PartName="/ppt/media/image53.png" ContentType="image/png"/>
  <Override PartName="/ppt/media/image51.png" ContentType="image/png"/>
  <Override PartName="/ppt/media/image50.png" ContentType="image/png"/>
  <Override PartName="/ppt/media/image94.svg" ContentType="image/svg"/>
  <Override PartName="/ppt/media/image45.png" ContentType="image/png"/>
  <Override PartName="/ppt/media/image44.png" ContentType="image/png"/>
  <Override PartName="/ppt/media/image88.svg" ContentType="image/svg"/>
  <Override PartName="/ppt/media/image43.png" ContentType="image/png"/>
  <Override PartName="/ppt/media/image42.png" ContentType="image/png"/>
  <Override PartName="/ppt/media/image86.svg" ContentType="image/svg"/>
  <Override PartName="/ppt/media/image41.png" ContentType="image/png"/>
  <Override PartName="/ppt/media/image36.svg" ContentType="image/svg"/>
  <Override PartName="/ppt/media/image35.png" ContentType="image/png"/>
  <Override PartName="/ppt/media/image79.svg" ContentType="image/svg"/>
  <Override PartName="/ppt/media/image46.jpeg" ContentType="image/jpeg"/>
  <Override PartName="/ppt/media/image32.png" ContentType="image/png"/>
  <Override PartName="/ppt/media/image31.png" ContentType="image/png"/>
  <Override PartName="/ppt/media/image30.png" ContentType="image/png"/>
  <Override PartName="/ppt/media/image52.png" ContentType="image/png"/>
  <Override PartName="/ppt/media/image100.png" ContentType="image/png"/>
  <Override PartName="/ppt/media/image11.jpeg" ContentType="image/jpeg"/>
  <Override PartName="/ppt/media/image73.png" ContentType="image/png"/>
  <Override PartName="/ppt/media/image28.png" ContentType="image/png"/>
  <Override PartName="/ppt/media/image13.jpeg" ContentType="image/jpeg"/>
  <Override PartName="/ppt/media/image93.png" ContentType="image/png"/>
  <Override PartName="/ppt/media/image9.png" ContentType="image/png"/>
  <Override PartName="/ppt/media/image18.png" ContentType="image/png"/>
  <Override PartName="/ppt/media/image12.jpeg" ContentType="image/jpeg"/>
  <Override PartName="/ppt/media/image83.png" ContentType="image/png"/>
  <Override PartName="/ppt/media/image57.png" ContentType="image/png"/>
  <Override PartName="/ppt/media/image20.png" ContentType="image/png"/>
  <Override PartName="/ppt/media/image7.png" ContentType="image/png"/>
  <Override PartName="/ppt/media/image16.png" ContentType="image/png"/>
  <Override PartName="/ppt/media/image81.png" ContentType="image/png"/>
  <Override PartName="/ppt/media/image4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40.png" ContentType="image/png"/>
  <Override PartName="/ppt/media/image65.png" ContentType="image/png"/>
  <Override PartName="/ppt/media/image29.png" ContentType="image/png"/>
  <Override PartName="/ppt/media/image71.png" ContentType="image/png"/>
  <Override PartName="/ppt/media/image66.png" ContentType="image/png"/>
  <Override PartName="/ppt/media/image68.png" ContentType="image/png"/>
  <Override PartName="/ppt/media/image69.png" ContentType="image/png"/>
  <Override PartName="/ppt/media/image72.png" ContentType="image/png"/>
  <Override PartName="/ppt/media/image74.png" ContentType="image/png"/>
  <Override PartName="/ppt/media/image75.png" ContentType="image/png"/>
  <Override PartName="/ppt/media/image78.png" ContentType="image/png"/>
  <Override PartName="/ppt/media/image27.png" ContentType="image/png"/>
  <Override PartName="/ppt/media/image64.png" ContentType="image/png"/>
  <Override PartName="/ppt/media/image99.png" ContentType="image/png"/>
  <Override PartName="/ppt/media/image62.png" ContentType="image/png"/>
  <Override PartName="/ppt/media/image87.png" ContentType="image/png"/>
  <Override PartName="/ppt/media/image63.png" ContentType="image/png"/>
  <Override PartName="/ppt/media/image98.png" ContentType="image/png"/>
  <Override PartName="/ppt/media/image61.png" ContentType="image/png"/>
  <Override PartName="/ppt/media/image25.png" ContentType="image/png"/>
  <Override PartName="/ppt/media/image70.png" ContentType="image/png"/>
  <Override PartName="/ppt/media/image49.svg" ContentType="image/svg"/>
  <Override PartName="/ppt/media/image97.png" ContentType="image/png"/>
  <Override PartName="/ppt/media/image85.png" ContentType="image/png"/>
  <Override PartName="/ppt/media/image96.png" ContentType="image/png"/>
  <Override PartName="/ppt/media/image101.svg" ContentType="image/svg"/>
  <Override PartName="/ppt/media/image95.png" ContentType="image/png"/>
  <Override PartName="/ppt/media/image92.svg" ContentType="image/svg"/>
  <Override PartName="/ppt/media/image90.svg" ContentType="image/svg"/>
  <Override PartName="/ppt/media/image24.png" ContentType="image/png"/>
  <Override PartName="/ppt/media/image89.png" ContentType="image/png"/>
  <Override PartName="/ppt/media/image76.png" ContentType="image/png"/>
  <Override PartName="/ppt/media/image67.svg" ContentType="image/svg"/>
  <Override PartName="/ppt/media/image23.png" ContentType="image/png"/>
  <Override PartName="/ppt/media/image22.png" ContentType="image/png"/>
  <Override PartName="/ppt/media/image59.png" ContentType="image/png"/>
  <Override PartName="/ppt/media/image21.png" ContentType="image/png"/>
  <Override PartName="/ppt/media/image58.png" ContentType="image/png"/>
  <Override PartName="/ppt/media/image19.png" ContentType="image/png"/>
  <Override PartName="/ppt/media/image84.png" ContentType="image/png"/>
  <Override PartName="/ppt/media/image17.png" ContentType="image/png"/>
  <Override PartName="/ppt/media/image82.png" ContentType="image/png"/>
  <Override PartName="/ppt/media/image34.png" ContentType="image/png"/>
  <Override PartName="/ppt/media/image3.svg" ContentType="image/svg"/>
  <Override PartName="/ppt/media/image48.png" ContentType="image/png"/>
  <Override PartName="/ppt/media/image80.jpeg" ContentType="image/jpeg"/>
  <Override PartName="/ppt/media/image60.png" ContentType="image/png"/>
  <Override PartName="/ppt/media/image39.svg" ContentType="image/svg"/>
  <Override PartName="/ppt/media/image15.png" ContentType="image/png"/>
  <Override PartName="/ppt/media/image6.png" ContentType="image/png"/>
  <Override PartName="/ppt/media/image38.png" ContentType="image/png"/>
  <Override PartName="/ppt/media/image8.jpeg" ContentType="image/jpeg"/>
  <Override PartName="/ppt/media/image91.png" ContentType="image/png"/>
  <Override PartName="/ppt/media/image77.svg" ContentType="image/svg"/>
  <Override PartName="/ppt/media/image33.png" ContentType="image/png"/>
  <Override PartName="/ppt/media/image1.png" ContentType="image/png"/>
  <Override PartName="/ppt/media/image10.png" ContentType="image/png"/>
  <Override PartName="/ppt/media/image47.png" ContentType="image/png"/>
  <Override PartName="/ppt/media/image2.png" ContentType="image/png"/>
  <Override PartName="/ppt/media/image26.jpeg" ContentType="image/jpeg"/>
  <Override PartName="/ppt/slides/_rels/slide44.xml.rels" ContentType="application/vnd.openxmlformats-package.relationships+xml"/>
  <Override PartName="/ppt/slides/_rels/slide43.xml.rels" ContentType="application/vnd.openxmlformats-package.relationships+xml"/>
  <Override PartName="/ppt/slides/_rels/slide42.xml.rels" ContentType="application/vnd.openxmlformats-package.relationships+xml"/>
  <Override PartName="/ppt/slides/_rels/slide41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67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56.xml.rels" ContentType="application/vnd.openxmlformats-package.relationships+xml"/>
  <Override PartName="/ppt/slides/_rels/slide47.xml.rels" ContentType="application/vnd.openxmlformats-package.relationships+xml"/>
  <Override PartName="/ppt/slides/_rels/slide10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57.xml.rels" ContentType="application/vnd.openxmlformats-package.relationships+xml"/>
  <Override PartName="/ppt/slides/_rels/slide55.xml.rels" ContentType="application/vnd.openxmlformats-package.relationships+xml"/>
  <Override PartName="/ppt/slides/_rels/slide17.xml.rels" ContentType="application/vnd.openxmlformats-package.relationships+xml"/>
  <Override PartName="/ppt/slides/_rels/slide54.xml.rels" ContentType="application/vnd.openxmlformats-package.relationships+xml"/>
  <Override PartName="/ppt/slides/_rels/slide16.xml.rels" ContentType="application/vnd.openxmlformats-package.relationships+xml"/>
  <Override PartName="/ppt/slides/_rels/slide53.xml.rels" ContentType="application/vnd.openxmlformats-package.relationships+xml"/>
  <Override PartName="/ppt/slides/_rels/slide15.xml.rels" ContentType="application/vnd.openxmlformats-package.relationships+xml"/>
  <Override PartName="/ppt/slides/_rels/slide52.xml.rels" ContentType="application/vnd.openxmlformats-package.relationships+xml"/>
  <Override PartName="/ppt/slides/_rels/slide51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48.xml.rels" ContentType="application/vnd.openxmlformats-package.relationships+xml"/>
  <Override PartName="/ppt/slides/_rels/slide11.xml.rels" ContentType="application/vnd.openxmlformats-package.relationships+xml"/>
  <Override PartName="/ppt/slides/_rels/slide46.xml.rels" ContentType="application/vnd.openxmlformats-package.relationships+xml"/>
  <Override PartName="/ppt/slides/_rels/slide66.xml.rels" ContentType="application/vnd.openxmlformats-package.relationships+xml"/>
  <Override PartName="/ppt/slides/_rels/slide1.xml.rels" ContentType="application/vnd.openxmlformats-package.relationships+xml"/>
  <Override PartName="/ppt/slides/_rels/slide29.xml.rels" ContentType="application/vnd.openxmlformats-package.relationships+xml"/>
  <Override PartName="/ppt/slides/_rels/slide65.xml.rels" ContentType="application/vnd.openxmlformats-package.relationships+xml"/>
  <Override PartName="/ppt/slides/_rels/slide28.xml.rels" ContentType="application/vnd.openxmlformats-package.relationships+xml"/>
  <Override PartName="/ppt/slides/_rels/slide62.xml.rels" ContentType="application/vnd.openxmlformats-package.relationships+xml"/>
  <Override PartName="/ppt/slides/_rels/slide64.xml.rels" ContentType="application/vnd.openxmlformats-package.relationships+xml"/>
  <Override PartName="/ppt/slides/_rels/slide27.xml.rels" ContentType="application/vnd.openxmlformats-package.relationships+xml"/>
  <Override PartName="/ppt/slides/_rels/slide61.xml.rels" ContentType="application/vnd.openxmlformats-package.relationships+xml"/>
  <Override PartName="/ppt/slides/_rels/slide19.xml.rels" ContentType="application/vnd.openxmlformats-package.relationships+xml"/>
  <Override PartName="/ppt/slides/_rels/slide63.xml.rels" ContentType="application/vnd.openxmlformats-package.relationships+xml"/>
  <Override PartName="/ppt/slides/_rels/slide14.xml.rels" ContentType="application/vnd.openxmlformats-package.relationships+xml"/>
  <Override PartName="/ppt/slides/_rels/slide60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58.xml.rels" ContentType="application/vnd.openxmlformats-package.relationships+xml"/>
  <Override PartName="/ppt/slides/_rels/slide12.xml.rels" ContentType="application/vnd.openxmlformats-package.relationships+xml"/>
  <Override PartName="/ppt/slides/_rels/slide4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59.xml.rels" ContentType="application/vnd.openxmlformats-package.relationships+xml"/>
  <Override PartName="/ppt/slides/_rels/slide13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4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67.xml" ContentType="application/vnd.openxmlformats-officedocument.presentationml.slide+xml"/>
  <Override PartName="/ppt/slides/slide30.xml" ContentType="application/vnd.openxmlformats-officedocument.presentationml.slide+xml"/>
  <Override PartName="/ppt/slides/slide66.xml" ContentType="application/vnd.openxmlformats-officedocument.presentationml.slide+xml"/>
  <Override PartName="/ppt/slides/slide29.xml" ContentType="application/vnd.openxmlformats-officedocument.presentationml.slide+xml"/>
  <Override PartName="/ppt/slides/slide65.xml" ContentType="application/vnd.openxmlformats-officedocument.presentationml.slide+xml"/>
  <Override PartName="/ppt/slides/slide28.xml" ContentType="application/vnd.openxmlformats-officedocument.presentationml.slide+xml"/>
  <Override PartName="/ppt/slides/slide62.xml" ContentType="application/vnd.openxmlformats-officedocument.presentationml.slide+xml"/>
  <Override PartName="/ppt/slides/slide64.xml" ContentType="application/vnd.openxmlformats-officedocument.presentationml.slide+xml"/>
  <Override PartName="/ppt/slides/slide27.xml" ContentType="application/vnd.openxmlformats-officedocument.presentationml.slide+xml"/>
  <Override PartName="/ppt/slides/slide61.xml" ContentType="application/vnd.openxmlformats-officedocument.presentationml.slide+xml"/>
  <Override PartName="/ppt/slides/slide19.xml" ContentType="application/vnd.openxmlformats-officedocument.presentationml.slide+xml"/>
  <Override PartName="/ppt/slides/slide63.xml" ContentType="application/vnd.openxmlformats-officedocument.presentationml.slide+xml"/>
  <Override PartName="/ppt/slides/slide26.xml" ContentType="application/vnd.openxmlformats-officedocument.presentationml.slide+xml"/>
  <Override PartName="/ppt/slides/slide60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59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_rels/notesSlide62.xml.rels" ContentType="application/vnd.openxmlformats-package.relationships+xml"/>
  <Override PartName="/ppt/notesSlides/notesSlide6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9" r:id="rId5"/>
    <p:sldMasterId id="2147483663" r:id="rId6"/>
    <p:sldMasterId id="2147483665" r:id="rId7"/>
    <p:sldMasterId id="2147483667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11.xml"/><Relationship Id="rId7" Type="http://schemas.openxmlformats.org/officeDocument/2006/relationships/slideMaster" Target="slideMasters/slideMaster12.xml"/><Relationship Id="rId8" Type="http://schemas.openxmlformats.org/officeDocument/2006/relationships/slideMaster" Target="slideMasters/slideMaster13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4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5"/>
          <p:cNvSpPr>
            <a:spLocks noGrp="1"/>
          </p:cNvSpPr>
          <p:nvPr>
            <p:ph type="ftr" idx="4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6"/>
          <p:cNvSpPr>
            <a:spLocks noGrp="1"/>
          </p:cNvSpPr>
          <p:nvPr>
            <p:ph type="sldNum" idx="4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A693F75-29BC-4AE0-A05E-FEFF40B28940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5320" cy="338688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9280" cy="39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6"/>
          </p:nvPr>
        </p:nvSpPr>
        <p:spPr>
          <a:xfrm>
            <a:off x="4402080" y="9553680"/>
            <a:ext cx="3361320" cy="497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A900DE-736D-407E-B8E7-443D2A5184D8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1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6400" y="160452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884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26400" y="1608840"/>
            <a:ext cx="15840" cy="3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F8474A-8849-4555-9ED4-A0D8A351D45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128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4996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4996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4996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4996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A4AD78-A842-483E-A814-962B5B3AC18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1128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872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872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872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872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872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8720" cy="189252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9CBB0D-869E-4910-9AB7-6B77A5F5401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9480" cy="1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658C93-2F0E-46A4-9C5D-DAF7E4AE3B9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DB9672-931D-41DA-95FA-96D0B2F9D76F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A70516-3F72-45DD-9B32-17112AEA594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F13128-7D58-424E-8611-E63560FA307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7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5DAB21-1664-400F-A630-6D4BC3AD5BA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8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48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68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9CD076-6AB5-44AB-9878-025F5888EF43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68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7358A4-BB01-47AB-9FB6-A5C7E87CB15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68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9AF933-EEFF-4C5D-88FB-94B91B904BBF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1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ubTitle"/>
          </p:nvPr>
        </p:nvSpPr>
        <p:spPr>
          <a:xfrm>
            <a:off x="609480" y="-2265480"/>
            <a:ext cx="3276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EB57694-49FC-4156-89E6-C8785F566BD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1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2760" cy="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A85FDB6-3D0E-430B-AA89-78C54DDE166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1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609480" y="-2265480"/>
            <a:ext cx="3276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B5C9500-E92B-456B-938E-C56C81B8C1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3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7200" cy="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04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91DF9D-FD74-4097-95D4-E6A323A522D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8880" cy="360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  <p:sldLayoutId id="2147483658" r:id="rId6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  <p:sldLayoutId id="2147483661" r:id="rId3"/>
    <p:sldLayoutId id="2147483662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ftr" idx="34"/>
          </p:nvPr>
        </p:nvSpPr>
        <p:spPr>
          <a:xfrm>
            <a:off x="3447360" y="5165280"/>
            <a:ext cx="3189240" cy="38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35"/>
          </p:nvPr>
        </p:nvSpPr>
        <p:spPr>
          <a:xfrm>
            <a:off x="7227360" y="5165280"/>
            <a:ext cx="2342520" cy="38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1761F9-24A3-45C5-B1A9-5BE56DF57C07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dt" idx="36"/>
          </p:nvPr>
        </p:nvSpPr>
        <p:spPr>
          <a:xfrm>
            <a:off x="504000" y="5165280"/>
            <a:ext cx="2342520" cy="38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548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68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AF6950-DC8F-4B6F-97E5-71DF69711051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5280" cy="357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1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ftr" idx="40"/>
          </p:nvPr>
        </p:nvSpPr>
        <p:spPr>
          <a:xfrm>
            <a:off x="3447360" y="5165280"/>
            <a:ext cx="3190320" cy="38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41"/>
          </p:nvPr>
        </p:nvSpPr>
        <p:spPr>
          <a:xfrm>
            <a:off x="7227360" y="5165280"/>
            <a:ext cx="2343600" cy="38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40E45D-D382-41D2-9F2F-A340D53B7B1D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 type="dt" idx="42"/>
          </p:nvPr>
        </p:nvSpPr>
        <p:spPr>
          <a:xfrm>
            <a:off x="504000" y="5165280"/>
            <a:ext cx="2343600" cy="38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8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5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1.png"/><Relationship Id="rId3" Type="http://schemas.openxmlformats.org/officeDocument/2006/relationships/image" Target="../media/image26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slideLayout" Target="../slideLayouts/slideLayout1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svg"/><Relationship Id="rId6" Type="http://schemas.openxmlformats.org/officeDocument/2006/relationships/slideLayout" Target="../slideLayouts/slideLayout1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slideLayout" Target="../slideLayouts/slideLayout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45.png"/><Relationship Id="rId6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41.png"/><Relationship Id="rId3" Type="http://schemas.openxmlformats.org/officeDocument/2006/relationships/image" Target="../media/image46.jpeg"/><Relationship Id="rId4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1.png"/><Relationship Id="rId3" Type="http://schemas.openxmlformats.org/officeDocument/2006/relationships/image" Target="../media/image26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4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8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8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8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svg"/><Relationship Id="rId5" Type="http://schemas.openxmlformats.org/officeDocument/2006/relationships/image" Target="../media/image1.png"/><Relationship Id="rId6" Type="http://schemas.openxmlformats.org/officeDocument/2006/relationships/image" Target="../media/image7.png"/><Relationship Id="rId7" Type="http://schemas.openxmlformats.org/officeDocument/2006/relationships/slideLayout" Target="../slideLayouts/slideLayout8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8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slideLayout" Target="../slideLayouts/slideLayout8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image" Target="../media/image5.png"/><Relationship Id="rId3" Type="http://schemas.openxmlformats.org/officeDocument/2006/relationships/image" Target="../media/image59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0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8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1.png"/><Relationship Id="rId3" Type="http://schemas.openxmlformats.org/officeDocument/2006/relationships/image" Target="../media/image26.jpe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4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slideLayout" Target="../slideLayouts/slideLayout1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31.png"/><Relationship Id="rId5" Type="http://schemas.openxmlformats.org/officeDocument/2006/relationships/image" Target="../media/image66.png"/><Relationship Id="rId6" Type="http://schemas.openxmlformats.org/officeDocument/2006/relationships/image" Target="../media/image67.sv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9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0.png"/><Relationship Id="rId3" Type="http://schemas.openxmlformats.org/officeDocument/2006/relationships/slideLayout" Target="../slideLayouts/slideLayout1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1.png"/><Relationship Id="rId3" Type="http://schemas.openxmlformats.org/officeDocument/2006/relationships/slideLayout" Target="../slideLayouts/slideLayout1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2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3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image" Target="../media/image75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76.png"/><Relationship Id="rId7" Type="http://schemas.openxmlformats.org/officeDocument/2006/relationships/image" Target="../media/image77.svg"/><Relationship Id="rId8" Type="http://schemas.openxmlformats.org/officeDocument/2006/relationships/image" Target="../media/image78.png"/><Relationship Id="rId9" Type="http://schemas.openxmlformats.org/officeDocument/2006/relationships/image" Target="../media/image79.svg"/><Relationship Id="rId10" Type="http://schemas.openxmlformats.org/officeDocument/2006/relationships/image" Target="../media/image80.jpeg"/><Relationship Id="rId11" Type="http://schemas.openxmlformats.org/officeDocument/2006/relationships/image" Target="../media/image81.png"/><Relationship Id="rId12" Type="http://schemas.openxmlformats.org/officeDocument/2006/relationships/image" Target="../media/image82.png"/><Relationship Id="rId13" Type="http://schemas.openxmlformats.org/officeDocument/2006/relationships/image" Target="../media/image83.png"/><Relationship Id="rId14" Type="http://schemas.openxmlformats.org/officeDocument/2006/relationships/slideLayout" Target="../slideLayouts/slideLayout11.xml"/><Relationship Id="rId15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27.png"/><Relationship Id="rId5" Type="http://schemas.openxmlformats.org/officeDocument/2006/relationships/image" Target="../media/image84.png"/><Relationship Id="rId6" Type="http://schemas.openxmlformats.org/officeDocument/2006/relationships/image" Target="../media/image31.png"/><Relationship Id="rId7" Type="http://schemas.openxmlformats.org/officeDocument/2006/relationships/image" Target="../media/image85.png"/><Relationship Id="rId8" Type="http://schemas.openxmlformats.org/officeDocument/2006/relationships/image" Target="../media/image86.svg"/><Relationship Id="rId9" Type="http://schemas.openxmlformats.org/officeDocument/2006/relationships/image" Target="../media/image87.png"/><Relationship Id="rId10" Type="http://schemas.openxmlformats.org/officeDocument/2006/relationships/image" Target="../media/image88.svg"/><Relationship Id="rId11" Type="http://schemas.openxmlformats.org/officeDocument/2006/relationships/image" Target="../media/image89.png"/><Relationship Id="rId12" Type="http://schemas.openxmlformats.org/officeDocument/2006/relationships/image" Target="../media/image90.svg"/><Relationship Id="rId13" Type="http://schemas.openxmlformats.org/officeDocument/2006/relationships/image" Target="../media/image91.png"/><Relationship Id="rId14" Type="http://schemas.openxmlformats.org/officeDocument/2006/relationships/image" Target="../media/image92.svg"/><Relationship Id="rId15" Type="http://schemas.openxmlformats.org/officeDocument/2006/relationships/image" Target="../media/image93.png"/><Relationship Id="rId16" Type="http://schemas.openxmlformats.org/officeDocument/2006/relationships/image" Target="../media/image94.svg"/><Relationship Id="rId17" Type="http://schemas.openxmlformats.org/officeDocument/2006/relationships/image" Target="../media/image66.png"/><Relationship Id="rId18" Type="http://schemas.openxmlformats.org/officeDocument/2006/relationships/image" Target="../media/image67.svg"/><Relationship Id="rId19" Type="http://schemas.openxmlformats.org/officeDocument/2006/relationships/image" Target="../media/image7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8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5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1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6.png"/><Relationship Id="rId3" Type="http://schemas.openxmlformats.org/officeDocument/2006/relationships/image" Target="../media/image91.png"/><Relationship Id="rId4" Type="http://schemas.openxmlformats.org/officeDocument/2006/relationships/image" Target="../media/image92.svg"/><Relationship Id="rId5" Type="http://schemas.openxmlformats.org/officeDocument/2006/relationships/image" Target="../media/image97.png"/><Relationship Id="rId6" Type="http://schemas.openxmlformats.org/officeDocument/2006/relationships/slideLayout" Target="../slideLayouts/slideLayout1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8.png"/><Relationship Id="rId3" Type="http://schemas.openxmlformats.org/officeDocument/2006/relationships/slideLayout" Target="../slideLayouts/slideLayout1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99.png"/><Relationship Id="rId2" Type="http://schemas.openxmlformats.org/officeDocument/2006/relationships/image" Target="../media/image100.png"/><Relationship Id="rId3" Type="http://schemas.openxmlformats.org/officeDocument/2006/relationships/image" Target="../media/image101.sv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11280" cy="1822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October 23,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2"/>
          <p:cNvSpPr/>
          <p:nvPr/>
        </p:nvSpPr>
        <p:spPr>
          <a:xfrm>
            <a:off x="122760" y="6404400"/>
            <a:ext cx="21038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4360" cy="95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2840" cy="1252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16" name=""/>
          <p:cNvGrpSpPr/>
          <p:nvPr/>
        </p:nvGrpSpPr>
        <p:grpSpPr>
          <a:xfrm>
            <a:off x="759960" y="1407240"/>
            <a:ext cx="10053360" cy="2112480"/>
            <a:chOff x="759960" y="1407240"/>
            <a:chExt cx="10053360" cy="2112480"/>
          </a:xfrm>
        </p:grpSpPr>
        <p:grpSp>
          <p:nvGrpSpPr>
            <p:cNvPr id="117" name=""/>
            <p:cNvGrpSpPr/>
            <p:nvPr/>
          </p:nvGrpSpPr>
          <p:grpSpPr>
            <a:xfrm>
              <a:off x="759960" y="1407240"/>
              <a:ext cx="10053360" cy="2112480"/>
              <a:chOff x="759960" y="1407240"/>
              <a:chExt cx="10053360" cy="2112480"/>
            </a:xfrm>
          </p:grpSpPr>
          <p:pic>
            <p:nvPicPr>
              <p:cNvPr id="118" name="" descr=""/>
              <p:cNvPicPr/>
              <p:nvPr/>
            </p:nvPicPr>
            <p:blipFill>
              <a:blip r:embed="rId5"/>
              <a:srcRect l="0" t="44464" r="9095" b="0"/>
              <a:stretch/>
            </p:blipFill>
            <p:spPr>
              <a:xfrm>
                <a:off x="1534320" y="1530360"/>
                <a:ext cx="9279000" cy="198936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119" name=""/>
              <p:cNvSpPr/>
              <p:nvPr/>
            </p:nvSpPr>
            <p:spPr>
              <a:xfrm>
                <a:off x="759960" y="1407240"/>
                <a:ext cx="10053360" cy="32724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sp>
          <p:nvSpPr>
            <p:cNvPr id="120" name=""/>
            <p:cNvSpPr/>
            <p:nvPr/>
          </p:nvSpPr>
          <p:spPr>
            <a:xfrm>
              <a:off x="1035000" y="1828800"/>
              <a:ext cx="685080" cy="137088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21" name=""/>
          <p:cNvSpPr/>
          <p:nvPr/>
        </p:nvSpPr>
        <p:spPr>
          <a:xfrm>
            <a:off x="457200" y="3657600"/>
            <a:ext cx="11734200" cy="17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Towards ‘No Cell Left Behind’: open-source tool sets to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leverage Spectral Flow Cytometry’s full biological discovery potential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>
            <a:off x="686160" y="1052640"/>
            <a:ext cx="5252760" cy="145728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6120" cy="444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"/>
          <p:cNvSpPr/>
          <p:nvPr/>
        </p:nvSpPr>
        <p:spPr>
          <a:xfrm>
            <a:off x="686160" y="2660400"/>
            <a:ext cx="5252760" cy="159552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7" name="Rectangle 7"/>
          <p:cNvSpPr/>
          <p:nvPr/>
        </p:nvSpPr>
        <p:spPr>
          <a:xfrm>
            <a:off x="748800" y="1052640"/>
            <a:ext cx="519012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11"/>
          <p:cNvSpPr/>
          <p:nvPr/>
        </p:nvSpPr>
        <p:spPr>
          <a:xfrm>
            <a:off x="748800" y="2707200"/>
            <a:ext cx="519012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12"/>
          <p:cNvSpPr/>
          <p:nvPr/>
        </p:nvSpPr>
        <p:spPr>
          <a:xfrm>
            <a:off x="685800" y="4440600"/>
            <a:ext cx="51901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685800" y="4397760"/>
            <a:ext cx="5253120" cy="108396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" descr=""/>
          <p:cNvPicPr/>
          <p:nvPr/>
        </p:nvPicPr>
        <p:blipFill>
          <a:blip r:embed="rId1"/>
          <a:stretch/>
        </p:blipFill>
        <p:spPr>
          <a:xfrm>
            <a:off x="914400" y="1143000"/>
            <a:ext cx="5027040" cy="377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Picture 4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6629400" y="1198800"/>
            <a:ext cx="5027400" cy="122940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6" name=""/>
          <p:cNvSpPr/>
          <p:nvPr/>
        </p:nvSpPr>
        <p:spPr>
          <a:xfrm>
            <a:off x="6629400" y="3837600"/>
            <a:ext cx="5024520" cy="83196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"/>
          <p:cNvSpPr/>
          <p:nvPr/>
        </p:nvSpPr>
        <p:spPr>
          <a:xfrm>
            <a:off x="6629400" y="3895200"/>
            <a:ext cx="525312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6629400" y="1234800"/>
            <a:ext cx="502452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626520" y="2498400"/>
            <a:ext cx="5027400" cy="122940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903960" y="3466080"/>
            <a:ext cx="5035320" cy="1452600"/>
          </a:xfrm>
          <a:prstGeom prst="rect">
            <a:avLst/>
          </a:prstGeom>
          <a:solidFill>
            <a:srgbClr val="780373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>
            <a:off x="909360" y="1603080"/>
            <a:ext cx="5023440" cy="1366920"/>
          </a:xfrm>
          <a:prstGeom prst="rect">
            <a:avLst/>
          </a:prstGeom>
          <a:solidFill>
            <a:srgbClr val="ffd8ce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Trade-off: Increasing analytical complexity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3"/>
          <p:cNvSpPr/>
          <p:nvPr/>
        </p:nvSpPr>
        <p:spPr>
          <a:xfrm>
            <a:off x="909360" y="1603080"/>
            <a:ext cx="4869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 are only interested in a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population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 cells → analysis process remains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essentially unchanged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(manual gating with a few more gates)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13"/>
          <p:cNvSpPr/>
          <p:nvPr/>
        </p:nvSpPr>
        <p:spPr>
          <a:xfrm>
            <a:off x="970560" y="3514680"/>
            <a:ext cx="49687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your goal is to characterize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cell populations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may be present →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breadth and depth of the datasets complicate the analysis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1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Picture 17" descr=""/>
          <p:cNvPicPr/>
          <p:nvPr/>
        </p:nvPicPr>
        <p:blipFill>
          <a:blip r:embed="rId2"/>
          <a:stretch/>
        </p:blipFill>
        <p:spPr>
          <a:xfrm>
            <a:off x="6400800" y="1371600"/>
            <a:ext cx="3881880" cy="410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>
            <a:off x="5486400" y="4114800"/>
            <a:ext cx="5939280" cy="13672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Picture 18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1280" cy="446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Rectangle 16"/>
          <p:cNvSpPr/>
          <p:nvPr/>
        </p:nvSpPr>
        <p:spPr>
          <a:xfrm>
            <a:off x="5403600" y="3154680"/>
            <a:ext cx="55710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482800" y="4114800"/>
            <a:ext cx="59670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5486400" y="4572000"/>
            <a:ext cx="5939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“Groups” per panel = 2</a:t>
            </a:r>
            <a:r>
              <a:rPr b="0" lang="en-US" sz="2400" strike="noStrike" u="none" baseline="33000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Number of Fluorophores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Picture 2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5481720" y="1403640"/>
            <a:ext cx="5861160" cy="25016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7" name="Rectangle 19"/>
          <p:cNvSpPr/>
          <p:nvPr/>
        </p:nvSpPr>
        <p:spPr>
          <a:xfrm>
            <a:off x="5403600" y="1325880"/>
            <a:ext cx="571068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30"/>
          <p:cNvSpPr/>
          <p:nvPr/>
        </p:nvSpPr>
        <p:spPr>
          <a:xfrm>
            <a:off x="5403600" y="2240280"/>
            <a:ext cx="593928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31"/>
          <p:cNvSpPr/>
          <p:nvPr/>
        </p:nvSpPr>
        <p:spPr>
          <a:xfrm>
            <a:off x="5486400" y="5029200"/>
            <a:ext cx="61714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>
            <a:off x="5486400" y="4114800"/>
            <a:ext cx="5939280" cy="13672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Complex Datasets: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23" descr=""/>
          <p:cNvPicPr/>
          <p:nvPr/>
        </p:nvPicPr>
        <p:blipFill>
          <a:blip r:embed="rId1"/>
          <a:stretch/>
        </p:blipFill>
        <p:spPr>
          <a:xfrm>
            <a:off x="457200" y="1175400"/>
            <a:ext cx="5021280" cy="446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2"/>
          <p:cNvSpPr/>
          <p:nvPr/>
        </p:nvSpPr>
        <p:spPr>
          <a:xfrm>
            <a:off x="5403600" y="3154680"/>
            <a:ext cx="557100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at the end, we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grouped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that only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expressed the same markers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32"/>
          <p:cNvSpPr/>
          <p:nvPr/>
        </p:nvSpPr>
        <p:spPr>
          <a:xfrm>
            <a:off x="5482800" y="411480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9-color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at most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33"/>
          <p:cNvSpPr/>
          <p:nvPr/>
        </p:nvSpPr>
        <p:spPr>
          <a:xfrm>
            <a:off x="5482800" y="45720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1.1e+12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trillion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Picture 2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"/>
          <p:cNvSpPr/>
          <p:nvPr/>
        </p:nvSpPr>
        <p:spPr>
          <a:xfrm>
            <a:off x="5481720" y="1403640"/>
            <a:ext cx="5861160" cy="25016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9" name="Rectangle 34"/>
          <p:cNvSpPr/>
          <p:nvPr/>
        </p:nvSpPr>
        <p:spPr>
          <a:xfrm>
            <a:off x="5403600" y="1325880"/>
            <a:ext cx="571068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If for a given marker in your panel, you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split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the cells into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positive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and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negative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populations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35"/>
          <p:cNvSpPr/>
          <p:nvPr/>
        </p:nvSpPr>
        <p:spPr>
          <a:xfrm>
            <a:off x="5403600" y="2240280"/>
            <a:ext cx="5939280" cy="766440"/>
          </a:xfrm>
          <a:prstGeom prst="rect">
            <a:avLst/>
          </a:prstGeom>
          <a:noFill/>
          <a:ln w="36720">
            <a:noFill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And this splitting process was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repeated for every marker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in your panel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36"/>
          <p:cNvSpPr/>
          <p:nvPr/>
        </p:nvSpPr>
        <p:spPr>
          <a:xfrm>
            <a:off x="5486400" y="50292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457200" y="2784600"/>
            <a:ext cx="5939280" cy="16012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560" cy="650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37"/>
          <p:cNvSpPr/>
          <p:nvPr/>
        </p:nvSpPr>
        <p:spPr>
          <a:xfrm>
            <a:off x="457200" y="273852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Picture 2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Rectangle 38"/>
          <p:cNvSpPr/>
          <p:nvPr/>
        </p:nvSpPr>
        <p:spPr>
          <a:xfrm>
            <a:off x="453600" y="19458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39"/>
          <p:cNvSpPr/>
          <p:nvPr/>
        </p:nvSpPr>
        <p:spPr>
          <a:xfrm>
            <a:off x="457200" y="313452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40"/>
          <p:cNvSpPr/>
          <p:nvPr/>
        </p:nvSpPr>
        <p:spPr>
          <a:xfrm>
            <a:off x="457200" y="353052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41"/>
          <p:cNvSpPr/>
          <p:nvPr/>
        </p:nvSpPr>
        <p:spPr>
          <a:xfrm>
            <a:off x="457200" y="396252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457200" y="1899000"/>
            <a:ext cx="5939280" cy="4528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360" cy="302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PlaceHolder 12"/>
          <p:cNvSpPr/>
          <p:nvPr/>
        </p:nvSpPr>
        <p:spPr>
          <a:xfrm>
            <a:off x="1900800" y="808200"/>
            <a:ext cx="8913600" cy="10890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/>
          <p:nvPr/>
        </p:nvSpPr>
        <p:spPr>
          <a:xfrm>
            <a:off x="457200" y="2784600"/>
            <a:ext cx="5939280" cy="16012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36000" y="33480"/>
            <a:ext cx="12184560" cy="650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even is a quintillion?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45"/>
          <p:cNvSpPr/>
          <p:nvPr/>
        </p:nvSpPr>
        <p:spPr>
          <a:xfrm>
            <a:off x="457200" y="273852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gate, every 10 seconds → 6 groups/minute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" name="Picture 3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Rectangle 53"/>
          <p:cNvSpPr/>
          <p:nvPr/>
        </p:nvSpPr>
        <p:spPr>
          <a:xfrm>
            <a:off x="453600" y="19458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54"/>
          <p:cNvSpPr/>
          <p:nvPr/>
        </p:nvSpPr>
        <p:spPr>
          <a:xfrm>
            <a:off x="457200" y="313452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 minutes in an hour → 360 groups/hour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55"/>
          <p:cNvSpPr/>
          <p:nvPr/>
        </p:nvSpPr>
        <p:spPr>
          <a:xfrm>
            <a:off x="457200" y="3530520"/>
            <a:ext cx="5967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Awake 16 hours a day → 5760 groups/day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56"/>
          <p:cNvSpPr/>
          <p:nvPr/>
        </p:nvSpPr>
        <p:spPr>
          <a:xfrm>
            <a:off x="457200" y="396252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457200" y="1899000"/>
            <a:ext cx="5939280" cy="4528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2"/>
          <a:stretch/>
        </p:blipFill>
        <p:spPr>
          <a:xfrm>
            <a:off x="6567120" y="1545840"/>
            <a:ext cx="5544360" cy="3021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PlaceHolder 14"/>
          <p:cNvSpPr/>
          <p:nvPr/>
        </p:nvSpPr>
        <p:spPr>
          <a:xfrm>
            <a:off x="1900800" y="808200"/>
            <a:ext cx="8913600" cy="10890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I were to manually check for every combination...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1910520" y="4601520"/>
            <a:ext cx="288828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….Not even close….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>
            <a:off x="5490000" y="2056680"/>
            <a:ext cx="5935680" cy="11674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Picture 3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Rectangle 43"/>
          <p:cNvSpPr/>
          <p:nvPr/>
        </p:nvSpPr>
        <p:spPr>
          <a:xfrm>
            <a:off x="5486400" y="13716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44"/>
          <p:cNvSpPr/>
          <p:nvPr/>
        </p:nvSpPr>
        <p:spPr>
          <a:xfrm>
            <a:off x="5490000" y="204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/>
          <p:nvPr/>
        </p:nvSpPr>
        <p:spPr>
          <a:xfrm>
            <a:off x="5486400" y="1371600"/>
            <a:ext cx="5939280" cy="4528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2240" cy="265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Rectangle 46"/>
          <p:cNvSpPr/>
          <p:nvPr/>
        </p:nvSpPr>
        <p:spPr>
          <a:xfrm>
            <a:off x="5490000" y="240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47"/>
          <p:cNvSpPr/>
          <p:nvPr/>
        </p:nvSpPr>
        <p:spPr>
          <a:xfrm>
            <a:off x="5490000" y="2730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9"/>
          <p:cNvSpPr/>
          <p:nvPr/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5490000" y="2056680"/>
            <a:ext cx="5935680" cy="11674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Picture 2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Rectangle 62"/>
          <p:cNvSpPr/>
          <p:nvPr/>
        </p:nvSpPr>
        <p:spPr>
          <a:xfrm>
            <a:off x="5486400" y="13716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63"/>
          <p:cNvSpPr/>
          <p:nvPr/>
        </p:nvSpPr>
        <p:spPr>
          <a:xfrm>
            <a:off x="5490000" y="204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5486400" y="1371600"/>
            <a:ext cx="5939280" cy="4528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2"/>
          <a:stretch/>
        </p:blipFill>
        <p:spPr>
          <a:xfrm>
            <a:off x="457200" y="1371600"/>
            <a:ext cx="4872240" cy="265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Rectangle 64"/>
          <p:cNvSpPr/>
          <p:nvPr/>
        </p:nvSpPr>
        <p:spPr>
          <a:xfrm>
            <a:off x="5490000" y="240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65"/>
          <p:cNvSpPr/>
          <p:nvPr/>
        </p:nvSpPr>
        <p:spPr>
          <a:xfrm>
            <a:off x="5490000" y="2730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4"/>
          <p:cNvSpPr/>
          <p:nvPr/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"/>
          <p:cNvSpPr/>
          <p:nvPr/>
        </p:nvSpPr>
        <p:spPr>
          <a:xfrm>
            <a:off x="5486400" y="3429000"/>
            <a:ext cx="5941800" cy="42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….Still not enough….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400" cy="265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"/>
          <p:cNvSpPr/>
          <p:nvPr/>
        </p:nvSpPr>
        <p:spPr>
          <a:xfrm>
            <a:off x="5490000" y="3578760"/>
            <a:ext cx="5935680" cy="143532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"/>
          <p:cNvSpPr/>
          <p:nvPr/>
        </p:nvSpPr>
        <p:spPr>
          <a:xfrm>
            <a:off x="5490000" y="2056680"/>
            <a:ext cx="5935680" cy="11674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5" name="Picture 3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Rectangle 42"/>
          <p:cNvSpPr/>
          <p:nvPr/>
        </p:nvSpPr>
        <p:spPr>
          <a:xfrm>
            <a:off x="5486400" y="13716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48"/>
          <p:cNvSpPr/>
          <p:nvPr/>
        </p:nvSpPr>
        <p:spPr>
          <a:xfrm>
            <a:off x="5490000" y="204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49"/>
          <p:cNvSpPr/>
          <p:nvPr/>
        </p:nvSpPr>
        <p:spPr>
          <a:xfrm>
            <a:off x="5490000" y="3578760"/>
            <a:ext cx="5939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5486400" y="1371600"/>
            <a:ext cx="5939280" cy="4528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Rectangle 51"/>
          <p:cNvSpPr/>
          <p:nvPr/>
        </p:nvSpPr>
        <p:spPr>
          <a:xfrm>
            <a:off x="5490000" y="240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52"/>
          <p:cNvSpPr/>
          <p:nvPr/>
        </p:nvSpPr>
        <p:spPr>
          <a:xfrm>
            <a:off x="5490000" y="2730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11"/>
          <p:cNvSpPr/>
          <p:nvPr/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" descr=""/>
          <p:cNvPicPr/>
          <p:nvPr/>
        </p:nvPicPr>
        <p:blipFill>
          <a:blip r:embed="rId1"/>
          <a:stretch/>
        </p:blipFill>
        <p:spPr>
          <a:xfrm>
            <a:off x="457200" y="1371600"/>
            <a:ext cx="4874400" cy="265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"/>
          <p:cNvSpPr/>
          <p:nvPr/>
        </p:nvSpPr>
        <p:spPr>
          <a:xfrm>
            <a:off x="5490000" y="3578760"/>
            <a:ext cx="5935680" cy="143532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5490000" y="2056680"/>
            <a:ext cx="5935680" cy="116748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8" name="Picture 3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Rectangle 57"/>
          <p:cNvSpPr/>
          <p:nvPr/>
        </p:nvSpPr>
        <p:spPr>
          <a:xfrm>
            <a:off x="5486400" y="1371600"/>
            <a:ext cx="6171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60-color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SFC panel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1.2e+18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 (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quintillion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)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58"/>
          <p:cNvSpPr/>
          <p:nvPr/>
        </p:nvSpPr>
        <p:spPr>
          <a:xfrm>
            <a:off x="5490000" y="204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365 days per year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2,102,400 groups/year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59"/>
          <p:cNvSpPr/>
          <p:nvPr/>
        </p:nvSpPr>
        <p:spPr>
          <a:xfrm>
            <a:off x="5490000" y="3578760"/>
            <a:ext cx="59392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 we need ~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50 immortal researchers working continuously since the Big Bang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just to check all group combinations for a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 60-fluorophore panel .fcs file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5486400" y="1371600"/>
            <a:ext cx="5939280" cy="45288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Rectangle 60"/>
          <p:cNvSpPr/>
          <p:nvPr/>
        </p:nvSpPr>
        <p:spPr>
          <a:xfrm>
            <a:off x="5490000" y="2406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Invent a time-machine, become immortal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ectangle 61"/>
          <p:cNvSpPr/>
          <p:nvPr/>
        </p:nvSpPr>
        <p:spPr>
          <a:xfrm>
            <a:off x="5490000" y="2730600"/>
            <a:ext cx="61678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13.8 billion years →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2.9e+16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groups/reality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16"/>
          <p:cNvSpPr/>
          <p:nvPr/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Continuously since the Big Bang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"/>
          <p:cNvSpPr/>
          <p:nvPr/>
        </p:nvSpPr>
        <p:spPr>
          <a:xfrm>
            <a:off x="6629400" y="5215320"/>
            <a:ext cx="3884400" cy="7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 file down, 99 more to go!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8" name=""/>
          <p:cNvGrpSpPr/>
          <p:nvPr/>
        </p:nvGrpSpPr>
        <p:grpSpPr>
          <a:xfrm>
            <a:off x="6858000" y="1371600"/>
            <a:ext cx="5025960" cy="4111560"/>
            <a:chOff x="6858000" y="1371600"/>
            <a:chExt cx="5025960" cy="4111560"/>
          </a:xfrm>
        </p:grpSpPr>
        <p:pic>
          <p:nvPicPr>
            <p:cNvPr id="249" name="" descr=""/>
            <p:cNvPicPr/>
            <p:nvPr/>
          </p:nvPicPr>
          <p:blipFill>
            <a:blip r:embed="rId1"/>
            <a:srcRect l="0" t="0" r="75396" b="50082"/>
            <a:stretch/>
          </p:blipFill>
          <p:spPr>
            <a:xfrm>
              <a:off x="7073280" y="1762920"/>
              <a:ext cx="4365000" cy="37202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0" name=""/>
            <p:cNvSpPr/>
            <p:nvPr/>
          </p:nvSpPr>
          <p:spPr>
            <a:xfrm>
              <a:off x="6858000" y="2743200"/>
              <a:ext cx="569520" cy="15642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1" name=""/>
            <p:cNvSpPr/>
            <p:nvPr/>
          </p:nvSpPr>
          <p:spPr>
            <a:xfrm>
              <a:off x="7239600" y="1371600"/>
              <a:ext cx="569880" cy="9763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52" name=""/>
            <p:cNvSpPr/>
            <p:nvPr/>
          </p:nvSpPr>
          <p:spPr>
            <a:xfrm>
              <a:off x="11314440" y="1567440"/>
              <a:ext cx="569520" cy="9763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253" name="Picture 73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" name=""/>
          <p:cNvSpPr/>
          <p:nvPr/>
        </p:nvSpPr>
        <p:spPr>
          <a:xfrm>
            <a:off x="685800" y="1135800"/>
            <a:ext cx="5936760" cy="1436400"/>
          </a:xfrm>
          <a:prstGeom prst="rect">
            <a:avLst/>
          </a:prstGeom>
          <a:solidFill>
            <a:srgbClr val="ffd7d7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Rectangle 69"/>
          <p:cNvSpPr/>
          <p:nvPr/>
        </p:nvSpPr>
        <p:spPr>
          <a:xfrm>
            <a:off x="685800" y="1143000"/>
            <a:ext cx="5940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-18360" y="48600"/>
            <a:ext cx="12207240" cy="10890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Alternative: Unsupervised Analysis (Algorithms)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70"/>
          <p:cNvSpPr/>
          <p:nvPr/>
        </p:nvSpPr>
        <p:spPr>
          <a:xfrm>
            <a:off x="685800" y="1143000"/>
            <a:ext cx="5940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Consequently, if the goal is to characterize all cell populations present, some form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unsupervised (algorithm) or semi-supervised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analytical approaches will be needed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Rectangle 71"/>
          <p:cNvSpPr/>
          <p:nvPr/>
        </p:nvSpPr>
        <p:spPr>
          <a:xfrm>
            <a:off x="685800" y="3159000"/>
            <a:ext cx="5940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Clustering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FlowSOM, Phenograph, Xshift,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72"/>
          <p:cNvSpPr/>
          <p:nvPr/>
        </p:nvSpPr>
        <p:spPr>
          <a:xfrm>
            <a:off x="685800" y="3789000"/>
            <a:ext cx="5940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Dimensionality visualization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opt-SNE, UMAP, PaCMAP, Phate,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685800" y="4813200"/>
            <a:ext cx="5940360" cy="91116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Rectangle 73"/>
          <p:cNvSpPr/>
          <p:nvPr/>
        </p:nvSpPr>
        <p:spPr>
          <a:xfrm>
            <a:off x="685800" y="4932000"/>
            <a:ext cx="5940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Gating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openCyto, flowMagic, ElasticGate, etc.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685800" y="3104640"/>
            <a:ext cx="5940360" cy="15361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6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5" name="Picture 2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840" cy="639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Picture 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Picture 35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840" cy="639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0" name="Picture 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"/>
          <p:cNvSpPr/>
          <p:nvPr/>
        </p:nvSpPr>
        <p:spPr>
          <a:xfrm flipH="1" flipV="1" rot="16074000">
            <a:off x="1857240" y="894240"/>
            <a:ext cx="452880" cy="49572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Picture 37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840" cy="639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Picture 3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"/>
          <p:cNvSpPr/>
          <p:nvPr/>
        </p:nvSpPr>
        <p:spPr>
          <a:xfrm flipH="1" flipV="1" rot="16074000">
            <a:off x="9401040" y="894240"/>
            <a:ext cx="452880" cy="49572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860d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7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The challenge for unsupervised approaches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Picture 39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840" cy="639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Picture 4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3321360" y="52578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"/>
          <p:cNvSpPr/>
          <p:nvPr/>
        </p:nvSpPr>
        <p:spPr>
          <a:xfrm flipH="1">
            <a:off x="3321360" y="5486400"/>
            <a:ext cx="4908600" cy="360"/>
          </a:xfrm>
          <a:prstGeom prst="line">
            <a:avLst/>
          </a:prstGeom>
          <a:ln w="73080">
            <a:solidFill>
              <a:srgbClr val="069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26360" rIns="126360" tIns="-81360" bIns="-81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3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5486400" y="1155600"/>
            <a:ext cx="5940360" cy="1368360"/>
          </a:xfrm>
          <a:prstGeom prst="rect">
            <a:avLst/>
          </a:prstGeom>
          <a:solidFill>
            <a:srgbClr val="6b5e9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"/>
          <p:cNvSpPr/>
          <p:nvPr/>
        </p:nvSpPr>
        <p:spPr>
          <a:xfrm>
            <a:off x="5486400" y="2669040"/>
            <a:ext cx="5936760" cy="99000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6" name=""/>
          <p:cNvSpPr/>
          <p:nvPr/>
        </p:nvSpPr>
        <p:spPr>
          <a:xfrm>
            <a:off x="5486400" y="3810600"/>
            <a:ext cx="5936760" cy="1397160"/>
          </a:xfrm>
          <a:prstGeom prst="rect">
            <a:avLst/>
          </a:prstGeom>
          <a:solidFill>
            <a:srgbClr val="3faf46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5640" cy="1318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8" name="Picture 7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Rectangle 74"/>
          <p:cNvSpPr/>
          <p:nvPr/>
        </p:nvSpPr>
        <p:spPr>
          <a:xfrm>
            <a:off x="5486400" y="1143000"/>
            <a:ext cx="61725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Many of these software tools were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originally implemented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as R or Python packages, for use in analysis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or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 datasets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ectangle 75"/>
          <p:cNvSpPr/>
          <p:nvPr/>
        </p:nvSpPr>
        <p:spPr>
          <a:xfrm>
            <a:off x="5486400" y="2669040"/>
            <a:ext cx="594036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Mass cytometry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similar number of markers,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 unmixing variation due to autofluorescence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6"/>
          <p:cNvSpPr/>
          <p:nvPr/>
        </p:nvSpPr>
        <p:spPr>
          <a:xfrm>
            <a:off x="0" y="-182520"/>
            <a:ext cx="12185640" cy="131868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number of events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ectangle 76"/>
          <p:cNvSpPr/>
          <p:nvPr/>
        </p:nvSpPr>
        <p:spPr>
          <a:xfrm>
            <a:off x="5486400" y="3748680"/>
            <a:ext cx="59403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Single-cell RNA-seq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substantially more markers, typically way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fewer events.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No equivalent “negative” gate events for not expressed transcripts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77"/>
          <p:cNvSpPr/>
          <p:nvPr/>
        </p:nvSpPr>
        <p:spPr>
          <a:xfrm>
            <a:off x="5486400" y="5332680"/>
            <a:ext cx="5940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Down-sampling becomes often necessary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5486400" y="5332680"/>
            <a:ext cx="5940360" cy="60768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2"/>
          <a:stretch/>
        </p:blipFill>
        <p:spPr>
          <a:xfrm>
            <a:off x="381240" y="2057400"/>
            <a:ext cx="4873320" cy="265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5320" cy="296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"/>
          <p:cNvSpPr/>
          <p:nvPr/>
        </p:nvSpPr>
        <p:spPr>
          <a:xfrm>
            <a:off x="230040" y="1229040"/>
            <a:ext cx="5481720" cy="136692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9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"/>
          <p:cNvSpPr/>
          <p:nvPr/>
        </p:nvSpPr>
        <p:spPr>
          <a:xfrm>
            <a:off x="101880" y="89280"/>
            <a:ext cx="1201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ectangle 78"/>
          <p:cNvSpPr/>
          <p:nvPr/>
        </p:nvSpPr>
        <p:spPr>
          <a:xfrm>
            <a:off x="228600" y="1192680"/>
            <a:ext cx="54867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228600" y="4343400"/>
            <a:ext cx="5481720" cy="136692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228600" y="2780640"/>
            <a:ext cx="5481720" cy="136692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6118920" y="3496680"/>
            <a:ext cx="5103720" cy="143532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6" name="Picture 8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57360" y="104400"/>
            <a:ext cx="10898280" cy="60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Personal Goal: No cell left behind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Picture 97" descr=""/>
          <p:cNvPicPr/>
          <p:nvPr/>
        </p:nvPicPr>
        <p:blipFill>
          <a:blip r:embed="rId2"/>
          <a:stretch/>
        </p:blipFill>
        <p:spPr>
          <a:xfrm>
            <a:off x="1311840" y="792360"/>
            <a:ext cx="4108680" cy="548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Box 16"/>
          <p:cNvSpPr/>
          <p:nvPr/>
        </p:nvSpPr>
        <p:spPr>
          <a:xfrm>
            <a:off x="6095880" y="1191240"/>
            <a:ext cx="504468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Repeated 3 AM thoughts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What makes spectral flow cytometry data amazing is both the depth and the breadth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17"/>
          <p:cNvSpPr/>
          <p:nvPr/>
        </p:nvSpPr>
        <p:spPr>
          <a:xfrm>
            <a:off x="6118920" y="3223800"/>
            <a:ext cx="50446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How to fully profile the entirety of the acquired dataset, not just a single cell population of interest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6095880" y="1847880"/>
            <a:ext cx="5103720" cy="143532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2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Picture 7" descr=""/>
          <p:cNvPicPr/>
          <p:nvPr/>
        </p:nvPicPr>
        <p:blipFill>
          <a:blip r:embed="rId1"/>
          <a:stretch/>
        </p:blipFill>
        <p:spPr>
          <a:xfrm>
            <a:off x="1908720" y="698760"/>
            <a:ext cx="8372160" cy="58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My PhD’s focus: HIV-exposed Uninfected Infants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5" name="Picture 9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" descr=""/>
          <p:cNvPicPr/>
          <p:nvPr/>
        </p:nvPicPr>
        <p:blipFill>
          <a:blip r:embed="rId1"/>
          <a:stretch/>
        </p:blipFill>
        <p:spPr>
          <a:xfrm>
            <a:off x="2773080" y="228600"/>
            <a:ext cx="9141840" cy="639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Malawian Cohort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" name="Picture 4" descr=""/>
          <p:cNvPicPr/>
          <p:nvPr/>
        </p:nvPicPr>
        <p:blipFill>
          <a:blip r:embed="rId2"/>
          <a:stretch/>
        </p:blipFill>
        <p:spPr>
          <a:xfrm>
            <a:off x="459000" y="1765440"/>
            <a:ext cx="3067920" cy="356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0" name="Picture 5" descr=""/>
          <p:cNvPicPr/>
          <p:nvPr/>
        </p:nvPicPr>
        <p:blipFill>
          <a:blip r:embed="rId3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1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Study Timeline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Picture 3" descr=""/>
          <p:cNvPicPr/>
          <p:nvPr/>
        </p:nvPicPr>
        <p:blipFill>
          <a:blip r:embed="rId1"/>
          <a:srcRect l="0" t="18235" r="0" b="29137"/>
          <a:stretch/>
        </p:blipFill>
        <p:spPr>
          <a:xfrm>
            <a:off x="404640" y="1332360"/>
            <a:ext cx="11380680" cy="419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Arrow: Right 4"/>
          <p:cNvSpPr/>
          <p:nvPr/>
        </p:nvSpPr>
        <p:spPr>
          <a:xfrm rot="16200000">
            <a:off x="4167720" y="5541840"/>
            <a:ext cx="529560" cy="284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5" name="Arrow: Right 5"/>
          <p:cNvSpPr/>
          <p:nvPr/>
        </p:nvSpPr>
        <p:spPr>
          <a:xfrm rot="16200000">
            <a:off x="9073080" y="5555880"/>
            <a:ext cx="529560" cy="284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6" name="Arrow: Right 6"/>
          <p:cNvSpPr/>
          <p:nvPr/>
        </p:nvSpPr>
        <p:spPr>
          <a:xfrm rot="16200000">
            <a:off x="10784880" y="5577120"/>
            <a:ext cx="529560" cy="284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27" name="Picture 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32-Fluorophore Spectral Flow Cytometry Panel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0" name="Picture 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31" name=""/>
          <p:cNvGrpSpPr/>
          <p:nvPr/>
        </p:nvGrpSpPr>
        <p:grpSpPr>
          <a:xfrm>
            <a:off x="914400" y="757800"/>
            <a:ext cx="2284200" cy="5641200"/>
            <a:chOff x="914400" y="757800"/>
            <a:chExt cx="2284200" cy="5641200"/>
          </a:xfrm>
        </p:grpSpPr>
        <p:pic>
          <p:nvPicPr>
            <p:cNvPr id="332" name="Picture 3" descr=""/>
            <p:cNvPicPr/>
            <p:nvPr/>
          </p:nvPicPr>
          <p:blipFill>
            <a:blip r:embed="rId2"/>
            <a:srcRect l="0" t="0" r="0" b="29919"/>
            <a:stretch/>
          </p:blipFill>
          <p:spPr>
            <a:xfrm>
              <a:off x="914400" y="757800"/>
              <a:ext cx="2284200" cy="2572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3" name="Picture 7" descr=""/>
            <p:cNvPicPr/>
            <p:nvPr/>
          </p:nvPicPr>
          <p:blipFill>
            <a:blip r:embed="rId3"/>
            <a:stretch/>
          </p:blipFill>
          <p:spPr>
            <a:xfrm>
              <a:off x="914400" y="3324960"/>
              <a:ext cx="2277360" cy="30740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334" name="Picture 43" descr=""/>
          <p:cNvPicPr/>
          <p:nvPr/>
        </p:nvPicPr>
        <p:blipFill>
          <a:blip r:embed="rId4"/>
          <a:srcRect l="0" t="6125" r="0" b="0"/>
          <a:stretch/>
        </p:blipFill>
        <p:spPr>
          <a:xfrm>
            <a:off x="2743200" y="1022400"/>
            <a:ext cx="8227800" cy="540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5" name="" descr=""/>
          <p:cNvPicPr/>
          <p:nvPr/>
        </p:nvPicPr>
        <p:blipFill>
          <a:blip r:embed="rId5"/>
          <a:stretch/>
        </p:blipFill>
        <p:spPr>
          <a:xfrm>
            <a:off x="231120" y="6389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Picture 172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240" cy="228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"/>
          <p:cNvSpPr/>
          <p:nvPr/>
        </p:nvSpPr>
        <p:spPr>
          <a:xfrm>
            <a:off x="5486400" y="1828800"/>
            <a:ext cx="681120" cy="68112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38" name="Picture 78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"/>
          <p:cNvSpPr/>
          <p:nvPr/>
        </p:nvSpPr>
        <p:spPr>
          <a:xfrm>
            <a:off x="0" y="41040"/>
            <a:ext cx="12112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/>
          <p:nvPr/>
        </p:nvSpPr>
        <p:spPr>
          <a:xfrm>
            <a:off x="6402240" y="1457640"/>
            <a:ext cx="5024520" cy="132804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1" name="Rectangle 5"/>
          <p:cNvSpPr/>
          <p:nvPr/>
        </p:nvSpPr>
        <p:spPr>
          <a:xfrm>
            <a:off x="6402240" y="1418400"/>
            <a:ext cx="50245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6400800" y="3214440"/>
            <a:ext cx="5025960" cy="151092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3" name="Rectangle 10"/>
          <p:cNvSpPr/>
          <p:nvPr/>
        </p:nvSpPr>
        <p:spPr>
          <a:xfrm>
            <a:off x="6400800" y="3201480"/>
            <a:ext cx="50245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5486400" y="3585600"/>
            <a:ext cx="681120" cy="68112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5" name="" descr=""/>
          <p:cNvPicPr/>
          <p:nvPr/>
        </p:nvPicPr>
        <p:blipFill>
          <a:blip r:embed="rId3"/>
          <a:stretch/>
        </p:blipFill>
        <p:spPr>
          <a:xfrm>
            <a:off x="651960" y="3357000"/>
            <a:ext cx="2773800" cy="273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6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"/>
          <p:cNvSpPr/>
          <p:nvPr/>
        </p:nvSpPr>
        <p:spPr>
          <a:xfrm>
            <a:off x="4343400" y="3429000"/>
            <a:ext cx="3426120" cy="68292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8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"/>
          <p:cNvSpPr/>
          <p:nvPr/>
        </p:nvSpPr>
        <p:spPr>
          <a:xfrm>
            <a:off x="0" y="41040"/>
            <a:ext cx="12112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1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63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2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6280" cy="19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"/>
          <p:cNvSpPr/>
          <p:nvPr/>
        </p:nvSpPr>
        <p:spPr>
          <a:xfrm>
            <a:off x="687600" y="3476520"/>
            <a:ext cx="3424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8208000" y="3428640"/>
            <a:ext cx="3424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/>
          <p:nvPr/>
        </p:nvSpPr>
        <p:spPr>
          <a:xfrm>
            <a:off x="4343400" y="3475800"/>
            <a:ext cx="3424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9160" cy="221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7" name=""/>
          <p:cNvSpPr/>
          <p:nvPr/>
        </p:nvSpPr>
        <p:spPr>
          <a:xfrm>
            <a:off x="8206200" y="3428640"/>
            <a:ext cx="3426120" cy="6829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"/>
          <p:cNvSpPr/>
          <p:nvPr/>
        </p:nvSpPr>
        <p:spPr>
          <a:xfrm>
            <a:off x="685800" y="3429000"/>
            <a:ext cx="3426120" cy="68292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59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7360" cy="145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"/>
          <p:cNvSpPr/>
          <p:nvPr/>
        </p:nvSpPr>
        <p:spPr>
          <a:xfrm>
            <a:off x="6172200" y="5943600"/>
            <a:ext cx="2511720" cy="68292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1" name="Picture 80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3120" cy="172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"/>
          <p:cNvSpPr/>
          <p:nvPr/>
        </p:nvSpPr>
        <p:spPr>
          <a:xfrm>
            <a:off x="6930000" y="6100200"/>
            <a:ext cx="960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51160" cy="456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"/>
          <p:cNvSpPr/>
          <p:nvPr/>
        </p:nvSpPr>
        <p:spPr>
          <a:xfrm>
            <a:off x="1143000" y="4141440"/>
            <a:ext cx="118404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1143000" y="1525320"/>
            <a:ext cx="118404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8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69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PlaceHolder 4"/>
          <p:cNvSpPr/>
          <p:nvPr/>
        </p:nvSpPr>
        <p:spPr>
          <a:xfrm>
            <a:off x="231840" y="47880"/>
            <a:ext cx="12109680" cy="6354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1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7480" cy="479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"/>
          <p:cNvSpPr/>
          <p:nvPr/>
        </p:nvSpPr>
        <p:spPr>
          <a:xfrm>
            <a:off x="1600200" y="4239000"/>
            <a:ext cx="111240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1600200" y="1537560"/>
            <a:ext cx="111240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77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5"/>
          <p:cNvSpPr/>
          <p:nvPr/>
        </p:nvSpPr>
        <p:spPr>
          <a:xfrm>
            <a:off x="0" y="228600"/>
            <a:ext cx="12109680" cy="6354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"/>
          <p:cNvSpPr/>
          <p:nvPr/>
        </p:nvSpPr>
        <p:spPr>
          <a:xfrm>
            <a:off x="7317000" y="1144800"/>
            <a:ext cx="4567320" cy="136692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80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8320" cy="39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"/>
          <p:cNvSpPr/>
          <p:nvPr/>
        </p:nvSpPr>
        <p:spPr>
          <a:xfrm>
            <a:off x="101880" y="89280"/>
            <a:ext cx="1201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2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6920" cy="35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3" name="" descr=""/>
          <p:cNvPicPr/>
          <p:nvPr/>
        </p:nvPicPr>
        <p:blipFill>
          <a:blip r:embed="rId3"/>
          <a:stretch/>
        </p:blipFill>
        <p:spPr>
          <a:xfrm>
            <a:off x="393120" y="1062000"/>
            <a:ext cx="6690600" cy="465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4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99000" y="4572360"/>
            <a:ext cx="1139760" cy="113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"/>
          <p:cNvSpPr/>
          <p:nvPr/>
        </p:nvSpPr>
        <p:spPr>
          <a:xfrm>
            <a:off x="7399800" y="1143000"/>
            <a:ext cx="45691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7315200" y="2514600"/>
            <a:ext cx="45691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>
            <a:off x="7387200" y="3922200"/>
            <a:ext cx="45691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7315200" y="2552400"/>
            <a:ext cx="4567320" cy="136692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9" name=""/>
          <p:cNvSpPr/>
          <p:nvPr/>
        </p:nvSpPr>
        <p:spPr>
          <a:xfrm>
            <a:off x="7281000" y="3994200"/>
            <a:ext cx="4567320" cy="136692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4320" cy="594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9680" cy="635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560" cy="248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TextBox 7"/>
          <p:cNvSpPr/>
          <p:nvPr/>
        </p:nvSpPr>
        <p:spPr>
          <a:xfrm>
            <a:off x="1491480" y="5803560"/>
            <a:ext cx="19760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4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4240" cy="150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5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6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"/>
          <p:cNvSpPr/>
          <p:nvPr/>
        </p:nvSpPr>
        <p:spPr>
          <a:xfrm>
            <a:off x="6028200" y="914400"/>
            <a:ext cx="4113360" cy="5484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4320" cy="594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9680" cy="635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0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560" cy="248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TextBox 11"/>
          <p:cNvSpPr/>
          <p:nvPr/>
        </p:nvSpPr>
        <p:spPr>
          <a:xfrm>
            <a:off x="1491480" y="5803560"/>
            <a:ext cx="19760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4240" cy="150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3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4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"/>
          <p:cNvSpPr/>
          <p:nvPr/>
        </p:nvSpPr>
        <p:spPr>
          <a:xfrm>
            <a:off x="7979400" y="1143000"/>
            <a:ext cx="2076120" cy="52563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6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4320" cy="594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9680" cy="6354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2560" cy="248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Box 12"/>
          <p:cNvSpPr/>
          <p:nvPr/>
        </p:nvSpPr>
        <p:spPr>
          <a:xfrm>
            <a:off x="1491480" y="5803560"/>
            <a:ext cx="19760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4240" cy="150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2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5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"/>
          <p:cNvSpPr/>
          <p:nvPr/>
        </p:nvSpPr>
        <p:spPr>
          <a:xfrm>
            <a:off x="6487920" y="2309040"/>
            <a:ext cx="4542840" cy="201564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7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3800" cy="154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"/>
          <p:cNvSpPr/>
          <p:nvPr/>
        </p:nvSpPr>
        <p:spPr>
          <a:xfrm>
            <a:off x="6993360" y="3948840"/>
            <a:ext cx="353232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928440" y="3677040"/>
            <a:ext cx="5048280" cy="201564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20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5560" cy="146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"/>
          <p:cNvSpPr/>
          <p:nvPr/>
        </p:nvSpPr>
        <p:spPr>
          <a:xfrm>
            <a:off x="1686600" y="5356800"/>
            <a:ext cx="353196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914400" y="1143000"/>
            <a:ext cx="5062320" cy="227520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23" name=""/>
          <p:cNvGrpSpPr/>
          <p:nvPr/>
        </p:nvGrpSpPr>
        <p:grpSpPr>
          <a:xfrm>
            <a:off x="1686600" y="1233360"/>
            <a:ext cx="3944160" cy="1781640"/>
            <a:chOff x="1686600" y="1233360"/>
            <a:chExt cx="3944160" cy="1781640"/>
          </a:xfrm>
        </p:grpSpPr>
        <p:sp>
          <p:nvSpPr>
            <p:cNvPr id="424" name="Arrow: Right 2"/>
            <p:cNvSpPr/>
            <p:nvPr/>
          </p:nvSpPr>
          <p:spPr>
            <a:xfrm rot="10800000">
              <a:off x="4871160" y="1357200"/>
              <a:ext cx="415800" cy="2192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25" name="TextBox 4"/>
            <p:cNvSpPr/>
            <p:nvPr/>
          </p:nvSpPr>
          <p:spPr>
            <a:xfrm>
              <a:off x="4759200" y="1505520"/>
              <a:ext cx="87156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26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2680" cy="1781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27" name="TextBox 3"/>
            <p:cNvSpPr/>
            <p:nvPr/>
          </p:nvSpPr>
          <p:spPr>
            <a:xfrm>
              <a:off x="3405960" y="1486440"/>
              <a:ext cx="62568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8" name="Arrow: Right 1"/>
            <p:cNvSpPr/>
            <p:nvPr/>
          </p:nvSpPr>
          <p:spPr>
            <a:xfrm>
              <a:off x="4076640" y="1538280"/>
              <a:ext cx="217800" cy="21888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429" name=""/>
          <p:cNvSpPr/>
          <p:nvPr/>
        </p:nvSpPr>
        <p:spPr>
          <a:xfrm>
            <a:off x="1939320" y="3028680"/>
            <a:ext cx="277344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>
            <a:off x="516600" y="3854880"/>
            <a:ext cx="6169680" cy="7164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1" name=""/>
          <p:cNvSpPr/>
          <p:nvPr/>
        </p:nvSpPr>
        <p:spPr>
          <a:xfrm>
            <a:off x="509400" y="2660400"/>
            <a:ext cx="6176880" cy="102168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32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5440" cy="296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"/>
          <p:cNvSpPr/>
          <p:nvPr/>
        </p:nvSpPr>
        <p:spPr>
          <a:xfrm>
            <a:off x="277200" y="961920"/>
            <a:ext cx="558900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4" name=""/>
          <p:cNvSpPr/>
          <p:nvPr/>
        </p:nvSpPr>
        <p:spPr>
          <a:xfrm>
            <a:off x="468000" y="2588400"/>
            <a:ext cx="64342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480600" y="3813840"/>
            <a:ext cx="639828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0" y="47520"/>
            <a:ext cx="12341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7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8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"/>
          <p:cNvSpPr/>
          <p:nvPr/>
        </p:nvSpPr>
        <p:spPr>
          <a:xfrm>
            <a:off x="516600" y="1444320"/>
            <a:ext cx="6168960" cy="105840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473400" y="1408320"/>
            <a:ext cx="61768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"/>
          <p:cNvSpPr/>
          <p:nvPr/>
        </p:nvSpPr>
        <p:spPr>
          <a:xfrm>
            <a:off x="5257800" y="2861640"/>
            <a:ext cx="5940360" cy="98676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5255280" y="4057920"/>
            <a:ext cx="5952960" cy="109044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3" name=""/>
          <p:cNvSpPr/>
          <p:nvPr/>
        </p:nvSpPr>
        <p:spPr>
          <a:xfrm>
            <a:off x="5258520" y="1494720"/>
            <a:ext cx="5940360" cy="11379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44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3960" cy="201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5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9480" cy="199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6" name=""/>
          <p:cNvSpPr/>
          <p:nvPr/>
        </p:nvSpPr>
        <p:spPr>
          <a:xfrm>
            <a:off x="5259240" y="1539000"/>
            <a:ext cx="6168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5221800" y="3987360"/>
            <a:ext cx="59504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5257800" y="2791080"/>
            <a:ext cx="594036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0" y="46800"/>
            <a:ext cx="1218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0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7600" cy="39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1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2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50160" cy="2631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>
            <a:off x="217800" y="2178000"/>
            <a:ext cx="4352760" cy="172872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4" name=""/>
          <p:cNvSpPr/>
          <p:nvPr/>
        </p:nvSpPr>
        <p:spPr>
          <a:xfrm>
            <a:off x="251280" y="4057920"/>
            <a:ext cx="4319280" cy="165564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5" name=""/>
          <p:cNvSpPr/>
          <p:nvPr/>
        </p:nvSpPr>
        <p:spPr>
          <a:xfrm>
            <a:off x="228600" y="1494720"/>
            <a:ext cx="4316040" cy="56124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255240" y="1539000"/>
            <a:ext cx="4315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217800" y="3987360"/>
            <a:ext cx="435276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181800" y="2142000"/>
            <a:ext cx="438876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46800"/>
            <a:ext cx="12189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0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6200" cy="354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61" name=""/>
          <p:cNvGrpSpPr/>
          <p:nvPr/>
        </p:nvGrpSpPr>
        <p:grpSpPr>
          <a:xfrm>
            <a:off x="4800600" y="1092600"/>
            <a:ext cx="6627960" cy="2106360"/>
            <a:chOff x="4800600" y="1092600"/>
            <a:chExt cx="6627960" cy="2106360"/>
          </a:xfrm>
        </p:grpSpPr>
        <p:pic>
          <p:nvPicPr>
            <p:cNvPr id="462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7960" cy="2098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3" name=""/>
            <p:cNvSpPr/>
            <p:nvPr/>
          </p:nvSpPr>
          <p:spPr>
            <a:xfrm>
              <a:off x="5064120" y="1103040"/>
              <a:ext cx="3310200" cy="19224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64" name=""/>
            <p:cNvSpPr/>
            <p:nvPr/>
          </p:nvSpPr>
          <p:spPr>
            <a:xfrm>
              <a:off x="8028000" y="1092600"/>
              <a:ext cx="3310200" cy="19188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465" name="Picture 96" descr="A group of images of a square&#10;&#10;AI-generated content may be incorrect."/>
          <p:cNvPicPr/>
          <p:nvPr/>
        </p:nvPicPr>
        <p:blipFill>
          <a:blip r:embed="rId3"/>
          <a:srcRect l="0" t="67031" r="0" b="0"/>
          <a:stretch/>
        </p:blipFill>
        <p:spPr>
          <a:xfrm>
            <a:off x="5029200" y="3373200"/>
            <a:ext cx="6062760" cy="256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TextBox 10"/>
          <p:cNvSpPr/>
          <p:nvPr/>
        </p:nvSpPr>
        <p:spPr>
          <a:xfrm>
            <a:off x="5221800" y="5943600"/>
            <a:ext cx="3198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13"/>
          <p:cNvSpPr/>
          <p:nvPr/>
        </p:nvSpPr>
        <p:spPr>
          <a:xfrm>
            <a:off x="8001000" y="5991120"/>
            <a:ext cx="3198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 rot="7421400">
            <a:off x="9690120" y="1180800"/>
            <a:ext cx="455760" cy="45576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Picture 1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600" cy="228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"/>
          <p:cNvSpPr/>
          <p:nvPr/>
        </p:nvSpPr>
        <p:spPr>
          <a:xfrm>
            <a:off x="5486400" y="1828800"/>
            <a:ext cx="681480" cy="68148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1" name="Picture 16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"/>
          <p:cNvSpPr/>
          <p:nvPr/>
        </p:nvSpPr>
        <p:spPr>
          <a:xfrm>
            <a:off x="0" y="41040"/>
            <a:ext cx="121129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6402240" y="1457640"/>
            <a:ext cx="5024880" cy="132840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Rectangle 66"/>
          <p:cNvSpPr/>
          <p:nvPr/>
        </p:nvSpPr>
        <p:spPr>
          <a:xfrm>
            <a:off x="6402240" y="1418400"/>
            <a:ext cx="502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6400800" y="3214440"/>
            <a:ext cx="5026320" cy="151128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6" name="Rectangle 67"/>
          <p:cNvSpPr/>
          <p:nvPr/>
        </p:nvSpPr>
        <p:spPr>
          <a:xfrm>
            <a:off x="6400800" y="3201480"/>
            <a:ext cx="502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5486400" y="3585600"/>
            <a:ext cx="681480" cy="68148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4160" cy="274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0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1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Grouping cells that share every marker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Picture 20" descr=""/>
          <p:cNvPicPr/>
          <p:nvPr/>
        </p:nvPicPr>
        <p:blipFill>
          <a:blip r:embed="rId1"/>
          <a:stretch/>
        </p:blipFill>
        <p:spPr>
          <a:xfrm>
            <a:off x="1523880" y="1185480"/>
            <a:ext cx="9141840" cy="639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Arrow: Down 3"/>
          <p:cNvSpPr/>
          <p:nvPr/>
        </p:nvSpPr>
        <p:spPr>
          <a:xfrm>
            <a:off x="7251480" y="829440"/>
            <a:ext cx="518760" cy="7527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8a30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85" name="Picture 60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6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Picture 4" descr=""/>
          <p:cNvPicPr/>
          <p:nvPr/>
        </p:nvPicPr>
        <p:blipFill>
          <a:blip r:embed="rId1"/>
          <a:srcRect l="28389" t="0" r="46288" b="0"/>
          <a:stretch/>
        </p:blipFill>
        <p:spPr>
          <a:xfrm>
            <a:off x="3166200" y="293040"/>
            <a:ext cx="2319480" cy="641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Picture 5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600" cy="28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Box 8"/>
          <p:cNvSpPr/>
          <p:nvPr/>
        </p:nvSpPr>
        <p:spPr>
          <a:xfrm>
            <a:off x="499680" y="5584680"/>
            <a:ext cx="210384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1" name="Graphic 9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600" cy="183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2" name="Picture 10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3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5" name="Picture 6" descr=""/>
          <p:cNvPicPr/>
          <p:nvPr/>
        </p:nvPicPr>
        <p:blipFill>
          <a:blip r:embed="rId1"/>
          <a:srcRect l="28389" t="0" r="23840" b="0"/>
          <a:stretch/>
        </p:blipFill>
        <p:spPr>
          <a:xfrm>
            <a:off x="3166200" y="293040"/>
            <a:ext cx="4376880" cy="641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Picture 63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600" cy="28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TextBox 1"/>
          <p:cNvSpPr/>
          <p:nvPr/>
        </p:nvSpPr>
        <p:spPr>
          <a:xfrm>
            <a:off x="499680" y="5584680"/>
            <a:ext cx="21038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8" name="Graphic 5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600" cy="183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9" name="Picture 85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0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Initial automated gate, with ability to adjust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2" name="Picture 82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200" cy="177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Picture 9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Picture 100" descr=""/>
          <p:cNvPicPr/>
          <p:nvPr/>
        </p:nvPicPr>
        <p:blipFill>
          <a:blip r:embed="rId3"/>
          <a:srcRect l="0" t="0" r="50000" b="26630"/>
          <a:stretch/>
        </p:blipFill>
        <p:spPr>
          <a:xfrm>
            <a:off x="1844640" y="1020240"/>
            <a:ext cx="4249080" cy="445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TextBox 14"/>
          <p:cNvSpPr/>
          <p:nvPr/>
        </p:nvSpPr>
        <p:spPr>
          <a:xfrm>
            <a:off x="6531840" y="1122480"/>
            <a:ext cx="4449240" cy="37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Initial gates for designated markers calculated via openCyto (mindensity)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Ability to update gate_range constraints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Launch a Shiny app and designate interactively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6557400" y="1407600"/>
            <a:ext cx="3956400" cy="136980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6557400" y="3999600"/>
            <a:ext cx="3956400" cy="94248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531840" y="2905920"/>
            <a:ext cx="3956400" cy="94248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9" name="" descr=""/>
          <p:cNvPicPr/>
          <p:nvPr/>
        </p:nvPicPr>
        <p:blipFill>
          <a:blip r:embed="rId4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1" name="Picture 86" descr=""/>
          <p:cNvPicPr/>
          <p:nvPr/>
        </p:nvPicPr>
        <p:blipFill>
          <a:blip r:embed="rId1"/>
          <a:srcRect l="28389" t="0" r="0" b="0"/>
          <a:stretch/>
        </p:blipFill>
        <p:spPr>
          <a:xfrm>
            <a:off x="3166200" y="293040"/>
            <a:ext cx="6562080" cy="641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2" name="Picture 87" descr=""/>
          <p:cNvPicPr/>
          <p:nvPr/>
        </p:nvPicPr>
        <p:blipFill>
          <a:blip r:embed="rId2"/>
          <a:srcRect l="0" t="26724" r="72153" b="28563"/>
          <a:stretch/>
        </p:blipFill>
        <p:spPr>
          <a:xfrm>
            <a:off x="373320" y="777240"/>
            <a:ext cx="2550600" cy="28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3" name="TextBox 6"/>
          <p:cNvSpPr/>
          <p:nvPr/>
        </p:nvSpPr>
        <p:spPr>
          <a:xfrm>
            <a:off x="499680" y="5584680"/>
            <a:ext cx="210384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4" name="Graphic 7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60760" y="3645360"/>
            <a:ext cx="1830600" cy="183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5" name="Picture 88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6" name="" descr=""/>
          <p:cNvPicPr/>
          <p:nvPr/>
        </p:nvPicPr>
        <p:blipFill>
          <a:blip r:embed="rId6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CoerebaID column gets added to the .fcs file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8" name="Picture 5" descr=""/>
          <p:cNvPicPr/>
          <p:nvPr/>
        </p:nvPicPr>
        <p:blipFill>
          <a:blip r:embed="rId1"/>
          <a:srcRect l="0" t="26726" r="72154" b="28564"/>
          <a:stretch/>
        </p:blipFill>
        <p:spPr>
          <a:xfrm>
            <a:off x="0" y="-132840"/>
            <a:ext cx="1582200" cy="177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9" name="Picture 4" descr=""/>
          <p:cNvPicPr/>
          <p:nvPr/>
        </p:nvPicPr>
        <p:blipFill>
          <a:blip r:embed="rId2"/>
          <a:stretch/>
        </p:blipFill>
        <p:spPr>
          <a:xfrm>
            <a:off x="7691040" y="776880"/>
            <a:ext cx="7575480" cy="530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0" name="Picture 7" descr=""/>
          <p:cNvPicPr/>
          <p:nvPr/>
        </p:nvPicPr>
        <p:blipFill>
          <a:blip r:embed="rId3"/>
          <a:srcRect l="0" t="0" r="0" b="54009"/>
          <a:stretch/>
        </p:blipFill>
        <p:spPr>
          <a:xfrm>
            <a:off x="-219600" y="2347920"/>
            <a:ext cx="7830360" cy="251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1" name="Picture 8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2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Summarized Experiment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ectangle 1"/>
          <p:cNvSpPr/>
          <p:nvPr/>
        </p:nvSpPr>
        <p:spPr>
          <a:xfrm>
            <a:off x="7864560" y="1079280"/>
            <a:ext cx="3872520" cy="452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Permits rapid re-aggregation of the terminal nodes for re-evaluation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Ties in with downstream Bioconductor statistics packages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Portable. Don’t like how we aggregated groups of cells? File is small enough to store in the same data repository as .fcs files for subsequent re-analysis.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Filterable by metadata or node.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only in HEU-hi?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- Nodes unique to one individual?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5" name="Picture 107" descr=""/>
          <p:cNvPicPr/>
          <p:nvPr/>
        </p:nvPicPr>
        <p:blipFill>
          <a:blip r:embed="rId1"/>
          <a:stretch/>
        </p:blipFill>
        <p:spPr>
          <a:xfrm>
            <a:off x="718560" y="705240"/>
            <a:ext cx="7186320" cy="560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6" name="Picture 108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7" name=""/>
          <p:cNvSpPr/>
          <p:nvPr/>
        </p:nvSpPr>
        <p:spPr>
          <a:xfrm>
            <a:off x="7864560" y="1079280"/>
            <a:ext cx="3792240" cy="976320"/>
          </a:xfrm>
          <a:prstGeom prst="rect">
            <a:avLst/>
          </a:prstGeom>
          <a:solidFill>
            <a:srgbClr val="ff4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>
            <a:off x="7864560" y="2186280"/>
            <a:ext cx="3792240" cy="74772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7864560" y="3007800"/>
            <a:ext cx="3792240" cy="14418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7864560" y="4572000"/>
            <a:ext cx="3792240" cy="102816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1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3" name="Picture 101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520" cy="578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4" name="Picture 10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5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Ability to contrast unsupervised methods vs. “manual” ground-truth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7" name="Picture 4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" descr=""/>
          <p:cNvPicPr/>
          <p:nvPr/>
        </p:nvPicPr>
        <p:blipFill>
          <a:blip r:embed="rId2"/>
          <a:stretch/>
        </p:blipFill>
        <p:spPr>
          <a:xfrm>
            <a:off x="914400" y="1504080"/>
            <a:ext cx="10282680" cy="420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9" name="" descr=""/>
          <p:cNvPicPr/>
          <p:nvPr/>
        </p:nvPicPr>
        <p:blipFill>
          <a:blip r:embed="rId3"/>
          <a:stretch/>
        </p:blipFill>
        <p:spPr>
          <a:xfrm>
            <a:off x="45756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Retrieving and re-enumerating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Picture 1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2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3" name="" descr=""/>
          <p:cNvPicPr/>
          <p:nvPr/>
        </p:nvPicPr>
        <p:blipFill>
          <a:blip r:embed="rId3"/>
          <a:srcRect l="0" t="0" r="75396" b="50082"/>
          <a:stretch/>
        </p:blipFill>
        <p:spPr>
          <a:xfrm>
            <a:off x="685800" y="1438200"/>
            <a:ext cx="2615040" cy="224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4" name="" descr=""/>
          <p:cNvPicPr/>
          <p:nvPr/>
        </p:nvPicPr>
        <p:blipFill>
          <a:blip r:embed="rId4"/>
          <a:srcRect l="0" t="0" r="0" b="46265"/>
          <a:stretch/>
        </p:blipFill>
        <p:spPr>
          <a:xfrm>
            <a:off x="3568680" y="2062800"/>
            <a:ext cx="3879360" cy="187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5" name="" descr=""/>
          <p:cNvPicPr/>
          <p:nvPr/>
        </p:nvPicPr>
        <p:blipFill>
          <a:blip r:embed="rId5"/>
          <a:srcRect l="28789" t="0" r="0" b="79839"/>
          <a:stretch/>
        </p:blipFill>
        <p:spPr>
          <a:xfrm>
            <a:off x="5927760" y="4227480"/>
            <a:ext cx="5497920" cy="16020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546" name=""/>
          <p:cNvGrpSpPr/>
          <p:nvPr/>
        </p:nvGrpSpPr>
        <p:grpSpPr>
          <a:xfrm>
            <a:off x="1307160" y="3902760"/>
            <a:ext cx="1731600" cy="589320"/>
            <a:chOff x="1307160" y="3902760"/>
            <a:chExt cx="1731600" cy="589320"/>
          </a:xfrm>
        </p:grpSpPr>
        <p:sp>
          <p:nvSpPr>
            <p:cNvPr id="547" name=""/>
            <p:cNvSpPr/>
            <p:nvPr/>
          </p:nvSpPr>
          <p:spPr>
            <a:xfrm>
              <a:off x="1307160" y="3902760"/>
              <a:ext cx="1525320" cy="589320"/>
            </a:xfrm>
            <a:prstGeom prst="rect">
              <a:avLst/>
            </a:prstGeom>
            <a:solidFill>
              <a:srgbClr val="afd095">
                <a:alpha val="50000"/>
              </a:srgbClr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548" name=""/>
            <p:cNvSpPr/>
            <p:nvPr/>
          </p:nvSpPr>
          <p:spPr>
            <a:xfrm>
              <a:off x="1491480" y="3956760"/>
              <a:ext cx="15472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1) Gate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9" name=""/>
          <p:cNvSpPr/>
          <p:nvPr/>
        </p:nvSpPr>
        <p:spPr>
          <a:xfrm>
            <a:off x="4051800" y="1319040"/>
            <a:ext cx="3154680" cy="73944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0" name=""/>
          <p:cNvSpPr/>
          <p:nvPr/>
        </p:nvSpPr>
        <p:spPr>
          <a:xfrm>
            <a:off x="7963200" y="3495960"/>
            <a:ext cx="241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3) Re-enumerate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plot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3283920" y="1522080"/>
            <a:ext cx="547920" cy="64224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2" name=""/>
          <p:cNvSpPr/>
          <p:nvPr/>
        </p:nvSpPr>
        <p:spPr>
          <a:xfrm>
            <a:off x="6994800" y="3729240"/>
            <a:ext cx="565200" cy="626400"/>
          </a:xfrm>
          <a:prstGeom prst="line">
            <a:avLst/>
          </a:prstGeom>
          <a:ln w="91440">
            <a:solidFill>
              <a:srgbClr val="2a60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3" name=""/>
          <p:cNvSpPr/>
          <p:nvPr/>
        </p:nvSpPr>
        <p:spPr>
          <a:xfrm>
            <a:off x="4203360" y="1387080"/>
            <a:ext cx="320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2) Retrieve manual-annotated gates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7766640" y="3428640"/>
            <a:ext cx="2588040" cy="73944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0" y="175320"/>
            <a:ext cx="12189240" cy="9648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92500" lnSpcReduction="1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Retrieve manual annotated gating information 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following unsupervised steps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56" name="Group 3"/>
          <p:cNvGrpSpPr/>
          <p:nvPr/>
        </p:nvGrpSpPr>
        <p:grpSpPr>
          <a:xfrm>
            <a:off x="1035000" y="1090440"/>
            <a:ext cx="9784800" cy="4672800"/>
            <a:chOff x="1035000" y="1090440"/>
            <a:chExt cx="9784800" cy="4672800"/>
          </a:xfrm>
        </p:grpSpPr>
        <p:pic>
          <p:nvPicPr>
            <p:cNvPr id="557" name="Picture 103" descr=""/>
            <p:cNvPicPr/>
            <p:nvPr/>
          </p:nvPicPr>
          <p:blipFill>
            <a:blip r:embed="rId1"/>
            <a:stretch/>
          </p:blipFill>
          <p:spPr>
            <a:xfrm>
              <a:off x="3891960" y="3265560"/>
              <a:ext cx="6927120" cy="249768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558" name="Group 4"/>
            <p:cNvGrpSpPr/>
            <p:nvPr/>
          </p:nvGrpSpPr>
          <p:grpSpPr>
            <a:xfrm>
              <a:off x="3314880" y="1090440"/>
              <a:ext cx="7504920" cy="2185200"/>
              <a:chOff x="3314880" y="1090440"/>
              <a:chExt cx="7504920" cy="2185200"/>
            </a:xfrm>
          </p:grpSpPr>
          <p:pic>
            <p:nvPicPr>
              <p:cNvPr id="559" name="Picture 104" descr=""/>
              <p:cNvPicPr/>
              <p:nvPr/>
            </p:nvPicPr>
            <p:blipFill>
              <a:blip r:embed="rId2"/>
              <a:srcRect l="0" t="44464" r="9095" b="0"/>
              <a:stretch/>
            </p:blipFill>
            <p:spPr>
              <a:xfrm>
                <a:off x="3893040" y="1217880"/>
                <a:ext cx="6926760" cy="205776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560" name="Rectangle 6"/>
              <p:cNvSpPr/>
              <p:nvPr/>
            </p:nvSpPr>
            <p:spPr>
              <a:xfrm>
                <a:off x="3314880" y="1090440"/>
                <a:ext cx="7504920" cy="33696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pic>
          <p:nvPicPr>
            <p:cNvPr id="561" name="Picture 105" descr=""/>
            <p:cNvPicPr/>
            <p:nvPr/>
          </p:nvPicPr>
          <p:blipFill>
            <a:blip r:embed="rId3"/>
            <a:stretch/>
          </p:blipFill>
          <p:spPr>
            <a:xfrm>
              <a:off x="1035000" y="1386360"/>
              <a:ext cx="2561400" cy="437688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562" name="Picture 106" descr=""/>
          <p:cNvPicPr/>
          <p:nvPr/>
        </p:nvPicPr>
        <p:blipFill>
          <a:blip r:embed="rId4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3" name="" descr=""/>
          <p:cNvPicPr/>
          <p:nvPr/>
        </p:nvPicPr>
        <p:blipFill>
          <a:blip r:embed="rId5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Picture 89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520" cy="578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6" name="Picture 91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Are our high-dimensional analysis problems fixed?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9" name="Picture 4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Picture 62" descr=""/>
          <p:cNvPicPr/>
          <p:nvPr/>
        </p:nvPicPr>
        <p:blipFill>
          <a:blip r:embed="rId2"/>
          <a:srcRect l="19530" t="32518" r="20344" b="27769"/>
          <a:stretch/>
        </p:blipFill>
        <p:spPr>
          <a:xfrm>
            <a:off x="1098360" y="1371960"/>
            <a:ext cx="10327680" cy="383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1" name="" descr=""/>
          <p:cNvPicPr/>
          <p:nvPr/>
        </p:nvPicPr>
        <p:blipFill>
          <a:blip r:embed="rId3"/>
          <a:stretch/>
        </p:blipFill>
        <p:spPr>
          <a:xfrm>
            <a:off x="23040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TextBox 5"/>
          <p:cNvSpPr/>
          <p:nvPr/>
        </p:nvSpPr>
        <p:spPr>
          <a:xfrm>
            <a:off x="7269840" y="1225800"/>
            <a:ext cx="4731840" cy="563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Fun off-label uses thus far: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Contrasting where “manually-gated” cells end up vs. our unsupervised methods (normalization, clustering, etc.)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Added benefit of looking-at-the-forest: Easy to identify badly cryopreserved specimens where cell populations were lost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1840" cy="6375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Functional and Iterative: plenty for everyone to dislike </a:t>
            </a: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Wingdings"/>
                <a:ea typeface="DejaVu Sans"/>
              </a:rPr>
              <a:t>:)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4" name="Picture 2" descr=""/>
          <p:cNvPicPr/>
          <p:nvPr/>
        </p:nvPicPr>
        <p:blipFill>
          <a:blip r:embed="rId1"/>
          <a:stretch/>
        </p:blipFill>
        <p:spPr>
          <a:xfrm>
            <a:off x="479160" y="1063080"/>
            <a:ext cx="6453360" cy="451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5" name="Picture 3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40840" cy="39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"/>
          <p:cNvSpPr/>
          <p:nvPr/>
        </p:nvSpPr>
        <p:spPr>
          <a:xfrm>
            <a:off x="7315200" y="1297800"/>
            <a:ext cx="4341600" cy="372600"/>
          </a:xfrm>
          <a:prstGeom prst="rect">
            <a:avLst/>
          </a:prstGeom>
          <a:solidFill>
            <a:srgbClr val="ff80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>
            <a:off x="7315200" y="1949400"/>
            <a:ext cx="4341600" cy="1598400"/>
          </a:xfrm>
          <a:prstGeom prst="rect">
            <a:avLst/>
          </a:prstGeom>
          <a:solidFill>
            <a:srgbClr val="b4c7d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7315200" y="3765600"/>
            <a:ext cx="4341600" cy="1598400"/>
          </a:xfrm>
          <a:prstGeom prst="rect">
            <a:avLst/>
          </a:prstGeom>
          <a:solidFill>
            <a:srgbClr val="dde8c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9" name="" descr=""/>
          <p:cNvPicPr/>
          <p:nvPr/>
        </p:nvPicPr>
        <p:blipFill>
          <a:blip r:embed="rId3"/>
          <a:stretch/>
        </p:blipFill>
        <p:spPr>
          <a:xfrm>
            <a:off x="230760" y="617292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0" name="Picture 131" descr=""/>
          <p:cNvPicPr/>
          <p:nvPr/>
        </p:nvPicPr>
        <p:blipFill>
          <a:blip r:embed="rId1"/>
          <a:srcRect l="13383" t="8379" r="6425" b="0"/>
          <a:stretch/>
        </p:blipFill>
        <p:spPr>
          <a:xfrm>
            <a:off x="2700720" y="1371600"/>
            <a:ext cx="2325600" cy="228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"/>
          <p:cNvSpPr/>
          <p:nvPr/>
        </p:nvSpPr>
        <p:spPr>
          <a:xfrm>
            <a:off x="5486400" y="1828800"/>
            <a:ext cx="681480" cy="68148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2" name="Picture 134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8680" cy="39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"/>
          <p:cNvSpPr/>
          <p:nvPr/>
        </p:nvSpPr>
        <p:spPr>
          <a:xfrm>
            <a:off x="0" y="41040"/>
            <a:ext cx="121129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To unlock the comprehensive biological discovery potential,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we need to address these pink elephants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>
            <a:off x="6402240" y="1457640"/>
            <a:ext cx="5024880" cy="1328400"/>
          </a:xfrm>
          <a:prstGeom prst="rect">
            <a:avLst/>
          </a:prstGeom>
          <a:solidFill>
            <a:srgbClr val="77bc6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5" name="Rectangle 20"/>
          <p:cNvSpPr/>
          <p:nvPr/>
        </p:nvSpPr>
        <p:spPr>
          <a:xfrm>
            <a:off x="6402240" y="1418400"/>
            <a:ext cx="502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Quality of the unmixed full-stained data is linked to the quality of our single-color controls (and our ability to provide appropriate autofluorescence controls).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6400800" y="3214440"/>
            <a:ext cx="5026320" cy="1511280"/>
          </a:xfrm>
          <a:prstGeom prst="rect">
            <a:avLst/>
          </a:prstGeom>
          <a:solidFill>
            <a:srgbClr val="ffe994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7" name="Rectangle 21"/>
          <p:cNvSpPr/>
          <p:nvPr/>
        </p:nvSpPr>
        <p:spPr>
          <a:xfrm>
            <a:off x="6400800" y="3201480"/>
            <a:ext cx="5024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If we are acquiring 3 million cells to detect 100 rare cells, how do we thoroughly explore the rest of the sample to avoid wasting useful data?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5486400" y="3585600"/>
            <a:ext cx="681480" cy="681480"/>
          </a:xfrm>
          <a:prstGeom prst="rect">
            <a:avLst/>
          </a:prstGeom>
          <a:solidFill>
            <a:srgbClr val="ffffff"/>
          </a:solidFill>
          <a:ln w="3672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9" name="" descr=""/>
          <p:cNvPicPr/>
          <p:nvPr/>
        </p:nvPicPr>
        <p:blipFill>
          <a:blip r:embed="rId3"/>
          <a:stretch/>
        </p:blipFill>
        <p:spPr>
          <a:xfrm>
            <a:off x="651960" y="3429000"/>
            <a:ext cx="2774160" cy="274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"/>
          <p:cNvSpPr/>
          <p:nvPr/>
        </p:nvSpPr>
        <p:spPr>
          <a:xfrm flipV="1">
            <a:off x="5787000" y="16362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1" name=""/>
          <p:cNvSpPr/>
          <p:nvPr/>
        </p:nvSpPr>
        <p:spPr>
          <a:xfrm flipH="1" flipV="1">
            <a:off x="5558400" y="205740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2" name="" descr=""/>
          <p:cNvPicPr/>
          <p:nvPr/>
        </p:nvPicPr>
        <p:blipFill>
          <a:blip r:embed="rId4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3" name=""/>
          <p:cNvSpPr/>
          <p:nvPr/>
        </p:nvSpPr>
        <p:spPr>
          <a:xfrm flipH="1" flipV="1">
            <a:off x="5558760" y="3857760"/>
            <a:ext cx="228600" cy="2286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4" name=""/>
          <p:cNvSpPr/>
          <p:nvPr/>
        </p:nvSpPr>
        <p:spPr>
          <a:xfrm flipV="1">
            <a:off x="5751000" y="3441600"/>
            <a:ext cx="385200" cy="637200"/>
          </a:xfrm>
          <a:prstGeom prst="line">
            <a:avLst/>
          </a:prstGeom>
          <a:ln w="91440">
            <a:solidFill>
              <a:srgbClr val="00a9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35720" rIns="135720" tIns="90720" bIns="9072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Semi-supervised Pipeline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Picture 45" descr=""/>
          <p:cNvPicPr/>
          <p:nvPr/>
        </p:nvPicPr>
        <p:blipFill>
          <a:blip r:embed="rId1"/>
          <a:stretch/>
        </p:blipFill>
        <p:spPr>
          <a:xfrm>
            <a:off x="2061000" y="491400"/>
            <a:ext cx="8264520" cy="578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7" name="Picture 47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8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0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1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02" name=""/>
          <p:cNvGrpSpPr/>
          <p:nvPr/>
        </p:nvGrpSpPr>
        <p:grpSpPr>
          <a:xfrm>
            <a:off x="5486400" y="1150920"/>
            <a:ext cx="6254280" cy="4337280"/>
            <a:chOff x="5486400" y="1150920"/>
            <a:chExt cx="6254280" cy="4337280"/>
          </a:xfrm>
        </p:grpSpPr>
        <p:pic>
          <p:nvPicPr>
            <p:cNvPr id="603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4280" cy="4337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4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40360" cy="25689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05" name=""/>
          <p:cNvSpPr/>
          <p:nvPr/>
        </p:nvSpPr>
        <p:spPr>
          <a:xfrm>
            <a:off x="444600" y="1150920"/>
            <a:ext cx="4565880" cy="45622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6" name="Rectangle 9"/>
          <p:cNvSpPr/>
          <p:nvPr/>
        </p:nvSpPr>
        <p:spPr>
          <a:xfrm>
            <a:off x="415440" y="1186920"/>
            <a:ext cx="461196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8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9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9480" cy="151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0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6400" cy="401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1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1720" cy="1452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2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4320" cy="1192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3" name="PlaceHolder 27"/>
          <p:cNvSpPr/>
          <p:nvPr/>
        </p:nvSpPr>
        <p:spPr>
          <a:xfrm>
            <a:off x="613800" y="4836600"/>
            <a:ext cx="1548720" cy="10458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4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"/>
          <p:cNvSpPr/>
          <p:nvPr/>
        </p:nvSpPr>
        <p:spPr>
          <a:xfrm>
            <a:off x="6629400" y="1467000"/>
            <a:ext cx="4339080" cy="37864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16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10320" cy="552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Rectangle 23"/>
          <p:cNvSpPr/>
          <p:nvPr/>
        </p:nvSpPr>
        <p:spPr>
          <a:xfrm>
            <a:off x="6665400" y="1467000"/>
            <a:ext cx="459648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9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"/>
          <p:cNvSpPr/>
          <p:nvPr/>
        </p:nvSpPr>
        <p:spPr>
          <a:xfrm>
            <a:off x="252000" y="1238040"/>
            <a:ext cx="4651920" cy="4243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Rectangle 24"/>
          <p:cNvSpPr/>
          <p:nvPr/>
        </p:nvSpPr>
        <p:spPr>
          <a:xfrm>
            <a:off x="307440" y="1443600"/>
            <a:ext cx="459648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4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5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8920" cy="4419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2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"/>
          <p:cNvSpPr/>
          <p:nvPr/>
        </p:nvSpPr>
        <p:spPr>
          <a:xfrm>
            <a:off x="6773760" y="914400"/>
            <a:ext cx="4651920" cy="47962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Rectangle 25"/>
          <p:cNvSpPr/>
          <p:nvPr/>
        </p:nvSpPr>
        <p:spPr>
          <a:xfrm>
            <a:off x="6828480" y="1048680"/>
            <a:ext cx="459648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0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1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2240" cy="4811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"/>
          <p:cNvSpPr/>
          <p:nvPr/>
        </p:nvSpPr>
        <p:spPr>
          <a:xfrm>
            <a:off x="685800" y="2561400"/>
            <a:ext cx="4651920" cy="13672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Rectangle 26"/>
          <p:cNvSpPr/>
          <p:nvPr/>
        </p:nvSpPr>
        <p:spPr>
          <a:xfrm>
            <a:off x="717480" y="2561400"/>
            <a:ext cx="45964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5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4160" cy="50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/>
          <p:nvPr/>
        </p:nvSpPr>
        <p:spPr>
          <a:xfrm>
            <a:off x="2569320" y="4523400"/>
            <a:ext cx="6623280" cy="15940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Rectangle 4"/>
          <p:cNvSpPr/>
          <p:nvPr/>
        </p:nvSpPr>
        <p:spPr>
          <a:xfrm>
            <a:off x="2569320" y="4523400"/>
            <a:ext cx="70246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0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1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4280" cy="3441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2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3" name=""/>
          <p:cNvSpPr/>
          <p:nvPr/>
        </p:nvSpPr>
        <p:spPr>
          <a:xfrm rot="19411800">
            <a:off x="10549800" y="793440"/>
            <a:ext cx="455400" cy="9126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"/>
          <p:cNvSpPr/>
          <p:nvPr/>
        </p:nvSpPr>
        <p:spPr>
          <a:xfrm>
            <a:off x="5185800" y="3200400"/>
            <a:ext cx="6480720" cy="25131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5" name=""/>
          <p:cNvSpPr/>
          <p:nvPr/>
        </p:nvSpPr>
        <p:spPr>
          <a:xfrm>
            <a:off x="5185800" y="1058400"/>
            <a:ext cx="6480720" cy="19350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4560" cy="13176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Rectangle 22"/>
          <p:cNvSpPr/>
          <p:nvPr/>
        </p:nvSpPr>
        <p:spPr>
          <a:xfrm>
            <a:off x="5176440" y="3249000"/>
            <a:ext cx="6252120" cy="24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72 Bioconductor cytometry packages (+ 20? GitHub based packages)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Heavily under-utilized, some unmaintained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Evidence that “Build the `software tool` and they will come” approach doesn’t work in practice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8" name="Picture 135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9" name="" descr=""/>
          <p:cNvPicPr/>
          <p:nvPr/>
        </p:nvPicPr>
        <p:blipFill>
          <a:blip r:embed="rId2"/>
          <a:stretch/>
        </p:blipFill>
        <p:spPr>
          <a:xfrm>
            <a:off x="659880" y="909000"/>
            <a:ext cx="3907440" cy="491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50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7280" cy="35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1" name=""/>
          <p:cNvSpPr/>
          <p:nvPr/>
        </p:nvSpPr>
        <p:spPr>
          <a:xfrm>
            <a:off x="5185800" y="1136520"/>
            <a:ext cx="643608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MT Extra" charset="2"/>
              <a:buChar char="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Working towards formally submitting my R packages to Bioconductor this year (adding documentation, generalizing for different instrument manufacturers)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5185800" y="2286000"/>
            <a:ext cx="643608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MT Extra" charset="2"/>
              <a:buChar char="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Still learning better ways to parallelize and speed up the process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>
            <a:off x="349200" y="4885200"/>
            <a:ext cx="2163600" cy="599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4" name=""/>
          <p:cNvSpPr/>
          <p:nvPr/>
        </p:nvSpPr>
        <p:spPr>
          <a:xfrm>
            <a:off x="10395000" y="2685600"/>
            <a:ext cx="1365480" cy="679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5" name=""/>
          <p:cNvSpPr/>
          <p:nvPr/>
        </p:nvSpPr>
        <p:spPr>
          <a:xfrm>
            <a:off x="8458200" y="2649600"/>
            <a:ext cx="1365480" cy="6796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6" name=""/>
          <p:cNvSpPr/>
          <p:nvPr/>
        </p:nvSpPr>
        <p:spPr>
          <a:xfrm>
            <a:off x="4102200" y="3828600"/>
            <a:ext cx="3897000" cy="21132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7" name=""/>
          <p:cNvSpPr/>
          <p:nvPr/>
        </p:nvSpPr>
        <p:spPr>
          <a:xfrm>
            <a:off x="349200" y="3803400"/>
            <a:ext cx="2161080" cy="9100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8" name=""/>
          <p:cNvSpPr/>
          <p:nvPr/>
        </p:nvSpPr>
        <p:spPr>
          <a:xfrm>
            <a:off x="349200" y="1204200"/>
            <a:ext cx="3422880" cy="6814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9" name=""/>
          <p:cNvSpPr/>
          <p:nvPr/>
        </p:nvSpPr>
        <p:spPr>
          <a:xfrm>
            <a:off x="338400" y="2118600"/>
            <a:ext cx="3422880" cy="159408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264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1" name="Picture 54" descr=""/>
          <p:cNvPicPr/>
          <p:nvPr/>
        </p:nvPicPr>
        <p:blipFill>
          <a:blip r:embed="rId1"/>
          <a:stretch/>
        </p:blipFill>
        <p:spPr>
          <a:xfrm>
            <a:off x="9290520" y="3601800"/>
            <a:ext cx="2361960" cy="42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2" name="Picture 55" descr=""/>
          <p:cNvPicPr/>
          <p:nvPr/>
        </p:nvPicPr>
        <p:blipFill>
          <a:blip r:embed="rId2"/>
          <a:stretch/>
        </p:blipFill>
        <p:spPr>
          <a:xfrm>
            <a:off x="9673200" y="4028400"/>
            <a:ext cx="1980720" cy="39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Content Placeholder 1"/>
          <p:cNvSpPr/>
          <p:nvPr/>
        </p:nvSpPr>
        <p:spPr>
          <a:xfrm>
            <a:off x="228600" y="3803400"/>
            <a:ext cx="3970440" cy="18194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Box 23"/>
          <p:cNvSpPr/>
          <p:nvPr/>
        </p:nvSpPr>
        <p:spPr>
          <a:xfrm>
            <a:off x="255240" y="1215000"/>
            <a:ext cx="3398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Box 24"/>
          <p:cNvSpPr/>
          <p:nvPr/>
        </p:nvSpPr>
        <p:spPr>
          <a:xfrm>
            <a:off x="302400" y="2203200"/>
            <a:ext cx="339804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ontent Placeholder 3"/>
          <p:cNvSpPr/>
          <p:nvPr/>
        </p:nvSpPr>
        <p:spPr>
          <a:xfrm>
            <a:off x="9829800" y="1486800"/>
            <a:ext cx="3970440" cy="18194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Box 25"/>
          <p:cNvSpPr/>
          <p:nvPr/>
        </p:nvSpPr>
        <p:spPr>
          <a:xfrm>
            <a:off x="8001000" y="2846880"/>
            <a:ext cx="225504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Box 26"/>
          <p:cNvSpPr/>
          <p:nvPr/>
        </p:nvSpPr>
        <p:spPr>
          <a:xfrm>
            <a:off x="10287000" y="2895120"/>
            <a:ext cx="156924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9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41400" cy="107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0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6920" cy="8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1" name="TextBox 27"/>
          <p:cNvSpPr/>
          <p:nvPr/>
        </p:nvSpPr>
        <p:spPr>
          <a:xfrm>
            <a:off x="228600" y="5065200"/>
            <a:ext cx="349920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2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408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3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4080" cy="159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4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7320" cy="242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5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7320" cy="93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6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2800" cy="94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7" name="Rectangle 14"/>
          <p:cNvSpPr/>
          <p:nvPr/>
        </p:nvSpPr>
        <p:spPr>
          <a:xfrm>
            <a:off x="4138200" y="3850200"/>
            <a:ext cx="374040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Rectangle 15"/>
          <p:cNvSpPr/>
          <p:nvPr/>
        </p:nvSpPr>
        <p:spPr>
          <a:xfrm>
            <a:off x="8602200" y="4417200"/>
            <a:ext cx="3740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9" name="" descr=""/>
          <p:cNvPicPr/>
          <p:nvPr/>
        </p:nvPicPr>
        <p:blipFill>
          <a:blip r:embed="rId13"/>
          <a:stretch/>
        </p:blipFill>
        <p:spPr>
          <a:xfrm>
            <a:off x="8769600" y="4453200"/>
            <a:ext cx="400320" cy="35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0" name=""/>
          <p:cNvSpPr/>
          <p:nvPr/>
        </p:nvSpPr>
        <p:spPr>
          <a:xfrm>
            <a:off x="8686800" y="5065200"/>
            <a:ext cx="3090600" cy="41940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1" name=""/>
          <p:cNvSpPr/>
          <p:nvPr/>
        </p:nvSpPr>
        <p:spPr>
          <a:xfrm>
            <a:off x="8686800" y="5101200"/>
            <a:ext cx="300600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4080" cy="132120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Rectangle 192"/>
          <p:cNvSpPr/>
          <p:nvPr/>
        </p:nvSpPr>
        <p:spPr>
          <a:xfrm>
            <a:off x="8557200" y="2791800"/>
            <a:ext cx="296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Rectangle 193"/>
          <p:cNvSpPr/>
          <p:nvPr/>
        </p:nvSpPr>
        <p:spPr>
          <a:xfrm>
            <a:off x="4991400" y="5257800"/>
            <a:ext cx="296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Rectangle 194"/>
          <p:cNvSpPr/>
          <p:nvPr/>
        </p:nvSpPr>
        <p:spPr>
          <a:xfrm>
            <a:off x="4991400" y="2791800"/>
            <a:ext cx="296748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Rectangle 195"/>
          <p:cNvSpPr/>
          <p:nvPr/>
        </p:nvSpPr>
        <p:spPr>
          <a:xfrm>
            <a:off x="876600" y="2791800"/>
            <a:ext cx="296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Rectangle 196"/>
          <p:cNvSpPr/>
          <p:nvPr/>
        </p:nvSpPr>
        <p:spPr>
          <a:xfrm>
            <a:off x="876600" y="5257800"/>
            <a:ext cx="296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197"/>
          <p:cNvSpPr/>
          <p:nvPr/>
        </p:nvSpPr>
        <p:spPr>
          <a:xfrm>
            <a:off x="8557200" y="5029200"/>
            <a:ext cx="296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9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7080" cy="159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0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3560" cy="159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1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7280" cy="158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2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3200" cy="159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3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8560" y="1121760"/>
            <a:ext cx="1954440" cy="158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4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7080" cy="159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5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4480" cy="182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6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4480" cy="182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7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4480" cy="182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8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4480" cy="182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9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8760" cy="168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0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4480" cy="1824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1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2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5800" cy="393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"/>
          <p:cNvSpPr/>
          <p:nvPr/>
        </p:nvSpPr>
        <p:spPr>
          <a:xfrm>
            <a:off x="5787000" y="3558600"/>
            <a:ext cx="4727160" cy="78408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1640" cy="695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5" name="Picture 64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7760" cy="53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6" name="Picture 65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7000" cy="47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7" name="Rectangle 27"/>
          <p:cNvSpPr/>
          <p:nvPr/>
        </p:nvSpPr>
        <p:spPr>
          <a:xfrm>
            <a:off x="5730480" y="2142360"/>
            <a:ext cx="5469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Rectangle 28"/>
          <p:cNvSpPr/>
          <p:nvPr/>
        </p:nvSpPr>
        <p:spPr>
          <a:xfrm>
            <a:off x="5751000" y="4163760"/>
            <a:ext cx="4991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Rectangle 29"/>
          <p:cNvSpPr/>
          <p:nvPr/>
        </p:nvSpPr>
        <p:spPr>
          <a:xfrm>
            <a:off x="5751000" y="3177360"/>
            <a:ext cx="5469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5787000" y="4601880"/>
            <a:ext cx="4727160" cy="78408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5751000" y="2572200"/>
            <a:ext cx="4763160" cy="78408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2" name="Picture 66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7280" cy="158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1640" cy="695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4" name="Picture 67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7760" cy="53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5" name="Picture 68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8080" cy="4440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16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5920" cy="168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2640" cy="501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2640" cy="501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9" name="Picture 69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3560" cy="1596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1640" cy="695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1" name="Picture 70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7760" cy="53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2" name="Picture 71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6080" cy="517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3" name="Picture 92" descr=""/>
          <p:cNvPicPr/>
          <p:nvPr/>
        </p:nvPicPr>
        <p:blipFill>
          <a:blip r:embed="rId1"/>
          <a:stretch/>
        </p:blipFill>
        <p:spPr>
          <a:xfrm>
            <a:off x="1633320" y="1017360"/>
            <a:ext cx="5833440" cy="463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4" name=""/>
          <p:cNvSpPr/>
          <p:nvPr/>
        </p:nvSpPr>
        <p:spPr>
          <a:xfrm>
            <a:off x="7503480" y="1130400"/>
            <a:ext cx="4382640" cy="45612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5" name=""/>
          <p:cNvSpPr/>
          <p:nvPr/>
        </p:nvSpPr>
        <p:spPr>
          <a:xfrm>
            <a:off x="7507800" y="1780200"/>
            <a:ext cx="4378320" cy="784800"/>
          </a:xfrm>
          <a:prstGeom prst="rect">
            <a:avLst/>
          </a:prstGeom>
          <a:solidFill>
            <a:srgbClr val="afd09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7543800" y="2639160"/>
            <a:ext cx="4342320" cy="784800"/>
          </a:xfrm>
          <a:prstGeom prst="rect">
            <a:avLst/>
          </a:prstGeom>
          <a:solidFill>
            <a:srgbClr val="e8a202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>
            <a:off x="7543800" y="3573000"/>
            <a:ext cx="4342320" cy="1141920"/>
          </a:xfrm>
          <a:prstGeom prst="rect">
            <a:avLst/>
          </a:prstGeom>
          <a:solidFill>
            <a:srgbClr val="a7074b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7543800" y="4860000"/>
            <a:ext cx="4342320" cy="769320"/>
          </a:xfrm>
          <a:prstGeom prst="rect">
            <a:avLst/>
          </a:prstGeom>
          <a:solidFill>
            <a:srgbClr val="f7d1d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2560" cy="638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Previously looked at unconventional T cells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Box 9"/>
          <p:cNvSpPr/>
          <p:nvPr/>
        </p:nvSpPr>
        <p:spPr>
          <a:xfrm>
            <a:off x="7457760" y="1780200"/>
            <a:ext cx="4464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MT Extra" charset="2"/>
              <a:buChar char="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Shifting from 50%-50% FlowJo – R to increasingly more 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1" name="Graphic 8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18960" y="2425680"/>
            <a:ext cx="1517760" cy="151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2" name="TextBox 15"/>
          <p:cNvSpPr/>
          <p:nvPr/>
        </p:nvSpPr>
        <p:spPr>
          <a:xfrm>
            <a:off x="241920" y="4029840"/>
            <a:ext cx="1277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Paper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3" name="Picture 93" descr=""/>
          <p:cNvPicPr/>
          <p:nvPr/>
        </p:nvPicPr>
        <p:blipFill>
          <a:blip r:embed="rId4"/>
          <a:stretch/>
        </p:blipFill>
        <p:spPr>
          <a:xfrm>
            <a:off x="10435680" y="6172200"/>
            <a:ext cx="114156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4" name="TextBox 18"/>
          <p:cNvSpPr/>
          <p:nvPr/>
        </p:nvSpPr>
        <p:spPr>
          <a:xfrm>
            <a:off x="7457760" y="3162600"/>
            <a:ext cx="44643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Building around reproducibility from the start (not as an after thought)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Box 19"/>
          <p:cNvSpPr/>
          <p:nvPr/>
        </p:nvSpPr>
        <p:spPr>
          <a:xfrm>
            <a:off x="7484400" y="4847400"/>
            <a:ext cx="470664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MT Extra" charset="2"/>
              <a:buChar char="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Improved Bioconductor interoperability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Box 20"/>
          <p:cNvSpPr/>
          <p:nvPr/>
        </p:nvSpPr>
        <p:spPr>
          <a:xfrm>
            <a:off x="7474680" y="1096920"/>
            <a:ext cx="44643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Main differences this time around: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Box 21"/>
          <p:cNvSpPr/>
          <p:nvPr/>
        </p:nvSpPr>
        <p:spPr>
          <a:xfrm>
            <a:off x="7457760" y="2237400"/>
            <a:ext cx="44643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Targeted re-writes in Rust to speed up original R code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8" name="" descr=""/>
          <p:cNvPicPr/>
          <p:nvPr/>
        </p:nvPicPr>
        <p:blipFill>
          <a:blip r:embed="rId5"/>
          <a:stretch/>
        </p:blipFill>
        <p:spPr>
          <a:xfrm>
            <a:off x="231120" y="6281280"/>
            <a:ext cx="1366560" cy="35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633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2026-10-21T21:00:47Z</dcterms:modified>
  <cp:revision>67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