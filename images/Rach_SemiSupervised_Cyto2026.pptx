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9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19.png" ContentType="image/png"/>
  <Override PartName="/ppt/media/image87.png" ContentType="image/png"/>
  <Override PartName="/ppt/media/image19.png" ContentType="image/png"/>
  <Override PartName="/ppt/media/image110.png" ContentType="image/png"/>
  <Override PartName="/ppt/media/image108.png" ContentType="image/png"/>
  <Override PartName="/ppt/media/image24.svg" ContentType="image/svg"/>
  <Override PartName="/ppt/media/image92.svg" ContentType="image/svg"/>
  <Override PartName="/ppt/media/image124.svg" ContentType="image/svg"/>
  <Override PartName="/ppt/media/image106.png" ContentType="image/png"/>
  <Override PartName="/ppt/media/image90.svg" ContentType="image/svg"/>
  <Override PartName="/ppt/media/image122.svg" ContentType="image/svg"/>
  <Override PartName="/ppt/media/image104.png" ContentType="image/png"/>
  <Override PartName="/ppt/media/image120.svg" ContentType="image/svg"/>
  <Override PartName="/ppt/media/image100.svg" ContentType="image/svg"/>
  <Override PartName="/ppt/media/image6.png" ContentType="image/png"/>
  <Override PartName="/ppt/media/image99.png" ContentType="image/png"/>
  <Override PartName="/ppt/media/image102.png" ContentType="image/png"/>
  <Override PartName="/ppt/media/image98.svg" ContentType="image/svg"/>
  <Override PartName="/ppt/media/image97.png" ContentType="image/png"/>
  <Override PartName="/ppt/media/image129.png" ContentType="image/png"/>
  <Override PartName="/ppt/media/image95.png" ContentType="image/png"/>
  <Override PartName="/ppt/media/image127.png" ContentType="image/png"/>
  <Override PartName="/ppt/media/image89.png" ContentType="image/png"/>
  <Override PartName="/ppt/media/image88.svg" ContentType="image/svg"/>
  <Override PartName="/ppt/media/image86.svg" ContentType="image/svg"/>
  <Override PartName="/ppt/media/image118.svg" ContentType="image/svg"/>
  <Override PartName="/ppt/media/image85.png" ContentType="image/png"/>
  <Override PartName="/ppt/media/image117.png" ContentType="image/png"/>
  <Override PartName="/ppt/media/image17.png" ContentType="image/png"/>
  <Override PartName="/ppt/media/image33.svg" ContentType="image/svg"/>
  <Override PartName="/ppt/media/image82.svg" ContentType="image/svg"/>
  <Override PartName="/ppt/media/image114.svg" ContentType="image/svg"/>
  <Override PartName="/ppt/media/image80.svg" ContentType="image/svg"/>
  <Override PartName="/ppt/media/image112.svg" ContentType="image/svg"/>
  <Override PartName="/ppt/media/image39.png" ContentType="image/png"/>
  <Override PartName="/ppt/media/image139.png" ContentType="image/png"/>
  <Override PartName="/ppt/media/image109.svg" ContentType="image/svg"/>
  <Override PartName="/ppt/media/image11.jpeg" ContentType="image/jpeg"/>
  <Override PartName="/ppt/media/image28.png" ContentType="image/png"/>
  <Override PartName="/ppt/media/image44.svg" ContentType="image/svg"/>
  <Override PartName="/ppt/media/image20.png" ContentType="image/png"/>
  <Override PartName="/ppt/media/image48.png" ContentType="image/png"/>
  <Override PartName="/ppt/media/image64.svg" ContentType="image/svg"/>
  <Override PartName="/ppt/media/image153.jpeg" ContentType="image/jpeg"/>
  <Override PartName="/ppt/media/image73.png" ContentType="image/png"/>
  <Override PartName="/ppt/media/image105.png" ContentType="image/png"/>
  <Override PartName="/ppt/media/image57.png" ContentType="image/png"/>
  <Override PartName="/ppt/media/image157.png" ContentType="image/png"/>
  <Override PartName="/ppt/media/image18.png" ContentType="image/png"/>
  <Override PartName="/ppt/media/image131.png" ContentType="image/png"/>
  <Override PartName="/ppt/media/image9.png" ContentType="image/png"/>
  <Override PartName="/ppt/media/image55.png" ContentType="image/png"/>
  <Override PartName="/ppt/media/image155.png" ContentType="image/png"/>
  <Override PartName="/ppt/media/image101.png" ContentType="image/png"/>
  <Override PartName="/ppt/media/image111.png" ContentType="image/png"/>
  <Override PartName="/ppt/media/image63.png" ContentType="image/png"/>
  <Override PartName="/ppt/media/image10.jpeg" ContentType="image/jpeg"/>
  <Override PartName="/ppt/media/image1.png" ContentType="image/png"/>
  <Override PartName="/ppt/media/image3.png" ContentType="image/png"/>
  <Override PartName="/ppt/media/image12.jpeg" ContentType="image/jpeg"/>
  <Override PartName="/ppt/media/image56.svg" ContentType="image/svg"/>
  <Override PartName="/ppt/media/image149.png" ContentType="image/png"/>
  <Override PartName="/ppt/media/image49.png" ContentType="image/png"/>
  <Override PartName="/ppt/media/image4.png" ContentType="image/png"/>
  <Override PartName="/ppt/media/image50.png" ContentType="image/png"/>
  <Override PartName="/ppt/media/image29.svg" ContentType="image/svg"/>
  <Override PartName="/ppt/media/image74.svg" ContentType="image/svg"/>
  <Override PartName="/ppt/media/image130.png" ContentType="image/png"/>
  <Override PartName="/ppt/media/image30.png" ContentType="image/png"/>
  <Override PartName="/ppt/media/image45.png" ContentType="image/png"/>
  <Override PartName="/ppt/media/image145.png" ContentType="image/png"/>
  <Override PartName="/ppt/media/image152.svg" ContentType="image/svg"/>
  <Override PartName="/ppt/media/image36.png" ContentType="image/png"/>
  <Override PartName="/ppt/media/image136.png" ContentType="image/png"/>
  <Override PartName="/ppt/media/image141.png" ContentType="image/png"/>
  <Override PartName="/ppt/media/image41.png" ContentType="image/png"/>
  <Override PartName="/ppt/media/image133.png" ContentType="image/png"/>
  <Override PartName="/ppt/media/image148.svg" ContentType="image/svg"/>
  <Override PartName="/ppt/media/image143.png" ContentType="image/png"/>
  <Override PartName="/ppt/media/image43.png" ContentType="image/png"/>
  <Override PartName="/ppt/media/image54.svg" ContentType="image/svg"/>
  <Override PartName="/ppt/media/image138.png" ContentType="image/png"/>
  <Override PartName="/ppt/media/image140.png" ContentType="image/png"/>
  <Override PartName="/ppt/media/image40.png" ContentType="image/png"/>
  <Override PartName="/ppt/media/image52.jpeg" ContentType="image/jpeg"/>
  <Override PartName="/ppt/media/image128.svg" ContentType="image/svg"/>
  <Override PartName="/ppt/media/image96.svg" ContentType="image/svg"/>
  <Override PartName="/ppt/media/image47.png" ContentType="image/png"/>
  <Override PartName="/ppt/media/image147.png" ContentType="image/png"/>
  <Override PartName="/ppt/media/image76.svg" ContentType="image/svg"/>
  <Override PartName="/ppt/media/image132.png" ContentType="image/png"/>
  <Override PartName="/ppt/media/image32.png" ContentType="image/png"/>
  <Override PartName="/ppt/media/image53.png" ContentType="image/png"/>
  <Override PartName="/ppt/media/image7.png" ContentType="image/png"/>
  <Override PartName="/ppt/media/image16.png" ContentType="image/png"/>
  <Override PartName="/ppt/media/image137.png" ContentType="image/png"/>
  <Override PartName="/ppt/media/image37.png" ContentType="image/png"/>
  <Override PartName="/ppt/media/image151.png" ContentType="image/png"/>
  <Override PartName="/ppt/media/image51.png" ContentType="image/png"/>
  <Override PartName="/ppt/media/image5.png" ContentType="image/png"/>
  <Override PartName="/ppt/media/image14.png" ContentType="image/png"/>
  <Override PartName="/ppt/media/image58.svg" ContentType="image/svg"/>
  <Override PartName="/ppt/media/image158.svg" ContentType="image/svg"/>
  <Override PartName="/ppt/media/image38.svg" ContentType="image/svg"/>
  <Override PartName="/ppt/media/image135.png" ContentType="image/png"/>
  <Override PartName="/ppt/media/image35.png" ContentType="image/png"/>
  <Override PartName="/ppt/media/image150.svg" ContentType="image/svg"/>
  <Override PartName="/ppt/media/image134.png" ContentType="image/png"/>
  <Override PartName="/ppt/media/image34.png" ContentType="image/png"/>
  <Override PartName="/ppt/media/image78.svg" ContentType="image/svg"/>
  <Override PartName="/ppt/media/image94.svg" ContentType="image/svg"/>
  <Override PartName="/ppt/media/image126.svg" ContentType="image/svg"/>
  <Override PartName="/ppt/media/image2.png" ContentType="image/png"/>
  <Override PartName="/ppt/media/image121.png" ContentType="image/png"/>
  <Override PartName="/ppt/media/image21.png" ContentType="image/png"/>
  <Override PartName="/ppt/media/image159.png" ContentType="image/png"/>
  <Override PartName="/ppt/media/image59.png" ContentType="image/png"/>
  <Override PartName="/ppt/media/image22.png" ContentType="image/png"/>
  <Override PartName="/ppt/media/image66.svg" ContentType="image/svg"/>
  <Override PartName="/ppt/media/image42.svg" ContentType="image/svg"/>
  <Override PartName="/ppt/media/image142.svg" ContentType="image/svg"/>
  <Override PartName="/ppt/media/image26.png" ContentType="image/png"/>
  <Override PartName="/ppt/media/image160.svg" ContentType="image/svg"/>
  <Override PartName="/ppt/media/image144.png" ContentType="image/png"/>
  <Override PartName="/ppt/media/image60.svg" ContentType="image/svg"/>
  <Override PartName="/ppt/media/image161.png" ContentType="image/png"/>
  <Override PartName="/ppt/media/image61.png" ContentType="image/png"/>
  <Override PartName="/ppt/media/image162.svg" ContentType="image/svg"/>
  <Override PartName="/ppt/media/image146.png" ContentType="image/png"/>
  <Override PartName="/ppt/media/image46.png" ContentType="image/png"/>
  <Override PartName="/ppt/media/image62.svg" ContentType="image/svg"/>
  <Override PartName="/ppt/media/image65.png" ContentType="image/png"/>
  <Override PartName="/ppt/media/image13.png" ContentType="image/png"/>
  <Override PartName="/ppt/media/image81.png" ContentType="image/png"/>
  <Override PartName="/ppt/media/image113.png" ContentType="image/png"/>
  <Override PartName="/ppt/media/image67.png" ContentType="image/png"/>
  <Override PartName="/ppt/media/image83.png" ContentType="image/png"/>
  <Override PartName="/ppt/media/image31.svg" ContentType="image/svg"/>
  <Override PartName="/ppt/media/image115.png" ContentType="image/png"/>
  <Override PartName="/ppt/media/image15.png" ContentType="image/png"/>
  <Override PartName="/ppt/media/image68.svg" ContentType="image/svg"/>
  <Override PartName="/ppt/media/image84.svg" ContentType="image/svg"/>
  <Override PartName="/ppt/media/image116.svg" ContentType="image/svg"/>
  <Override PartName="/ppt/media/image69.png" ContentType="image/png"/>
  <Override PartName="/ppt/media/image8.png" ContentType="image/png"/>
  <Override PartName="/ppt/media/image154.png" ContentType="image/png"/>
  <Override PartName="/ppt/media/image70.svg" ContentType="image/svg"/>
  <Override PartName="/ppt/media/image103.png" ContentType="image/png"/>
  <Override PartName="/ppt/media/image71.png" ContentType="image/png"/>
  <Override PartName="/ppt/media/image156.png" ContentType="image/png"/>
  <Override PartName="/ppt/media/image72.svg" ContentType="image/svg"/>
  <Override PartName="/ppt/media/image107.png" ContentType="image/png"/>
  <Override PartName="/ppt/media/image75.png" ContentType="image/png"/>
  <Override PartName="/ppt/media/image91.png" ContentType="image/png"/>
  <Override PartName="/ppt/media/image123.png" ContentType="image/png"/>
  <Override PartName="/ppt/media/image23.png" ContentType="image/png"/>
  <Override PartName="/ppt/media/image77.png" ContentType="image/png"/>
  <Override PartName="/ppt/media/image93.png" ContentType="image/png"/>
  <Override PartName="/ppt/media/image125.png" ContentType="image/png"/>
  <Override PartName="/ppt/media/image25.png" ContentType="image/png"/>
  <Override PartName="/ppt/media/image79.png" ContentType="image/png"/>
  <Override PartName="/ppt/media/image27.svg" ContentType="image/svg"/>
  <Override PartName="/ppt/slides/_rels/slide5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55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28.xml.rels" ContentType="application/vnd.openxmlformats-package.relationships+xml"/>
  <Override PartName="/ppt/slides/_rels/slide2.xml.rels" ContentType="application/vnd.openxmlformats-package.relationships+xml"/>
  <Override PartName="/ppt/slides/_rels/slide56.xml.rels" ContentType="application/vnd.openxmlformats-package.relationships+xml"/>
  <Override PartName="/ppt/slides/_rels/slide10.xml.rels" ContentType="application/vnd.openxmlformats-package.relationships+xml"/>
  <Override PartName="/ppt/slides/_rels/slide47.xml.rels" ContentType="application/vnd.openxmlformats-package.relationships+xml"/>
  <Override PartName="/ppt/slides/_rels/slide14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8.xml.rels" ContentType="application/vnd.openxmlformats-package.relationships+xml"/>
  <Override PartName="/ppt/slides/_rels/slide5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60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4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59.xml.rels" ContentType="application/vnd.openxmlformats-package.relationships+xml"/>
  <Override PartName="/ppt/slides/_rels/slide13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38.xml.rels" ContentType="application/vnd.openxmlformats-package.relationships+xml"/>
  <Override PartName="/ppt/slides/_rels/slide39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50.xml.rels" ContentType="application/vnd.openxmlformats-package.relationships+xml"/>
  <Override PartName="/ppt/slides/_rels/slide51.xml.rels" ContentType="application/vnd.openxmlformats-package.relationships+xml"/>
  <Override PartName="/ppt/slides/_rels/slide52.xml.rels" ContentType="application/vnd.openxmlformats-package.relationships+xml"/>
  <Override PartName="/ppt/slides/_rels/slide53.xml.rels" ContentType="application/vnd.openxmlformats-package.relationships+xml"/>
  <Override PartName="/ppt/slides/slide56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18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4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Slides/notesSlide34.xml" ContentType="application/vnd.openxmlformats-officedocument.presentationml.notesSlide+xml"/>
  <Override PartName="/ppt/notesSlides/_rels/notesSlide59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4.xml.rels" ContentType="application/vnd.openxmlformats-package.relationships+xml"/>
  <Override PartName="/ppt/notesSlides/notesSlide35.xml" ContentType="application/vnd.openxmlformats-officedocument.presentationml.notesSlide+xml"/>
  <Override PartName="/ppt/notesSlides/notesSlide5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  <p:sldMasterId id="2147483656" r:id="rId5"/>
    <p:sldMasterId id="2147483658" r:id="rId6"/>
    <p:sldMasterId id="214748366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6.xml"/><Relationship Id="rId6" Type="http://schemas.openxmlformats.org/officeDocument/2006/relationships/slideMaster" Target="slideMasters/slideMaster7.xml"/><Relationship Id="rId7" Type="http://schemas.openxmlformats.org/officeDocument/2006/relationships/slideMaster" Target="slideMasters/slideMaster8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25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26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27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F1A06E1-8CB3-49C0-BD61-5FEEFAA261D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sldImg"/>
          </p:nvPr>
        </p:nvSpPr>
        <p:spPr>
          <a:xfrm>
            <a:off x="870120" y="1257480"/>
            <a:ext cx="6031440" cy="3393000"/>
          </a:xfrm>
          <a:prstGeom prst="rect">
            <a:avLst/>
          </a:prstGeom>
          <a:ln w="0">
            <a:noFill/>
          </a:ln>
        </p:spPr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5400" cy="39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sldNum" idx="28"/>
          </p:nvPr>
        </p:nvSpPr>
        <p:spPr>
          <a:xfrm>
            <a:off x="4402080" y="9553680"/>
            <a:ext cx="3367440" cy="50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040DF2-20BC-4036-B4C6-C7A75DC029C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sldImg"/>
          </p:nvPr>
        </p:nvSpPr>
        <p:spPr>
          <a:xfrm>
            <a:off x="870120" y="1257480"/>
            <a:ext cx="6031440" cy="3393000"/>
          </a:xfrm>
          <a:prstGeom prst="rect">
            <a:avLst/>
          </a:prstGeom>
          <a:ln w="0">
            <a:noFill/>
          </a:ln>
        </p:spPr>
      </p:sp>
      <p:sp>
        <p:nvSpPr>
          <p:cNvPr id="707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5400" cy="39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PlaceHolder 3"/>
          <p:cNvSpPr>
            <a:spLocks noGrp="1"/>
          </p:cNvSpPr>
          <p:nvPr>
            <p:ph type="sldNum" idx="29"/>
          </p:nvPr>
        </p:nvSpPr>
        <p:spPr>
          <a:xfrm>
            <a:off x="4402080" y="9553680"/>
            <a:ext cx="3367440" cy="50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156741-6A81-46F0-BD44-D49D183BBD5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sldImg"/>
          </p:nvPr>
        </p:nvSpPr>
        <p:spPr>
          <a:xfrm>
            <a:off x="870120" y="1257480"/>
            <a:ext cx="6026400" cy="3387960"/>
          </a:xfrm>
          <a:prstGeom prst="rect">
            <a:avLst/>
          </a:prstGeom>
          <a:ln w="0">
            <a:noFill/>
          </a:ln>
        </p:spPr>
      </p:sp>
      <p:sp>
        <p:nvSpPr>
          <p:cNvPr id="710" name="PlaceHolder 2"/>
          <p:cNvSpPr>
            <a:spLocks noGrp="1"/>
          </p:cNvSpPr>
          <p:nvPr>
            <p:ph type="body"/>
          </p:nvPr>
        </p:nvSpPr>
        <p:spPr>
          <a:xfrm>
            <a:off x="777960" y="4840200"/>
            <a:ext cx="6210360" cy="39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3"/>
          <p:cNvSpPr>
            <a:spLocks noGrp="1"/>
          </p:cNvSpPr>
          <p:nvPr>
            <p:ph type="sldNum" idx="30"/>
          </p:nvPr>
        </p:nvSpPr>
        <p:spPr>
          <a:xfrm>
            <a:off x="4402080" y="9553680"/>
            <a:ext cx="3362400" cy="49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C876C7-D134-4A78-BF37-F0AE7D2211C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Office-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712800"/>
            <a:ext cx="10512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6200" cy="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6760" y="1604520"/>
            <a:ext cx="16200" cy="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/>
          </p:nvPr>
        </p:nvSpPr>
        <p:spPr>
          <a:xfrm>
            <a:off x="609480" y="1609560"/>
            <a:ext cx="16200" cy="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/>
          </p:nvPr>
        </p:nvSpPr>
        <p:spPr>
          <a:xfrm>
            <a:off x="626760" y="1609560"/>
            <a:ext cx="16200" cy="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BD8B59-1E8D-4845-862F-4078E33AD00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Layout1-title-Title-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889920"/>
            <a:ext cx="10512360" cy="2746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104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104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104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104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A5FA2C-367E-46AD-88BC-41F191357F3D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889920"/>
            <a:ext cx="10512360" cy="27468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ctr">
            <a:sp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2980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2980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2980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2980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2980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29800" cy="1893600"/>
          </a:xfrm>
          <a:prstGeom prst="rect">
            <a:avLst/>
          </a:prstGeom>
          <a:noFill/>
          <a:ln w="1908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8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9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EB3EC9-C6C8-4782-A7B4-E098FDA538B8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10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aster1-Layout2-obj-Title-and-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888120"/>
            <a:ext cx="10512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70560" cy="2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0DCFB3-2308-41E5-945F-381DA5FAFB79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888120"/>
            <a:ext cx="10512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3840" cy="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46200" y="1604520"/>
            <a:ext cx="33840" cy="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9480" y="1616040"/>
            <a:ext cx="33840" cy="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46200" y="1616040"/>
            <a:ext cx="33840" cy="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91E20D-AE06-4AD6-A628-E61FA8895B90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Master1-Layout2-obj-Title-and-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712800"/>
            <a:ext cx="10512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6200" cy="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6760" y="1604520"/>
            <a:ext cx="16200" cy="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1609560"/>
            <a:ext cx="16200" cy="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/>
          </p:nvPr>
        </p:nvSpPr>
        <p:spPr>
          <a:xfrm>
            <a:off x="626760" y="1609560"/>
            <a:ext cx="16200" cy="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E7B3B99-083F-4E9F-88B8-E3892EC5151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8080" y="712800"/>
            <a:ext cx="10512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609480" y="-2264760"/>
            <a:ext cx="33840" cy="7748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2F3A816-7C22-45C2-B16F-086296BD7E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712800"/>
            <a:ext cx="10512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3840" cy="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EFED8F1-1ACF-4946-98CB-8EA0A2225E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12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7120" y="160452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609480" y="160956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27120" y="160956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7BD47C3-426B-4692-949D-219F62C75EE4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  <p:sldLayoutId id="2147483655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12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7120" y="160452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09480" y="160956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27120" y="1609560"/>
            <a:ext cx="16200" cy="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F68636-5D58-4AE7-AE72-35160126F3D4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12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ftr" idx="19"/>
          </p:nvPr>
        </p:nvSpPr>
        <p:spPr>
          <a:xfrm>
            <a:off x="3447360" y="5165280"/>
            <a:ext cx="319032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20"/>
          </p:nvPr>
        </p:nvSpPr>
        <p:spPr>
          <a:xfrm>
            <a:off x="7227360" y="5165280"/>
            <a:ext cx="23436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00B45B-4119-4EA0-8FF6-0AE0B31F146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21"/>
          </p:nvPr>
        </p:nvSpPr>
        <p:spPr>
          <a:xfrm>
            <a:off x="504000" y="5165280"/>
            <a:ext cx="2343600" cy="38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887760"/>
            <a:ext cx="10512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3840" cy="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07960" cy="3582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6360" cy="3582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58089D-DE1D-4766-978B-3CB2C2D13F43}" type="slidenum">
              <a:rPr b="0" lang="en-US" sz="1200" strike="noStrike" u="none">
                <a:solidFill>
                  <a:srgbClr val="767676"/>
                </a:solidFill>
                <a:effectLst/>
                <a:uFillTx/>
                <a:latin typeface="Aptos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6360" cy="3582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jpe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jpe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jpe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jpe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svg"/><Relationship Id="rId4" Type="http://schemas.openxmlformats.org/officeDocument/2006/relationships/image" Target="../media/image28.png"/><Relationship Id="rId5" Type="http://schemas.openxmlformats.org/officeDocument/2006/relationships/image" Target="../media/image29.svg"/><Relationship Id="rId6" Type="http://schemas.openxmlformats.org/officeDocument/2006/relationships/image" Target="../media/image30.png"/><Relationship Id="rId7" Type="http://schemas.openxmlformats.org/officeDocument/2006/relationships/image" Target="../media/image31.svg"/><Relationship Id="rId8" Type="http://schemas.openxmlformats.org/officeDocument/2006/relationships/image" Target="../media/image32.png"/><Relationship Id="rId9" Type="http://schemas.openxmlformats.org/officeDocument/2006/relationships/image" Target="../media/image33.svg"/><Relationship Id="rId10" Type="http://schemas.openxmlformats.org/officeDocument/2006/relationships/image" Target="../media/image1.png"/><Relationship Id="rId11" Type="http://schemas.openxmlformats.org/officeDocument/2006/relationships/image" Target="../media/image6.png"/><Relationship Id="rId12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slideLayout" Target="../slideLayouts/slideLayout6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svg"/><Relationship Id="rId5" Type="http://schemas.openxmlformats.org/officeDocument/2006/relationships/image" Target="../media/image39.png"/><Relationship Id="rId6" Type="http://schemas.openxmlformats.org/officeDocument/2006/relationships/slideLayout" Target="../slideLayouts/slideLayout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6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41.png"/><Relationship Id="rId3" Type="http://schemas.openxmlformats.org/officeDocument/2006/relationships/image" Target="../media/image42.svg"/><Relationship Id="rId4" Type="http://schemas.openxmlformats.org/officeDocument/2006/relationships/image" Target="../media/image43.png"/><Relationship Id="rId5" Type="http://schemas.openxmlformats.org/officeDocument/2006/relationships/image" Target="../media/image44.sv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5.png"/><Relationship Id="rId3" Type="http://schemas.openxmlformats.org/officeDocument/2006/relationships/image" Target="../media/image41.png"/><Relationship Id="rId4" Type="http://schemas.openxmlformats.org/officeDocument/2006/relationships/image" Target="../media/image42.sv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slideLayout" Target="../slideLayouts/slideLayout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1.png"/><Relationship Id="rId6" Type="http://schemas.openxmlformats.org/officeDocument/2006/relationships/slideLayout" Target="../slideLayouts/slideLayout6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47.png"/><Relationship Id="rId3" Type="http://schemas.openxmlformats.org/officeDocument/2006/relationships/image" Target="../media/image52.jpeg"/><Relationship Id="rId4" Type="http://schemas.openxmlformats.org/officeDocument/2006/relationships/slideLayout" Target="../slideLayouts/slideLayout6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53.png"/><Relationship Id="rId3" Type="http://schemas.openxmlformats.org/officeDocument/2006/relationships/image" Target="../media/image54.svg"/><Relationship Id="rId4" Type="http://schemas.openxmlformats.org/officeDocument/2006/relationships/image" Target="../media/image55.png"/><Relationship Id="rId5" Type="http://schemas.openxmlformats.org/officeDocument/2006/relationships/image" Target="../media/image56.svg"/><Relationship Id="rId6" Type="http://schemas.openxmlformats.org/officeDocument/2006/relationships/image" Target="../media/image57.png"/><Relationship Id="rId7" Type="http://schemas.openxmlformats.org/officeDocument/2006/relationships/image" Target="../media/image58.svg"/><Relationship Id="rId8" Type="http://schemas.openxmlformats.org/officeDocument/2006/relationships/image" Target="../media/image59.png"/><Relationship Id="rId9" Type="http://schemas.openxmlformats.org/officeDocument/2006/relationships/image" Target="../media/image60.svg"/><Relationship Id="rId10" Type="http://schemas.openxmlformats.org/officeDocument/2006/relationships/image" Target="../media/image1.png"/><Relationship Id="rId11" Type="http://schemas.openxmlformats.org/officeDocument/2006/relationships/image" Target="../media/image6.png"/><Relationship Id="rId12" Type="http://schemas.openxmlformats.org/officeDocument/2006/relationships/slideLayout" Target="../slideLayouts/slideLayout5.xml"/><Relationship Id="rId1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image" Target="../media/image62.svg"/><Relationship Id="rId3" Type="http://schemas.openxmlformats.org/officeDocument/2006/relationships/image" Target="../media/image25.png"/><Relationship Id="rId4" Type="http://schemas.openxmlformats.org/officeDocument/2006/relationships/image" Target="../media/image63.png"/><Relationship Id="rId5" Type="http://schemas.openxmlformats.org/officeDocument/2006/relationships/image" Target="../media/image64.svg"/><Relationship Id="rId6" Type="http://schemas.openxmlformats.org/officeDocument/2006/relationships/image" Target="../media/image65.png"/><Relationship Id="rId7" Type="http://schemas.openxmlformats.org/officeDocument/2006/relationships/image" Target="../media/image66.svg"/><Relationship Id="rId8" Type="http://schemas.openxmlformats.org/officeDocument/2006/relationships/image" Target="../media/image67.png"/><Relationship Id="rId9" Type="http://schemas.openxmlformats.org/officeDocument/2006/relationships/image" Target="../media/image68.svg"/><Relationship Id="rId10" Type="http://schemas.openxmlformats.org/officeDocument/2006/relationships/image" Target="../media/image69.png"/><Relationship Id="rId11" Type="http://schemas.openxmlformats.org/officeDocument/2006/relationships/image" Target="../media/image70.svg"/><Relationship Id="rId12" Type="http://schemas.openxmlformats.org/officeDocument/2006/relationships/image" Target="../media/image1.png"/><Relationship Id="rId13" Type="http://schemas.openxmlformats.org/officeDocument/2006/relationships/image" Target="../media/image6.png"/><Relationship Id="rId14" Type="http://schemas.openxmlformats.org/officeDocument/2006/relationships/slideLayout" Target="../slideLayouts/slideLayout5.xml"/><Relationship Id="rId15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71.png"/><Relationship Id="rId3" Type="http://schemas.openxmlformats.org/officeDocument/2006/relationships/image" Target="../media/image72.svg"/><Relationship Id="rId4" Type="http://schemas.openxmlformats.org/officeDocument/2006/relationships/image" Target="../media/image73.png"/><Relationship Id="rId5" Type="http://schemas.openxmlformats.org/officeDocument/2006/relationships/image" Target="../media/image74.svg"/><Relationship Id="rId6" Type="http://schemas.openxmlformats.org/officeDocument/2006/relationships/image" Target="../media/image75.png"/><Relationship Id="rId7" Type="http://schemas.openxmlformats.org/officeDocument/2006/relationships/image" Target="../media/image76.svg"/><Relationship Id="rId8" Type="http://schemas.openxmlformats.org/officeDocument/2006/relationships/image" Target="../media/image77.png"/><Relationship Id="rId9" Type="http://schemas.openxmlformats.org/officeDocument/2006/relationships/image" Target="../media/image78.svg"/><Relationship Id="rId10" Type="http://schemas.openxmlformats.org/officeDocument/2006/relationships/image" Target="../media/image79.png"/><Relationship Id="rId11" Type="http://schemas.openxmlformats.org/officeDocument/2006/relationships/image" Target="../media/image80.svg"/><Relationship Id="rId12" Type="http://schemas.openxmlformats.org/officeDocument/2006/relationships/image" Target="../media/image81.png"/><Relationship Id="rId13" Type="http://schemas.openxmlformats.org/officeDocument/2006/relationships/image" Target="../media/image82.svg"/><Relationship Id="rId14" Type="http://schemas.openxmlformats.org/officeDocument/2006/relationships/image" Target="../media/image1.png"/><Relationship Id="rId15" Type="http://schemas.openxmlformats.org/officeDocument/2006/relationships/image" Target="../media/image6.png"/><Relationship Id="rId16" Type="http://schemas.openxmlformats.org/officeDocument/2006/relationships/slideLayout" Target="../slideLayouts/slideLayout5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83.png"/><Relationship Id="rId3" Type="http://schemas.openxmlformats.org/officeDocument/2006/relationships/image" Target="../media/image84.svg"/><Relationship Id="rId4" Type="http://schemas.openxmlformats.org/officeDocument/2006/relationships/image" Target="../media/image85.png"/><Relationship Id="rId5" Type="http://schemas.openxmlformats.org/officeDocument/2006/relationships/image" Target="../media/image86.svg"/><Relationship Id="rId6" Type="http://schemas.openxmlformats.org/officeDocument/2006/relationships/image" Target="../media/image87.png"/><Relationship Id="rId7" Type="http://schemas.openxmlformats.org/officeDocument/2006/relationships/image" Target="../media/image88.svg"/><Relationship Id="rId8" Type="http://schemas.openxmlformats.org/officeDocument/2006/relationships/image" Target="../media/image89.png"/><Relationship Id="rId9" Type="http://schemas.openxmlformats.org/officeDocument/2006/relationships/image" Target="../media/image90.svg"/><Relationship Id="rId10" Type="http://schemas.openxmlformats.org/officeDocument/2006/relationships/image" Target="../media/image91.png"/><Relationship Id="rId11" Type="http://schemas.openxmlformats.org/officeDocument/2006/relationships/image" Target="../media/image92.svg"/><Relationship Id="rId12" Type="http://schemas.openxmlformats.org/officeDocument/2006/relationships/image" Target="../media/image1.png"/><Relationship Id="rId13" Type="http://schemas.openxmlformats.org/officeDocument/2006/relationships/image" Target="../media/image6.png"/><Relationship Id="rId14" Type="http://schemas.openxmlformats.org/officeDocument/2006/relationships/slideLayout" Target="../slideLayouts/slideLayout5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93.png"/><Relationship Id="rId3" Type="http://schemas.openxmlformats.org/officeDocument/2006/relationships/image" Target="../media/image94.svg"/><Relationship Id="rId4" Type="http://schemas.openxmlformats.org/officeDocument/2006/relationships/image" Target="../media/image95.png"/><Relationship Id="rId5" Type="http://schemas.openxmlformats.org/officeDocument/2006/relationships/image" Target="../media/image96.svg"/><Relationship Id="rId6" Type="http://schemas.openxmlformats.org/officeDocument/2006/relationships/image" Target="../media/image97.png"/><Relationship Id="rId7" Type="http://schemas.openxmlformats.org/officeDocument/2006/relationships/image" Target="../media/image98.svg"/><Relationship Id="rId8" Type="http://schemas.openxmlformats.org/officeDocument/2006/relationships/image" Target="../media/image99.png"/><Relationship Id="rId9" Type="http://schemas.openxmlformats.org/officeDocument/2006/relationships/image" Target="../media/image100.svg"/><Relationship Id="rId10" Type="http://schemas.openxmlformats.org/officeDocument/2006/relationships/image" Target="../media/image1.png"/><Relationship Id="rId11" Type="http://schemas.openxmlformats.org/officeDocument/2006/relationships/image" Target="../media/image6.png"/><Relationship Id="rId12" Type="http://schemas.openxmlformats.org/officeDocument/2006/relationships/slideLayout" Target="../slideLayouts/slideLayout5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93.png"/><Relationship Id="rId3" Type="http://schemas.openxmlformats.org/officeDocument/2006/relationships/image" Target="../media/image94.svg"/><Relationship Id="rId4" Type="http://schemas.openxmlformats.org/officeDocument/2006/relationships/image" Target="../media/image95.png"/><Relationship Id="rId5" Type="http://schemas.openxmlformats.org/officeDocument/2006/relationships/image" Target="../media/image96.svg"/><Relationship Id="rId6" Type="http://schemas.openxmlformats.org/officeDocument/2006/relationships/image" Target="../media/image97.png"/><Relationship Id="rId7" Type="http://schemas.openxmlformats.org/officeDocument/2006/relationships/image" Target="../media/image98.svg"/><Relationship Id="rId8" Type="http://schemas.openxmlformats.org/officeDocument/2006/relationships/image" Target="../media/image99.png"/><Relationship Id="rId9" Type="http://schemas.openxmlformats.org/officeDocument/2006/relationships/image" Target="../media/image100.svg"/><Relationship Id="rId10" Type="http://schemas.openxmlformats.org/officeDocument/2006/relationships/image" Target="../media/image1.png"/><Relationship Id="rId11" Type="http://schemas.openxmlformats.org/officeDocument/2006/relationships/image" Target="../media/image6.png"/><Relationship Id="rId12" Type="http://schemas.openxmlformats.org/officeDocument/2006/relationships/slideLayout" Target="../slideLayouts/slideLayout5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01.png"/><Relationship Id="rId2" Type="http://schemas.openxmlformats.org/officeDocument/2006/relationships/image" Target="../media/image101.png"/><Relationship Id="rId3" Type="http://schemas.openxmlformats.org/officeDocument/2006/relationships/image" Target="../media/image93.png"/><Relationship Id="rId4" Type="http://schemas.openxmlformats.org/officeDocument/2006/relationships/image" Target="../media/image94.sv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5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02.png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5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02.png"/><Relationship Id="rId2" Type="http://schemas.openxmlformats.org/officeDocument/2006/relationships/image" Target="../media/image1.png"/><Relationship Id="rId3" Type="http://schemas.openxmlformats.org/officeDocument/2006/relationships/image" Target="../media/image103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5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02.png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5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06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107.png"/><Relationship Id="rId2" Type="http://schemas.openxmlformats.org/officeDocument/2006/relationships/image" Target="../media/image108.png"/><Relationship Id="rId3" Type="http://schemas.openxmlformats.org/officeDocument/2006/relationships/image" Target="../media/image109.svg"/><Relationship Id="rId4" Type="http://schemas.openxmlformats.org/officeDocument/2006/relationships/image" Target="../media/image110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slideLayout" Target="../slideLayouts/slideLayout5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111.png"/><Relationship Id="rId3" Type="http://schemas.openxmlformats.org/officeDocument/2006/relationships/image" Target="../media/image112.svg"/><Relationship Id="rId4" Type="http://schemas.openxmlformats.org/officeDocument/2006/relationships/image" Target="../media/image113.png"/><Relationship Id="rId5" Type="http://schemas.openxmlformats.org/officeDocument/2006/relationships/image" Target="../media/image114.svg"/><Relationship Id="rId6" Type="http://schemas.openxmlformats.org/officeDocument/2006/relationships/image" Target="../media/image115.png"/><Relationship Id="rId7" Type="http://schemas.openxmlformats.org/officeDocument/2006/relationships/image" Target="../media/image116.svg"/><Relationship Id="rId8" Type="http://schemas.openxmlformats.org/officeDocument/2006/relationships/image" Target="../media/image117.png"/><Relationship Id="rId9" Type="http://schemas.openxmlformats.org/officeDocument/2006/relationships/image" Target="../media/image118.svg"/><Relationship Id="rId10" Type="http://schemas.openxmlformats.org/officeDocument/2006/relationships/image" Target="../media/image1.png"/><Relationship Id="rId11" Type="http://schemas.openxmlformats.org/officeDocument/2006/relationships/image" Target="../media/image6.png"/><Relationship Id="rId12" Type="http://schemas.openxmlformats.org/officeDocument/2006/relationships/slideLayout" Target="../slideLayouts/slideLayout5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119.png"/><Relationship Id="rId3" Type="http://schemas.openxmlformats.org/officeDocument/2006/relationships/image" Target="../media/image120.svg"/><Relationship Id="rId4" Type="http://schemas.openxmlformats.org/officeDocument/2006/relationships/image" Target="../media/image121.png"/><Relationship Id="rId5" Type="http://schemas.openxmlformats.org/officeDocument/2006/relationships/image" Target="../media/image122.sv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5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123.png"/><Relationship Id="rId3" Type="http://schemas.openxmlformats.org/officeDocument/2006/relationships/image" Target="../media/image124.svg"/><Relationship Id="rId4" Type="http://schemas.openxmlformats.org/officeDocument/2006/relationships/image" Target="../media/image125.png"/><Relationship Id="rId5" Type="http://schemas.openxmlformats.org/officeDocument/2006/relationships/image" Target="../media/image126.svg"/><Relationship Id="rId6" Type="http://schemas.openxmlformats.org/officeDocument/2006/relationships/image" Target="../media/image127.png"/><Relationship Id="rId7" Type="http://schemas.openxmlformats.org/officeDocument/2006/relationships/image" Target="../media/image128.svg"/><Relationship Id="rId8" Type="http://schemas.openxmlformats.org/officeDocument/2006/relationships/image" Target="../media/image127.png"/><Relationship Id="rId9" Type="http://schemas.openxmlformats.org/officeDocument/2006/relationships/image" Target="../media/image128.svg"/><Relationship Id="rId10" Type="http://schemas.openxmlformats.org/officeDocument/2006/relationships/image" Target="../media/image1.png"/><Relationship Id="rId11" Type="http://schemas.openxmlformats.org/officeDocument/2006/relationships/image" Target="../media/image6.png"/><Relationship Id="rId12" Type="http://schemas.openxmlformats.org/officeDocument/2006/relationships/slideLayout" Target="../slideLayouts/slideLayout5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9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slideLayout" Target="../slideLayouts/slideLayout5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132.png"/><Relationship Id="rId2" Type="http://schemas.openxmlformats.org/officeDocument/2006/relationships/image" Target="../media/image129.png"/><Relationship Id="rId3" Type="http://schemas.openxmlformats.org/officeDocument/2006/relationships/image" Target="../media/image133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5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134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5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136.png"/><Relationship Id="rId4" Type="http://schemas.openxmlformats.org/officeDocument/2006/relationships/image" Target="../media/image137.png"/><Relationship Id="rId5" Type="http://schemas.openxmlformats.org/officeDocument/2006/relationships/slideLayout" Target="../slideLayouts/slideLayout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8.png"/><Relationship Id="rId3" Type="http://schemas.openxmlformats.org/officeDocument/2006/relationships/image" Target="../media/image139.png"/><Relationship Id="rId4" Type="http://schemas.openxmlformats.org/officeDocument/2006/relationships/image" Target="../media/image140.png"/><Relationship Id="rId5" Type="http://schemas.openxmlformats.org/officeDocument/2006/relationships/image" Target="../media/image141.png"/><Relationship Id="rId6" Type="http://schemas.openxmlformats.org/officeDocument/2006/relationships/image" Target="../media/image142.sv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6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43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144.png"/><Relationship Id="rId2" Type="http://schemas.openxmlformats.org/officeDocument/2006/relationships/image" Target="../media/image145.png"/><Relationship Id="rId3" Type="http://schemas.openxmlformats.org/officeDocument/2006/relationships/image" Target="../media/image146.png"/><Relationship Id="rId4" Type="http://schemas.openxmlformats.org/officeDocument/2006/relationships/image" Target="../media/image147.png"/><Relationship Id="rId5" Type="http://schemas.openxmlformats.org/officeDocument/2006/relationships/image" Target="../media/image148.svg"/><Relationship Id="rId6" Type="http://schemas.openxmlformats.org/officeDocument/2006/relationships/image" Target="../media/image149.png"/><Relationship Id="rId7" Type="http://schemas.openxmlformats.org/officeDocument/2006/relationships/image" Target="../media/image150.svg"/><Relationship Id="rId8" Type="http://schemas.openxmlformats.org/officeDocument/2006/relationships/image" Target="../media/image151.png"/><Relationship Id="rId9" Type="http://schemas.openxmlformats.org/officeDocument/2006/relationships/image" Target="../media/image152.svg"/><Relationship Id="rId10" Type="http://schemas.openxmlformats.org/officeDocument/2006/relationships/image" Target="../media/image153.jpeg"/><Relationship Id="rId11" Type="http://schemas.openxmlformats.org/officeDocument/2006/relationships/image" Target="../media/image2.png"/><Relationship Id="rId12" Type="http://schemas.openxmlformats.org/officeDocument/2006/relationships/image" Target="../media/image3.png"/><Relationship Id="rId13" Type="http://schemas.openxmlformats.org/officeDocument/2006/relationships/image" Target="../media/image154.png"/><Relationship Id="rId14" Type="http://schemas.openxmlformats.org/officeDocument/2006/relationships/slideLayout" Target="../slideLayouts/slideLayout6.xml"/><Relationship Id="rId15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140.png"/><Relationship Id="rId2" Type="http://schemas.openxmlformats.org/officeDocument/2006/relationships/image" Target="../media/image107.png"/><Relationship Id="rId3" Type="http://schemas.openxmlformats.org/officeDocument/2006/relationships/image" Target="../media/image35.png"/><Relationship Id="rId4" Type="http://schemas.openxmlformats.org/officeDocument/2006/relationships/image" Target="../media/image155.png"/><Relationship Id="rId5" Type="http://schemas.openxmlformats.org/officeDocument/2006/relationships/image" Target="../media/image156.png"/><Relationship Id="rId6" Type="http://schemas.openxmlformats.org/officeDocument/2006/relationships/image" Target="../media/image140.png"/><Relationship Id="rId7" Type="http://schemas.openxmlformats.org/officeDocument/2006/relationships/image" Target="../media/image108.png"/><Relationship Id="rId8" Type="http://schemas.openxmlformats.org/officeDocument/2006/relationships/image" Target="../media/image109.svg"/><Relationship Id="rId9" Type="http://schemas.openxmlformats.org/officeDocument/2006/relationships/image" Target="../media/image157.png"/><Relationship Id="rId10" Type="http://schemas.openxmlformats.org/officeDocument/2006/relationships/image" Target="../media/image158.svg"/><Relationship Id="rId11" Type="http://schemas.openxmlformats.org/officeDocument/2006/relationships/image" Target="../media/image159.png"/><Relationship Id="rId12" Type="http://schemas.openxmlformats.org/officeDocument/2006/relationships/image" Target="../media/image160.svg"/><Relationship Id="rId13" Type="http://schemas.openxmlformats.org/officeDocument/2006/relationships/image" Target="../media/image37.png"/><Relationship Id="rId14" Type="http://schemas.openxmlformats.org/officeDocument/2006/relationships/image" Target="../media/image38.svg"/><Relationship Id="rId15" Type="http://schemas.openxmlformats.org/officeDocument/2006/relationships/image" Target="../media/image161.png"/><Relationship Id="rId16" Type="http://schemas.openxmlformats.org/officeDocument/2006/relationships/image" Target="../media/image162.svg"/><Relationship Id="rId17" Type="http://schemas.openxmlformats.org/officeDocument/2006/relationships/image" Target="../media/image141.png"/><Relationship Id="rId18" Type="http://schemas.openxmlformats.org/officeDocument/2006/relationships/image" Target="../media/image142.svg"/><Relationship Id="rId19" Type="http://schemas.openxmlformats.org/officeDocument/2006/relationships/image" Target="../media/image6.png"/><Relationship Id="rId20" Type="http://schemas.openxmlformats.org/officeDocument/2006/relationships/image" Target="../media/image1.png"/><Relationship Id="rId2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164600" y="1848600"/>
            <a:ext cx="1051236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fontScale="92500" lnSpcReduction="19999"/>
          </a:bodyPr>
          <a:p>
            <a:pPr indent="0" algn="ctr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en-US" sz="3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 semi-supervised pipeline for a comprehensive and scalable analysis of immune heterogeneity in human samples</a:t>
            </a:r>
            <a:br>
              <a:rPr sz="3100"/>
            </a:br>
            <a:endParaRPr b="0" lang="en-US" sz="3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914760" y="2977200"/>
            <a:ext cx="10512360" cy="41061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t" anchorCtr="1">
            <a:normAutofit/>
          </a:bodyPr>
          <a:p>
            <a:pPr marL="432000" indent="0" algn="ctr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David Rach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Nginache Nampota-Nkomba, Godfrey Mvula, Felix A. Mkandawire, Osward M. Nyirenda, Winter A. Okoth,  Daniela Franco, Andrea G. Buchwald, Franklin R. Toapanta, Marcelo B. Sztein, Miriam K. Laufer,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Kirsten E. Lyke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</a:t>
            </a: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Cristiana Cairo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University of Maryland School of Medicine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ctr" defTabSz="914400">
              <a:lnSpc>
                <a:spcPct val="100000"/>
              </a:lnSpc>
              <a:spcBef>
                <a:spcPts val="1701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oto Sans CJK SC"/>
              </a:rPr>
              <a:t>September 29, 2026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Picture 46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Box 2"/>
          <p:cNvSpPr/>
          <p:nvPr/>
        </p:nvSpPr>
        <p:spPr>
          <a:xfrm>
            <a:off x="122760" y="6332400"/>
            <a:ext cx="2104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Slides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Picture 5" descr=""/>
          <p:cNvPicPr/>
          <p:nvPr/>
        </p:nvPicPr>
        <p:blipFill>
          <a:blip r:embed="rId2"/>
          <a:stretch/>
        </p:blipFill>
        <p:spPr>
          <a:xfrm>
            <a:off x="329760" y="215280"/>
            <a:ext cx="4039200" cy="105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8" descr=""/>
          <p:cNvPicPr/>
          <p:nvPr/>
        </p:nvPicPr>
        <p:blipFill>
          <a:blip r:embed="rId3"/>
          <a:stretch/>
        </p:blipFill>
        <p:spPr>
          <a:xfrm>
            <a:off x="9073800" y="156240"/>
            <a:ext cx="2854800" cy="107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" descr=""/>
          <p:cNvPicPr/>
          <p:nvPr/>
        </p:nvPicPr>
        <p:blipFill>
          <a:blip r:embed="rId4"/>
          <a:stretch/>
        </p:blipFill>
        <p:spPr>
          <a:xfrm>
            <a:off x="541800" y="4632840"/>
            <a:ext cx="1561320" cy="153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686160" y="1052640"/>
            <a:ext cx="5253840" cy="1458360"/>
          </a:xfrm>
          <a:prstGeom prst="rect">
            <a:avLst/>
          </a:prstGeom>
          <a:solidFill>
            <a:srgbClr val="ffb66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09320" cy="6350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Flow Cytometry is amazing!!!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12" descr=""/>
          <p:cNvPicPr/>
          <p:nvPr/>
        </p:nvPicPr>
        <p:blipFill>
          <a:blip r:embed="rId1"/>
          <a:stretch/>
        </p:blipFill>
        <p:spPr>
          <a:xfrm>
            <a:off x="6095880" y="1037880"/>
            <a:ext cx="5497200" cy="444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Picture 14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832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686160" y="2660400"/>
            <a:ext cx="5253840" cy="1596600"/>
          </a:xfrm>
          <a:prstGeom prst="rect">
            <a:avLst/>
          </a:prstGeom>
          <a:solidFill>
            <a:srgbClr val="729fc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8" name="Rectangle 7"/>
          <p:cNvSpPr/>
          <p:nvPr/>
        </p:nvSpPr>
        <p:spPr>
          <a:xfrm>
            <a:off x="748800" y="1052640"/>
            <a:ext cx="5191200" cy="20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Capable of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resolving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remarkably similar fluorophores →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increased number of markers per panel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compared to conventional flow cytometry (CFC)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11"/>
          <p:cNvSpPr/>
          <p:nvPr/>
        </p:nvSpPr>
        <p:spPr>
          <a:xfrm>
            <a:off x="748800" y="2707200"/>
            <a:ext cx="5191200" cy="16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Allows for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rapid acquisition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of millions of events in a few minutes → typically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greater number of acquired cells per sample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compared to mass cytometry (MC)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12"/>
          <p:cNvSpPr/>
          <p:nvPr/>
        </p:nvSpPr>
        <p:spPr>
          <a:xfrm>
            <a:off x="685800" y="4440600"/>
            <a:ext cx="51912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Flow Cytometry (SFC) datasets have an unique combination of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width and depth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compared to preceding technologies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85800" y="4397760"/>
            <a:ext cx="5254200" cy="1085040"/>
          </a:xfrm>
          <a:prstGeom prst="rect">
            <a:avLst/>
          </a:prstGeom>
          <a:solidFill>
            <a:srgbClr val="77bc6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2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Spectral Flow Cytometry is amazing!!!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Picture 42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"/>
          <p:cNvSpPr/>
          <p:nvPr/>
        </p:nvSpPr>
        <p:spPr>
          <a:xfrm>
            <a:off x="6629400" y="1198800"/>
            <a:ext cx="5028480" cy="1230480"/>
          </a:xfrm>
          <a:prstGeom prst="rect">
            <a:avLst/>
          </a:prstGeom>
          <a:solidFill>
            <a:srgbClr val="729fc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6" name=""/>
          <p:cNvSpPr/>
          <p:nvPr/>
        </p:nvSpPr>
        <p:spPr>
          <a:xfrm>
            <a:off x="6629400" y="3837600"/>
            <a:ext cx="5025600" cy="833040"/>
          </a:xfrm>
          <a:prstGeom prst="rect">
            <a:avLst/>
          </a:prstGeom>
          <a:solidFill>
            <a:srgbClr val="77bc6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7" name=""/>
          <p:cNvSpPr/>
          <p:nvPr/>
        </p:nvSpPr>
        <p:spPr>
          <a:xfrm>
            <a:off x="6629400" y="3895200"/>
            <a:ext cx="525420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Expand our knowledge about immune system heterogeneity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6629400" y="1234800"/>
            <a:ext cx="5025600" cy="23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Able to efficiently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acquire greater number of cells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more thorough profiling of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rare cell subsets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Build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one panel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evaluate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multiple cell types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invaluable for studies with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limited biospecimen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26520" y="2498400"/>
            <a:ext cx="5028480" cy="1230480"/>
          </a:xfrm>
          <a:prstGeom prst="rect">
            <a:avLst/>
          </a:prstGeom>
          <a:solidFill>
            <a:srgbClr val="ff972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2"/>
          <a:stretch/>
        </p:blipFill>
        <p:spPr>
          <a:xfrm>
            <a:off x="914400" y="1143000"/>
            <a:ext cx="5028120" cy="3770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903960" y="3466080"/>
            <a:ext cx="5036400" cy="1453680"/>
          </a:xfrm>
          <a:prstGeom prst="rect">
            <a:avLst/>
          </a:prstGeom>
          <a:solidFill>
            <a:srgbClr val="780373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3" name=""/>
          <p:cNvSpPr/>
          <p:nvPr/>
        </p:nvSpPr>
        <p:spPr>
          <a:xfrm>
            <a:off x="909360" y="1603080"/>
            <a:ext cx="5024520" cy="1368000"/>
          </a:xfrm>
          <a:prstGeom prst="rect">
            <a:avLst/>
          </a:prstGeom>
          <a:solidFill>
            <a:srgbClr val="ffd8ce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640" cy="13186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Trade-off: Increasing analytical complexity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3"/>
          <p:cNvSpPr/>
          <p:nvPr/>
        </p:nvSpPr>
        <p:spPr>
          <a:xfrm>
            <a:off x="909360" y="1603080"/>
            <a:ext cx="487044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you are only interested in a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single population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of cells → analysis process remains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essentially unchanged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(manual gating with a few more gates)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13"/>
          <p:cNvSpPr/>
          <p:nvPr/>
        </p:nvSpPr>
        <p:spPr>
          <a:xfrm>
            <a:off x="970560" y="3514680"/>
            <a:ext cx="49698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your goal is to characterize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cell populations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that may be present →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breadth and depth of the datasets complicate the analysis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15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8320" cy="39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17" descr=""/>
          <p:cNvPicPr/>
          <p:nvPr/>
        </p:nvPicPr>
        <p:blipFill>
          <a:blip r:embed="rId2"/>
          <a:stretch/>
        </p:blipFill>
        <p:spPr>
          <a:xfrm>
            <a:off x="6400800" y="1371600"/>
            <a:ext cx="3882960" cy="410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5486400" y="4114800"/>
            <a:ext cx="5940360" cy="136836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640" cy="13186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Complex Datasets: Combinatorially Exponential Clusters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Picture 18" descr=""/>
          <p:cNvPicPr/>
          <p:nvPr/>
        </p:nvPicPr>
        <p:blipFill>
          <a:blip r:embed="rId1"/>
          <a:stretch/>
        </p:blipFill>
        <p:spPr>
          <a:xfrm>
            <a:off x="457200" y="1175400"/>
            <a:ext cx="5022360" cy="446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Rectangle 16"/>
          <p:cNvSpPr/>
          <p:nvPr/>
        </p:nvSpPr>
        <p:spPr>
          <a:xfrm>
            <a:off x="5403600" y="3154680"/>
            <a:ext cx="557208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And at the end, we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grouped cells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that only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expressed the same markers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17"/>
          <p:cNvSpPr/>
          <p:nvPr/>
        </p:nvSpPr>
        <p:spPr>
          <a:xfrm>
            <a:off x="5482800" y="4114800"/>
            <a:ext cx="596808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5" name="Rectangle 18"/>
          <p:cNvSpPr/>
          <p:nvPr/>
        </p:nvSpPr>
        <p:spPr>
          <a:xfrm>
            <a:off x="5486400" y="4572000"/>
            <a:ext cx="5940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marL="216000" indent="-21600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“Groups” per panel = 2</a:t>
            </a:r>
            <a:r>
              <a:rPr b="0" lang="en-US" sz="2400" strike="noStrike" u="none" baseline="33000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Number of Fluorophores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Picture 21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832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"/>
          <p:cNvSpPr/>
          <p:nvPr/>
        </p:nvSpPr>
        <p:spPr>
          <a:xfrm>
            <a:off x="5481720" y="1403640"/>
            <a:ext cx="5862240" cy="2502720"/>
          </a:xfrm>
          <a:prstGeom prst="rect">
            <a:avLst/>
          </a:prstGeom>
          <a:solidFill>
            <a:srgbClr val="ffb66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8" name="Rectangle 19"/>
          <p:cNvSpPr/>
          <p:nvPr/>
        </p:nvSpPr>
        <p:spPr>
          <a:xfrm>
            <a:off x="5403600" y="1325880"/>
            <a:ext cx="571176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If for a given marker in your panel, you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split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the cells into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positive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and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negative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populations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30"/>
          <p:cNvSpPr/>
          <p:nvPr/>
        </p:nvSpPr>
        <p:spPr>
          <a:xfrm>
            <a:off x="5403600" y="2240280"/>
            <a:ext cx="594036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And this splitting process was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repeated for every marker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in your panel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31"/>
          <p:cNvSpPr/>
          <p:nvPr/>
        </p:nvSpPr>
        <p:spPr>
          <a:xfrm>
            <a:off x="5486400" y="5029200"/>
            <a:ext cx="617256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>
            <a:off x="5486400" y="4114800"/>
            <a:ext cx="5940360" cy="136836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640" cy="13186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Complex Datasets: Combinatorially Exponential Clusters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Picture 23" descr=""/>
          <p:cNvPicPr/>
          <p:nvPr/>
        </p:nvPicPr>
        <p:blipFill>
          <a:blip r:embed="rId1"/>
          <a:stretch/>
        </p:blipFill>
        <p:spPr>
          <a:xfrm>
            <a:off x="457200" y="1175400"/>
            <a:ext cx="5022360" cy="446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Rectangle 2"/>
          <p:cNvSpPr/>
          <p:nvPr/>
        </p:nvSpPr>
        <p:spPr>
          <a:xfrm>
            <a:off x="5403600" y="3154680"/>
            <a:ext cx="557208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And at the end, we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grouped cells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that only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expressed the same markers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32"/>
          <p:cNvSpPr/>
          <p:nvPr/>
        </p:nvSpPr>
        <p:spPr>
          <a:xfrm>
            <a:off x="5482800" y="4114800"/>
            <a:ext cx="59680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9-color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512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at most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33"/>
          <p:cNvSpPr/>
          <p:nvPr/>
        </p:nvSpPr>
        <p:spPr>
          <a:xfrm>
            <a:off x="5482800" y="4572000"/>
            <a:ext cx="6172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40-color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1.1e+12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trillion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Picture 26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832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5481720" y="1403640"/>
            <a:ext cx="5862240" cy="2502720"/>
          </a:xfrm>
          <a:prstGeom prst="rect">
            <a:avLst/>
          </a:prstGeom>
          <a:solidFill>
            <a:srgbClr val="ffb66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0" name="Rectangle 34"/>
          <p:cNvSpPr/>
          <p:nvPr/>
        </p:nvSpPr>
        <p:spPr>
          <a:xfrm>
            <a:off x="5403600" y="1325880"/>
            <a:ext cx="571176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If for a given marker in your panel, you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split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the cells into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positive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and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negative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populations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35"/>
          <p:cNvSpPr/>
          <p:nvPr/>
        </p:nvSpPr>
        <p:spPr>
          <a:xfrm>
            <a:off x="5403600" y="2240280"/>
            <a:ext cx="5940360" cy="766440"/>
          </a:xfrm>
          <a:prstGeom prst="rect">
            <a:avLst/>
          </a:prstGeom>
          <a:noFill/>
          <a:ln w="36720">
            <a:noFill/>
          </a:ln>
        </p:spPr>
        <p:style>
          <a:lnRef idx="0"/>
          <a:fillRef idx="0"/>
          <a:effectRef idx="0"/>
          <a:fontRef idx="minor"/>
        </p:style>
        <p:txBody>
          <a:bodyPr lIns="108360" rIns="108360" tIns="63360" bIns="6336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And this splitting process was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repeated for every marker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in your panel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36"/>
          <p:cNvSpPr/>
          <p:nvPr/>
        </p:nvSpPr>
        <p:spPr>
          <a:xfrm>
            <a:off x="5486400" y="5029200"/>
            <a:ext cx="6172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457200" y="2784600"/>
            <a:ext cx="5940360" cy="160236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36000" y="33480"/>
            <a:ext cx="12185640" cy="651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even is a quintillion?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37"/>
          <p:cNvSpPr/>
          <p:nvPr/>
        </p:nvSpPr>
        <p:spPr>
          <a:xfrm>
            <a:off x="457200" y="2738520"/>
            <a:ext cx="59680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 gate, every 10 seconds → 6 groups/minute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Picture 29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832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Rectangle 38"/>
          <p:cNvSpPr/>
          <p:nvPr/>
        </p:nvSpPr>
        <p:spPr>
          <a:xfrm>
            <a:off x="453600" y="1945800"/>
            <a:ext cx="6172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39"/>
          <p:cNvSpPr/>
          <p:nvPr/>
        </p:nvSpPr>
        <p:spPr>
          <a:xfrm>
            <a:off x="457200" y="3134520"/>
            <a:ext cx="59680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 minutes in an hour → 360 groups/hour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40"/>
          <p:cNvSpPr/>
          <p:nvPr/>
        </p:nvSpPr>
        <p:spPr>
          <a:xfrm>
            <a:off x="457200" y="3530520"/>
            <a:ext cx="59680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Awake 16 hours a day → 5760 groups/day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ectangle 41"/>
          <p:cNvSpPr/>
          <p:nvPr/>
        </p:nvSpPr>
        <p:spPr>
          <a:xfrm>
            <a:off x="457200" y="3962520"/>
            <a:ext cx="6168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457200" y="1899000"/>
            <a:ext cx="5940360" cy="45396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2"/>
          <a:stretch/>
        </p:blipFill>
        <p:spPr>
          <a:xfrm>
            <a:off x="6567120" y="1545840"/>
            <a:ext cx="5545440" cy="302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9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PlaceHolder 12"/>
          <p:cNvSpPr/>
          <p:nvPr/>
        </p:nvSpPr>
        <p:spPr>
          <a:xfrm>
            <a:off x="1900800" y="808200"/>
            <a:ext cx="8914680" cy="109008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I were to manually check for every combination...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"/>
          <p:cNvSpPr/>
          <p:nvPr/>
        </p:nvSpPr>
        <p:spPr>
          <a:xfrm>
            <a:off x="457200" y="2784600"/>
            <a:ext cx="5940360" cy="160236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36000" y="33480"/>
            <a:ext cx="12185640" cy="6516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even is a quintillion?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45"/>
          <p:cNvSpPr/>
          <p:nvPr/>
        </p:nvSpPr>
        <p:spPr>
          <a:xfrm>
            <a:off x="457200" y="2738520"/>
            <a:ext cx="59680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 gate, every 10 seconds → 6 groups/minute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Picture 3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832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Rectangle 53"/>
          <p:cNvSpPr/>
          <p:nvPr/>
        </p:nvSpPr>
        <p:spPr>
          <a:xfrm>
            <a:off x="453600" y="1945800"/>
            <a:ext cx="6172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54"/>
          <p:cNvSpPr/>
          <p:nvPr/>
        </p:nvSpPr>
        <p:spPr>
          <a:xfrm>
            <a:off x="457200" y="3134520"/>
            <a:ext cx="59680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 minutes in an hour → 360 groups/hour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55"/>
          <p:cNvSpPr/>
          <p:nvPr/>
        </p:nvSpPr>
        <p:spPr>
          <a:xfrm>
            <a:off x="457200" y="3530520"/>
            <a:ext cx="59680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Awake 16 hours a day → 5760 groups/day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56"/>
          <p:cNvSpPr/>
          <p:nvPr/>
        </p:nvSpPr>
        <p:spPr>
          <a:xfrm>
            <a:off x="457200" y="3962520"/>
            <a:ext cx="6168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457200" y="1899000"/>
            <a:ext cx="5940360" cy="45396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2"/>
          <a:stretch/>
        </p:blipFill>
        <p:spPr>
          <a:xfrm>
            <a:off x="6567120" y="1545840"/>
            <a:ext cx="5545440" cy="3022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9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PlaceHolder 14"/>
          <p:cNvSpPr/>
          <p:nvPr/>
        </p:nvSpPr>
        <p:spPr>
          <a:xfrm>
            <a:off x="1900800" y="808200"/>
            <a:ext cx="8914680" cy="109008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If I were to manually check for every combination...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1910520" y="4601520"/>
            <a:ext cx="288936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….Not even close….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>
            <a:off x="5490000" y="2056680"/>
            <a:ext cx="5936760" cy="116856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640" cy="13186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1" name="Picture 30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832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Rectangle 43"/>
          <p:cNvSpPr/>
          <p:nvPr/>
        </p:nvSpPr>
        <p:spPr>
          <a:xfrm>
            <a:off x="5486400" y="1371600"/>
            <a:ext cx="6172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44"/>
          <p:cNvSpPr/>
          <p:nvPr/>
        </p:nvSpPr>
        <p:spPr>
          <a:xfrm>
            <a:off x="5490000" y="2046600"/>
            <a:ext cx="6168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5486400" y="1371600"/>
            <a:ext cx="5940360" cy="45396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2"/>
          <a:stretch/>
        </p:blipFill>
        <p:spPr>
          <a:xfrm>
            <a:off x="457200" y="1371600"/>
            <a:ext cx="4873320" cy="265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Rectangle 46"/>
          <p:cNvSpPr/>
          <p:nvPr/>
        </p:nvSpPr>
        <p:spPr>
          <a:xfrm>
            <a:off x="5490000" y="2406600"/>
            <a:ext cx="6168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Invent a time-machine, become immortal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47"/>
          <p:cNvSpPr/>
          <p:nvPr/>
        </p:nvSpPr>
        <p:spPr>
          <a:xfrm>
            <a:off x="5490000" y="2730600"/>
            <a:ext cx="6168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13.8 billion years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2.9e+16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groups/reality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9"/>
          <p:cNvSpPr/>
          <p:nvPr/>
        </p:nvSpPr>
        <p:spPr>
          <a:xfrm>
            <a:off x="0" y="-182520"/>
            <a:ext cx="12185640" cy="131868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Continuously since the Big Bang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>
            <a:off x="5490000" y="2056680"/>
            <a:ext cx="5936760" cy="116856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640" cy="13186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Picture 27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832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Rectangle 62"/>
          <p:cNvSpPr/>
          <p:nvPr/>
        </p:nvSpPr>
        <p:spPr>
          <a:xfrm>
            <a:off x="5486400" y="1371600"/>
            <a:ext cx="6172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63"/>
          <p:cNvSpPr/>
          <p:nvPr/>
        </p:nvSpPr>
        <p:spPr>
          <a:xfrm>
            <a:off x="5490000" y="2046600"/>
            <a:ext cx="6168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5486400" y="1371600"/>
            <a:ext cx="5940360" cy="45396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76" name="" descr=""/>
          <p:cNvPicPr/>
          <p:nvPr/>
        </p:nvPicPr>
        <p:blipFill>
          <a:blip r:embed="rId2"/>
          <a:stretch/>
        </p:blipFill>
        <p:spPr>
          <a:xfrm>
            <a:off x="457200" y="1371600"/>
            <a:ext cx="4873320" cy="265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Rectangle 64"/>
          <p:cNvSpPr/>
          <p:nvPr/>
        </p:nvSpPr>
        <p:spPr>
          <a:xfrm>
            <a:off x="5490000" y="2406600"/>
            <a:ext cx="6168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Invent a time-machine, become immortal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65"/>
          <p:cNvSpPr/>
          <p:nvPr/>
        </p:nvSpPr>
        <p:spPr>
          <a:xfrm>
            <a:off x="5490000" y="2730600"/>
            <a:ext cx="6168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13.8 billion years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2.9e+16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groups/reality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4"/>
          <p:cNvSpPr/>
          <p:nvPr/>
        </p:nvSpPr>
        <p:spPr>
          <a:xfrm>
            <a:off x="0" y="-182520"/>
            <a:ext cx="12185640" cy="131868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Continuously since the Big Bang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9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"/>
          <p:cNvSpPr/>
          <p:nvPr/>
        </p:nvSpPr>
        <p:spPr>
          <a:xfrm>
            <a:off x="5486400" y="3429000"/>
            <a:ext cx="594288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….Still not enough….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457200" y="1371600"/>
            <a:ext cx="4875480" cy="265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"/>
          <p:cNvSpPr/>
          <p:nvPr/>
        </p:nvSpPr>
        <p:spPr>
          <a:xfrm>
            <a:off x="5490000" y="3578760"/>
            <a:ext cx="5936760" cy="1436400"/>
          </a:xfrm>
          <a:prstGeom prst="rect">
            <a:avLst/>
          </a:prstGeom>
          <a:solidFill>
            <a:srgbClr val="ffd7d7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4" name=""/>
          <p:cNvSpPr/>
          <p:nvPr/>
        </p:nvSpPr>
        <p:spPr>
          <a:xfrm>
            <a:off x="5490000" y="2056680"/>
            <a:ext cx="5936760" cy="116856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640" cy="13186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Picture 32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832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Rectangle 42"/>
          <p:cNvSpPr/>
          <p:nvPr/>
        </p:nvSpPr>
        <p:spPr>
          <a:xfrm>
            <a:off x="5486400" y="1371600"/>
            <a:ext cx="6172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48"/>
          <p:cNvSpPr/>
          <p:nvPr/>
        </p:nvSpPr>
        <p:spPr>
          <a:xfrm>
            <a:off x="5490000" y="2046600"/>
            <a:ext cx="6168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49"/>
          <p:cNvSpPr/>
          <p:nvPr/>
        </p:nvSpPr>
        <p:spPr>
          <a:xfrm>
            <a:off x="5490000" y="3578760"/>
            <a:ext cx="594036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So we need ~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50 immortal researchers working continuously since the Big Bang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just to check all group combinations for a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single 60-fluorophore panel .fcs file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5486400" y="1371600"/>
            <a:ext cx="5940360" cy="45396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1" name="Rectangle 51"/>
          <p:cNvSpPr/>
          <p:nvPr/>
        </p:nvSpPr>
        <p:spPr>
          <a:xfrm>
            <a:off x="5490000" y="2406600"/>
            <a:ext cx="6168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Invent a time-machine, become immortal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52"/>
          <p:cNvSpPr/>
          <p:nvPr/>
        </p:nvSpPr>
        <p:spPr>
          <a:xfrm>
            <a:off x="5490000" y="2730600"/>
            <a:ext cx="6168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13.8 billion years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2.9e+16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groups/reality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11"/>
          <p:cNvSpPr/>
          <p:nvPr/>
        </p:nvSpPr>
        <p:spPr>
          <a:xfrm>
            <a:off x="0" y="-182520"/>
            <a:ext cx="12185640" cy="131868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Continuously since the Big Bang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" descr=""/>
          <p:cNvPicPr/>
          <p:nvPr/>
        </p:nvPicPr>
        <p:blipFill>
          <a:blip r:embed="rId1"/>
          <a:stretch/>
        </p:blipFill>
        <p:spPr>
          <a:xfrm>
            <a:off x="457200" y="1371600"/>
            <a:ext cx="4875480" cy="265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"/>
          <p:cNvSpPr/>
          <p:nvPr/>
        </p:nvSpPr>
        <p:spPr>
          <a:xfrm>
            <a:off x="5490000" y="3578760"/>
            <a:ext cx="5936760" cy="1436400"/>
          </a:xfrm>
          <a:prstGeom prst="rect">
            <a:avLst/>
          </a:prstGeom>
          <a:solidFill>
            <a:srgbClr val="ffd7d7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7" name=""/>
          <p:cNvSpPr/>
          <p:nvPr/>
        </p:nvSpPr>
        <p:spPr>
          <a:xfrm>
            <a:off x="5490000" y="2056680"/>
            <a:ext cx="5936760" cy="1168560"/>
          </a:xfrm>
          <a:prstGeom prst="rect">
            <a:avLst/>
          </a:prstGeom>
          <a:solidFill>
            <a:srgbClr val="3faf46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5640" cy="13186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9" name="Picture 34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8320" cy="3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Rectangle 57"/>
          <p:cNvSpPr/>
          <p:nvPr/>
        </p:nvSpPr>
        <p:spPr>
          <a:xfrm>
            <a:off x="5486400" y="1371600"/>
            <a:ext cx="61725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60-color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SFC panel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1.2e+18 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 (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quintillion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)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58"/>
          <p:cNvSpPr/>
          <p:nvPr/>
        </p:nvSpPr>
        <p:spPr>
          <a:xfrm>
            <a:off x="5490000" y="2046600"/>
            <a:ext cx="6168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365 days per year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2,102,400 groups/year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59"/>
          <p:cNvSpPr/>
          <p:nvPr/>
        </p:nvSpPr>
        <p:spPr>
          <a:xfrm>
            <a:off x="5490000" y="3578760"/>
            <a:ext cx="594036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So we need ~ </a:t>
            </a:r>
            <a:r>
              <a:rPr b="0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50 immortal researchers working continuously since the Big Bang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just to check all group combinations for a </a:t>
            </a:r>
            <a:r>
              <a:rPr b="1" lang="en-US" sz="21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single 60-fluorophore panel .fcs file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5486400" y="1371600"/>
            <a:ext cx="5940360" cy="453960"/>
          </a:xfrm>
          <a:prstGeom prst="rect">
            <a:avLst/>
          </a:prstGeom>
          <a:solidFill>
            <a:srgbClr val="6b5e9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4" name="Rectangle 60"/>
          <p:cNvSpPr/>
          <p:nvPr/>
        </p:nvSpPr>
        <p:spPr>
          <a:xfrm>
            <a:off x="5490000" y="2406600"/>
            <a:ext cx="6168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Invent a time-machine, become immortal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61"/>
          <p:cNvSpPr/>
          <p:nvPr/>
        </p:nvSpPr>
        <p:spPr>
          <a:xfrm>
            <a:off x="5490000" y="2730600"/>
            <a:ext cx="61689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13.8 billion years →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2.9e+16</a:t>
            </a: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groups/reality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16"/>
          <p:cNvSpPr/>
          <p:nvPr/>
        </p:nvSpPr>
        <p:spPr>
          <a:xfrm>
            <a:off x="0" y="-182520"/>
            <a:ext cx="12185640" cy="131868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Continuously since the Big Bang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7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9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"/>
          <p:cNvSpPr/>
          <p:nvPr/>
        </p:nvSpPr>
        <p:spPr>
          <a:xfrm>
            <a:off x="6629400" y="5215320"/>
            <a:ext cx="3885480" cy="76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1 file down, 99 more to go!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challenge for unsupervised approaches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0" name="Picture 2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2920" cy="639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Picture 1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challenge for unsupervised approaches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4" name="Picture 35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2920" cy="639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Picture 36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6" name=""/>
          <p:cNvSpPr/>
          <p:nvPr/>
        </p:nvSpPr>
        <p:spPr>
          <a:xfrm flipH="1" flipV="1" rot="16074000">
            <a:off x="1858320" y="895680"/>
            <a:ext cx="453960" cy="4968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860d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17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challenge for unsupervised approaches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9" name="Picture 37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2920" cy="639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Picture 38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"/>
          <p:cNvSpPr/>
          <p:nvPr/>
        </p:nvSpPr>
        <p:spPr>
          <a:xfrm flipH="1" flipV="1" rot="16074000">
            <a:off x="9402120" y="895680"/>
            <a:ext cx="453960" cy="49680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860d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22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The challenge for unsupervised approaches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4" name="Picture 39" descr=""/>
          <p:cNvPicPr/>
          <p:nvPr/>
        </p:nvPicPr>
        <p:blipFill>
          <a:blip r:embed="rId1"/>
          <a:stretch/>
        </p:blipFill>
        <p:spPr>
          <a:xfrm>
            <a:off x="1523880" y="1185480"/>
            <a:ext cx="9142920" cy="639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Picture 40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"/>
          <p:cNvSpPr/>
          <p:nvPr/>
        </p:nvSpPr>
        <p:spPr>
          <a:xfrm>
            <a:off x="3321360" y="5257800"/>
            <a:ext cx="4908600" cy="360"/>
          </a:xfrm>
          <a:prstGeom prst="line">
            <a:avLst/>
          </a:prstGeom>
          <a:ln w="73080">
            <a:solidFill>
              <a:srgbClr val="069a2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26360" rIns="126360" tIns="-81360" bIns="-81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7" name=""/>
          <p:cNvSpPr/>
          <p:nvPr/>
        </p:nvSpPr>
        <p:spPr>
          <a:xfrm flipH="1">
            <a:off x="3321360" y="5486400"/>
            <a:ext cx="4908600" cy="360"/>
          </a:xfrm>
          <a:prstGeom prst="line">
            <a:avLst/>
          </a:prstGeom>
          <a:ln w="73080">
            <a:solidFill>
              <a:srgbClr val="069a2e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26360" rIns="126360" tIns="-81360" bIns="-8136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28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Picture 7" descr=""/>
          <p:cNvPicPr/>
          <p:nvPr/>
        </p:nvPicPr>
        <p:blipFill>
          <a:blip r:embed="rId1"/>
          <a:stretch/>
        </p:blipFill>
        <p:spPr>
          <a:xfrm>
            <a:off x="1908720" y="698760"/>
            <a:ext cx="8373240" cy="586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My PhD’s focus: HIV-exposed Uninfected Infants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Picture 9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2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Picture 2" descr=""/>
          <p:cNvPicPr/>
          <p:nvPr/>
        </p:nvPicPr>
        <p:blipFill>
          <a:blip r:embed="rId1"/>
          <a:stretch/>
        </p:blipFill>
        <p:spPr>
          <a:xfrm>
            <a:off x="2773080" y="228600"/>
            <a:ext cx="9142920" cy="639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Our Malawian Cohort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5" name="Picture 4" descr=""/>
          <p:cNvPicPr/>
          <p:nvPr/>
        </p:nvPicPr>
        <p:blipFill>
          <a:blip r:embed="rId2"/>
          <a:stretch/>
        </p:blipFill>
        <p:spPr>
          <a:xfrm>
            <a:off x="459000" y="1765440"/>
            <a:ext cx="3069000" cy="357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" name="Picture 5" descr=""/>
          <p:cNvPicPr/>
          <p:nvPr/>
        </p:nvPicPr>
        <p:blipFill>
          <a:blip r:embed="rId3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" name="" descr=""/>
          <p:cNvPicPr/>
          <p:nvPr/>
        </p:nvPicPr>
        <p:blipFill>
          <a:blip r:embed="rId4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Study Timeline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9" name="Picture 3" descr=""/>
          <p:cNvPicPr/>
          <p:nvPr/>
        </p:nvPicPr>
        <p:blipFill>
          <a:blip r:embed="rId1"/>
          <a:srcRect l="0" t="18235" r="0" b="29137"/>
          <a:stretch/>
        </p:blipFill>
        <p:spPr>
          <a:xfrm>
            <a:off x="404640" y="1332360"/>
            <a:ext cx="11381760" cy="419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Arrow: Right 4"/>
          <p:cNvSpPr/>
          <p:nvPr/>
        </p:nvSpPr>
        <p:spPr>
          <a:xfrm rot="16200000">
            <a:off x="4167720" y="5540760"/>
            <a:ext cx="530640" cy="285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1" name="Arrow: Right 5"/>
          <p:cNvSpPr/>
          <p:nvPr/>
        </p:nvSpPr>
        <p:spPr>
          <a:xfrm rot="16200000">
            <a:off x="9073080" y="5554800"/>
            <a:ext cx="530640" cy="285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2" name="Arrow: Right 6"/>
          <p:cNvSpPr/>
          <p:nvPr/>
        </p:nvSpPr>
        <p:spPr>
          <a:xfrm rot="16200000">
            <a:off x="10784880" y="5576040"/>
            <a:ext cx="530640" cy="285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43" name="Picture 7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4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32-Fluorophore Spectral Flow Cytometry Panel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6" name="Picture 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47" name=""/>
          <p:cNvGrpSpPr/>
          <p:nvPr/>
        </p:nvGrpSpPr>
        <p:grpSpPr>
          <a:xfrm>
            <a:off x="914400" y="757800"/>
            <a:ext cx="2285280" cy="5642280"/>
            <a:chOff x="914400" y="757800"/>
            <a:chExt cx="2285280" cy="5642280"/>
          </a:xfrm>
        </p:grpSpPr>
        <p:pic>
          <p:nvPicPr>
            <p:cNvPr id="248" name="Picture 3" descr=""/>
            <p:cNvPicPr/>
            <p:nvPr/>
          </p:nvPicPr>
          <p:blipFill>
            <a:blip r:embed="rId2"/>
            <a:srcRect l="0" t="0" r="0" b="29919"/>
            <a:stretch/>
          </p:blipFill>
          <p:spPr>
            <a:xfrm>
              <a:off x="914400" y="757800"/>
              <a:ext cx="2285280" cy="2574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9" name="Picture 7" descr=""/>
            <p:cNvPicPr/>
            <p:nvPr/>
          </p:nvPicPr>
          <p:blipFill>
            <a:blip r:embed="rId3"/>
            <a:stretch/>
          </p:blipFill>
          <p:spPr>
            <a:xfrm>
              <a:off x="914400" y="3324960"/>
              <a:ext cx="2278440" cy="307512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250" name="Picture 43" descr=""/>
          <p:cNvPicPr/>
          <p:nvPr/>
        </p:nvPicPr>
        <p:blipFill>
          <a:blip r:embed="rId4"/>
          <a:srcRect l="0" t="6125" r="0" b="0"/>
          <a:stretch/>
        </p:blipFill>
        <p:spPr>
          <a:xfrm>
            <a:off x="2743200" y="1022400"/>
            <a:ext cx="8228880" cy="540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" descr=""/>
          <p:cNvPicPr/>
          <p:nvPr/>
        </p:nvPicPr>
        <p:blipFill>
          <a:blip r:embed="rId5"/>
          <a:stretch/>
        </p:blipFill>
        <p:spPr>
          <a:xfrm>
            <a:off x="231120" y="6389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>
            <a:off x="6118920" y="3496680"/>
            <a:ext cx="5104800" cy="1436400"/>
          </a:xfrm>
          <a:prstGeom prst="rect">
            <a:avLst/>
          </a:prstGeom>
          <a:solidFill>
            <a:srgbClr val="ff972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53" name="Picture 9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657360" y="104400"/>
            <a:ext cx="10899360" cy="60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Personal Goal: No cell left behind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5" name="Picture 4" descr=""/>
          <p:cNvPicPr/>
          <p:nvPr/>
        </p:nvPicPr>
        <p:blipFill>
          <a:blip r:embed="rId2"/>
          <a:stretch/>
        </p:blipFill>
        <p:spPr>
          <a:xfrm>
            <a:off x="1311840" y="792360"/>
            <a:ext cx="4109760" cy="549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Box 6"/>
          <p:cNvSpPr/>
          <p:nvPr/>
        </p:nvSpPr>
        <p:spPr>
          <a:xfrm>
            <a:off x="6095880" y="1191240"/>
            <a:ext cx="504576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sng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Repeated 3 AM thoughts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What makes spectral flow cytometry data amazing is both the depth and the breadth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15"/>
          <p:cNvSpPr/>
          <p:nvPr/>
        </p:nvSpPr>
        <p:spPr>
          <a:xfrm>
            <a:off x="6118920" y="3223800"/>
            <a:ext cx="504576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How to fully profile the entirety of the acquired dataset, not just a single cell population of interest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6095880" y="1847880"/>
            <a:ext cx="5104800" cy="1436400"/>
          </a:xfrm>
          <a:prstGeom prst="rect">
            <a:avLst/>
          </a:prstGeom>
          <a:solidFill>
            <a:srgbClr val="afd09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59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Picture 3" descr=""/>
          <p:cNvPicPr/>
          <p:nvPr/>
        </p:nvPicPr>
        <p:blipFill>
          <a:blip r:embed="rId1"/>
          <a:stretch/>
        </p:blipFill>
        <p:spPr>
          <a:xfrm>
            <a:off x="1633320" y="1017360"/>
            <a:ext cx="5833800" cy="463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"/>
          <p:cNvSpPr/>
          <p:nvPr/>
        </p:nvSpPr>
        <p:spPr>
          <a:xfrm>
            <a:off x="7503480" y="1130400"/>
            <a:ext cx="4383000" cy="456480"/>
          </a:xfrm>
          <a:prstGeom prst="rect">
            <a:avLst/>
          </a:prstGeom>
          <a:solidFill>
            <a:srgbClr val="729fc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2" name=""/>
          <p:cNvSpPr/>
          <p:nvPr/>
        </p:nvSpPr>
        <p:spPr>
          <a:xfrm>
            <a:off x="7507800" y="1780200"/>
            <a:ext cx="4378680" cy="785160"/>
          </a:xfrm>
          <a:prstGeom prst="rect">
            <a:avLst/>
          </a:prstGeom>
          <a:solidFill>
            <a:srgbClr val="afd09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7543800" y="2639160"/>
            <a:ext cx="4342680" cy="785160"/>
          </a:xfrm>
          <a:prstGeom prst="rect">
            <a:avLst/>
          </a:prstGeom>
          <a:solidFill>
            <a:srgbClr val="e8a202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7543800" y="3573000"/>
            <a:ext cx="4342680" cy="1142280"/>
          </a:xfrm>
          <a:prstGeom prst="rect">
            <a:avLst/>
          </a:prstGeom>
          <a:solidFill>
            <a:srgbClr val="a7074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7543800" y="4860000"/>
            <a:ext cx="4342680" cy="769680"/>
          </a:xfrm>
          <a:prstGeom prst="rect">
            <a:avLst/>
          </a:prstGeom>
          <a:solidFill>
            <a:srgbClr val="f7d1d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Previously looked at unconventional T cells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5"/>
          <p:cNvSpPr/>
          <p:nvPr/>
        </p:nvSpPr>
        <p:spPr>
          <a:xfrm>
            <a:off x="7457760" y="1780200"/>
            <a:ext cx="44647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MT Extra" charset="2"/>
              <a:buChar char="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Shifting from 50%-50% FlowJo – R to increasingly more 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8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8960" y="2425680"/>
            <a:ext cx="1518120" cy="151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Box 9"/>
          <p:cNvSpPr/>
          <p:nvPr/>
        </p:nvSpPr>
        <p:spPr>
          <a:xfrm>
            <a:off x="241920" y="4029840"/>
            <a:ext cx="127764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Paper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0" name="Picture 10" descr=""/>
          <p:cNvPicPr/>
          <p:nvPr/>
        </p:nvPicPr>
        <p:blipFill>
          <a:blip r:embed="rId4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TextBox 16"/>
          <p:cNvSpPr/>
          <p:nvPr/>
        </p:nvSpPr>
        <p:spPr>
          <a:xfrm>
            <a:off x="7457760" y="3162600"/>
            <a:ext cx="446472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Building around reproducibility from the start (not as an after thought)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7"/>
          <p:cNvSpPr/>
          <p:nvPr/>
        </p:nvSpPr>
        <p:spPr>
          <a:xfrm>
            <a:off x="7484400" y="4847400"/>
            <a:ext cx="470700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Font typeface="MT Extra" charset="2"/>
              <a:buChar char="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Improved Bioconductor interoperability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18"/>
          <p:cNvSpPr/>
          <p:nvPr/>
        </p:nvSpPr>
        <p:spPr>
          <a:xfrm>
            <a:off x="7474680" y="1096920"/>
            <a:ext cx="44647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Main differences this time around: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20"/>
          <p:cNvSpPr/>
          <p:nvPr/>
        </p:nvSpPr>
        <p:spPr>
          <a:xfrm>
            <a:off x="7457760" y="2237400"/>
            <a:ext cx="446472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Targeted re-writes in Rust to speed up original R code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5" name="" descr=""/>
          <p:cNvPicPr/>
          <p:nvPr/>
        </p:nvPicPr>
        <p:blipFill>
          <a:blip r:embed="rId5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09320" cy="6350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Semi-supervised Pipeline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7" name="Picture 19" descr=""/>
          <p:cNvPicPr/>
          <p:nvPr/>
        </p:nvPicPr>
        <p:blipFill>
          <a:blip r:embed="rId1"/>
          <a:stretch/>
        </p:blipFill>
        <p:spPr>
          <a:xfrm>
            <a:off x="2061000" y="491400"/>
            <a:ext cx="8265600" cy="578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Picture 44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8320" cy="39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9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angle 1"/>
          <p:cNvSpPr/>
          <p:nvPr/>
        </p:nvSpPr>
        <p:spPr>
          <a:xfrm>
            <a:off x="2548800" y="697320"/>
            <a:ext cx="5119560" cy="5468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1" name="Rectangle 22"/>
          <p:cNvSpPr/>
          <p:nvPr/>
        </p:nvSpPr>
        <p:spPr>
          <a:xfrm>
            <a:off x="2668680" y="1095120"/>
            <a:ext cx="4560120" cy="319932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Acquisition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Picture 2" descr=""/>
          <p:cNvPicPr/>
          <p:nvPr/>
        </p:nvPicPr>
        <p:blipFill>
          <a:blip r:embed="rId1"/>
          <a:srcRect l="0" t="0" r="68257" b="0"/>
          <a:stretch/>
        </p:blipFill>
        <p:spPr>
          <a:xfrm>
            <a:off x="-99000" y="491400"/>
            <a:ext cx="2624040" cy="57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Rectangle 50"/>
          <p:cNvSpPr/>
          <p:nvPr/>
        </p:nvSpPr>
        <p:spPr>
          <a:xfrm>
            <a:off x="2645280" y="1318320"/>
            <a:ext cx="4615560" cy="34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Acquired day of staining on a 5-Laser Cytek Aurora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 flushed with 10% Contrad and Water for 20 minutes pre-use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 passed by both the UMGCCC FCSR and Cytek’s QC criteria immediately before acquisition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3"/>
          <p:cNvSpPr/>
          <p:nvPr/>
        </p:nvSpPr>
        <p:spPr>
          <a:xfrm>
            <a:off x="7428600" y="2621880"/>
            <a:ext cx="2500920" cy="9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UMGCCC FCSR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InstrumentQC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Dashboard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11"/>
          <p:cNvSpPr/>
          <p:nvPr/>
        </p:nvSpPr>
        <p:spPr>
          <a:xfrm>
            <a:off x="9473760" y="2621880"/>
            <a:ext cx="2500920" cy="10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Plots for our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5L Aurora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12"/>
          <p:cNvSpPr/>
          <p:nvPr/>
        </p:nvSpPr>
        <p:spPr>
          <a:xfrm>
            <a:off x="9487800" y="5092200"/>
            <a:ext cx="250092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Dashboard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How-To-Set-Up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3"/>
          <p:cNvSpPr/>
          <p:nvPr/>
        </p:nvSpPr>
        <p:spPr>
          <a:xfrm>
            <a:off x="7524360" y="5085000"/>
            <a:ext cx="250092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Historical Data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5L Aurora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9" name="Graphic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37720" y="3212280"/>
            <a:ext cx="1847520" cy="184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Graphic 1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005120" y="858600"/>
            <a:ext cx="1824480" cy="182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1" name="Graphic 19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930080" y="851760"/>
            <a:ext cx="1837080" cy="183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2" name="Graphic 21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015560" y="3288240"/>
            <a:ext cx="1846440" cy="184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Arrow: Down 23"/>
          <p:cNvSpPr/>
          <p:nvPr/>
        </p:nvSpPr>
        <p:spPr>
          <a:xfrm rot="16200000">
            <a:off x="207000" y="984600"/>
            <a:ext cx="519840" cy="679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94" name="Picture 24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5" name="" descr=""/>
          <p:cNvPicPr/>
          <p:nvPr/>
        </p:nvPicPr>
        <p:blipFill>
          <a:blip r:embed="rId11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"/>
          <p:cNvSpPr/>
          <p:nvPr/>
        </p:nvSpPr>
        <p:spPr>
          <a:xfrm>
            <a:off x="5787000" y="3558600"/>
            <a:ext cx="4728240" cy="785160"/>
          </a:xfrm>
          <a:prstGeom prst="rect">
            <a:avLst/>
          </a:prstGeom>
          <a:solidFill>
            <a:srgbClr val="ffbf00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838080" y="46080"/>
            <a:ext cx="10512720" cy="6962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Daily Processing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8" name="Picture 64" descr=""/>
          <p:cNvPicPr/>
          <p:nvPr/>
        </p:nvPicPr>
        <p:blipFill>
          <a:blip r:embed="rId1"/>
          <a:stretch/>
        </p:blipFill>
        <p:spPr>
          <a:xfrm>
            <a:off x="10287360" y="6096600"/>
            <a:ext cx="1518840" cy="53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9" name="Picture 65" descr=""/>
          <p:cNvPicPr/>
          <p:nvPr/>
        </p:nvPicPr>
        <p:blipFill>
          <a:blip r:embed="rId2"/>
          <a:stretch/>
        </p:blipFill>
        <p:spPr>
          <a:xfrm>
            <a:off x="1010520" y="952920"/>
            <a:ext cx="4528080" cy="476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Rectangle 66"/>
          <p:cNvSpPr/>
          <p:nvPr/>
        </p:nvSpPr>
        <p:spPr>
          <a:xfrm>
            <a:off x="5730480" y="2142360"/>
            <a:ext cx="54705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Behind-the-scenes: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Using R (and increasingly Rust) to process the .fcs files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Rectangle 67"/>
          <p:cNvSpPr/>
          <p:nvPr/>
        </p:nvSpPr>
        <p:spPr>
          <a:xfrm>
            <a:off x="5751000" y="4163760"/>
            <a:ext cx="4992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Our Quarto Website gets updated twice daily via a GitHub action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68"/>
          <p:cNvSpPr/>
          <p:nvPr/>
        </p:nvSpPr>
        <p:spPr>
          <a:xfrm>
            <a:off x="5751000" y="3177360"/>
            <a:ext cx="54705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transfer to GitHub via Windows Task Scheduler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5787000" y="4601880"/>
            <a:ext cx="4728240" cy="785160"/>
          </a:xfrm>
          <a:prstGeom prst="rect">
            <a:avLst/>
          </a:prstGeom>
          <a:solidFill>
            <a:srgbClr val="e0c2cd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5751000" y="2572200"/>
            <a:ext cx="4764240" cy="785160"/>
          </a:xfrm>
          <a:prstGeom prst="rect">
            <a:avLst/>
          </a:prstGeom>
          <a:solidFill>
            <a:srgbClr val="dee6e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5" name="Picture 71" descr=""/>
          <p:cNvPicPr/>
          <p:nvPr/>
        </p:nvPicPr>
        <p:blipFill>
          <a:blip r:embed="rId3"/>
          <a:stretch/>
        </p:blipFill>
        <p:spPr>
          <a:xfrm>
            <a:off x="9108000" y="812520"/>
            <a:ext cx="1368360" cy="158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838080" y="46080"/>
            <a:ext cx="10512720" cy="6962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 Quality Control Dashboard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7" name="Picture 66" descr=""/>
          <p:cNvPicPr/>
          <p:nvPr/>
        </p:nvPicPr>
        <p:blipFill>
          <a:blip r:embed="rId1"/>
          <a:stretch/>
        </p:blipFill>
        <p:spPr>
          <a:xfrm>
            <a:off x="10287360" y="6096600"/>
            <a:ext cx="1518840" cy="53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8" name="Picture 67" descr=""/>
          <p:cNvPicPr/>
          <p:nvPr/>
        </p:nvPicPr>
        <p:blipFill>
          <a:blip r:embed="rId2"/>
          <a:stretch/>
        </p:blipFill>
        <p:spPr>
          <a:xfrm>
            <a:off x="2069640" y="1093320"/>
            <a:ext cx="9749160" cy="444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9" name="Graphic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15640" y="1154520"/>
            <a:ext cx="1647000" cy="169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-148680" y="2971800"/>
            <a:ext cx="1953720" cy="5022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t" anchorCtr="1">
            <a:normAutofit/>
          </a:bodyPr>
          <a:p>
            <a:pPr marL="432000" indent="0" defTabSz="914400">
              <a:lnSpc>
                <a:spcPts val="72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Dashboard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-148680" y="5227200"/>
            <a:ext cx="1953720" cy="50220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t" anchorCtr="1">
            <a:normAutofit/>
          </a:bodyPr>
          <a:p>
            <a:pPr marL="432000" indent="0" defTabSz="914400">
              <a:lnSpc>
                <a:spcPts val="72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How-To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" name="Picture 68" descr=""/>
          <p:cNvPicPr/>
          <p:nvPr/>
        </p:nvPicPr>
        <p:blipFill>
          <a:blip r:embed="rId5"/>
          <a:srcRect l="3481" t="5989" r="0" b="0"/>
          <a:stretch/>
        </p:blipFill>
        <p:spPr>
          <a:xfrm>
            <a:off x="274320" y="3545280"/>
            <a:ext cx="1664640" cy="1597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838080" y="46080"/>
            <a:ext cx="10512720" cy="6962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Instrument Quality Control Dashboard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4" name="Picture 69" descr=""/>
          <p:cNvPicPr/>
          <p:nvPr/>
        </p:nvPicPr>
        <p:blipFill>
          <a:blip r:embed="rId1"/>
          <a:stretch/>
        </p:blipFill>
        <p:spPr>
          <a:xfrm>
            <a:off x="10058760" y="6153840"/>
            <a:ext cx="1518840" cy="53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5" name="Picture 70" descr=""/>
          <p:cNvPicPr/>
          <p:nvPr/>
        </p:nvPicPr>
        <p:blipFill>
          <a:blip r:embed="rId2"/>
          <a:stretch/>
        </p:blipFill>
        <p:spPr>
          <a:xfrm>
            <a:off x="582120" y="726480"/>
            <a:ext cx="11027160" cy="5175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Evaluating Unmixing Controls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" name="Picture 2" descr=""/>
          <p:cNvPicPr/>
          <p:nvPr/>
        </p:nvPicPr>
        <p:blipFill>
          <a:blip r:embed="rId1"/>
          <a:srcRect l="0" t="0" r="68257" b="0"/>
          <a:stretch/>
        </p:blipFill>
        <p:spPr>
          <a:xfrm>
            <a:off x="-99000" y="491400"/>
            <a:ext cx="2624040" cy="57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Rectangle 1"/>
          <p:cNvSpPr/>
          <p:nvPr/>
        </p:nvSpPr>
        <p:spPr>
          <a:xfrm>
            <a:off x="2548800" y="697320"/>
            <a:ext cx="5119560" cy="5462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9" name="TextBox 3"/>
          <p:cNvSpPr/>
          <p:nvPr/>
        </p:nvSpPr>
        <p:spPr>
          <a:xfrm>
            <a:off x="7609680" y="4263120"/>
            <a:ext cx="21049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Luciernaga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4"/>
          <p:cNvSpPr/>
          <p:nvPr/>
        </p:nvSpPr>
        <p:spPr>
          <a:xfrm>
            <a:off x="9716400" y="4267080"/>
            <a:ext cx="21049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Luciernaga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1" name="Graphic 8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7940880" y="2308680"/>
            <a:ext cx="1868760" cy="186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2" name="Graphic 10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041840" y="2368440"/>
            <a:ext cx="1830240" cy="183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3" name="Rectangle 5"/>
          <p:cNvSpPr/>
          <p:nvPr/>
        </p:nvSpPr>
        <p:spPr>
          <a:xfrm>
            <a:off x="2658240" y="818640"/>
            <a:ext cx="4655880" cy="481536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4" name="Rectangle 6"/>
          <p:cNvSpPr/>
          <p:nvPr/>
        </p:nvSpPr>
        <p:spPr>
          <a:xfrm>
            <a:off x="2700720" y="1041840"/>
            <a:ext cx="4507200" cy="44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New unmixing controls acquired with each experiment.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Extra specimen cells acquired as additional unstained controls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Unmixing Controls are screened for suitability for unmixing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Single-colors: Tandem degradation, and autofluorescence contamination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Unstained(s): Presence of multiple-autofluorescences in lymphocyte gate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Flagged unmixing controls are replaced with equivalents from adjacent experimental date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Arrow: Down 7"/>
          <p:cNvSpPr/>
          <p:nvPr/>
        </p:nvSpPr>
        <p:spPr>
          <a:xfrm rot="16200000">
            <a:off x="217800" y="2047680"/>
            <a:ext cx="519840" cy="679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26" name="Picture 9" descr=""/>
          <p:cNvPicPr/>
          <p:nvPr/>
        </p:nvPicPr>
        <p:blipFill>
          <a:blip r:embed="rId6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7" name="" descr=""/>
          <p:cNvPicPr/>
          <p:nvPr/>
        </p:nvPicPr>
        <p:blipFill>
          <a:blip r:embed="rId7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Picture 4" descr=""/>
          <p:cNvPicPr/>
          <p:nvPr/>
        </p:nvPicPr>
        <p:blipFill>
          <a:blip r:embed="rId1"/>
          <a:srcRect l="28727" t="0" r="0" b="0"/>
          <a:stretch/>
        </p:blipFill>
        <p:spPr>
          <a:xfrm>
            <a:off x="2721960" y="0"/>
            <a:ext cx="6516360" cy="639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0" y="-6192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Luciernaga: Individual Cell Normalized Signatures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0" name="Picture 5" descr=""/>
          <p:cNvPicPr/>
          <p:nvPr/>
        </p:nvPicPr>
        <p:blipFill>
          <a:blip r:embed="rId2"/>
          <a:srcRect l="0" t="29511" r="72127" b="28628"/>
          <a:stretch/>
        </p:blipFill>
        <p:spPr>
          <a:xfrm>
            <a:off x="0" y="286920"/>
            <a:ext cx="2547720" cy="267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TextBox 6"/>
          <p:cNvSpPr/>
          <p:nvPr/>
        </p:nvSpPr>
        <p:spPr>
          <a:xfrm>
            <a:off x="127440" y="5510160"/>
            <a:ext cx="21049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Graphic 8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6920" y="3807720"/>
            <a:ext cx="1624320" cy="162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3" name="Picture 9" descr=""/>
          <p:cNvPicPr/>
          <p:nvPr/>
        </p:nvPicPr>
        <p:blipFill>
          <a:blip r:embed="rId5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4" name="" descr=""/>
          <p:cNvPicPr/>
          <p:nvPr/>
        </p:nvPicPr>
        <p:blipFill>
          <a:blip r:embed="rId6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0" y="-6192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tools for screening unmixing controls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6" name="Picture 6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7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69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"/>
          <p:cNvSpPr/>
          <p:nvPr/>
        </p:nvSpPr>
        <p:spPr>
          <a:xfrm>
            <a:off x="6487920" y="2309040"/>
            <a:ext cx="4543920" cy="201672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39" name="" descr=""/>
          <p:cNvPicPr/>
          <p:nvPr/>
        </p:nvPicPr>
        <p:blipFill>
          <a:blip r:embed="rId3"/>
          <a:srcRect l="0" t="0" r="15005" b="0"/>
          <a:stretch/>
        </p:blipFill>
        <p:spPr>
          <a:xfrm>
            <a:off x="7459200" y="2365560"/>
            <a:ext cx="2774880" cy="154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"/>
          <p:cNvSpPr/>
          <p:nvPr/>
        </p:nvSpPr>
        <p:spPr>
          <a:xfrm>
            <a:off x="6993360" y="3948840"/>
            <a:ext cx="353340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Autofluorescence Isolation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928440" y="3677040"/>
            <a:ext cx="5049360" cy="2016720"/>
          </a:xfrm>
          <a:prstGeom prst="rect">
            <a:avLst/>
          </a:prstGeom>
          <a:solidFill>
            <a:srgbClr val="729fcf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42" name="" descr=""/>
          <p:cNvPicPr/>
          <p:nvPr/>
        </p:nvPicPr>
        <p:blipFill>
          <a:blip r:embed="rId4"/>
          <a:srcRect l="36749" t="50780" r="-263" b="0"/>
          <a:stretch/>
        </p:blipFill>
        <p:spPr>
          <a:xfrm>
            <a:off x="1061640" y="3804120"/>
            <a:ext cx="4796640" cy="146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"/>
          <p:cNvSpPr/>
          <p:nvPr/>
        </p:nvSpPr>
        <p:spPr>
          <a:xfrm>
            <a:off x="1686600" y="5356800"/>
            <a:ext cx="353304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Residual Autofluorescence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914400" y="1143000"/>
            <a:ext cx="5063400" cy="2276280"/>
          </a:xfrm>
          <a:prstGeom prst="rect">
            <a:avLst/>
          </a:prstGeom>
          <a:solidFill>
            <a:srgbClr val="ffd7d7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345" name=""/>
          <p:cNvGrpSpPr/>
          <p:nvPr/>
        </p:nvGrpSpPr>
        <p:grpSpPr>
          <a:xfrm>
            <a:off x="1686600" y="1233360"/>
            <a:ext cx="3945240" cy="1782720"/>
            <a:chOff x="1686600" y="1233360"/>
            <a:chExt cx="3945240" cy="1782720"/>
          </a:xfrm>
        </p:grpSpPr>
        <p:sp>
          <p:nvSpPr>
            <p:cNvPr id="346" name="Arrow: Right 2"/>
            <p:cNvSpPr/>
            <p:nvPr/>
          </p:nvSpPr>
          <p:spPr>
            <a:xfrm rot="10800000">
              <a:off x="4870080" y="1356120"/>
              <a:ext cx="416880" cy="22032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1f37"/>
            </a:solidFill>
            <a:ln w="12600">
              <a:solidFill>
                <a:srgbClr val="5e0d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endParaRPr>
            </a:p>
          </p:txBody>
        </p:sp>
        <p:sp>
          <p:nvSpPr>
            <p:cNvPr id="347" name="TextBox 4"/>
            <p:cNvSpPr/>
            <p:nvPr/>
          </p:nvSpPr>
          <p:spPr>
            <a:xfrm>
              <a:off x="4759200" y="1505520"/>
              <a:ext cx="872640" cy="546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APC-Fire 810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48" name="Picture 4" descr="A graph of a number of data&#10;&#10;AI-generated content may be incorrect."/>
            <p:cNvPicPr/>
            <p:nvPr/>
          </p:nvPicPr>
          <p:blipFill>
            <a:blip r:embed="rId5"/>
            <a:stretch/>
          </p:blipFill>
          <p:spPr>
            <a:xfrm>
              <a:off x="1686600" y="1233360"/>
              <a:ext cx="3173760" cy="1782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9" name="TextBox 3"/>
            <p:cNvSpPr/>
            <p:nvPr/>
          </p:nvSpPr>
          <p:spPr>
            <a:xfrm>
              <a:off x="3405960" y="1486440"/>
              <a:ext cx="626760" cy="31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b="1" lang="en-US" sz="15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DejaVu Sans"/>
                </a:rPr>
                <a:t>APC</a:t>
              </a:r>
              <a:endPara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Arrow: Right 1"/>
            <p:cNvSpPr/>
            <p:nvPr/>
          </p:nvSpPr>
          <p:spPr>
            <a:xfrm>
              <a:off x="4076640" y="1538280"/>
              <a:ext cx="218880" cy="21996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d81f37"/>
            </a:solidFill>
            <a:ln w="12600">
              <a:solidFill>
                <a:srgbClr val="5e0d1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DejaVu Sans"/>
              </a:endParaRPr>
            </a:p>
          </p:txBody>
        </p:sp>
      </p:grpSp>
      <p:sp>
        <p:nvSpPr>
          <p:cNvPr id="351" name=""/>
          <p:cNvSpPr/>
          <p:nvPr/>
        </p:nvSpPr>
        <p:spPr>
          <a:xfrm>
            <a:off x="1939320" y="3028680"/>
            <a:ext cx="2774520" cy="333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Tandem Degradation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"/>
          <p:cNvSpPr/>
          <p:nvPr/>
        </p:nvSpPr>
        <p:spPr>
          <a:xfrm>
            <a:off x="516600" y="3854880"/>
            <a:ext cx="6170400" cy="71712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3" name=""/>
          <p:cNvSpPr/>
          <p:nvPr/>
        </p:nvSpPr>
        <p:spPr>
          <a:xfrm>
            <a:off x="509400" y="2660400"/>
            <a:ext cx="6177600" cy="1022400"/>
          </a:xfrm>
          <a:prstGeom prst="rect">
            <a:avLst/>
          </a:prstGeom>
          <a:solidFill>
            <a:srgbClr val="ff6d6d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54" name="" descr=""/>
          <p:cNvPicPr/>
          <p:nvPr/>
        </p:nvPicPr>
        <p:blipFill>
          <a:blip r:embed="rId1"/>
          <a:stretch/>
        </p:blipFill>
        <p:spPr>
          <a:xfrm>
            <a:off x="7110000" y="1483920"/>
            <a:ext cx="4646160" cy="296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"/>
          <p:cNvSpPr/>
          <p:nvPr/>
        </p:nvSpPr>
        <p:spPr>
          <a:xfrm>
            <a:off x="277200" y="961920"/>
            <a:ext cx="5589720" cy="63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6" name=""/>
          <p:cNvSpPr/>
          <p:nvPr/>
        </p:nvSpPr>
        <p:spPr>
          <a:xfrm>
            <a:off x="468000" y="2588400"/>
            <a:ext cx="643500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When the </a:t>
            </a: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fluorophore degrades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noticeable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increase in variant signatures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, making up substantial proportion of all cells in the unmixing control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/>
          <p:nvPr/>
        </p:nvSpPr>
        <p:spPr>
          <a:xfrm>
            <a:off x="480600" y="3813840"/>
            <a:ext cx="63990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screening all acquired unmixing controls from campus users during off-hours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0" y="47520"/>
            <a:ext cx="12342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Identifying degrading fluorophores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9" name="Picture 74" descr=""/>
          <p:cNvPicPr/>
          <p:nvPr/>
        </p:nvPicPr>
        <p:blipFill>
          <a:blip r:embed="rId2"/>
          <a:stretch/>
        </p:blipFill>
        <p:spPr>
          <a:xfrm>
            <a:off x="10436040" y="6172560"/>
            <a:ext cx="1138320" cy="39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0" name="" descr=""/>
          <p:cNvPicPr/>
          <p:nvPr/>
        </p:nvPicPr>
        <p:blipFill>
          <a:blip r:embed="rId3"/>
          <a:stretch/>
        </p:blipFill>
        <p:spPr>
          <a:xfrm>
            <a:off x="457920" y="6172920"/>
            <a:ext cx="13669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"/>
          <p:cNvSpPr/>
          <p:nvPr/>
        </p:nvSpPr>
        <p:spPr>
          <a:xfrm>
            <a:off x="516600" y="1444320"/>
            <a:ext cx="6169680" cy="1059120"/>
          </a:xfrm>
          <a:prstGeom prst="rect">
            <a:avLst/>
          </a:prstGeom>
          <a:solidFill>
            <a:srgbClr val="00a933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2" name=""/>
          <p:cNvSpPr/>
          <p:nvPr/>
        </p:nvSpPr>
        <p:spPr>
          <a:xfrm>
            <a:off x="473400" y="1408320"/>
            <a:ext cx="617760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Fluorophores in </a:t>
            </a: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good shape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→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one predominant normalized signature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within the unmixing control raw .fcs file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"/>
          <p:cNvSpPr/>
          <p:nvPr/>
        </p:nvSpPr>
        <p:spPr>
          <a:xfrm>
            <a:off x="5257800" y="2861640"/>
            <a:ext cx="5941080" cy="987480"/>
          </a:xfrm>
          <a:prstGeom prst="rect">
            <a:avLst/>
          </a:prstGeom>
          <a:solidFill>
            <a:srgbClr val="ff3838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4" name=""/>
          <p:cNvSpPr/>
          <p:nvPr/>
        </p:nvSpPr>
        <p:spPr>
          <a:xfrm>
            <a:off x="5255280" y="4057920"/>
            <a:ext cx="5953680" cy="1091160"/>
          </a:xfrm>
          <a:prstGeom prst="rect">
            <a:avLst/>
          </a:prstGeom>
          <a:solidFill>
            <a:srgbClr val="ff972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5" name=""/>
          <p:cNvSpPr/>
          <p:nvPr/>
        </p:nvSpPr>
        <p:spPr>
          <a:xfrm>
            <a:off x="5258520" y="1494720"/>
            <a:ext cx="5941080" cy="113868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66" name="" descr=""/>
          <p:cNvPicPr/>
          <p:nvPr/>
        </p:nvPicPr>
        <p:blipFill>
          <a:blip r:embed="rId1"/>
          <a:stretch/>
        </p:blipFill>
        <p:spPr>
          <a:xfrm>
            <a:off x="2476440" y="3654720"/>
            <a:ext cx="2254680" cy="2020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7" name="" descr=""/>
          <p:cNvPicPr/>
          <p:nvPr/>
        </p:nvPicPr>
        <p:blipFill>
          <a:blip r:embed="rId2"/>
          <a:stretch/>
        </p:blipFill>
        <p:spPr>
          <a:xfrm>
            <a:off x="318600" y="3675240"/>
            <a:ext cx="2050200" cy="20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"/>
          <p:cNvSpPr/>
          <p:nvPr/>
        </p:nvSpPr>
        <p:spPr>
          <a:xfrm>
            <a:off x="5259240" y="1539000"/>
            <a:ext cx="616896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This approach also works to isolate variant autofluorescence signatures from unstained controls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5221800" y="3987360"/>
            <a:ext cx="595116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Return directly as an .fcs file containing just cells with same signature for use as an autofluorescent tag in SpectroFlo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5257800" y="2791080"/>
            <a:ext cx="594108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Unlike other approaches, the isolated cells share normalized signatures, only differing in terms of brightness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0" y="46800"/>
            <a:ext cx="12190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Isolating additional autofluorescence signatures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2" name="Picture 75" descr=""/>
          <p:cNvPicPr/>
          <p:nvPr/>
        </p:nvPicPr>
        <p:blipFill>
          <a:blip r:embed="rId3"/>
          <a:stretch/>
        </p:blipFill>
        <p:spPr>
          <a:xfrm>
            <a:off x="10436040" y="6172560"/>
            <a:ext cx="1138320" cy="39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3" name="" descr=""/>
          <p:cNvPicPr/>
          <p:nvPr/>
        </p:nvPicPr>
        <p:blipFill>
          <a:blip r:embed="rId4"/>
          <a:stretch/>
        </p:blipFill>
        <p:spPr>
          <a:xfrm>
            <a:off x="457920" y="6172920"/>
            <a:ext cx="1366920" cy="35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4" name="" descr=""/>
          <p:cNvPicPr/>
          <p:nvPr/>
        </p:nvPicPr>
        <p:blipFill>
          <a:blip r:embed="rId5"/>
          <a:stretch/>
        </p:blipFill>
        <p:spPr>
          <a:xfrm>
            <a:off x="409320" y="914400"/>
            <a:ext cx="4250880" cy="2632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"/>
          <p:cNvSpPr/>
          <p:nvPr/>
        </p:nvSpPr>
        <p:spPr>
          <a:xfrm>
            <a:off x="217800" y="2178000"/>
            <a:ext cx="4353480" cy="1729440"/>
          </a:xfrm>
          <a:prstGeom prst="rect">
            <a:avLst/>
          </a:prstGeom>
          <a:solidFill>
            <a:srgbClr val="afd095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6" name=""/>
          <p:cNvSpPr/>
          <p:nvPr/>
        </p:nvSpPr>
        <p:spPr>
          <a:xfrm>
            <a:off x="251280" y="4057920"/>
            <a:ext cx="4320000" cy="1656360"/>
          </a:xfrm>
          <a:prstGeom prst="rect">
            <a:avLst/>
          </a:prstGeom>
          <a:solidFill>
            <a:srgbClr val="ff972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7" name=""/>
          <p:cNvSpPr/>
          <p:nvPr/>
        </p:nvSpPr>
        <p:spPr>
          <a:xfrm>
            <a:off x="228600" y="1494720"/>
            <a:ext cx="4316760" cy="561960"/>
          </a:xfrm>
          <a:prstGeom prst="rect">
            <a:avLst/>
          </a:prstGeom>
          <a:solidFill>
            <a:srgbClr val="729fcf">
              <a:alpha val="2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8" name=""/>
          <p:cNvSpPr/>
          <p:nvPr/>
        </p:nvSpPr>
        <p:spPr>
          <a:xfrm>
            <a:off x="255240" y="1539000"/>
            <a:ext cx="43160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“As bright or brighter”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217800" y="3987360"/>
            <a:ext cx="4353480" cy="17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►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Identifying and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switching these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dim cell single-color controls to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bead single-color controls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significantly improved unmixing for our panels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181800" y="2142000"/>
            <a:ext cx="4389480" cy="17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Dim antigen-fluorophore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combinations acquired as </a:t>
            </a:r>
            <a:r>
              <a:rPr b="1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cell single-color controls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often have </a:t>
            </a:r>
            <a:r>
              <a:rPr b="0" lang="en-US" sz="22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residual autofluorescence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contribution to their signature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0" y="46800"/>
            <a:ext cx="12190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Residual autofluorescence in dim cell single-color controls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2" name="" descr=""/>
          <p:cNvPicPr/>
          <p:nvPr/>
        </p:nvPicPr>
        <p:blipFill>
          <a:blip r:embed="rId1"/>
          <a:stretch/>
        </p:blipFill>
        <p:spPr>
          <a:xfrm>
            <a:off x="457920" y="6172920"/>
            <a:ext cx="1366920" cy="355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83" name=""/>
          <p:cNvGrpSpPr/>
          <p:nvPr/>
        </p:nvGrpSpPr>
        <p:grpSpPr>
          <a:xfrm>
            <a:off x="4800600" y="1092600"/>
            <a:ext cx="6628680" cy="2107080"/>
            <a:chOff x="4800600" y="1092600"/>
            <a:chExt cx="6628680" cy="2107080"/>
          </a:xfrm>
        </p:grpSpPr>
        <p:pic>
          <p:nvPicPr>
            <p:cNvPr id="384" name="" descr=""/>
            <p:cNvPicPr/>
            <p:nvPr/>
          </p:nvPicPr>
          <p:blipFill>
            <a:blip r:embed="rId2"/>
            <a:srcRect l="0" t="47914" r="29412" b="0"/>
            <a:stretch/>
          </p:blipFill>
          <p:spPr>
            <a:xfrm>
              <a:off x="4800600" y="1100160"/>
              <a:ext cx="6628680" cy="2099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85" name=""/>
            <p:cNvSpPr/>
            <p:nvPr/>
          </p:nvSpPr>
          <p:spPr>
            <a:xfrm>
              <a:off x="5064120" y="1103040"/>
              <a:ext cx="3310920" cy="19296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86" name=""/>
            <p:cNvSpPr/>
            <p:nvPr/>
          </p:nvSpPr>
          <p:spPr>
            <a:xfrm>
              <a:off x="8028000" y="1092600"/>
              <a:ext cx="3310920" cy="19260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pic>
        <p:nvPicPr>
          <p:cNvPr id="387" name="Picture 87" descr="A group of images of a square&#10;&#10;AI-generated content may be incorrect."/>
          <p:cNvPicPr/>
          <p:nvPr/>
        </p:nvPicPr>
        <p:blipFill>
          <a:blip r:embed="rId3"/>
          <a:srcRect l="0" t="67054" r="0" b="0"/>
          <a:stretch/>
        </p:blipFill>
        <p:spPr>
          <a:xfrm>
            <a:off x="5029200" y="3373200"/>
            <a:ext cx="6063480" cy="256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Box 21"/>
          <p:cNvSpPr/>
          <p:nvPr/>
        </p:nvSpPr>
        <p:spPr>
          <a:xfrm>
            <a:off x="5221800" y="5943600"/>
            <a:ext cx="3199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Signature with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residual AF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22"/>
          <p:cNvSpPr/>
          <p:nvPr/>
        </p:nvSpPr>
        <p:spPr>
          <a:xfrm>
            <a:off x="8001000" y="5991120"/>
            <a:ext cx="3199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Signature without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residual AF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 rot="7421400">
            <a:off x="9689760" y="1180800"/>
            <a:ext cx="456480" cy="45648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6d6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Unmixing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2" name="Picture 2" descr=""/>
          <p:cNvPicPr/>
          <p:nvPr/>
        </p:nvPicPr>
        <p:blipFill>
          <a:blip r:embed="rId1"/>
          <a:srcRect l="0" t="0" r="68257" b="0"/>
          <a:stretch/>
        </p:blipFill>
        <p:spPr>
          <a:xfrm>
            <a:off x="-99000" y="491400"/>
            <a:ext cx="2624040" cy="57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3" name="Rectangle 1"/>
          <p:cNvSpPr/>
          <p:nvPr/>
        </p:nvSpPr>
        <p:spPr>
          <a:xfrm>
            <a:off x="2548800" y="697320"/>
            <a:ext cx="5119560" cy="5462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4" name="TextBox 5"/>
          <p:cNvSpPr/>
          <p:nvPr/>
        </p:nvSpPr>
        <p:spPr>
          <a:xfrm>
            <a:off x="7609680" y="3040560"/>
            <a:ext cx="21049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TRU-OLS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8"/>
          <p:cNvSpPr/>
          <p:nvPr/>
        </p:nvSpPr>
        <p:spPr>
          <a:xfrm>
            <a:off x="9716400" y="3044160"/>
            <a:ext cx="21049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TRU-OLS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11"/>
          <p:cNvSpPr/>
          <p:nvPr/>
        </p:nvSpPr>
        <p:spPr>
          <a:xfrm>
            <a:off x="7682040" y="5604480"/>
            <a:ext cx="21049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AutoSpectral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14"/>
          <p:cNvSpPr/>
          <p:nvPr/>
        </p:nvSpPr>
        <p:spPr>
          <a:xfrm>
            <a:off x="9773640" y="5547240"/>
            <a:ext cx="21049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AutoSpectral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Walk-through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8" name="Graphic 16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73360" y="3657600"/>
            <a:ext cx="1846800" cy="184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9" name="Graphic 18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004960" y="1074600"/>
            <a:ext cx="1861920" cy="1861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0" name="Graphic 22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0035720" y="1074600"/>
            <a:ext cx="1877400" cy="187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1" name="Graphic 24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073520" y="3634920"/>
            <a:ext cx="1850760" cy="185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2" name="Arrow: Down 25"/>
          <p:cNvSpPr/>
          <p:nvPr/>
        </p:nvSpPr>
        <p:spPr>
          <a:xfrm rot="16200000">
            <a:off x="185760" y="3089880"/>
            <a:ext cx="519840" cy="679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3" name="Rectangle 26"/>
          <p:cNvSpPr/>
          <p:nvPr/>
        </p:nvSpPr>
        <p:spPr>
          <a:xfrm>
            <a:off x="2689920" y="1850040"/>
            <a:ext cx="4655880" cy="310356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4" name="Rectangle 27"/>
          <p:cNvSpPr/>
          <p:nvPr/>
        </p:nvSpPr>
        <p:spPr>
          <a:xfrm>
            <a:off x="2743200" y="2020320"/>
            <a:ext cx="4507200" cy="28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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Unmixing Method Agnostic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Unmixing in SpectroFlo (with modified single-color and unstained inputs via Luciernaga)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Unmixing in 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- OLS (Luciernaga using Rust)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- TRU-OLS (via Julia wrapper)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  - AutoSpectral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5" name="Picture 28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6" name="" descr=""/>
          <p:cNvPicPr/>
          <p:nvPr/>
        </p:nvPicPr>
        <p:blipFill>
          <a:blip r:embed="rId11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raphic 13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0323720" y="2697480"/>
            <a:ext cx="1475640" cy="14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File Checks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9" name="Picture 2" descr=""/>
          <p:cNvPicPr/>
          <p:nvPr/>
        </p:nvPicPr>
        <p:blipFill>
          <a:blip r:embed="rId3"/>
          <a:srcRect l="0" t="0" r="68257" b="0"/>
          <a:stretch/>
        </p:blipFill>
        <p:spPr>
          <a:xfrm>
            <a:off x="-99000" y="491400"/>
            <a:ext cx="2624040" cy="57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Rectangle 1"/>
          <p:cNvSpPr/>
          <p:nvPr/>
        </p:nvSpPr>
        <p:spPr>
          <a:xfrm>
            <a:off x="2548800" y="697320"/>
            <a:ext cx="5119560" cy="5462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1" name="TextBox 5"/>
          <p:cNvSpPr/>
          <p:nvPr/>
        </p:nvSpPr>
        <p:spPr>
          <a:xfrm>
            <a:off x="7930800" y="2229120"/>
            <a:ext cx="1692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PeacoQC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8"/>
          <p:cNvSpPr/>
          <p:nvPr/>
        </p:nvSpPr>
        <p:spPr>
          <a:xfrm>
            <a:off x="9994320" y="1983600"/>
            <a:ext cx="169236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PeacoQC Vignette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11"/>
          <p:cNvSpPr/>
          <p:nvPr/>
        </p:nvSpPr>
        <p:spPr>
          <a:xfrm>
            <a:off x="8019000" y="4299480"/>
            <a:ext cx="1692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FlowAI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14"/>
          <p:cNvSpPr/>
          <p:nvPr/>
        </p:nvSpPr>
        <p:spPr>
          <a:xfrm>
            <a:off x="10008000" y="4339440"/>
            <a:ext cx="169236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FlowAI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5" name="Graphic 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213400" y="571320"/>
            <a:ext cx="1512360" cy="151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6" name="Graphic 7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0321560" y="564480"/>
            <a:ext cx="1484640" cy="148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7" name="Graphic 10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8241120" y="2695320"/>
            <a:ext cx="1466280" cy="146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8" name="Graphic 17" descr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296920" y="4601160"/>
            <a:ext cx="1475640" cy="147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TextBox 19"/>
          <p:cNvSpPr/>
          <p:nvPr/>
        </p:nvSpPr>
        <p:spPr>
          <a:xfrm>
            <a:off x="7994880" y="5928480"/>
            <a:ext cx="169236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PeacoQC in Rust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Arrow: Down 20"/>
          <p:cNvSpPr/>
          <p:nvPr/>
        </p:nvSpPr>
        <p:spPr>
          <a:xfrm rot="16200000">
            <a:off x="175320" y="4248720"/>
            <a:ext cx="519840" cy="679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1" name="Rectangle 21"/>
          <p:cNvSpPr/>
          <p:nvPr/>
        </p:nvSpPr>
        <p:spPr>
          <a:xfrm>
            <a:off x="2775240" y="3987360"/>
            <a:ext cx="4655880" cy="179568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2" name="Rectangle 23"/>
          <p:cNvSpPr/>
          <p:nvPr/>
        </p:nvSpPr>
        <p:spPr>
          <a:xfrm>
            <a:off x="2828160" y="3880800"/>
            <a:ext cx="4507200" cy="175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Checking for fluidic or laser-related issues in the unmixed files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R: PeacoQC or FlowAI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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Rust: PeacoQC (thanks James!)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3" name="Picture 25" descr=""/>
          <p:cNvPicPr/>
          <p:nvPr/>
        </p:nvPicPr>
        <p:blipFill>
          <a:blip r:embed="rId12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4" name="" descr=""/>
          <p:cNvPicPr/>
          <p:nvPr/>
        </p:nvPicPr>
        <p:blipFill>
          <a:blip r:embed="rId13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Manual and Automated Gating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6" name="Picture 2" descr=""/>
          <p:cNvPicPr/>
          <p:nvPr/>
        </p:nvPicPr>
        <p:blipFill>
          <a:blip r:embed="rId1"/>
          <a:srcRect l="0" t="0" r="48220" b="0"/>
          <a:stretch/>
        </p:blipFill>
        <p:spPr>
          <a:xfrm>
            <a:off x="-99000" y="491400"/>
            <a:ext cx="4281480" cy="57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Rectangle 1"/>
          <p:cNvSpPr/>
          <p:nvPr/>
        </p:nvSpPr>
        <p:spPr>
          <a:xfrm>
            <a:off x="4103280" y="697320"/>
            <a:ext cx="3565080" cy="5462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8" name="TextBox 3"/>
          <p:cNvSpPr/>
          <p:nvPr/>
        </p:nvSpPr>
        <p:spPr>
          <a:xfrm>
            <a:off x="7826760" y="2091600"/>
            <a:ext cx="21049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flowGate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4"/>
          <p:cNvSpPr/>
          <p:nvPr/>
        </p:nvSpPr>
        <p:spPr>
          <a:xfrm>
            <a:off x="9785160" y="2084040"/>
            <a:ext cx="21049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flowGate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5"/>
          <p:cNvSpPr/>
          <p:nvPr/>
        </p:nvSpPr>
        <p:spPr>
          <a:xfrm>
            <a:off x="7841880" y="4038480"/>
            <a:ext cx="21049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openCyto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6"/>
          <p:cNvSpPr/>
          <p:nvPr/>
        </p:nvSpPr>
        <p:spPr>
          <a:xfrm>
            <a:off x="9727920" y="4038480"/>
            <a:ext cx="21049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openCyto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Walk-through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7"/>
          <p:cNvSpPr/>
          <p:nvPr/>
        </p:nvSpPr>
        <p:spPr>
          <a:xfrm>
            <a:off x="7868520" y="5939640"/>
            <a:ext cx="21049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flowMagic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8"/>
          <p:cNvSpPr/>
          <p:nvPr/>
        </p:nvSpPr>
        <p:spPr>
          <a:xfrm>
            <a:off x="9697320" y="5761440"/>
            <a:ext cx="2104920" cy="70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ct val="10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flowMagic Manual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4" name="Graphic 10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416440" y="617400"/>
            <a:ext cx="1393560" cy="139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5" name="Graphic 12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276560" y="626040"/>
            <a:ext cx="1384560" cy="138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6" name="Graphic 14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402040" y="2558880"/>
            <a:ext cx="1396440" cy="139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7" name="Graphic 16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303920" y="2520000"/>
            <a:ext cx="1449000" cy="144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8" name="Graphic 18" descr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427600" y="4415400"/>
            <a:ext cx="1405080" cy="140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9" name="Graphic 22" descr=""/>
          <p:cNvPicPr/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0285560" y="4452480"/>
            <a:ext cx="1375920" cy="137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0" name="Rectangle 23"/>
          <p:cNvSpPr/>
          <p:nvPr/>
        </p:nvSpPr>
        <p:spPr>
          <a:xfrm>
            <a:off x="4231800" y="2860200"/>
            <a:ext cx="3241800" cy="319932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1" name="Rectangle 24"/>
          <p:cNvSpPr/>
          <p:nvPr/>
        </p:nvSpPr>
        <p:spPr>
          <a:xfrm>
            <a:off x="4165920" y="2926080"/>
            <a:ext cx="3393000" cy="316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Doublets, Debris, Dead cell cleanup (in R or FlowJo)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Automated Gating for major cell subsets (openCyto or flowMagic)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automated gate placements visualized via export to a .pdf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Arrow: Down 25"/>
          <p:cNvSpPr/>
          <p:nvPr/>
        </p:nvSpPr>
        <p:spPr>
          <a:xfrm rot="5400000">
            <a:off x="4025520" y="919440"/>
            <a:ext cx="519840" cy="679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3" name="Arrow: Down 27"/>
          <p:cNvSpPr/>
          <p:nvPr/>
        </p:nvSpPr>
        <p:spPr>
          <a:xfrm rot="5400000">
            <a:off x="4018320" y="1975680"/>
            <a:ext cx="519840" cy="679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44" name="Picture 28" descr=""/>
          <p:cNvPicPr/>
          <p:nvPr/>
        </p:nvPicPr>
        <p:blipFill>
          <a:blip r:embed="rId14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5" name="" descr=""/>
          <p:cNvPicPr/>
          <p:nvPr/>
        </p:nvPicPr>
        <p:blipFill>
          <a:blip r:embed="rId15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Save to FlowJo v10 .wsp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7" name="Picture 2" descr=""/>
          <p:cNvPicPr/>
          <p:nvPr/>
        </p:nvPicPr>
        <p:blipFill>
          <a:blip r:embed="rId1"/>
          <a:srcRect l="0" t="0" r="48220" b="0"/>
          <a:stretch/>
        </p:blipFill>
        <p:spPr>
          <a:xfrm>
            <a:off x="-99000" y="491400"/>
            <a:ext cx="4281480" cy="57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8" name="Rectangle 1"/>
          <p:cNvSpPr/>
          <p:nvPr/>
        </p:nvSpPr>
        <p:spPr>
          <a:xfrm>
            <a:off x="4103280" y="697320"/>
            <a:ext cx="3565080" cy="54626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9" name="TextBox 3"/>
          <p:cNvSpPr/>
          <p:nvPr/>
        </p:nvSpPr>
        <p:spPr>
          <a:xfrm>
            <a:off x="7826760" y="2091600"/>
            <a:ext cx="220788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flowWorkspace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4"/>
          <p:cNvSpPr/>
          <p:nvPr/>
        </p:nvSpPr>
        <p:spPr>
          <a:xfrm>
            <a:off x="9785160" y="2084040"/>
            <a:ext cx="2104920" cy="2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DejaVu Sans"/>
              </a:rPr>
              <a:t>CytoML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5"/>
          <p:cNvSpPr/>
          <p:nvPr/>
        </p:nvSpPr>
        <p:spPr>
          <a:xfrm>
            <a:off x="7841880" y="4038480"/>
            <a:ext cx="21049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FlowJo to 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Box 6"/>
          <p:cNvSpPr/>
          <p:nvPr/>
        </p:nvSpPr>
        <p:spPr>
          <a:xfrm>
            <a:off x="9727920" y="4038480"/>
            <a:ext cx="21049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 to FlowJo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7"/>
          <p:cNvSpPr/>
          <p:nvPr/>
        </p:nvSpPr>
        <p:spPr>
          <a:xfrm>
            <a:off x="7779960" y="5997600"/>
            <a:ext cx="24631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Data for Statistics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4" name="Graphic 1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481240" y="709560"/>
            <a:ext cx="1316160" cy="131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5" name="Graphic 15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393200" y="663120"/>
            <a:ext cx="1313280" cy="131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6" name="Graphic 19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503920" y="2584080"/>
            <a:ext cx="1316160" cy="131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7" name="Graphic 21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310040" y="2584080"/>
            <a:ext cx="1316160" cy="131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8" name="Graphic 24" descr="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488800" y="4572000"/>
            <a:ext cx="1340640" cy="134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9" name="Rectangle 25"/>
          <p:cNvSpPr/>
          <p:nvPr/>
        </p:nvSpPr>
        <p:spPr>
          <a:xfrm>
            <a:off x="4178520" y="890640"/>
            <a:ext cx="3383640" cy="238104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0" name="Rectangle 26"/>
          <p:cNvSpPr/>
          <p:nvPr/>
        </p:nvSpPr>
        <p:spPr>
          <a:xfrm>
            <a:off x="4155120" y="1041840"/>
            <a:ext cx="3424680" cy="25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Everything is saved to a FlowJo v10 .wsp, via CytoML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Any automated gates that need adjustment get corrected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Arrow: Down 27"/>
          <p:cNvSpPr/>
          <p:nvPr/>
        </p:nvSpPr>
        <p:spPr>
          <a:xfrm rot="5400000">
            <a:off x="4103280" y="3230280"/>
            <a:ext cx="519840" cy="679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2" name="Rectangle 28"/>
          <p:cNvSpPr/>
          <p:nvPr/>
        </p:nvSpPr>
        <p:spPr>
          <a:xfrm>
            <a:off x="4160880" y="4051080"/>
            <a:ext cx="3383640" cy="89208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3" name="Rectangle 29"/>
          <p:cNvSpPr/>
          <p:nvPr/>
        </p:nvSpPr>
        <p:spPr>
          <a:xfrm>
            <a:off x="4137480" y="4128840"/>
            <a:ext cx="3424680" cy="10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Major cell subset statistics exported and analyzed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Arrow: Down 30"/>
          <p:cNvSpPr/>
          <p:nvPr/>
        </p:nvSpPr>
        <p:spPr>
          <a:xfrm rot="5400000">
            <a:off x="4085640" y="4871160"/>
            <a:ext cx="519840" cy="679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65" name="Picture 31" descr=""/>
          <p:cNvPicPr/>
          <p:nvPr/>
        </p:nvPicPr>
        <p:blipFill>
          <a:blip r:embed="rId12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6" name="" descr=""/>
          <p:cNvPicPr/>
          <p:nvPr/>
        </p:nvPicPr>
        <p:blipFill>
          <a:blip r:embed="rId13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Iterating through cell subsets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8" name="Picture 2" descr=""/>
          <p:cNvPicPr/>
          <p:nvPr/>
        </p:nvPicPr>
        <p:blipFill>
          <a:blip r:embed="rId1"/>
          <a:srcRect l="0" t="0" r="6365" b="1419"/>
          <a:stretch/>
        </p:blipFill>
        <p:spPr>
          <a:xfrm>
            <a:off x="-99000" y="491400"/>
            <a:ext cx="7742880" cy="57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Rectangle 1"/>
          <p:cNvSpPr/>
          <p:nvPr/>
        </p:nvSpPr>
        <p:spPr>
          <a:xfrm>
            <a:off x="5911560" y="697320"/>
            <a:ext cx="2338200" cy="5011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0" name="TextBox 3"/>
          <p:cNvSpPr/>
          <p:nvPr/>
        </p:nvSpPr>
        <p:spPr>
          <a:xfrm>
            <a:off x="10053000" y="2738880"/>
            <a:ext cx="197136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GatingSets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4"/>
          <p:cNvSpPr/>
          <p:nvPr/>
        </p:nvSpPr>
        <p:spPr>
          <a:xfrm>
            <a:off x="10121400" y="5346360"/>
            <a:ext cx="197136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9"/>
          <p:cNvSpPr/>
          <p:nvPr/>
        </p:nvSpPr>
        <p:spPr>
          <a:xfrm>
            <a:off x="8113680" y="2738880"/>
            <a:ext cx="205020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Subset Export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Box 10"/>
          <p:cNvSpPr/>
          <p:nvPr/>
        </p:nvSpPr>
        <p:spPr>
          <a:xfrm>
            <a:off x="8136360" y="5343120"/>
            <a:ext cx="1971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4" name="Graphic 1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7400" y="3582360"/>
            <a:ext cx="1822320" cy="162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5" name="Graphic 1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372320" y="3570480"/>
            <a:ext cx="1818720" cy="162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6" name="Graphic 16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22120" y="914400"/>
            <a:ext cx="1883160" cy="168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7" name="Graphic 18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264680" y="929160"/>
            <a:ext cx="1811160" cy="16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8" name="Arrow: Down 19"/>
          <p:cNvSpPr/>
          <p:nvPr/>
        </p:nvSpPr>
        <p:spPr>
          <a:xfrm rot="5400000">
            <a:off x="5964120" y="1646280"/>
            <a:ext cx="519840" cy="679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9" name="Rectangle 20"/>
          <p:cNvSpPr/>
          <p:nvPr/>
        </p:nvSpPr>
        <p:spPr>
          <a:xfrm>
            <a:off x="6119640" y="2360520"/>
            <a:ext cx="2059200" cy="266796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0" name="Rectangle 21"/>
          <p:cNvSpPr/>
          <p:nvPr/>
        </p:nvSpPr>
        <p:spPr>
          <a:xfrm>
            <a:off x="6095880" y="2445480"/>
            <a:ext cx="208296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Cell subset of interest exported out as own .fcs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cell subset .fcs files brought into 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1" name="Picture 22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2" name="" descr=""/>
          <p:cNvPicPr/>
          <p:nvPr/>
        </p:nvPicPr>
        <p:blipFill>
          <a:blip r:embed="rId11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Coereba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4" name="Picture 2" descr=""/>
          <p:cNvPicPr/>
          <p:nvPr/>
        </p:nvPicPr>
        <p:blipFill>
          <a:blip r:embed="rId1"/>
          <a:srcRect l="0" t="0" r="6365" b="1419"/>
          <a:stretch/>
        </p:blipFill>
        <p:spPr>
          <a:xfrm>
            <a:off x="-99000" y="491400"/>
            <a:ext cx="7742880" cy="570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5" name="Rectangle 1"/>
          <p:cNvSpPr/>
          <p:nvPr/>
        </p:nvSpPr>
        <p:spPr>
          <a:xfrm>
            <a:off x="5911560" y="697320"/>
            <a:ext cx="2338200" cy="5011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6" name="TextBox 3"/>
          <p:cNvSpPr/>
          <p:nvPr/>
        </p:nvSpPr>
        <p:spPr>
          <a:xfrm>
            <a:off x="10053000" y="2738880"/>
            <a:ext cx="197136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GatingSets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Box 4"/>
          <p:cNvSpPr/>
          <p:nvPr/>
        </p:nvSpPr>
        <p:spPr>
          <a:xfrm>
            <a:off x="10121400" y="5346360"/>
            <a:ext cx="197136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9"/>
          <p:cNvSpPr/>
          <p:nvPr/>
        </p:nvSpPr>
        <p:spPr>
          <a:xfrm>
            <a:off x="8113680" y="2738880"/>
            <a:ext cx="205020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Subset Export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Walkthrough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Box 10"/>
          <p:cNvSpPr/>
          <p:nvPr/>
        </p:nvSpPr>
        <p:spPr>
          <a:xfrm>
            <a:off x="8136360" y="5343120"/>
            <a:ext cx="197136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0" name="Graphic 1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357400" y="3582360"/>
            <a:ext cx="1822320" cy="162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1" name="Graphic 1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372320" y="3570480"/>
            <a:ext cx="1818720" cy="162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2" name="Graphic 16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22120" y="914400"/>
            <a:ext cx="1883160" cy="168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3" name="Graphic 18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264680" y="929160"/>
            <a:ext cx="1811160" cy="161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4" name="Arrow: Down 19"/>
          <p:cNvSpPr/>
          <p:nvPr/>
        </p:nvSpPr>
        <p:spPr>
          <a:xfrm rot="5400000">
            <a:off x="6176880" y="3251520"/>
            <a:ext cx="519840" cy="679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5" name="Rectangle 21"/>
          <p:cNvSpPr/>
          <p:nvPr/>
        </p:nvSpPr>
        <p:spPr>
          <a:xfrm>
            <a:off x="5989680" y="875880"/>
            <a:ext cx="2082960" cy="70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Rectangle 8"/>
          <p:cNvSpPr/>
          <p:nvPr/>
        </p:nvSpPr>
        <p:spPr>
          <a:xfrm>
            <a:off x="6095880" y="2828160"/>
            <a:ext cx="1866600" cy="42408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7" name="TextBox 6"/>
          <p:cNvSpPr/>
          <p:nvPr/>
        </p:nvSpPr>
        <p:spPr>
          <a:xfrm>
            <a:off x="6095880" y="2845440"/>
            <a:ext cx="18349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8" name="Picture 11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9" name="" descr=""/>
          <p:cNvPicPr/>
          <p:nvPr/>
        </p:nvPicPr>
        <p:blipFill>
          <a:blip r:embed="rId11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1" name="Picture 4" descr=""/>
          <p:cNvPicPr/>
          <p:nvPr/>
        </p:nvPicPr>
        <p:blipFill>
          <a:blip r:embed="rId1"/>
          <a:srcRect l="28389" t="0" r="0" b="0"/>
          <a:stretch/>
        </p:blipFill>
        <p:spPr>
          <a:xfrm>
            <a:off x="3166200" y="293040"/>
            <a:ext cx="6563160" cy="641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2" name="Picture 5" descr=""/>
          <p:cNvPicPr/>
          <p:nvPr/>
        </p:nvPicPr>
        <p:blipFill>
          <a:blip r:embed="rId2"/>
          <a:srcRect l="0" t="26724" r="72153" b="28563"/>
          <a:stretch/>
        </p:blipFill>
        <p:spPr>
          <a:xfrm>
            <a:off x="373320" y="777240"/>
            <a:ext cx="2551680" cy="286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3" name="TextBox 8"/>
          <p:cNvSpPr/>
          <p:nvPr/>
        </p:nvSpPr>
        <p:spPr>
          <a:xfrm>
            <a:off x="499680" y="5584680"/>
            <a:ext cx="21049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4" name="Graphic 9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60760" y="3645360"/>
            <a:ext cx="1831680" cy="183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5" name="Picture 10" descr=""/>
          <p:cNvPicPr/>
          <p:nvPr/>
        </p:nvPicPr>
        <p:blipFill>
          <a:blip r:embed="rId5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6" name="" descr=""/>
          <p:cNvPicPr/>
          <p:nvPr/>
        </p:nvPicPr>
        <p:blipFill>
          <a:blip r:embed="rId6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Grouping cells that share every marker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8" name="Picture 5" descr=""/>
          <p:cNvPicPr/>
          <p:nvPr/>
        </p:nvPicPr>
        <p:blipFill>
          <a:blip r:embed="rId1"/>
          <a:srcRect l="0" t="26726" r="72154" b="28564"/>
          <a:stretch/>
        </p:blipFill>
        <p:spPr>
          <a:xfrm>
            <a:off x="0" y="-132840"/>
            <a:ext cx="1583280" cy="177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9" name="Picture 2" descr=""/>
          <p:cNvPicPr/>
          <p:nvPr/>
        </p:nvPicPr>
        <p:blipFill>
          <a:blip r:embed="rId2"/>
          <a:stretch/>
        </p:blipFill>
        <p:spPr>
          <a:xfrm>
            <a:off x="1523880" y="1185480"/>
            <a:ext cx="9142920" cy="639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0" name="Arrow: Down 3"/>
          <p:cNvSpPr/>
          <p:nvPr/>
        </p:nvSpPr>
        <p:spPr>
          <a:xfrm>
            <a:off x="7251480" y="829440"/>
            <a:ext cx="519840" cy="7538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11" name="Picture 6" descr=""/>
          <p:cNvPicPr/>
          <p:nvPr/>
        </p:nvPicPr>
        <p:blipFill>
          <a:blip r:embed="rId3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2" name="" descr=""/>
          <p:cNvPicPr/>
          <p:nvPr/>
        </p:nvPicPr>
        <p:blipFill>
          <a:blip r:embed="rId4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Initial automated gate, with ability to adjust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4" name="Picture 5" descr=""/>
          <p:cNvPicPr/>
          <p:nvPr/>
        </p:nvPicPr>
        <p:blipFill>
          <a:blip r:embed="rId1"/>
          <a:srcRect l="0" t="26726" r="72154" b="28564"/>
          <a:stretch/>
        </p:blipFill>
        <p:spPr>
          <a:xfrm>
            <a:off x="0" y="-132840"/>
            <a:ext cx="1583280" cy="177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5" name="Picture 8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6" name="Picture 2" descr=""/>
          <p:cNvPicPr/>
          <p:nvPr/>
        </p:nvPicPr>
        <p:blipFill>
          <a:blip r:embed="rId3"/>
          <a:srcRect l="0" t="0" r="50000" b="26630"/>
          <a:stretch/>
        </p:blipFill>
        <p:spPr>
          <a:xfrm>
            <a:off x="1844640" y="1020240"/>
            <a:ext cx="4250160" cy="445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7" name="TextBox 3"/>
          <p:cNvSpPr/>
          <p:nvPr/>
        </p:nvSpPr>
        <p:spPr>
          <a:xfrm>
            <a:off x="6531840" y="1122480"/>
            <a:ext cx="4450320" cy="37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Initial gates for designated markers calculated via openCyto (mindensity)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Ability to update gate_range constraints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Launch a Shiny app and designate interactively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6557400" y="1407600"/>
            <a:ext cx="3957480" cy="1370880"/>
          </a:xfrm>
          <a:prstGeom prst="rect">
            <a:avLst/>
          </a:prstGeom>
          <a:solidFill>
            <a:srgbClr val="f7d1d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6557400" y="3999600"/>
            <a:ext cx="3957480" cy="943560"/>
          </a:xfrm>
          <a:prstGeom prst="rect">
            <a:avLst/>
          </a:prstGeom>
          <a:solidFill>
            <a:srgbClr val="b4c7d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6531840" y="2905920"/>
            <a:ext cx="3957480" cy="943560"/>
          </a:xfrm>
          <a:prstGeom prst="rect">
            <a:avLst/>
          </a:prstGeom>
          <a:solidFill>
            <a:srgbClr val="ff972f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1" name="" descr=""/>
          <p:cNvPicPr/>
          <p:nvPr/>
        </p:nvPicPr>
        <p:blipFill>
          <a:blip r:embed="rId4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CoerebaID column gets added to the .fcs file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3" name="Picture 5" descr=""/>
          <p:cNvPicPr/>
          <p:nvPr/>
        </p:nvPicPr>
        <p:blipFill>
          <a:blip r:embed="rId1"/>
          <a:srcRect l="0" t="26726" r="72154" b="28564"/>
          <a:stretch/>
        </p:blipFill>
        <p:spPr>
          <a:xfrm>
            <a:off x="0" y="-132840"/>
            <a:ext cx="1583280" cy="177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4" name="Picture 4" descr=""/>
          <p:cNvPicPr/>
          <p:nvPr/>
        </p:nvPicPr>
        <p:blipFill>
          <a:blip r:embed="rId2"/>
          <a:stretch/>
        </p:blipFill>
        <p:spPr>
          <a:xfrm>
            <a:off x="7691040" y="776880"/>
            <a:ext cx="7576560" cy="530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5" name="Picture 7" descr=""/>
          <p:cNvPicPr/>
          <p:nvPr/>
        </p:nvPicPr>
        <p:blipFill>
          <a:blip r:embed="rId3"/>
          <a:srcRect l="0" t="0" r="0" b="54009"/>
          <a:stretch/>
        </p:blipFill>
        <p:spPr>
          <a:xfrm>
            <a:off x="-219600" y="2347920"/>
            <a:ext cx="7831440" cy="252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6" name="Picture 8" descr=""/>
          <p:cNvPicPr/>
          <p:nvPr/>
        </p:nvPicPr>
        <p:blipFill>
          <a:blip r:embed="rId4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7" name="" descr=""/>
          <p:cNvPicPr/>
          <p:nvPr/>
        </p:nvPicPr>
        <p:blipFill>
          <a:blip r:embed="rId5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Summarized Experiment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9" name="Picture 2" descr=""/>
          <p:cNvPicPr/>
          <p:nvPr/>
        </p:nvPicPr>
        <p:blipFill>
          <a:blip r:embed="rId1"/>
          <a:srcRect l="0" t="0" r="27212" b="0"/>
          <a:stretch/>
        </p:blipFill>
        <p:spPr>
          <a:xfrm>
            <a:off x="-99000" y="491400"/>
            <a:ext cx="6018840" cy="57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0" name="Rectangle 1"/>
          <p:cNvSpPr/>
          <p:nvPr/>
        </p:nvSpPr>
        <p:spPr>
          <a:xfrm>
            <a:off x="5897880" y="733680"/>
            <a:ext cx="2670840" cy="54259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1" name="Arrow: Down 3"/>
          <p:cNvSpPr/>
          <p:nvPr/>
        </p:nvSpPr>
        <p:spPr>
          <a:xfrm rot="5400000">
            <a:off x="6105960" y="4750920"/>
            <a:ext cx="519840" cy="679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2" name="Rectangle 4"/>
          <p:cNvSpPr/>
          <p:nvPr/>
        </p:nvSpPr>
        <p:spPr>
          <a:xfrm>
            <a:off x="5960160" y="2318040"/>
            <a:ext cx="2491920" cy="2391120"/>
          </a:xfrm>
          <a:prstGeom prst="rect">
            <a:avLst/>
          </a:prstGeom>
          <a:solidFill>
            <a:schemeClr val="bg2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3" name="Rectangle 5"/>
          <p:cNvSpPr/>
          <p:nvPr/>
        </p:nvSpPr>
        <p:spPr>
          <a:xfrm>
            <a:off x="5978880" y="2509200"/>
            <a:ext cx="2451600" cy="22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Data stored in a Summarized Experiment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Interoperability with Bioconductor statistics packages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4" name="Picture 6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5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Summarized Experiment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Rectangle 50"/>
          <p:cNvSpPr/>
          <p:nvPr/>
        </p:nvSpPr>
        <p:spPr>
          <a:xfrm>
            <a:off x="7864560" y="1079280"/>
            <a:ext cx="3873600" cy="452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Permits rapid re-aggregation of the terminal nodes for re-evaluation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Ties in with downstream Bioconductor statistics packages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Portable. Don’t like how we aggregated groups of cells? File is small enough to store in the same data repository as .fcs files for subsequent re-analysis.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Filterable by metadata or node.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- Nodes only in HEU-hi?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- Nodes unique to one individual?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8" name="Picture 2" descr=""/>
          <p:cNvPicPr/>
          <p:nvPr/>
        </p:nvPicPr>
        <p:blipFill>
          <a:blip r:embed="rId1"/>
          <a:stretch/>
        </p:blipFill>
        <p:spPr>
          <a:xfrm>
            <a:off x="718560" y="705240"/>
            <a:ext cx="7187400" cy="5606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9" name="Picture 3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"/>
          <p:cNvSpPr/>
          <p:nvPr/>
        </p:nvSpPr>
        <p:spPr>
          <a:xfrm>
            <a:off x="7864560" y="1079280"/>
            <a:ext cx="3793320" cy="977400"/>
          </a:xfrm>
          <a:prstGeom prst="rect">
            <a:avLst/>
          </a:prstGeom>
          <a:solidFill>
            <a:srgbClr val="ff4000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7864560" y="2186280"/>
            <a:ext cx="3793320" cy="748800"/>
          </a:xfrm>
          <a:prstGeom prst="rect">
            <a:avLst/>
          </a:prstGeom>
          <a:solidFill>
            <a:srgbClr val="ffb66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7864560" y="3007800"/>
            <a:ext cx="3793320" cy="1442880"/>
          </a:xfrm>
          <a:prstGeom prst="rect">
            <a:avLst/>
          </a:prstGeom>
          <a:solidFill>
            <a:srgbClr val="b4c7d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7864560" y="4572000"/>
            <a:ext cx="3793320" cy="1029240"/>
          </a:xfrm>
          <a:prstGeom prst="rect">
            <a:avLst/>
          </a:prstGeom>
          <a:solidFill>
            <a:srgbClr val="afd095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4" name="" descr=""/>
          <p:cNvPicPr/>
          <p:nvPr/>
        </p:nvPicPr>
        <p:blipFill>
          <a:blip r:embed="rId3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title"/>
          </p:nvPr>
        </p:nvSpPr>
        <p:spPr>
          <a:xfrm>
            <a:off x="1063080" y="0"/>
            <a:ext cx="10512360" cy="69552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Retrieval of marker expressions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6" name="Picture 151" descr=""/>
          <p:cNvPicPr/>
          <p:nvPr/>
        </p:nvPicPr>
        <p:blipFill>
          <a:blip r:embed="rId1"/>
          <a:stretch/>
        </p:blipFill>
        <p:spPr>
          <a:xfrm>
            <a:off x="72000" y="108000"/>
            <a:ext cx="1844640" cy="159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7" name="Graphic 15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515600" y="0"/>
            <a:ext cx="1596960" cy="159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8" name="Picture 2" descr=""/>
          <p:cNvPicPr/>
          <p:nvPr/>
        </p:nvPicPr>
        <p:blipFill>
          <a:blip r:embed="rId4"/>
          <a:stretch/>
        </p:blipFill>
        <p:spPr>
          <a:xfrm>
            <a:off x="1863720" y="1362240"/>
            <a:ext cx="8463600" cy="45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9" name="" descr=""/>
          <p:cNvPicPr/>
          <p:nvPr/>
        </p:nvPicPr>
        <p:blipFill>
          <a:blip r:embed="rId5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0" name="Picture 60" descr=""/>
          <p:cNvPicPr/>
          <p:nvPr/>
        </p:nvPicPr>
        <p:blipFill>
          <a:blip r:embed="rId6"/>
          <a:stretch/>
        </p:blipFill>
        <p:spPr>
          <a:xfrm>
            <a:off x="10435680" y="6172560"/>
            <a:ext cx="1141920" cy="39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Normalization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2" name="Picture 2" descr=""/>
          <p:cNvPicPr/>
          <p:nvPr/>
        </p:nvPicPr>
        <p:blipFill>
          <a:blip r:embed="rId1"/>
          <a:stretch/>
        </p:blipFill>
        <p:spPr>
          <a:xfrm>
            <a:off x="-99000" y="491400"/>
            <a:ext cx="8269200" cy="57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TextBox 3"/>
          <p:cNvSpPr/>
          <p:nvPr/>
        </p:nvSpPr>
        <p:spPr>
          <a:xfrm>
            <a:off x="9582480" y="3025080"/>
            <a:ext cx="21049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CytoNorm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Box 4"/>
          <p:cNvSpPr/>
          <p:nvPr/>
        </p:nvSpPr>
        <p:spPr>
          <a:xfrm>
            <a:off x="9693720" y="5547240"/>
            <a:ext cx="21049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CyCombine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Box 9"/>
          <p:cNvSpPr/>
          <p:nvPr/>
        </p:nvSpPr>
        <p:spPr>
          <a:xfrm>
            <a:off x="7718760" y="3014280"/>
            <a:ext cx="21049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CytoNorm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Box 10"/>
          <p:cNvSpPr/>
          <p:nvPr/>
        </p:nvSpPr>
        <p:spPr>
          <a:xfrm>
            <a:off x="7696440" y="5539320"/>
            <a:ext cx="21049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CyCombine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7" name="Graphic 12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40600" y="3577680"/>
            <a:ext cx="1886040" cy="1886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8" name="Graphic 14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050120" y="3641760"/>
            <a:ext cx="1833120" cy="183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9" name="Graphic 16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100360" y="1054080"/>
            <a:ext cx="1805040" cy="180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0" name="Graphic 18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9972720" y="1065960"/>
            <a:ext cx="1825200" cy="182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1" name="Arrow: Down 19"/>
          <p:cNvSpPr/>
          <p:nvPr/>
        </p:nvSpPr>
        <p:spPr>
          <a:xfrm rot="5400000">
            <a:off x="7328520" y="923040"/>
            <a:ext cx="519840" cy="679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62" name="Picture 20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3" name="" descr=""/>
          <p:cNvPicPr/>
          <p:nvPr/>
        </p:nvPicPr>
        <p:blipFill>
          <a:blip r:embed="rId11"/>
          <a:stretch/>
        </p:blipFill>
        <p:spPr>
          <a:xfrm>
            <a:off x="231120" y="628128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Clustering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5" name="Picture 2" descr=""/>
          <p:cNvPicPr/>
          <p:nvPr/>
        </p:nvPicPr>
        <p:blipFill>
          <a:blip r:embed="rId1"/>
          <a:stretch/>
        </p:blipFill>
        <p:spPr>
          <a:xfrm>
            <a:off x="-99000" y="491400"/>
            <a:ext cx="8269200" cy="57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6" name="TextBox 3"/>
          <p:cNvSpPr/>
          <p:nvPr/>
        </p:nvSpPr>
        <p:spPr>
          <a:xfrm>
            <a:off x="9624960" y="2940120"/>
            <a:ext cx="21049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FlowSOM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Vignettes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Box 9"/>
          <p:cNvSpPr/>
          <p:nvPr/>
        </p:nvSpPr>
        <p:spPr>
          <a:xfrm>
            <a:off x="7707960" y="2940120"/>
            <a:ext cx="21049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FlowSOM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8" name="Graphic 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25840" y="947520"/>
            <a:ext cx="1805040" cy="180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9" name="Graphic 7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929160" y="937080"/>
            <a:ext cx="1847520" cy="184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0" name="Arrow: Down 8"/>
          <p:cNvSpPr/>
          <p:nvPr/>
        </p:nvSpPr>
        <p:spPr>
          <a:xfrm rot="5400000">
            <a:off x="7232760" y="2028960"/>
            <a:ext cx="519840" cy="679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71" name="Picture 11" descr=""/>
          <p:cNvPicPr/>
          <p:nvPr/>
        </p:nvPicPr>
        <p:blipFill>
          <a:blip r:embed="rId6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2" name="" descr=""/>
          <p:cNvPicPr/>
          <p:nvPr/>
        </p:nvPicPr>
        <p:blipFill>
          <a:blip r:embed="rId7"/>
          <a:stretch/>
        </p:blipFill>
        <p:spPr>
          <a:xfrm>
            <a:off x="230760" y="628092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Pipeline: Dimensionality Visualization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4" name="Picture 2" descr=""/>
          <p:cNvPicPr/>
          <p:nvPr/>
        </p:nvPicPr>
        <p:blipFill>
          <a:blip r:embed="rId1"/>
          <a:stretch/>
        </p:blipFill>
        <p:spPr>
          <a:xfrm>
            <a:off x="-99000" y="491400"/>
            <a:ext cx="8269200" cy="578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5" name="TextBox 3"/>
          <p:cNvSpPr/>
          <p:nvPr/>
        </p:nvSpPr>
        <p:spPr>
          <a:xfrm>
            <a:off x="9624960" y="2940120"/>
            <a:ext cx="21049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UMAP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Wrapper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Box 9"/>
          <p:cNvSpPr/>
          <p:nvPr/>
        </p:nvSpPr>
        <p:spPr>
          <a:xfrm>
            <a:off x="7707960" y="2940120"/>
            <a:ext cx="21049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UMAP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Box 1"/>
          <p:cNvSpPr/>
          <p:nvPr/>
        </p:nvSpPr>
        <p:spPr>
          <a:xfrm>
            <a:off x="9660600" y="5346360"/>
            <a:ext cx="21049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PaCMAP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Wrapper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Box 4"/>
          <p:cNvSpPr/>
          <p:nvPr/>
        </p:nvSpPr>
        <p:spPr>
          <a:xfrm>
            <a:off x="7860240" y="5420880"/>
            <a:ext cx="21049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PaCMAP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9" name="Graphic 8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8025840" y="1011600"/>
            <a:ext cx="1815840" cy="181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0" name="Graphic 11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121600" y="3429000"/>
            <a:ext cx="1794600" cy="179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1" name="Graphic 13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9956880" y="1028520"/>
            <a:ext cx="1787760" cy="178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2" name="Graphic 14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002960" y="3429000"/>
            <a:ext cx="1787760" cy="178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3" name="Arrow: Down 15"/>
          <p:cNvSpPr/>
          <p:nvPr/>
        </p:nvSpPr>
        <p:spPr>
          <a:xfrm rot="5400000">
            <a:off x="7211520" y="3088440"/>
            <a:ext cx="519840" cy="679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8a3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84" name="Picture 16" descr=""/>
          <p:cNvPicPr/>
          <p:nvPr/>
        </p:nvPicPr>
        <p:blipFill>
          <a:blip r:embed="rId10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5" name="" descr=""/>
          <p:cNvPicPr/>
          <p:nvPr/>
        </p:nvPicPr>
        <p:blipFill>
          <a:blip r:embed="rId11"/>
          <a:stretch/>
        </p:blipFill>
        <p:spPr>
          <a:xfrm>
            <a:off x="230760" y="617292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fontScale="92500"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Ability to contrast unsupervised methods vs. “manual” ground-truth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7" name="Picture 4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8" name="" descr=""/>
          <p:cNvPicPr/>
          <p:nvPr/>
        </p:nvPicPr>
        <p:blipFill>
          <a:blip r:embed="rId2"/>
          <a:stretch/>
        </p:blipFill>
        <p:spPr>
          <a:xfrm>
            <a:off x="914400" y="1504080"/>
            <a:ext cx="10283760" cy="420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9" name="" descr=""/>
          <p:cNvPicPr/>
          <p:nvPr/>
        </p:nvPicPr>
        <p:blipFill>
          <a:blip r:embed="rId3"/>
          <a:stretch/>
        </p:blipFill>
        <p:spPr>
          <a:xfrm>
            <a:off x="457560" y="617256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Retrieving and re-enumerating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1" name="Picture 1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2" name="" descr=""/>
          <p:cNvPicPr/>
          <p:nvPr/>
        </p:nvPicPr>
        <p:blipFill>
          <a:blip r:embed="rId2"/>
          <a:stretch/>
        </p:blipFill>
        <p:spPr>
          <a:xfrm>
            <a:off x="457560" y="6172560"/>
            <a:ext cx="1366920" cy="35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3" name="" descr=""/>
          <p:cNvPicPr/>
          <p:nvPr/>
        </p:nvPicPr>
        <p:blipFill>
          <a:blip r:embed="rId3"/>
          <a:srcRect l="0" t="0" r="75396" b="50082"/>
          <a:stretch/>
        </p:blipFill>
        <p:spPr>
          <a:xfrm>
            <a:off x="685800" y="1438200"/>
            <a:ext cx="2616120" cy="224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4" name="" descr=""/>
          <p:cNvPicPr/>
          <p:nvPr/>
        </p:nvPicPr>
        <p:blipFill>
          <a:blip r:embed="rId4"/>
          <a:srcRect l="0" t="0" r="0" b="46265"/>
          <a:stretch/>
        </p:blipFill>
        <p:spPr>
          <a:xfrm>
            <a:off x="3568680" y="2062800"/>
            <a:ext cx="3880440" cy="18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5" name="" descr=""/>
          <p:cNvPicPr/>
          <p:nvPr/>
        </p:nvPicPr>
        <p:blipFill>
          <a:blip r:embed="rId5"/>
          <a:srcRect l="28789" t="0" r="0" b="79839"/>
          <a:stretch/>
        </p:blipFill>
        <p:spPr>
          <a:xfrm>
            <a:off x="5927760" y="4227480"/>
            <a:ext cx="5499000" cy="1603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96" name=""/>
          <p:cNvGrpSpPr/>
          <p:nvPr/>
        </p:nvGrpSpPr>
        <p:grpSpPr>
          <a:xfrm>
            <a:off x="1307160" y="3902760"/>
            <a:ext cx="1732680" cy="590400"/>
            <a:chOff x="1307160" y="3902760"/>
            <a:chExt cx="1732680" cy="590400"/>
          </a:xfrm>
        </p:grpSpPr>
        <p:sp>
          <p:nvSpPr>
            <p:cNvPr id="597" name=""/>
            <p:cNvSpPr/>
            <p:nvPr/>
          </p:nvSpPr>
          <p:spPr>
            <a:xfrm>
              <a:off x="1307160" y="3902760"/>
              <a:ext cx="1526400" cy="590400"/>
            </a:xfrm>
            <a:prstGeom prst="rect">
              <a:avLst/>
            </a:prstGeom>
            <a:solidFill>
              <a:srgbClr val="afd095">
                <a:alpha val="50000"/>
              </a:srgbClr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98" name=""/>
            <p:cNvSpPr/>
            <p:nvPr/>
          </p:nvSpPr>
          <p:spPr>
            <a:xfrm>
              <a:off x="1491480" y="3956760"/>
              <a:ext cx="15483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rPr>
                <a:t>1) Gate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99" name=""/>
          <p:cNvSpPr/>
          <p:nvPr/>
        </p:nvSpPr>
        <p:spPr>
          <a:xfrm>
            <a:off x="4051800" y="1319040"/>
            <a:ext cx="3155760" cy="74052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0" name=""/>
          <p:cNvSpPr/>
          <p:nvPr/>
        </p:nvSpPr>
        <p:spPr>
          <a:xfrm>
            <a:off x="7963200" y="3495960"/>
            <a:ext cx="2415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3) Re-enumerate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and plot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3283920" y="1522080"/>
            <a:ext cx="547920" cy="642240"/>
          </a:xfrm>
          <a:prstGeom prst="line">
            <a:avLst/>
          </a:prstGeom>
          <a:ln w="91440">
            <a:solidFill>
              <a:srgbClr val="2a60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35720" rIns="135720" tIns="90720" bIns="907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2" name=""/>
          <p:cNvSpPr/>
          <p:nvPr/>
        </p:nvSpPr>
        <p:spPr>
          <a:xfrm>
            <a:off x="6994800" y="3729240"/>
            <a:ext cx="565200" cy="626400"/>
          </a:xfrm>
          <a:prstGeom prst="line">
            <a:avLst/>
          </a:prstGeom>
          <a:ln w="91440">
            <a:solidFill>
              <a:srgbClr val="2a609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35720" rIns="135720" tIns="90720" bIns="907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3" name=""/>
          <p:cNvSpPr/>
          <p:nvPr/>
        </p:nvSpPr>
        <p:spPr>
          <a:xfrm>
            <a:off x="4203360" y="1387080"/>
            <a:ext cx="3201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2) Retrieve manual-annotated gates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>
            <a:off x="7766640" y="3428640"/>
            <a:ext cx="2589120" cy="740520"/>
          </a:xfrm>
          <a:prstGeom prst="rect">
            <a:avLst/>
          </a:prstGeom>
          <a:solidFill>
            <a:srgbClr val="afd095">
              <a:alpha val="50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73836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Retrieve manual annotated gating information following unsupervised steps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06" name="Group 144"/>
          <p:cNvGrpSpPr/>
          <p:nvPr/>
        </p:nvGrpSpPr>
        <p:grpSpPr>
          <a:xfrm>
            <a:off x="1035000" y="1090440"/>
            <a:ext cx="9788040" cy="4676040"/>
            <a:chOff x="1035000" y="1090440"/>
            <a:chExt cx="9788040" cy="4676040"/>
          </a:xfrm>
        </p:grpSpPr>
        <p:pic>
          <p:nvPicPr>
            <p:cNvPr id="607" name="Picture 145" descr=""/>
            <p:cNvPicPr/>
            <p:nvPr/>
          </p:nvPicPr>
          <p:blipFill>
            <a:blip r:embed="rId1"/>
            <a:stretch/>
          </p:blipFill>
          <p:spPr>
            <a:xfrm>
              <a:off x="3891960" y="3265560"/>
              <a:ext cx="6930360" cy="250092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08" name="Group 146"/>
            <p:cNvGrpSpPr/>
            <p:nvPr/>
          </p:nvGrpSpPr>
          <p:grpSpPr>
            <a:xfrm>
              <a:off x="3314880" y="1090440"/>
              <a:ext cx="7508160" cy="2188440"/>
              <a:chOff x="3314880" y="1090440"/>
              <a:chExt cx="7508160" cy="2188440"/>
            </a:xfrm>
          </p:grpSpPr>
          <p:pic>
            <p:nvPicPr>
              <p:cNvPr id="609" name="Picture 147" descr=""/>
              <p:cNvPicPr/>
              <p:nvPr/>
            </p:nvPicPr>
            <p:blipFill>
              <a:blip r:embed="rId2"/>
              <a:srcRect l="0" t="44464" r="9095" b="0"/>
              <a:stretch/>
            </p:blipFill>
            <p:spPr>
              <a:xfrm>
                <a:off x="3893040" y="1217880"/>
                <a:ext cx="6930000" cy="20610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610" name="Rectangle 148"/>
              <p:cNvSpPr/>
              <p:nvPr/>
            </p:nvSpPr>
            <p:spPr>
              <a:xfrm>
                <a:off x="3314880" y="1090440"/>
                <a:ext cx="7508160" cy="340200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ffffff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  <a:ea typeface="DejaVu Sans"/>
                </a:endParaRPr>
              </a:p>
            </p:txBody>
          </p:sp>
        </p:grpSp>
        <p:pic>
          <p:nvPicPr>
            <p:cNvPr id="611" name="Picture 149" descr=""/>
            <p:cNvPicPr/>
            <p:nvPr/>
          </p:nvPicPr>
          <p:blipFill>
            <a:blip r:embed="rId3"/>
            <a:stretch/>
          </p:blipFill>
          <p:spPr>
            <a:xfrm>
              <a:off x="1035000" y="1386360"/>
              <a:ext cx="2564640" cy="438012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612" name="" descr=""/>
          <p:cNvPicPr/>
          <p:nvPr/>
        </p:nvPicPr>
        <p:blipFill>
          <a:blip r:embed="rId4"/>
          <a:stretch/>
        </p:blipFill>
        <p:spPr>
          <a:xfrm>
            <a:off x="230760" y="6172920"/>
            <a:ext cx="1366920" cy="35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3" name="Picture 63" descr=""/>
          <p:cNvPicPr/>
          <p:nvPr/>
        </p:nvPicPr>
        <p:blipFill>
          <a:blip r:embed="rId5"/>
          <a:stretch/>
        </p:blipFill>
        <p:spPr>
          <a:xfrm>
            <a:off x="10435680" y="6172560"/>
            <a:ext cx="1141920" cy="39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TextBox 5"/>
          <p:cNvSpPr/>
          <p:nvPr/>
        </p:nvSpPr>
        <p:spPr>
          <a:xfrm>
            <a:off x="7269840" y="1225800"/>
            <a:ext cx="4732920" cy="56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Fun off-label uses thus far: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 Contrasting where “manually-gated” cells end up vs. our unsupervised methods (normalization, clustering, etc.)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Added benefit of looking-at-the-forest: Easy to identify badly cryopreserved specimens where cell populations were lost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Functional and Iterative: plenty for everyone to dislike </a:t>
            </a: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Wingdings"/>
                <a:ea typeface="DejaVu Sans"/>
              </a:rPr>
              <a:t>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6" name="Picture 2" descr=""/>
          <p:cNvPicPr/>
          <p:nvPr/>
        </p:nvPicPr>
        <p:blipFill>
          <a:blip r:embed="rId1"/>
          <a:stretch/>
        </p:blipFill>
        <p:spPr>
          <a:xfrm>
            <a:off x="479160" y="1063080"/>
            <a:ext cx="6454440" cy="451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7" name="Picture 3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8" name=""/>
          <p:cNvSpPr/>
          <p:nvPr/>
        </p:nvSpPr>
        <p:spPr>
          <a:xfrm>
            <a:off x="7315200" y="1297800"/>
            <a:ext cx="4342680" cy="373680"/>
          </a:xfrm>
          <a:prstGeom prst="rect">
            <a:avLst/>
          </a:prstGeom>
          <a:solidFill>
            <a:srgbClr val="ff8000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"/>
          <p:cNvSpPr/>
          <p:nvPr/>
        </p:nvSpPr>
        <p:spPr>
          <a:xfrm>
            <a:off x="7315200" y="1949400"/>
            <a:ext cx="4342680" cy="1599480"/>
          </a:xfrm>
          <a:prstGeom prst="rect">
            <a:avLst/>
          </a:prstGeom>
          <a:solidFill>
            <a:srgbClr val="b4c7dc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7315200" y="3765600"/>
            <a:ext cx="4342680" cy="1599480"/>
          </a:xfrm>
          <a:prstGeom prst="rect">
            <a:avLst/>
          </a:prstGeom>
          <a:solidFill>
            <a:srgbClr val="dde8cb">
              <a:alpha val="2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1" name="" descr=""/>
          <p:cNvPicPr/>
          <p:nvPr/>
        </p:nvPicPr>
        <p:blipFill>
          <a:blip r:embed="rId3"/>
          <a:stretch/>
        </p:blipFill>
        <p:spPr>
          <a:xfrm>
            <a:off x="230760" y="617292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12920" cy="6386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Are our high-dimensional analysis problems fixed?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3" name="Picture 62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41920" cy="39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4" name="Picture 48" descr=""/>
          <p:cNvPicPr/>
          <p:nvPr/>
        </p:nvPicPr>
        <p:blipFill>
          <a:blip r:embed="rId2"/>
          <a:srcRect l="19535" t="32531" r="20350" b="27779"/>
          <a:stretch/>
        </p:blipFill>
        <p:spPr>
          <a:xfrm>
            <a:off x="1098360" y="1371960"/>
            <a:ext cx="10328760" cy="383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5" name="" descr=""/>
          <p:cNvPicPr/>
          <p:nvPr/>
        </p:nvPicPr>
        <p:blipFill>
          <a:blip r:embed="rId3"/>
          <a:stretch/>
        </p:blipFill>
        <p:spPr>
          <a:xfrm>
            <a:off x="230400" y="617256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0" y="46080"/>
            <a:ext cx="12109320" cy="6350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 lnSpcReduction="9999"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Semi-supervised Pipeline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7" name="Picture 45" descr=""/>
          <p:cNvPicPr/>
          <p:nvPr/>
        </p:nvPicPr>
        <p:blipFill>
          <a:blip r:embed="rId1"/>
          <a:stretch/>
        </p:blipFill>
        <p:spPr>
          <a:xfrm>
            <a:off x="2061000" y="491400"/>
            <a:ext cx="8265600" cy="5784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8" name="Picture 47" descr=""/>
          <p:cNvPicPr/>
          <p:nvPr/>
        </p:nvPicPr>
        <p:blipFill>
          <a:blip r:embed="rId2"/>
          <a:stretch/>
        </p:blipFill>
        <p:spPr>
          <a:xfrm>
            <a:off x="10435680" y="6172200"/>
            <a:ext cx="1138320" cy="39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9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4200" cy="13172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What good is any tool if the community is not able to use it?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1" name="Picture 50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2" name="" descr=""/>
          <p:cNvPicPr/>
          <p:nvPr/>
        </p:nvPicPr>
        <p:blipFill>
          <a:blip r:embed="rId2"/>
          <a:stretch/>
        </p:blipFill>
        <p:spPr>
          <a:xfrm>
            <a:off x="457200" y="6172200"/>
            <a:ext cx="1366920" cy="355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33" name=""/>
          <p:cNvGrpSpPr/>
          <p:nvPr/>
        </p:nvGrpSpPr>
        <p:grpSpPr>
          <a:xfrm>
            <a:off x="5486400" y="1150920"/>
            <a:ext cx="6255360" cy="4338360"/>
            <a:chOff x="5486400" y="1150920"/>
            <a:chExt cx="6255360" cy="4338360"/>
          </a:xfrm>
        </p:grpSpPr>
        <p:pic>
          <p:nvPicPr>
            <p:cNvPr id="634" name="" descr=""/>
            <p:cNvPicPr/>
            <p:nvPr/>
          </p:nvPicPr>
          <p:blipFill>
            <a:blip r:embed="rId3"/>
            <a:stretch/>
          </p:blipFill>
          <p:spPr>
            <a:xfrm>
              <a:off x="5486400" y="1150920"/>
              <a:ext cx="6255360" cy="43383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35" name="" descr=""/>
            <p:cNvPicPr/>
            <p:nvPr/>
          </p:nvPicPr>
          <p:blipFill>
            <a:blip r:embed="rId4"/>
            <a:stretch/>
          </p:blipFill>
          <p:spPr>
            <a:xfrm>
              <a:off x="8780760" y="1379520"/>
              <a:ext cx="2341440" cy="25700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36" name=""/>
          <p:cNvSpPr/>
          <p:nvPr/>
        </p:nvSpPr>
        <p:spPr>
          <a:xfrm>
            <a:off x="444600" y="1150920"/>
            <a:ext cx="4566960" cy="456336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7" name="Rectangle 9"/>
          <p:cNvSpPr/>
          <p:nvPr/>
        </p:nvSpPr>
        <p:spPr>
          <a:xfrm>
            <a:off x="415440" y="1186920"/>
            <a:ext cx="461304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Few resources to learn Cytometry in R to begin with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Those that exist aimed at those with intermediate-advanced R skills, not beginners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Know-how concentrated at a few institutions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Most self-learning attempts end in frustration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4200" cy="13172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Cytometry in R: A free weekly course for flow cytometrist</a:t>
            </a:r>
            <a:br>
              <a:rPr sz="3200"/>
            </a:b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with no-to-little coding experience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9" name="Picture 51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0" name="" descr=""/>
          <p:cNvPicPr/>
          <p:nvPr/>
        </p:nvPicPr>
        <p:blipFill>
          <a:blip r:embed="rId2"/>
          <a:stretch/>
        </p:blipFill>
        <p:spPr>
          <a:xfrm>
            <a:off x="3500640" y="1081800"/>
            <a:ext cx="6820560" cy="151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1" name="" descr=""/>
          <p:cNvPicPr/>
          <p:nvPr/>
        </p:nvPicPr>
        <p:blipFill>
          <a:blip r:embed="rId3"/>
          <a:stretch/>
        </p:blipFill>
        <p:spPr>
          <a:xfrm>
            <a:off x="3483720" y="2774160"/>
            <a:ext cx="6837480" cy="401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2" name="Picture 52" descr=""/>
          <p:cNvPicPr/>
          <p:nvPr/>
        </p:nvPicPr>
        <p:blipFill>
          <a:blip r:embed="rId4"/>
          <a:stretch/>
        </p:blipFill>
        <p:spPr>
          <a:xfrm>
            <a:off x="757800" y="1094760"/>
            <a:ext cx="1972800" cy="145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3" name="Graphic 2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64800" y="3429000"/>
            <a:ext cx="1355400" cy="119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4" name="PlaceHolder 27"/>
          <p:cNvSpPr/>
          <p:nvPr/>
        </p:nvSpPr>
        <p:spPr>
          <a:xfrm>
            <a:off x="613800" y="4836600"/>
            <a:ext cx="1549800" cy="104688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rmAutofit/>
          </a:bodyPr>
          <a:p>
            <a:pPr marL="432000" algn="ctr" defTabSz="914400">
              <a:lnSpc>
                <a:spcPts val="72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Website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5" name="" descr=""/>
          <p:cNvPicPr/>
          <p:nvPr/>
        </p:nvPicPr>
        <p:blipFill>
          <a:blip r:embed="rId7"/>
          <a:stretch/>
        </p:blipFill>
        <p:spPr>
          <a:xfrm>
            <a:off x="457200" y="6172200"/>
            <a:ext cx="1366920" cy="35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"/>
          <p:cNvSpPr/>
          <p:nvPr/>
        </p:nvSpPr>
        <p:spPr>
          <a:xfrm>
            <a:off x="2569320" y="4523400"/>
            <a:ext cx="6624360" cy="159516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7" name="PlaceHolder 1"/>
          <p:cNvSpPr>
            <a:spLocks noGrp="1"/>
          </p:cNvSpPr>
          <p:nvPr>
            <p:ph type="title"/>
          </p:nvPr>
        </p:nvSpPr>
        <p:spPr>
          <a:xfrm>
            <a:off x="0" y="-182520"/>
            <a:ext cx="12184200" cy="13172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Half-way through this passion project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Rectangle 10"/>
          <p:cNvSpPr/>
          <p:nvPr/>
        </p:nvSpPr>
        <p:spPr>
          <a:xfrm>
            <a:off x="2569320" y="4523400"/>
            <a:ext cx="702576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Wrapping up Cytometry Core module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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Gathering steam to start on the Unsupervised Analysis section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9" name="Picture 53" descr=""/>
          <p:cNvPicPr/>
          <p:nvPr/>
        </p:nvPicPr>
        <p:blipFill>
          <a:blip r:embed="rId1"/>
          <a:stretch/>
        </p:blipFill>
        <p:spPr>
          <a:xfrm>
            <a:off x="10435680" y="6172200"/>
            <a:ext cx="1136880" cy="39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0" name="" descr=""/>
          <p:cNvPicPr/>
          <p:nvPr/>
        </p:nvPicPr>
        <p:blipFill>
          <a:blip r:embed="rId2"/>
          <a:stretch/>
        </p:blipFill>
        <p:spPr>
          <a:xfrm>
            <a:off x="228600" y="914400"/>
            <a:ext cx="11655360" cy="344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1" name="" descr=""/>
          <p:cNvPicPr/>
          <p:nvPr/>
        </p:nvPicPr>
        <p:blipFill>
          <a:blip r:embed="rId3"/>
          <a:stretch/>
        </p:blipFill>
        <p:spPr>
          <a:xfrm>
            <a:off x="457200" y="6172200"/>
            <a:ext cx="13669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2" name=""/>
          <p:cNvSpPr/>
          <p:nvPr/>
        </p:nvSpPr>
        <p:spPr>
          <a:xfrm rot="19411800">
            <a:off x="10550880" y="793440"/>
            <a:ext cx="456480" cy="9136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983b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"/>
          <p:cNvSpPr/>
          <p:nvPr/>
        </p:nvSpPr>
        <p:spPr>
          <a:xfrm>
            <a:off x="349200" y="4885200"/>
            <a:ext cx="2164680" cy="6004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4" name=""/>
          <p:cNvSpPr/>
          <p:nvPr/>
        </p:nvSpPr>
        <p:spPr>
          <a:xfrm>
            <a:off x="10395000" y="2685600"/>
            <a:ext cx="1366560" cy="68076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5" name=""/>
          <p:cNvSpPr/>
          <p:nvPr/>
        </p:nvSpPr>
        <p:spPr>
          <a:xfrm>
            <a:off x="8458200" y="2649600"/>
            <a:ext cx="1366560" cy="68076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6" name=""/>
          <p:cNvSpPr/>
          <p:nvPr/>
        </p:nvSpPr>
        <p:spPr>
          <a:xfrm>
            <a:off x="4102200" y="3828600"/>
            <a:ext cx="3898080" cy="21142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7" name=""/>
          <p:cNvSpPr/>
          <p:nvPr/>
        </p:nvSpPr>
        <p:spPr>
          <a:xfrm>
            <a:off x="349200" y="3803400"/>
            <a:ext cx="2162160" cy="91116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8" name=""/>
          <p:cNvSpPr/>
          <p:nvPr/>
        </p:nvSpPr>
        <p:spPr>
          <a:xfrm>
            <a:off x="349200" y="1204200"/>
            <a:ext cx="3423960" cy="68256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9" name=""/>
          <p:cNvSpPr/>
          <p:nvPr/>
        </p:nvSpPr>
        <p:spPr>
          <a:xfrm>
            <a:off x="338400" y="2118600"/>
            <a:ext cx="3423960" cy="159516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3886200" y="46080"/>
            <a:ext cx="4563720" cy="131724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sng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Acknowledgments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1" name="Picture 54" descr=""/>
          <p:cNvPicPr/>
          <p:nvPr/>
        </p:nvPicPr>
        <p:blipFill>
          <a:blip r:embed="rId1"/>
          <a:stretch/>
        </p:blipFill>
        <p:spPr>
          <a:xfrm>
            <a:off x="9290520" y="3601800"/>
            <a:ext cx="2363040" cy="42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2" name="Picture 55" descr=""/>
          <p:cNvPicPr/>
          <p:nvPr/>
        </p:nvPicPr>
        <p:blipFill>
          <a:blip r:embed="rId2"/>
          <a:stretch/>
        </p:blipFill>
        <p:spPr>
          <a:xfrm>
            <a:off x="9673200" y="4028400"/>
            <a:ext cx="1981800" cy="40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3" name="Content Placeholder 1"/>
          <p:cNvSpPr/>
          <p:nvPr/>
        </p:nvSpPr>
        <p:spPr>
          <a:xfrm>
            <a:off x="228600" y="3803400"/>
            <a:ext cx="3971520" cy="18205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Cristiana Cairo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Kirsten E. Lyke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Xiaoxuan Fan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Box 23"/>
          <p:cNvSpPr/>
          <p:nvPr/>
        </p:nvSpPr>
        <p:spPr>
          <a:xfrm>
            <a:off x="255240" y="1215000"/>
            <a:ext cx="3399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mothers and their infants, and their communities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Box 24"/>
          <p:cNvSpPr/>
          <p:nvPr/>
        </p:nvSpPr>
        <p:spPr>
          <a:xfrm>
            <a:off x="302400" y="2203200"/>
            <a:ext cx="33991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All the open-source contributors, developers, and maintainers, that collectively made the tool sets without which all of this would not be feasible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Content Placeholder 3"/>
          <p:cNvSpPr/>
          <p:nvPr/>
        </p:nvSpPr>
        <p:spPr>
          <a:xfrm>
            <a:off x="9829800" y="1486800"/>
            <a:ext cx="3971520" cy="1820520"/>
          </a:xfrm>
          <a:prstGeom prst="rect">
            <a:avLst/>
          </a:prstGeom>
          <a:noFill/>
          <a:ln w="190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108000" defTabSz="914400">
              <a:lnSpc>
                <a:spcPct val="10000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r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720"/>
              </a:lnSpc>
              <a:spcBef>
                <a:spcPts val="1417"/>
              </a:spcBef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Box 25"/>
          <p:cNvSpPr/>
          <p:nvPr/>
        </p:nvSpPr>
        <p:spPr>
          <a:xfrm>
            <a:off x="8001000" y="2846880"/>
            <a:ext cx="225612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marL="108000"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Cytometry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Discord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Box 26"/>
          <p:cNvSpPr/>
          <p:nvPr/>
        </p:nvSpPr>
        <p:spPr>
          <a:xfrm>
            <a:off x="10287000" y="2895120"/>
            <a:ext cx="157032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spAutoFit/>
          </a:bodyPr>
          <a:p>
            <a:pPr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Bioconductor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 Zulip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9" name="Picture 56" descr=""/>
          <p:cNvPicPr/>
          <p:nvPr/>
        </p:nvPicPr>
        <p:blipFill>
          <a:blip r:embed="rId3"/>
          <a:stretch/>
        </p:blipFill>
        <p:spPr>
          <a:xfrm>
            <a:off x="9144000" y="5715000"/>
            <a:ext cx="2742480" cy="107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0" name="Graphic 6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218880" y="5771520"/>
            <a:ext cx="3438000" cy="8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1" name="TextBox 27"/>
          <p:cNvSpPr/>
          <p:nvPr/>
        </p:nvSpPr>
        <p:spPr>
          <a:xfrm>
            <a:off x="228600" y="5065200"/>
            <a:ext cx="3500280" cy="39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7080" bIns="37080" anchor="t">
            <a:spAutoFit/>
          </a:bodyPr>
          <a:p>
            <a:pPr marL="108000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Daniela Franco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8000" defTabSz="914400">
              <a:lnSpc>
                <a:spcPts val="575"/>
              </a:lnSpc>
              <a:spcBef>
                <a:spcPts val="1417"/>
              </a:spcBef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Dr. Natarajan Ayithan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2" name="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8350200" y="1036800"/>
            <a:ext cx="1595160" cy="159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3" name="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0251000" y="1062000"/>
            <a:ext cx="1595160" cy="159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4" name="Picture 57" descr="A picture containing text, person, indoor, working&#10;&#10;Description automatically generated"/>
          <p:cNvPicPr/>
          <p:nvPr/>
        </p:nvPicPr>
        <p:blipFill>
          <a:blip r:embed="rId10"/>
          <a:stretch/>
        </p:blipFill>
        <p:spPr>
          <a:xfrm>
            <a:off x="4305240" y="1234080"/>
            <a:ext cx="3578400" cy="242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5" name="Picture 58" descr=""/>
          <p:cNvPicPr/>
          <p:nvPr/>
        </p:nvPicPr>
        <p:blipFill>
          <a:blip r:embed="rId11"/>
          <a:stretch/>
        </p:blipFill>
        <p:spPr>
          <a:xfrm>
            <a:off x="156600" y="122400"/>
            <a:ext cx="3578400" cy="93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6" name="Picture 59" descr=""/>
          <p:cNvPicPr/>
          <p:nvPr/>
        </p:nvPicPr>
        <p:blipFill>
          <a:blip r:embed="rId12"/>
          <a:stretch/>
        </p:blipFill>
        <p:spPr>
          <a:xfrm>
            <a:off x="9493200" y="109080"/>
            <a:ext cx="2513880" cy="94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7" name="Rectangle 14"/>
          <p:cNvSpPr/>
          <p:nvPr/>
        </p:nvSpPr>
        <p:spPr>
          <a:xfrm>
            <a:off x="4138200" y="3850200"/>
            <a:ext cx="3741480" cy="20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U01 HD092309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This publication was supported by funds through Maryland Department of Health’s Cigarette Restitution Fund Program – CH- 649-CRF and the National Cancer Institute – Cancer Center Support Grant (CCSG) – P30CA134274.d Service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Rectangle 15"/>
          <p:cNvSpPr/>
          <p:nvPr/>
        </p:nvSpPr>
        <p:spPr>
          <a:xfrm>
            <a:off x="8602200" y="4417200"/>
            <a:ext cx="3741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www.linkedin.com/in/david-rach/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9" name="" descr=""/>
          <p:cNvPicPr/>
          <p:nvPr/>
        </p:nvPicPr>
        <p:blipFill>
          <a:blip r:embed="rId13"/>
          <a:stretch/>
        </p:blipFill>
        <p:spPr>
          <a:xfrm>
            <a:off x="8769600" y="4453200"/>
            <a:ext cx="401400" cy="35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0" name=""/>
          <p:cNvSpPr/>
          <p:nvPr/>
        </p:nvSpPr>
        <p:spPr>
          <a:xfrm>
            <a:off x="8686800" y="5065200"/>
            <a:ext cx="3091680" cy="420480"/>
          </a:xfrm>
          <a:prstGeom prst="rect">
            <a:avLst/>
          </a:prstGeom>
          <a:solidFill>
            <a:srgbClr val="ffffff"/>
          </a:solidFill>
          <a:ln w="18360">
            <a:solidFill>
              <a:srgbClr val="11111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81" name=""/>
          <p:cNvSpPr/>
          <p:nvPr/>
        </p:nvSpPr>
        <p:spPr>
          <a:xfrm>
            <a:off x="8686800" y="5101200"/>
            <a:ext cx="300708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DejaVu Sans"/>
              </a:rPr>
              <a:t>Want to collaborate? Reach out!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title"/>
          </p:nvPr>
        </p:nvSpPr>
        <p:spPr>
          <a:xfrm>
            <a:off x="1143000" y="-182520"/>
            <a:ext cx="10055160" cy="1322280"/>
          </a:xfrm>
          <a:prstGeom prst="rect">
            <a:avLst/>
          </a:prstGeom>
          <a:noFill/>
          <a:ln w="19080">
            <a:noFill/>
          </a:ln>
        </p:spPr>
        <p:txBody>
          <a:bodyPr lIns="91440" rIns="91440" tIns="45720" bIns="45720" anchor="ctr" anchorCtr="1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Questions?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Rectangle 192"/>
          <p:cNvSpPr/>
          <p:nvPr/>
        </p:nvSpPr>
        <p:spPr>
          <a:xfrm>
            <a:off x="457200" y="2683800"/>
            <a:ext cx="2968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UMGCCC FCSR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InstrumentQC dashboard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Rectangle 193"/>
          <p:cNvSpPr/>
          <p:nvPr/>
        </p:nvSpPr>
        <p:spPr>
          <a:xfrm>
            <a:off x="8915400" y="5149800"/>
            <a:ext cx="2968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YouTube 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@CytometryInR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Rectangle 194"/>
          <p:cNvSpPr/>
          <p:nvPr/>
        </p:nvSpPr>
        <p:spPr>
          <a:xfrm>
            <a:off x="8915400" y="2683800"/>
            <a:ext cx="2968560" cy="6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Website - CytometryInR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Rectangle 195"/>
          <p:cNvSpPr/>
          <p:nvPr/>
        </p:nvSpPr>
        <p:spPr>
          <a:xfrm>
            <a:off x="4800600" y="2683800"/>
            <a:ext cx="2968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Luciernaga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Rectangle 196"/>
          <p:cNvSpPr/>
          <p:nvPr/>
        </p:nvSpPr>
        <p:spPr>
          <a:xfrm>
            <a:off x="4800600" y="5149800"/>
            <a:ext cx="2968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Coereba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Rectangle 197"/>
          <p:cNvSpPr/>
          <p:nvPr/>
        </p:nvSpPr>
        <p:spPr>
          <a:xfrm>
            <a:off x="457200" y="4921200"/>
            <a:ext cx="2968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InstrumentQC How-To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9" name="Picture 198" descr=""/>
          <p:cNvPicPr/>
          <p:nvPr/>
        </p:nvPicPr>
        <p:blipFill>
          <a:blip r:embed="rId1"/>
          <a:stretch/>
        </p:blipFill>
        <p:spPr>
          <a:xfrm>
            <a:off x="7947000" y="3470400"/>
            <a:ext cx="2108160" cy="159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0" name="Picture 199" descr=""/>
          <p:cNvPicPr/>
          <p:nvPr/>
        </p:nvPicPr>
        <p:blipFill>
          <a:blip r:embed="rId2"/>
          <a:stretch/>
        </p:blipFill>
        <p:spPr>
          <a:xfrm>
            <a:off x="4095720" y="3488400"/>
            <a:ext cx="1844640" cy="159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1" name="Picture 200" descr=""/>
          <p:cNvPicPr/>
          <p:nvPr/>
        </p:nvPicPr>
        <p:blipFill>
          <a:blip r:embed="rId3"/>
          <a:stretch/>
        </p:blipFill>
        <p:spPr>
          <a:xfrm>
            <a:off x="457200" y="3565440"/>
            <a:ext cx="1368360" cy="158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2" name="Picture 201" descr=""/>
          <p:cNvPicPr/>
          <p:nvPr/>
        </p:nvPicPr>
        <p:blipFill>
          <a:blip r:embed="rId4"/>
          <a:stretch/>
        </p:blipFill>
        <p:spPr>
          <a:xfrm>
            <a:off x="4132080" y="963000"/>
            <a:ext cx="1844280" cy="159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3" name="Picture 202" descr=""/>
          <p:cNvPicPr/>
          <p:nvPr/>
        </p:nvPicPr>
        <p:blipFill>
          <a:blip r:embed="rId5"/>
          <a:srcRect l="33723" t="6681" r="35970" b="0"/>
          <a:stretch/>
        </p:blipFill>
        <p:spPr>
          <a:xfrm rot="24000">
            <a:off x="89640" y="1086840"/>
            <a:ext cx="1955520" cy="1583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4" name="Picture 203" descr=""/>
          <p:cNvPicPr/>
          <p:nvPr/>
        </p:nvPicPr>
        <p:blipFill>
          <a:blip r:embed="rId6"/>
          <a:stretch/>
        </p:blipFill>
        <p:spPr>
          <a:xfrm>
            <a:off x="7947000" y="855000"/>
            <a:ext cx="2108160" cy="159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5" name="Graphic 204" descr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064200" y="3321000"/>
            <a:ext cx="1825560" cy="182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6" name="Graphic 205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0058400" y="3321000"/>
            <a:ext cx="1825560" cy="182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7" name="Graphic 206" descr="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6064200" y="819000"/>
            <a:ext cx="1825560" cy="182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8" name="Graphic 207" descr="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2021400" y="855000"/>
            <a:ext cx="1825560" cy="182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9" name="Graphic 208" descr="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2057400" y="3429000"/>
            <a:ext cx="1689840" cy="1689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0" name="Graphic 209" descr=""/>
          <p:cNvPicPr/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>
          <a:xfrm>
            <a:off x="10058400" y="855000"/>
            <a:ext cx="1825560" cy="182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1" name="" descr=""/>
          <p:cNvPicPr/>
          <p:nvPr/>
        </p:nvPicPr>
        <p:blipFill>
          <a:blip r:embed="rId19"/>
          <a:stretch/>
        </p:blipFill>
        <p:spPr>
          <a:xfrm>
            <a:off x="230760" y="6172920"/>
            <a:ext cx="1366920" cy="35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2" name="Picture 49" descr=""/>
          <p:cNvPicPr/>
          <p:nvPr/>
        </p:nvPicPr>
        <p:blipFill>
          <a:blip r:embed="rId20"/>
          <a:stretch/>
        </p:blipFill>
        <p:spPr>
          <a:xfrm>
            <a:off x="10435680" y="6172560"/>
            <a:ext cx="1136880" cy="394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579</TotalTime>
  <Application>LibreOffice/25.2.3.2$Linux_X86_64 LibreOffice_project/520$Build-2</Application>
  <AppVersion>15.0000</AppVersion>
  <Words>1146</Words>
  <Paragraphs>268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2025-07-21T11:58:18Z</dcterms:created>
  <dc:creator>Thomas Evans</dc:creator>
  <dc:description/>
  <dc:language>en-US</dc:language>
  <cp:lastModifiedBy/>
  <dcterms:modified xsi:type="dcterms:W3CDTF">2026-09-28T22:50:25Z</dcterms:modified>
  <cp:revision>60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0x010100804A9A38EF1C6344A4E9D5FEC9AF05B5</vt:lpwstr>
  </property>
  <property fmtid="{D5CDD505-2E9C-101B-9397-08002B2CF9AE}" pid="3" name="Notes">
    <vt:i4>3</vt:i4>
  </property>
  <property fmtid="{D5CDD505-2E9C-101B-9397-08002B2CF9AE}" pid="4" name="PresentationFormat">
    <vt:lpwstr>Widescreen</vt:lpwstr>
  </property>
  <property fmtid="{D5CDD505-2E9C-101B-9397-08002B2CF9AE}" pid="5" name="Slides">
    <vt:i4>39</vt:i4>
  </property>
  <property fmtid="{D5CDD505-2E9C-101B-9397-08002B2CF9AE}" pid="6" name="_dlc_DocIdItemGuid">
    <vt:lpwstr>4d3e5825-e8bc-4995-b9ad-4f8ee15e5c87</vt:lpwstr>
  </property>
</Properties>
</file>